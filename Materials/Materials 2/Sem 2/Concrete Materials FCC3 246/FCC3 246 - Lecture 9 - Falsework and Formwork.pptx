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4"/>
  </p:handoutMasterIdLst>
  <p:sldIdLst>
    <p:sldId id="1139" r:id="rId3"/>
    <p:sldId id="1024" r:id="rId4"/>
    <p:sldId id="1129" r:id="rId6"/>
    <p:sldId id="1025" r:id="rId7"/>
    <p:sldId id="1130" r:id="rId8"/>
    <p:sldId id="1131" r:id="rId9"/>
    <p:sldId id="1133" r:id="rId10"/>
    <p:sldId id="1134" r:id="rId11"/>
    <p:sldId id="1141" r:id="rId12"/>
    <p:sldId id="1029" r:id="rId13"/>
    <p:sldId id="1138" r:id="rId14"/>
    <p:sldId id="1027" r:id="rId15"/>
    <p:sldId id="1028" r:id="rId16"/>
    <p:sldId id="1137" r:id="rId17"/>
    <p:sldId id="1135" r:id="rId18"/>
    <p:sldId id="1140" r:id="rId19"/>
    <p:sldId id="1026" r:id="rId20"/>
    <p:sldId id="1136" r:id="rId21"/>
    <p:sldId id="1132" r:id="rId22"/>
    <p:sldId id="1128" r:id="rId23"/>
  </p:sldIdLst>
  <p:sldSz cx="12192000" cy="6858000"/>
  <p:notesSz cx="7099300" cy="1023429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15" id="{D64F5CE8-0A6C-41B7-8BAF-DCC2D12A574C}">
          <p14:sldIdLst/>
        </p14:section>
        <p14:section name="Topic 15" id="{C917C984-23AE-4FF9-9D20-5540C5680F44}">
          <p14:sldIdLst>
            <p14:sldId id="1139"/>
            <p14:sldId id="1024"/>
            <p14:sldId id="1129"/>
            <p14:sldId id="1025"/>
            <p14:sldId id="1130"/>
            <p14:sldId id="1131"/>
            <p14:sldId id="1133"/>
            <p14:sldId id="1134"/>
            <p14:sldId id="1141"/>
            <p14:sldId id="1029"/>
            <p14:sldId id="1138"/>
            <p14:sldId id="1027"/>
            <p14:sldId id="1028"/>
            <p14:sldId id="1137"/>
            <p14:sldId id="1135"/>
            <p14:sldId id="1140"/>
            <p14:sldId id="1026"/>
            <p14:sldId id="1136"/>
            <p14:sldId id="1132"/>
            <p14:sldId id="1128"/>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sorterViewPr>
    <p:cViewPr>
      <p:scale>
        <a:sx n="100" d="100"/>
        <a:sy n="100" d="100"/>
      </p:scale>
      <p:origin x="0" y="-127494"/>
    </p:cViewPr>
  </p:sorterViewPr>
  <p:notesViewPr>
    <p:cSldViewPr snapToGrid="0">
      <p:cViewPr varScale="1">
        <p:scale>
          <a:sx n="56" d="100"/>
          <a:sy n="56" d="100"/>
        </p:scale>
        <p:origin x="3312" y="53"/>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dirty="0"/>
              <a:t>FCC3 246 – Concrete Materials 2023/2024</a:t>
            </a:r>
            <a:endParaRPr lang="en-GB" dirty="0"/>
          </a:p>
        </p:txBody>
      </p:sp>
      <p:sp>
        <p:nvSpPr>
          <p:cNvPr id="3" name="Date Placeholder 2"/>
          <p:cNvSpPr>
            <a:spLocks noGrp="1"/>
          </p:cNvSpPr>
          <p:nvPr>
            <p:ph type="dt" sz="quarter" idx="1"/>
          </p:nvPr>
        </p:nvSpPr>
        <p:spPr>
          <a:xfrm>
            <a:off x="4021138" y="1"/>
            <a:ext cx="3076575" cy="512763"/>
          </a:xfrm>
          <a:prstGeom prst="rect">
            <a:avLst/>
          </a:prstGeom>
        </p:spPr>
        <p:txBody>
          <a:bodyPr vert="horz" lIns="91440" tIns="45720" rIns="91440" bIns="45720" rtlCol="0"/>
          <a:lstStyle>
            <a:lvl1pPr algn="r">
              <a:defRPr sz="1200"/>
            </a:lvl1pPr>
          </a:lstStyle>
          <a:p>
            <a:fld id="{3E8D9978-ED5B-4A29-B35C-F452FF85B205}" type="datetime1">
              <a:rPr lang="en-GB" smtClean="0"/>
            </a:fld>
            <a:endParaRPr lang="en-GB"/>
          </a:p>
        </p:txBody>
      </p:sp>
      <p:sp>
        <p:nvSpPr>
          <p:cNvPr id="4" name="Footer Placeholder 3"/>
          <p:cNvSpPr>
            <a:spLocks noGrp="1"/>
          </p:cNvSpPr>
          <p:nvPr>
            <p:ph type="ftr" sz="quarter" idx="2"/>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endParaRPr lang="en-GB"/>
          </a:p>
        </p:txBody>
      </p:sp>
    </p:spTree>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575" cy="512763"/>
          </a:xfrm>
          <a:prstGeom prst="rect">
            <a:avLst/>
          </a:prstGeom>
        </p:spPr>
        <p:txBody>
          <a:bodyPr vert="horz" lIns="91440" tIns="45720" rIns="91440" bIns="45720" rtlCol="0"/>
          <a:lstStyle>
            <a:lvl1pPr algn="l">
              <a:defRPr sz="1200"/>
            </a:lvl1pPr>
          </a:lstStyle>
          <a:p>
            <a:r>
              <a:rPr lang="en-GB"/>
              <a:t>BAR 303 - Theory &amp; Design of Structures III 2021/2022</a:t>
            </a:r>
            <a:endParaRPr lang="en-GB"/>
          </a:p>
        </p:txBody>
      </p:sp>
      <p:sp>
        <p:nvSpPr>
          <p:cNvPr id="3" name="Date Placeholder 2"/>
          <p:cNvSpPr>
            <a:spLocks noGrp="1"/>
          </p:cNvSpPr>
          <p:nvPr>
            <p:ph type="dt" idx="1"/>
          </p:nvPr>
        </p:nvSpPr>
        <p:spPr>
          <a:xfrm>
            <a:off x="4021138" y="1"/>
            <a:ext cx="3076575" cy="512763"/>
          </a:xfrm>
          <a:prstGeom prst="rect">
            <a:avLst/>
          </a:prstGeom>
        </p:spPr>
        <p:txBody>
          <a:bodyPr vert="horz" lIns="91440" tIns="45720" rIns="91440" bIns="45720" rtlCol="0"/>
          <a:lstStyle>
            <a:lvl1pPr algn="r">
              <a:defRPr sz="1200"/>
            </a:lvl1pPr>
          </a:lstStyle>
          <a:p>
            <a:fld id="{D6C46915-6F6C-46C9-BC95-22DE85ACF263}" type="datetime1">
              <a:rPr lang="en-GB" smtClean="0"/>
            </a:fld>
            <a:endParaRPr lang="en-GB"/>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1" y="9721850"/>
            <a:ext cx="3076575" cy="512763"/>
          </a:xfrm>
          <a:prstGeom prst="rect">
            <a:avLst/>
          </a:prstGeom>
        </p:spPr>
        <p:txBody>
          <a:bodyPr vert="horz" lIns="91440" tIns="45720" rIns="91440" bIns="45720" rtlCol="0" anchor="b"/>
          <a:lstStyle>
            <a:lvl1pPr algn="l">
              <a:defRPr sz="1200"/>
            </a:lvl1pPr>
          </a:lstStyle>
          <a:p>
            <a:r>
              <a:rPr lang="en-GB"/>
              <a:t>muthomi@uonbi.ac.ke </a:t>
            </a:r>
            <a:endParaRPr lang="en-GB"/>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A25A6967-00BE-478A-B95F-FC0FCC7AAC7A}" type="slidenum">
              <a:rPr lang="en-GB" smtClean="0"/>
            </a:fld>
            <a:endParaRPr lang="en-GB"/>
          </a:p>
        </p:txBody>
      </p:sp>
    </p:spTree>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Rot="1" noChangeAspect="1" noChangeArrowheads="1" noTextEdit="1"/>
          </p:cNvSpPr>
          <p:nvPr>
            <p:ph type="sldImg"/>
          </p:nvPr>
        </p:nvSpPr>
        <p:spPr/>
      </p:sp>
      <p:sp>
        <p:nvSpPr>
          <p:cNvPr id="737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Rot="1" noChangeAspect="1" noChangeArrowheads="1" noTextEdit="1"/>
          </p:cNvSpPr>
          <p:nvPr>
            <p:ph type="sldImg"/>
          </p:nvPr>
        </p:nvSpPr>
        <p:spPr/>
      </p:sp>
      <p:sp>
        <p:nvSpPr>
          <p:cNvPr id="983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spect="1" noChangeArrowheads="1" noTextEdit="1"/>
          </p:cNvSpPr>
          <p:nvPr>
            <p:ph type="sldImg"/>
          </p:nvPr>
        </p:nvSpPr>
        <p:spPr/>
      </p:sp>
      <p:sp>
        <p:nvSpPr>
          <p:cNvPr id="1505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ChangeArrowheads="1" noTextEdit="1"/>
          </p:cNvSpPr>
          <p:nvPr>
            <p:ph type="sldImg"/>
          </p:nvPr>
        </p:nvSpPr>
        <p:spPr/>
      </p:sp>
      <p:sp>
        <p:nvSpPr>
          <p:cNvPr id="116739"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EEA51DB-7545-4FCC-999B-9C69657BAA00}"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DE41E48D-3178-4969-9A5C-45DFDA619D70}"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A9CAA164-BD06-4DC0-8508-CE9CD3E688E3}"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BBF0981-A9DF-4D39-BCDC-792ABAE223D4}"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D200EF-774B-45AF-86B5-56E128616D26}" type="datetime1">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1AF8E9-7970-4433-A1F5-BC2DA61645FB}" type="datetime1">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456501-28AB-474F-B348-D04254D40A16}" type="datetime1">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D7D35D68-FAEA-4665-BA4B-8B336C7888C6}"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FC14EF0C-7ED6-4CA6-B5C7-3625BFC78BA0}"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7E2D3BF3-B4BD-4BC1-8C80-6D2783FE851C}"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B1ED4FD-4423-4F7B-A547-0B060E347A74}"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BE75A82-2417-455C-BF49-8BC77D49FA9D}" type="slidenum">
              <a:rPr lang="en-GB" smtClean="0"/>
            </a:fld>
            <a:endParaRPr lang="en-GB"/>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CA9F0F62-C0E9-4ECB-A7FE-2E078C0CE7A9}"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4030CD46-7C61-4FD6-9F0C-6EF8C611CAF2}"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panose="020B0604020202020204"/>
              </a:rPr>
              <a:t>”</a:t>
            </a:r>
            <a:endParaRPr lang="en-US" sz="8000" baseline="0" dirty="0">
              <a:ln w="3175" cmpd="sng">
                <a:noFill/>
              </a:ln>
              <a:solidFill>
                <a:schemeClr val="accent1"/>
              </a:solidFill>
              <a:effectLst/>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endParaRPr lang="en-US"/>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endParaRPr lang="en-US"/>
          </a:p>
        </p:txBody>
      </p:sp>
      <p:sp>
        <p:nvSpPr>
          <p:cNvPr id="5" name="Date Placeholder 4"/>
          <p:cNvSpPr>
            <a:spLocks noGrp="1"/>
          </p:cNvSpPr>
          <p:nvPr>
            <p:ph type="dt" sz="half" idx="10"/>
          </p:nvPr>
        </p:nvSpPr>
        <p:spPr/>
        <p:txBody>
          <a:bodyPr/>
          <a:lstStyle/>
          <a:p>
            <a:fld id="{970A744E-318E-4E1D-A7DB-5BBAAF3151F5}" type="datetime1">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BE75A82-2417-455C-BF49-8BC77D49FA9D}" type="slidenum">
              <a:rPr lang="en-GB" smtClean="0"/>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ED6FCD25-4487-40A8-A98F-1EADDA3CA2F8}"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6158AC4-9216-489C-AD1B-F4EFDD367D86}" type="datetime1">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BE75A82-2417-455C-BF49-8BC77D49FA9D}" type="slidenum">
              <a:rPr lang="en-GB" smtClean="0"/>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2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10972800" cy="533400"/>
          </a:xfrm>
        </p:spPr>
        <p:txBody>
          <a:bodyPr/>
          <a:lstStyle>
            <a:lvl1pPr algn="l">
              <a:defRPr sz="1600" b="1" i="0">
                <a:solidFill>
                  <a:srgbClr val="D95900"/>
                </a:solidFill>
                <a:latin typeface="Arial" panose="020B0604020202020204"/>
                <a:cs typeface="Arial" panose="020B0604020202020204"/>
              </a:defRPr>
            </a:lvl1pPr>
          </a:lstStyle>
          <a:p>
            <a:r>
              <a:rPr lang="en-US"/>
              <a:t>Click to edit Master title style</a:t>
            </a:r>
            <a:endParaRPr lang="en-US"/>
          </a:p>
        </p:txBody>
      </p:sp>
      <p:sp>
        <p:nvSpPr>
          <p:cNvPr id="7" name="Text Placeholder 5"/>
          <p:cNvSpPr>
            <a:spLocks noGrp="1"/>
          </p:cNvSpPr>
          <p:nvPr>
            <p:ph type="body" sz="quarter" idx="10"/>
          </p:nvPr>
        </p:nvSpPr>
        <p:spPr>
          <a:xfrm>
            <a:off x="609600" y="1189038"/>
            <a:ext cx="10972800" cy="4079875"/>
          </a:xfrm>
        </p:spPr>
        <p:txBody>
          <a:bodyPr/>
          <a:lstStyle>
            <a:lvl1pPr>
              <a:buFontTx/>
              <a:buNone/>
              <a:defRPr/>
            </a:lvl1pPr>
            <a:lvl2pPr>
              <a:buFontTx/>
              <a:buNone/>
              <a:defRPr/>
            </a:lvl2pPr>
            <a:lvl3pPr>
              <a:buFontTx/>
              <a:buNone/>
              <a:defRPr/>
            </a:lvl3pPr>
            <a:lvl4pPr>
              <a:buFontTx/>
              <a:buNone/>
              <a:defRPr/>
            </a:lvl4pPr>
            <a:lvl5pPr>
              <a:buFontTx/>
              <a:buNone/>
              <a:defRPr/>
            </a:lvl5pPr>
          </a:lstStyle>
          <a:p>
            <a:pPr lvl="0"/>
            <a:r>
              <a:rPr lang="en-US"/>
              <a:t>Click to edit Master text styles</a:t>
            </a:r>
            <a:endParaRPr lang="en-US"/>
          </a:p>
        </p:txBody>
      </p:sp>
      <p:sp>
        <p:nvSpPr>
          <p:cNvPr id="4" name="Footer Placeholder 8"/>
          <p:cNvSpPr>
            <a:spLocks noGrp="1"/>
          </p:cNvSpPr>
          <p:nvPr>
            <p:ph type="ftr" sz="quarter" idx="11"/>
          </p:nvPr>
        </p:nvSpPr>
        <p:spPr>
          <a:xfrm>
            <a:off x="609600" y="6248400"/>
            <a:ext cx="7112000" cy="228600"/>
          </a:xfrm>
        </p:spPr>
        <p:txBody>
          <a:bodyPr/>
          <a:lstStyle>
            <a:lvl1pPr algn="l">
              <a:defRPr sz="1000">
                <a:solidFill>
                  <a:srgbClr val="D95900"/>
                </a:solidFill>
                <a:latin typeface="Arial" panose="020B0604020202020204" pitchFamily="34" charset="0"/>
                <a:cs typeface="Arial" panose="020B0604020202020204" pitchFamily="34" charset="0"/>
              </a:defRPr>
            </a:lvl1pPr>
          </a:lstStyle>
          <a:p>
            <a:pPr>
              <a:defRPr/>
            </a:pP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49AE223-18DC-4218-A1FD-999B1D0A8C0C}" type="datetime1">
              <a:rPr lang="en-GB" smtClean="0"/>
            </a:fld>
            <a:endParaRPr lang="en-GB"/>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BE75A82-2417-455C-BF49-8BC77D49FA9D}"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hyperlink" Target="mailto:muthomi@uonbi.ac.ke" TargetMode="Externa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image" Target="../media/image6.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4.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4.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 y="1400175"/>
            <a:ext cx="11962765" cy="2262505"/>
          </a:xfrm>
        </p:spPr>
        <p:txBody>
          <a:bodyPr>
            <a:normAutofit/>
          </a:bodyPr>
          <a:lstStyle/>
          <a:p>
            <a:pPr algn="ctr"/>
            <a:r>
              <a:rPr lang="en-GB" sz="4000" b="1" dirty="0"/>
              <a:t>FCC3 246: CONCRETE MATERIALS</a:t>
            </a:r>
            <a:br>
              <a:rPr lang="en-GB" sz="4000" b="1" dirty="0"/>
            </a:br>
            <a:br>
              <a:rPr lang="en-GB" sz="4000" b="1" dirty="0"/>
            </a:br>
            <a:r>
              <a:rPr lang="en-US" altLang="en-GB" sz="4000" b="1" dirty="0"/>
              <a:t>Lecture 9: FORMWORK &amp; FALSEWORK</a:t>
            </a:r>
            <a:endParaRPr lang="en-US" altLang="en-GB" sz="4000" b="1" dirty="0"/>
          </a:p>
        </p:txBody>
      </p:sp>
      <p:sp>
        <p:nvSpPr>
          <p:cNvPr id="3" name="Subtitle 2"/>
          <p:cNvSpPr>
            <a:spLocks noGrp="1"/>
          </p:cNvSpPr>
          <p:nvPr>
            <p:ph type="subTitle" idx="1"/>
          </p:nvPr>
        </p:nvSpPr>
        <p:spPr/>
        <p:txBody>
          <a:bodyPr>
            <a:normAutofit lnSpcReduction="10000"/>
          </a:bodyPr>
          <a:lstStyle/>
          <a:p>
            <a:r>
              <a:rPr lang="en-GB"/>
              <a:t>Department of Civil &amp; Construction Engineering</a:t>
            </a:r>
            <a:endParaRPr lang="en-GB"/>
          </a:p>
          <a:p>
            <a:r>
              <a:rPr lang="en-GB"/>
              <a:t>University of Nairobi</a:t>
            </a:r>
            <a:endParaRPr lang="en-GB"/>
          </a:p>
          <a:p>
            <a:r>
              <a:rPr lang="en-GB">
                <a:hlinkClick r:id="rId1"/>
              </a:rPr>
              <a:t>m</a:t>
            </a:r>
            <a:r>
              <a:rPr lang="en-US" altLang="en-GB">
                <a:hlinkClick r:id="rId1"/>
              </a:rPr>
              <a:t>wauras</a:t>
            </a:r>
            <a:r>
              <a:rPr lang="en-GB">
                <a:hlinkClick r:id="rId1"/>
              </a:rPr>
              <a:t>@uonbi.ac.ke</a:t>
            </a:r>
            <a:r>
              <a:rPr lang="en-GB"/>
              <a:t> </a:t>
            </a:r>
            <a:endParaRPr lang="en-GB"/>
          </a:p>
          <a:p>
            <a:endParaRPr lang="en-GB"/>
          </a:p>
        </p:txBody>
      </p:sp>
      <p:sp>
        <p:nvSpPr>
          <p:cNvPr id="4" name="Slide Number Placeholder 3"/>
          <p:cNvSpPr>
            <a:spLocks noGrp="1"/>
          </p:cNvSpPr>
          <p:nvPr>
            <p:ph type="sldNum" sz="quarter" idx="12"/>
          </p:nvPr>
        </p:nvSpPr>
        <p:spPr>
          <a:xfrm>
            <a:off x="160752" y="4412254"/>
            <a:ext cx="952431" cy="597068"/>
          </a:xfrm>
        </p:spPr>
        <p:txBody>
          <a:bodyPr/>
          <a:lstStyle/>
          <a:p>
            <a:fld id="{D57F1E4F-1CFF-5643-939E-217C01CDF565}" type="slidenum">
              <a:rPr lang="en-US" sz="4000" smtClean="0"/>
            </a:fld>
            <a:endParaRPr lang="en-US"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524000" y="1484785"/>
            <a:ext cx="4932040" cy="1322070"/>
          </a:xfrm>
          <a:prstGeom prst="rect">
            <a:avLst/>
          </a:prstGeom>
          <a:noFill/>
        </p:spPr>
        <p:txBody>
          <a:bodyPr wrap="square">
            <a:spAutoFit/>
          </a:bodyPr>
          <a:lstStyle/>
          <a:p>
            <a:pPr algn="ctr">
              <a:defRPr/>
            </a:pPr>
            <a:r>
              <a:rPr lang="en-ZA" sz="4000" b="1">
                <a:latin typeface="+mj-lt"/>
              </a:rPr>
              <a:t>Formwork &amp; </a:t>
            </a:r>
            <a:r>
              <a:rPr lang="en-ZA" sz="4000" b="1" err="1">
                <a:latin typeface="+mj-lt"/>
              </a:rPr>
              <a:t>Falsework</a:t>
            </a:r>
            <a:endParaRPr lang="en-US" sz="4000" b="1">
              <a:latin typeface="+mj-lt"/>
            </a:endParaRPr>
          </a:p>
        </p:txBody>
      </p:sp>
      <p:pic>
        <p:nvPicPr>
          <p:cNvPr id="10" name="Picture 2"/>
          <p:cNvPicPr>
            <a:picLocks noChangeAspect="1" noChangeArrowheads="1"/>
          </p:cNvPicPr>
          <p:nvPr/>
        </p:nvPicPr>
        <p:blipFill>
          <a:blip r:embed="rId1" cstate="print"/>
          <a:srcRect l="4138" t="393" r="13102"/>
          <a:stretch>
            <a:fillRect/>
          </a:stretch>
        </p:blipFill>
        <p:spPr bwMode="auto">
          <a:xfrm>
            <a:off x="6430962" y="1"/>
            <a:ext cx="4273551" cy="6858000"/>
          </a:xfrm>
          <a:prstGeom prst="rect">
            <a:avLst/>
          </a:prstGeom>
          <a:noFill/>
          <a:ln w="9525">
            <a:noFill/>
            <a:miter lim="800000"/>
            <a:headEnd/>
            <a:tailEnd/>
          </a:ln>
          <a:effectLst/>
        </p:spPr>
      </p:pic>
      <p:pic>
        <p:nvPicPr>
          <p:cNvPr id="89090" name="Picture 2" descr="C:\My Documents\My Pictures\Concrete\Formwork\Pictures\Bridge\16.jpg"/>
          <p:cNvPicPr>
            <a:picLocks noChangeAspect="1" noChangeArrowheads="1"/>
          </p:cNvPicPr>
          <p:nvPr/>
        </p:nvPicPr>
        <p:blipFill>
          <a:blip r:embed="rId2" cstate="print"/>
          <a:srcRect/>
          <a:stretch>
            <a:fillRect/>
          </a:stretch>
        </p:blipFill>
        <p:spPr bwMode="auto">
          <a:xfrm>
            <a:off x="5051884" y="4341102"/>
            <a:ext cx="1692188" cy="2256251"/>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a:xfrm>
            <a:off x="609600" y="228600"/>
            <a:ext cx="10972800" cy="533400"/>
          </a:xfrm>
        </p:spPr>
        <p:txBody>
          <a:bodyPr>
            <a:normAutofit fontScale="90000"/>
          </a:bodyPr>
          <a:lstStyle/>
          <a:p>
            <a:pPr algn="ctr"/>
            <a:r>
              <a:rPr lang="en-US" sz="4000"/>
              <a:t>What is Formwork?</a:t>
            </a:r>
            <a:endParaRPr lang="en-US" sz="4000"/>
          </a:p>
        </p:txBody>
      </p:sp>
      <p:sp>
        <p:nvSpPr>
          <p:cNvPr id="68611" name="Rectangle 2051"/>
          <p:cNvSpPr>
            <a:spLocks noGrp="1" noChangeArrowheads="1"/>
          </p:cNvSpPr>
          <p:nvPr>
            <p:ph type="body" sz="quarter" idx="10"/>
          </p:nvPr>
        </p:nvSpPr>
        <p:spPr>
          <a:xfrm>
            <a:off x="812800" y="1268730"/>
            <a:ext cx="11003280" cy="4378960"/>
          </a:xfrm>
        </p:spPr>
        <p:txBody>
          <a:bodyPr>
            <a:normAutofit fontScale="80000"/>
          </a:bodyPr>
          <a:lstStyle/>
          <a:p>
            <a:pPr algn="just">
              <a:buFont typeface="Arial" panose="020B0604020202020204" pitchFamily="34" charset="0"/>
              <a:buChar char="•"/>
            </a:pPr>
            <a:r>
              <a:rPr lang="en-US" sz="2800"/>
              <a:t>Concrete when mixed first is wet and in afluid plastic </a:t>
            </a:r>
            <a:r>
              <a:rPr lang="en-US" sz="2800" b="1"/>
              <a:t>form</a:t>
            </a:r>
            <a:endParaRPr lang="en-US" sz="2800"/>
          </a:p>
          <a:p>
            <a:pPr algn="just">
              <a:buFont typeface="Arial" panose="020B0604020202020204" pitchFamily="34" charset="0"/>
              <a:buChar char="•"/>
            </a:pPr>
            <a:r>
              <a:rPr lang="en-US" sz="2800"/>
              <a:t>For it to form any concrete member, the wet concrete must be placed in a suitable mould to retain the </a:t>
            </a:r>
            <a:r>
              <a:rPr lang="en-US" sz="2800" b="1" u="sng"/>
              <a:t>shape</a:t>
            </a:r>
            <a:r>
              <a:rPr lang="en-US" sz="2800"/>
              <a:t>, </a:t>
            </a:r>
            <a:r>
              <a:rPr lang="en-US" sz="2800" b="1" u="sng"/>
              <a:t>size</a:t>
            </a:r>
            <a:r>
              <a:rPr lang="en-US" sz="2800"/>
              <a:t> and </a:t>
            </a:r>
            <a:r>
              <a:rPr lang="en-US" sz="2800" b="1" u="sng"/>
              <a:t>position</a:t>
            </a:r>
            <a:r>
              <a:rPr lang="en-US" sz="2800"/>
              <a:t> of the desired member as the concrete sets</a:t>
            </a:r>
            <a:endParaRPr lang="en-US" sz="2800"/>
          </a:p>
          <a:p>
            <a:pPr algn="just">
              <a:buFont typeface="Arial" panose="020B0604020202020204" pitchFamily="34" charset="0"/>
              <a:buChar char="•"/>
            </a:pPr>
            <a:r>
              <a:rPr lang="en-US" sz="2800"/>
              <a:t>These moulds or forms are usually referred to as </a:t>
            </a:r>
            <a:r>
              <a:rPr lang="en-US" sz="2800" b="1" u="sng"/>
              <a:t>formwork</a:t>
            </a:r>
            <a:endParaRPr lang="en-US" sz="2800"/>
          </a:p>
          <a:p>
            <a:pPr algn="just">
              <a:buFont typeface="Arial" panose="020B0604020202020204" pitchFamily="34" charset="0"/>
              <a:buChar char="•"/>
            </a:pPr>
            <a:r>
              <a:rPr lang="en-US" sz="2800"/>
              <a:t>It is important to appreciate that the actual formwork is the reverse shape of the concrete member which is to be cast</a:t>
            </a:r>
            <a:endParaRPr lang="en-US" sz="2800"/>
          </a:p>
          <a:p>
            <a:pPr algn="just">
              <a:buFont typeface="Arial" panose="020B0604020202020204" pitchFamily="34" charset="0"/>
              <a:buChar char="•"/>
            </a:pPr>
            <a:r>
              <a:rPr lang="en-US" sz="2800"/>
              <a:t>Formwork is best described as </a:t>
            </a:r>
            <a:r>
              <a:rPr lang="en-US" sz="2800" b="1"/>
              <a:t>“ A structure which is usually temporary but can be whole or part permanent, used to contain poured concrete to mould it into required dimensions and support it until it is able to support itself”</a:t>
            </a:r>
            <a:endParaRPr lang="en-US" sz="280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a:xfrm>
            <a:off x="2049999" y="-95"/>
            <a:ext cx="8911687" cy="1280890"/>
          </a:xfrm>
        </p:spPr>
        <p:txBody>
          <a:bodyPr>
            <a:normAutofit/>
          </a:bodyPr>
          <a:lstStyle/>
          <a:p>
            <a:pPr algn="ctr"/>
            <a:r>
              <a:rPr lang="en-US" sz="4000" b="1"/>
              <a:t>Purpose of Formwork</a:t>
            </a:r>
            <a:endParaRPr lang="en-US" sz="4000" b="1"/>
          </a:p>
        </p:txBody>
      </p:sp>
      <p:sp>
        <p:nvSpPr>
          <p:cNvPr id="68611" name="Rectangle 2051"/>
          <p:cNvSpPr>
            <a:spLocks noGrp="1" noChangeArrowheads="1"/>
          </p:cNvSpPr>
          <p:nvPr>
            <p:ph sz="half" idx="2"/>
          </p:nvPr>
        </p:nvSpPr>
        <p:spPr>
          <a:xfrm>
            <a:off x="6680200" y="1435100"/>
            <a:ext cx="5335270" cy="4404360"/>
          </a:xfrm>
        </p:spPr>
        <p:txBody>
          <a:bodyPr>
            <a:normAutofit fontScale="90000"/>
          </a:bodyPr>
          <a:lstStyle/>
          <a:p>
            <a:pPr algn="just">
              <a:buFont typeface="Arial" panose="020B0604020202020204" pitchFamily="34" charset="0"/>
              <a:buChar char="•"/>
            </a:pPr>
            <a:r>
              <a:rPr lang="en-US" sz="2800"/>
              <a:t>Temporary structure that moulds the concrete to shape and imparts</a:t>
            </a:r>
            <a:r>
              <a:rPr lang="en-US" sz="2800" b="1"/>
              <a:t> </a:t>
            </a:r>
            <a:r>
              <a:rPr lang="en-US" sz="2800"/>
              <a:t>the surface finish</a:t>
            </a:r>
            <a:endParaRPr lang="en-US" sz="2800"/>
          </a:p>
          <a:p>
            <a:pPr algn="just">
              <a:buFont typeface="Arial" panose="020B0604020202020204" pitchFamily="34" charset="0"/>
              <a:buChar char="•"/>
            </a:pPr>
            <a:r>
              <a:rPr lang="en-US" sz="2800"/>
              <a:t>Supports the concrete until it has gained sufficient strength to be self-supporting without deformation or excessive deflection</a:t>
            </a:r>
            <a:endParaRPr lang="en-US" sz="2800"/>
          </a:p>
          <a:p>
            <a:pPr algn="just">
              <a:buFont typeface="Arial" panose="020B0604020202020204" pitchFamily="34" charset="0"/>
              <a:buChar char="•"/>
            </a:pPr>
            <a:r>
              <a:rPr lang="en-US" sz="2800"/>
              <a:t>Ensure accurate position and levels.</a:t>
            </a:r>
            <a:endParaRPr lang="en-US" sz="2800"/>
          </a:p>
        </p:txBody>
      </p:sp>
      <p:pic>
        <p:nvPicPr>
          <p:cNvPr id="2" name="Content Placeholder 1"/>
          <p:cNvPicPr>
            <a:picLocks noChangeAspect="1"/>
          </p:cNvPicPr>
          <p:nvPr>
            <p:ph sz="half" idx="1"/>
          </p:nvPr>
        </p:nvPicPr>
        <p:blipFill>
          <a:blip r:embed="rId1"/>
          <a:stretch>
            <a:fillRect/>
          </a:stretch>
        </p:blipFill>
        <p:spPr>
          <a:xfrm>
            <a:off x="1000125" y="1435100"/>
            <a:ext cx="5095240" cy="47923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a:bodyPr>
          <a:lstStyle/>
          <a:p>
            <a:pPr algn="ctr"/>
            <a:r>
              <a:rPr lang="en-US" sz="4000" b="1"/>
              <a:t>Types of Formwork</a:t>
            </a:r>
            <a:endParaRPr lang="en-US" sz="4000" b="1"/>
          </a:p>
        </p:txBody>
      </p:sp>
      <p:sp>
        <p:nvSpPr>
          <p:cNvPr id="68611" name="Rectangle 2051"/>
          <p:cNvSpPr>
            <a:spLocks noGrp="1" noChangeArrowheads="1"/>
          </p:cNvSpPr>
          <p:nvPr>
            <p:ph sz="half" idx="1"/>
          </p:nvPr>
        </p:nvSpPr>
        <p:spPr>
          <a:xfrm>
            <a:off x="929005" y="1540510"/>
            <a:ext cx="5610860" cy="3777615"/>
          </a:xfrm>
        </p:spPr>
        <p:txBody>
          <a:bodyPr>
            <a:normAutofit/>
          </a:bodyPr>
          <a:lstStyle/>
          <a:p>
            <a:pPr marL="457200" indent="-457200" algn="l">
              <a:buFont typeface="+mj-lt"/>
              <a:buAutoNum type="romanLcPeriod"/>
            </a:pPr>
            <a:r>
              <a:rPr lang="en-US" sz="2800"/>
              <a:t>Foundation Formwork</a:t>
            </a:r>
            <a:endParaRPr lang="en-US" sz="2800"/>
          </a:p>
          <a:p>
            <a:pPr marL="457200" indent="-457200" algn="l">
              <a:buFont typeface="+mj-lt"/>
              <a:buAutoNum type="romanLcPeriod"/>
            </a:pPr>
            <a:r>
              <a:rPr lang="en-US" sz="2800"/>
              <a:t>Column Formwork</a:t>
            </a:r>
            <a:endParaRPr lang="en-US" sz="2800"/>
          </a:p>
          <a:p>
            <a:pPr marL="457200" indent="-457200" algn="l">
              <a:buFont typeface="+mj-lt"/>
              <a:buAutoNum type="romanLcPeriod"/>
            </a:pPr>
            <a:r>
              <a:rPr lang="en-US" sz="2800"/>
              <a:t>Slab Formwork</a:t>
            </a:r>
            <a:endParaRPr lang="en-US" sz="2800"/>
          </a:p>
          <a:p>
            <a:pPr marL="457200" indent="-457200" algn="l">
              <a:buFont typeface="+mj-lt"/>
              <a:buAutoNum type="romanLcPeriod"/>
            </a:pPr>
            <a:r>
              <a:rPr lang="en-US" sz="2800"/>
              <a:t>Beam Formwork</a:t>
            </a:r>
            <a:endParaRPr lang="en-US" sz="2800"/>
          </a:p>
          <a:p>
            <a:pPr marL="457200" indent="-457200" algn="l">
              <a:buFont typeface="+mj-lt"/>
              <a:buAutoNum type="romanLcPeriod"/>
            </a:pPr>
            <a:r>
              <a:rPr lang="en-US" sz="2800"/>
              <a:t>Wall Formwork</a:t>
            </a:r>
            <a:endParaRPr lang="en-US" sz="2800"/>
          </a:p>
        </p:txBody>
      </p:sp>
      <p:pic>
        <p:nvPicPr>
          <p:cNvPr id="4" name="Content Placeholder 3"/>
          <p:cNvPicPr>
            <a:picLocks noChangeAspect="1"/>
          </p:cNvPicPr>
          <p:nvPr>
            <p:ph sz="half" idx="2"/>
          </p:nvPr>
        </p:nvPicPr>
        <p:blipFill>
          <a:blip r:embed="rId1"/>
          <a:stretch>
            <a:fillRect/>
          </a:stretch>
        </p:blipFill>
        <p:spPr>
          <a:xfrm>
            <a:off x="6708140" y="1476375"/>
            <a:ext cx="4615180" cy="43764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a:xfrm>
            <a:off x="2411730" y="0"/>
            <a:ext cx="8911590" cy="834390"/>
          </a:xfrm>
        </p:spPr>
        <p:txBody>
          <a:bodyPr>
            <a:normAutofit/>
          </a:bodyPr>
          <a:lstStyle/>
          <a:p>
            <a:pPr algn="ctr"/>
            <a:r>
              <a:rPr lang="en-US" sz="4000" b="1"/>
              <a:t>Parts of Formwork</a:t>
            </a:r>
            <a:endParaRPr lang="en-US" sz="4000" b="1"/>
          </a:p>
        </p:txBody>
      </p:sp>
      <p:sp>
        <p:nvSpPr>
          <p:cNvPr id="68611" name="Rectangle 2051"/>
          <p:cNvSpPr>
            <a:spLocks noGrp="1" noChangeArrowheads="1"/>
          </p:cNvSpPr>
          <p:nvPr>
            <p:ph sz="half" idx="1"/>
          </p:nvPr>
        </p:nvSpPr>
        <p:spPr>
          <a:xfrm>
            <a:off x="929005" y="1057910"/>
            <a:ext cx="6974205" cy="3777615"/>
          </a:xfrm>
        </p:spPr>
        <p:txBody>
          <a:bodyPr>
            <a:noAutofit/>
          </a:bodyPr>
          <a:lstStyle/>
          <a:p>
            <a:pPr marL="457200" indent="-457200" algn="just">
              <a:buFont typeface="+mj-lt"/>
              <a:buAutoNum type="romanLcPeriod"/>
            </a:pPr>
            <a:r>
              <a:rPr lang="en-US" sz="1600" b="1"/>
              <a:t>Formwork Sides </a:t>
            </a:r>
            <a:r>
              <a:rPr lang="en-US" sz="1600"/>
              <a:t>- Limits width and shape of wet concrete and has to resist the hydrostatic pressure of the wet concrete which will diminish to zero within a matter of hours depending on setting and curing rate</a:t>
            </a:r>
            <a:endParaRPr lang="en-US" sz="1600"/>
          </a:p>
          <a:p>
            <a:pPr marL="457200" indent="-457200" algn="just">
              <a:buFont typeface="+mj-lt"/>
              <a:buAutoNum type="romanLcPeriod"/>
            </a:pPr>
            <a:r>
              <a:rPr lang="en-US" sz="1600" b="1"/>
              <a:t>Grout tight joints</a:t>
            </a:r>
            <a:r>
              <a:rPr lang="en-US" sz="1600"/>
              <a:t> - Formwork must have sufficiently tight joints to prevent loss of fine material from concrete referred to as grout</a:t>
            </a:r>
            <a:endParaRPr lang="en-US" sz="1600"/>
          </a:p>
          <a:p>
            <a:pPr marL="457200" indent="-457200" algn="just">
              <a:buFont typeface="+mj-lt"/>
              <a:buAutoNum type="romanLcPeriod"/>
            </a:pPr>
            <a:endParaRPr lang="en-US" sz="1600"/>
          </a:p>
          <a:p>
            <a:pPr marL="457200" indent="-457200" algn="just">
              <a:buFont typeface="+mj-lt"/>
              <a:buAutoNum type="romanLcPeriod"/>
            </a:pPr>
            <a:r>
              <a:rPr lang="en-US" sz="1600" b="1"/>
              <a:t>Formwork base or soffit </a:t>
            </a:r>
            <a:r>
              <a:rPr lang="en-US" sz="1600"/>
              <a:t>- Limits depth and shape of wet concrete and has to resist the initial dead load of the wet concrete and later the dead load of the dry set concrete until it has gained sufficient strength to support its own dead weight which is usually several days after casting depending on curing rate. Here, formwork is a temporary mould into which wet concrete and reinforcement is placed to form a particular desired shape with a pre-determined strength.</a:t>
            </a:r>
            <a:endParaRPr lang="en-US" sz="1600"/>
          </a:p>
          <a:p>
            <a:pPr marL="457200" indent="-457200" algn="just">
              <a:buFont typeface="+mj-lt"/>
              <a:buAutoNum type="romanLcPeriod"/>
            </a:pPr>
            <a:endParaRPr lang="en-US" sz="1600"/>
          </a:p>
          <a:p>
            <a:pPr marL="0" indent="0" algn="just">
              <a:buFont typeface="+mj-lt"/>
              <a:buNone/>
            </a:pPr>
            <a:r>
              <a:rPr lang="en-US" sz="1600"/>
              <a:t>Inside the formwork is wet concrete once placed whose density is greater than that of the resultant set and dry concrete.</a:t>
            </a:r>
            <a:endParaRPr lang="en-US" sz="1600"/>
          </a:p>
        </p:txBody>
      </p:sp>
      <p:pic>
        <p:nvPicPr>
          <p:cNvPr id="4" name="Content Placeholder 3"/>
          <p:cNvPicPr>
            <a:picLocks noChangeAspect="1"/>
          </p:cNvPicPr>
          <p:nvPr>
            <p:ph sz="half" idx="2"/>
          </p:nvPr>
        </p:nvPicPr>
        <p:blipFill>
          <a:blip r:embed="rId1"/>
          <a:stretch>
            <a:fillRect/>
          </a:stretch>
        </p:blipFill>
        <p:spPr>
          <a:xfrm>
            <a:off x="8088630" y="1152525"/>
            <a:ext cx="4103370" cy="50050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fontScale="90000"/>
          </a:bodyPr>
          <a:lstStyle/>
          <a:p>
            <a:pPr algn="ctr"/>
            <a:r>
              <a:rPr lang="en-US" sz="4000" b="1"/>
              <a:t>General Requirements for Formwork</a:t>
            </a:r>
            <a:endParaRPr lang="en-US" sz="4000" b="1"/>
          </a:p>
        </p:txBody>
      </p:sp>
      <p:sp>
        <p:nvSpPr>
          <p:cNvPr id="68611" name="Rectangle 2051"/>
          <p:cNvSpPr>
            <a:spLocks noGrp="1" noChangeArrowheads="1"/>
          </p:cNvSpPr>
          <p:nvPr>
            <p:ph sz="half" idx="1"/>
          </p:nvPr>
        </p:nvSpPr>
        <p:spPr>
          <a:xfrm>
            <a:off x="1642745" y="1905635"/>
            <a:ext cx="6206490" cy="4868545"/>
          </a:xfrm>
        </p:spPr>
        <p:txBody>
          <a:bodyPr>
            <a:noAutofit/>
          </a:bodyPr>
          <a:lstStyle/>
          <a:p>
            <a:pPr marL="457200" indent="-457200" algn="just">
              <a:buFont typeface="+mj-lt"/>
              <a:buAutoNum type="romanLcPeriod"/>
            </a:pPr>
            <a:r>
              <a:rPr lang="en-US" sz="2800"/>
              <a:t>It should be sufficiently rigid to prevent undue movement during the placing of the wet concrete</a:t>
            </a:r>
            <a:endParaRPr lang="en-US" sz="2800"/>
          </a:p>
          <a:p>
            <a:pPr marL="457200" indent="-457200" algn="just">
              <a:buFont typeface="+mj-lt"/>
              <a:buAutoNum type="romanLcPeriod"/>
            </a:pPr>
            <a:endParaRPr lang="en-US" sz="2800"/>
          </a:p>
          <a:p>
            <a:pPr marL="457200" indent="-457200" algn="just">
              <a:buFont typeface="+mj-lt"/>
              <a:buAutoNum type="romanLcPeriod"/>
            </a:pPr>
            <a:r>
              <a:rPr lang="en-US" sz="2800"/>
              <a:t>It should be of sufficient strength to withstand working loads and weight of wet concrete</a:t>
            </a:r>
            <a:endParaRPr lang="en-US" sz="2800"/>
          </a:p>
          <a:p>
            <a:pPr marL="457200" indent="-457200" algn="just">
              <a:buFont typeface="+mj-lt"/>
              <a:buAutoNum type="romanLcPeriod"/>
            </a:pPr>
            <a:endParaRPr lang="en-US" sz="2800"/>
          </a:p>
        </p:txBody>
      </p:sp>
      <p:pic>
        <p:nvPicPr>
          <p:cNvPr id="10" name="Picture 2"/>
          <p:cNvPicPr>
            <a:picLocks noChangeAspect="1" noChangeArrowheads="1"/>
          </p:cNvPicPr>
          <p:nvPr>
            <p:ph sz="half" idx="2"/>
          </p:nvPr>
        </p:nvPicPr>
        <p:blipFill>
          <a:blip r:embed="rId1" cstate="print"/>
          <a:srcRect l="4138" t="393" r="13102"/>
          <a:stretch>
            <a:fillRect/>
          </a:stretch>
        </p:blipFill>
        <p:spPr bwMode="auto">
          <a:xfrm>
            <a:off x="8068310" y="1905635"/>
            <a:ext cx="4039235" cy="46228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fontScale="90000"/>
          </a:bodyPr>
          <a:lstStyle/>
          <a:p>
            <a:pPr algn="ctr"/>
            <a:r>
              <a:rPr lang="en-US" sz="4000" b="1"/>
              <a:t>General Requirements for Formwork</a:t>
            </a:r>
            <a:endParaRPr lang="en-US" sz="4000" b="1"/>
          </a:p>
        </p:txBody>
      </p:sp>
      <p:sp>
        <p:nvSpPr>
          <p:cNvPr id="68611" name="Rectangle 2051"/>
          <p:cNvSpPr>
            <a:spLocks noGrp="1" noChangeArrowheads="1"/>
          </p:cNvSpPr>
          <p:nvPr>
            <p:ph sz="half" idx="1"/>
          </p:nvPr>
        </p:nvSpPr>
        <p:spPr>
          <a:xfrm>
            <a:off x="1363980" y="1555115"/>
            <a:ext cx="6389370" cy="4356100"/>
          </a:xfrm>
        </p:spPr>
        <p:txBody>
          <a:bodyPr>
            <a:noAutofit/>
          </a:bodyPr>
          <a:lstStyle/>
          <a:p>
            <a:pPr marL="457200" indent="-457200" algn="just">
              <a:buFont typeface="+mj-lt"/>
              <a:buAutoNum type="romanLcPeriod" startAt="3"/>
            </a:pPr>
            <a:r>
              <a:rPr lang="en-US" sz="2400">
                <a:sym typeface="+mn-ea"/>
              </a:rPr>
              <a:t>It must have sufficiently tight joints to prevent loss of fine material of sand, cement and water (grout) from concrete especially during compaction (vibration) of concrete</a:t>
            </a:r>
            <a:endParaRPr lang="en-US" sz="2400">
              <a:sym typeface="+mn-ea"/>
            </a:endParaRPr>
          </a:p>
          <a:p>
            <a:pPr marL="457200" indent="-457200" algn="just">
              <a:buFont typeface="+mj-lt"/>
              <a:buAutoNum type="romanLcPeriod" startAt="3"/>
            </a:pPr>
            <a:endParaRPr lang="en-US" sz="2400"/>
          </a:p>
          <a:p>
            <a:pPr marL="457200" indent="-457200" algn="just">
              <a:buFont typeface="+mj-lt"/>
              <a:buAutoNum type="romanLcPeriod" startAt="3"/>
            </a:pPr>
            <a:r>
              <a:rPr lang="en-US" sz="2400">
                <a:sym typeface="+mn-ea"/>
              </a:rPr>
              <a:t>Erection and stripping shall be easily performed with units of manageable sizes</a:t>
            </a:r>
            <a:endParaRPr lang="en-US" sz="2400"/>
          </a:p>
          <a:p>
            <a:pPr marL="457200" indent="-457200" algn="just">
              <a:buFont typeface="+mj-lt"/>
              <a:buAutoNum type="romanLcPeriod" startAt="3"/>
            </a:pPr>
            <a:endParaRPr lang="en-US" sz="2400"/>
          </a:p>
        </p:txBody>
      </p:sp>
      <p:pic>
        <p:nvPicPr>
          <p:cNvPr id="10" name="Picture 2"/>
          <p:cNvPicPr>
            <a:picLocks noChangeAspect="1" noChangeArrowheads="1"/>
          </p:cNvPicPr>
          <p:nvPr>
            <p:ph sz="half" idx="2"/>
          </p:nvPr>
        </p:nvPicPr>
        <p:blipFill>
          <a:blip r:embed="rId1" cstate="print"/>
          <a:srcRect l="4138" t="393" r="13102"/>
          <a:stretch>
            <a:fillRect/>
          </a:stretch>
        </p:blipFill>
        <p:spPr bwMode="auto">
          <a:xfrm>
            <a:off x="8153400" y="1555115"/>
            <a:ext cx="4039235" cy="4737735"/>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fontScale="90000"/>
          </a:bodyPr>
          <a:lstStyle/>
          <a:p>
            <a:pPr algn="ctr"/>
            <a:r>
              <a:rPr lang="en-US" sz="4000" b="1"/>
              <a:t>General Requirements for Formwork</a:t>
            </a:r>
            <a:endParaRPr lang="en-US" sz="4000" b="1"/>
          </a:p>
        </p:txBody>
      </p:sp>
      <p:sp>
        <p:nvSpPr>
          <p:cNvPr id="68611" name="Rectangle 2051"/>
          <p:cNvSpPr>
            <a:spLocks noGrp="1" noChangeArrowheads="1"/>
          </p:cNvSpPr>
          <p:nvPr>
            <p:ph sz="half" idx="1"/>
          </p:nvPr>
        </p:nvSpPr>
        <p:spPr>
          <a:xfrm>
            <a:off x="1363980" y="1555115"/>
            <a:ext cx="6389370" cy="4356100"/>
          </a:xfrm>
        </p:spPr>
        <p:txBody>
          <a:bodyPr>
            <a:noAutofit/>
          </a:bodyPr>
          <a:lstStyle/>
          <a:p>
            <a:pPr marL="457200" indent="-457200" algn="just">
              <a:buFont typeface="+mj-lt"/>
              <a:buAutoNum type="romanLcPeriod" startAt="5"/>
            </a:pPr>
            <a:r>
              <a:rPr lang="en-US" sz="2400"/>
              <a:t>The general designs of formwork are strong, stable and leak-proof</a:t>
            </a:r>
            <a:endParaRPr lang="en-US" sz="2400"/>
          </a:p>
          <a:p>
            <a:pPr marL="457200" indent="-457200" algn="just">
              <a:buFont typeface="+mj-lt"/>
              <a:buAutoNum type="romanLcPeriod" startAt="5"/>
            </a:pPr>
            <a:endParaRPr lang="en-US" sz="2400"/>
          </a:p>
          <a:p>
            <a:pPr marL="457200" indent="-457200" algn="just">
              <a:buFont typeface="+mj-lt"/>
              <a:buAutoNum type="romanLcPeriod" startAt="5"/>
            </a:pPr>
            <a:r>
              <a:rPr lang="en-US" sz="2400"/>
              <a:t>The use of telescopic units, adjustable props and special beam and column clamps, permit the easy erection and dismantling of formwork</a:t>
            </a:r>
            <a:endParaRPr lang="en-US" sz="2400"/>
          </a:p>
          <a:p>
            <a:pPr marL="457200" indent="-457200" algn="just">
              <a:buFont typeface="+mj-lt"/>
              <a:buAutoNum type="romanLcPeriod" startAt="5"/>
            </a:pPr>
            <a:endParaRPr lang="en-US" sz="2400"/>
          </a:p>
          <a:p>
            <a:pPr marL="457200" indent="-457200" algn="just">
              <a:buFont typeface="+mj-lt"/>
              <a:buAutoNum type="romanLcPeriod" startAt="5"/>
            </a:pPr>
            <a:r>
              <a:rPr lang="en-US" sz="2400"/>
              <a:t>Thus, formwork is usually made of braced panels of timber (wood), metal or plastic.</a:t>
            </a:r>
            <a:endParaRPr lang="en-US" sz="2400"/>
          </a:p>
        </p:txBody>
      </p:sp>
      <p:pic>
        <p:nvPicPr>
          <p:cNvPr id="10" name="Picture 2"/>
          <p:cNvPicPr>
            <a:picLocks noChangeAspect="1" noChangeArrowheads="1"/>
          </p:cNvPicPr>
          <p:nvPr>
            <p:ph sz="half" idx="2"/>
          </p:nvPr>
        </p:nvPicPr>
        <p:blipFill>
          <a:blip r:embed="rId1" cstate="print"/>
          <a:srcRect l="4138" t="393" r="13102"/>
          <a:stretch>
            <a:fillRect/>
          </a:stretch>
        </p:blipFill>
        <p:spPr bwMode="auto">
          <a:xfrm>
            <a:off x="8153400" y="1555115"/>
            <a:ext cx="4039235" cy="4737735"/>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Rectangle 2050"/>
          <p:cNvSpPr>
            <a:spLocks noGrp="1" noChangeArrowheads="1"/>
          </p:cNvSpPr>
          <p:nvPr>
            <p:ph type="title"/>
          </p:nvPr>
        </p:nvSpPr>
        <p:spPr>
          <a:xfrm>
            <a:off x="1981200" y="274638"/>
            <a:ext cx="8229600" cy="778098"/>
          </a:xfrm>
        </p:spPr>
        <p:txBody>
          <a:bodyPr/>
          <a:lstStyle/>
          <a:p>
            <a:r>
              <a:rPr lang="en-US" sz="4000"/>
              <a:t>Requirements of Formwork</a:t>
            </a:r>
            <a:endParaRPr lang="en-US" sz="4000"/>
          </a:p>
        </p:txBody>
      </p:sp>
      <p:sp>
        <p:nvSpPr>
          <p:cNvPr id="8195" name="Rectangle 3"/>
          <p:cNvSpPr>
            <a:spLocks noGrp="1" noChangeArrowheads="1"/>
          </p:cNvSpPr>
          <p:nvPr>
            <p:ph type="body" sz="quarter" idx="10"/>
          </p:nvPr>
        </p:nvSpPr>
        <p:spPr>
          <a:xfrm>
            <a:off x="2423592" y="1052736"/>
            <a:ext cx="7772400" cy="4114800"/>
          </a:xfrm>
          <a:noFill/>
        </p:spPr>
        <p:txBody>
          <a:bodyPr vert="horz" lIns="90488" tIns="44450" rIns="90488" bIns="44450" rtlCol="0">
            <a:normAutofit fontScale="92500" lnSpcReduction="20000"/>
          </a:bodyPr>
          <a:lstStyle/>
          <a:p>
            <a:r>
              <a:rPr lang="en-US" sz="2800"/>
              <a:t>Checks before concreting:</a:t>
            </a:r>
            <a:endParaRPr lang="en-US" sz="2800"/>
          </a:p>
          <a:p>
            <a:pPr lvl="1">
              <a:buFont typeface="Arial" panose="020B0604020202020204" pitchFamily="34" charset="0"/>
              <a:buChar char="•"/>
            </a:pPr>
            <a:r>
              <a:rPr lang="en-US" sz="2400">
                <a:solidFill>
                  <a:schemeClr val="accent6">
                    <a:lumMod val="75000"/>
                  </a:schemeClr>
                </a:solidFill>
              </a:rPr>
              <a:t>Strength</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Accuracy</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Rigidity</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Non-contaminating</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Joints to be paste-tight</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Even absorption</a:t>
            </a:r>
            <a:endParaRPr lang="en-US" sz="2400">
              <a:solidFill>
                <a:schemeClr val="accent6">
                  <a:lumMod val="75000"/>
                </a:schemeClr>
              </a:solidFill>
            </a:endParaRPr>
          </a:p>
          <a:p>
            <a:pPr lvl="1">
              <a:buFont typeface="Arial" panose="020B0604020202020204" pitchFamily="34" charset="0"/>
              <a:buChar char="•"/>
            </a:pPr>
            <a:r>
              <a:rPr lang="en-US" sz="2400">
                <a:solidFill>
                  <a:schemeClr val="accent6">
                    <a:lumMod val="75000"/>
                  </a:schemeClr>
                </a:solidFill>
              </a:rPr>
              <a:t>Stability</a:t>
            </a:r>
            <a:endParaRPr lang="en-US" sz="2400">
              <a:solidFill>
                <a:schemeClr val="accent6">
                  <a:lumMod val="75000"/>
                </a:schemeClr>
              </a:solidFill>
            </a:endParaRPr>
          </a:p>
          <a:p>
            <a:pPr marL="1371600" lvl="2" indent="-457200">
              <a:buFont typeface="Arial" panose="020B0604020202020204" pitchFamily="34" charset="0"/>
              <a:buChar char="•"/>
            </a:pPr>
            <a:r>
              <a:rPr lang="en-US" sz="2000">
                <a:solidFill>
                  <a:schemeClr val="accent6">
                    <a:lumMod val="75000"/>
                  </a:schemeClr>
                </a:solidFill>
              </a:rPr>
              <a:t>Cross-bracing</a:t>
            </a:r>
            <a:endParaRPr lang="en-US" sz="2000">
              <a:solidFill>
                <a:schemeClr val="accent6">
                  <a:lumMod val="75000"/>
                </a:schemeClr>
              </a:solidFill>
            </a:endParaRPr>
          </a:p>
          <a:p>
            <a:pPr marL="1371600" lvl="2" indent="-457200">
              <a:buFont typeface="Arial" panose="020B0604020202020204" pitchFamily="34" charset="0"/>
              <a:buChar char="•"/>
            </a:pPr>
            <a:r>
              <a:rPr lang="en-US" sz="2000">
                <a:solidFill>
                  <a:schemeClr val="accent6">
                    <a:lumMod val="75000"/>
                  </a:schemeClr>
                </a:solidFill>
              </a:rPr>
              <a:t>Founding</a:t>
            </a:r>
            <a:endParaRPr lang="en-US" sz="2000">
              <a:solidFill>
                <a:schemeClr val="accent6">
                  <a:lumMod val="75000"/>
                </a:schemeClr>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991544" y="620688"/>
            <a:ext cx="8229600" cy="533400"/>
          </a:xfrm>
          <a:noFill/>
        </p:spPr>
        <p:txBody>
          <a:bodyPr vert="horz" lIns="90488" tIns="44450" rIns="90488" bIns="44450" rtlCol="0" anchor="t">
            <a:normAutofit fontScale="90000"/>
          </a:bodyPr>
          <a:lstStyle/>
          <a:p>
            <a:r>
              <a:rPr lang="en-US" sz="4000"/>
              <a:t>Striking Formwork</a:t>
            </a:r>
            <a:br>
              <a:rPr lang="en-US"/>
            </a:br>
            <a:endParaRPr lang="en-US" sz="3200"/>
          </a:p>
        </p:txBody>
      </p:sp>
      <p:sp>
        <p:nvSpPr>
          <p:cNvPr id="14339" name="Rectangle 3"/>
          <p:cNvSpPr>
            <a:spLocks noGrp="1" noChangeArrowheads="1"/>
          </p:cNvSpPr>
          <p:nvPr>
            <p:ph type="body" sz="quarter" idx="10"/>
          </p:nvPr>
        </p:nvSpPr>
        <p:spPr>
          <a:xfrm>
            <a:off x="2209800" y="1676400"/>
            <a:ext cx="7772400" cy="4114800"/>
          </a:xfrm>
          <a:noFill/>
        </p:spPr>
        <p:txBody>
          <a:bodyPr vert="horz" lIns="90488" tIns="44450" rIns="90488" bIns="44450" rtlCol="0">
            <a:normAutofit/>
          </a:bodyPr>
          <a:lstStyle/>
          <a:p>
            <a:pPr marL="457200" indent="-457200">
              <a:buFont typeface="Arial" panose="020B0604020202020204" pitchFamily="34" charset="0"/>
              <a:buChar char="•"/>
            </a:pPr>
            <a:r>
              <a:rPr lang="en-US" sz="2800"/>
              <a:t>Factors influencing striking time: </a:t>
            </a:r>
            <a:endParaRPr lang="en-US" sz="2800"/>
          </a:p>
          <a:p>
            <a:pPr marL="800100" lvl="1" indent="-342900">
              <a:buFont typeface="Arial" panose="020B0604020202020204" pitchFamily="34" charset="0"/>
              <a:buChar char="•"/>
            </a:pPr>
            <a:r>
              <a:rPr lang="en-US" sz="2400">
                <a:solidFill>
                  <a:schemeClr val="accent6">
                    <a:lumMod val="75000"/>
                  </a:schemeClr>
                </a:solidFill>
              </a:rPr>
              <a:t>Type of structural member eg. beam, column or slab</a:t>
            </a:r>
            <a:endParaRPr lang="en-US" sz="2400">
              <a:solidFill>
                <a:schemeClr val="accent6">
                  <a:lumMod val="75000"/>
                </a:schemeClr>
              </a:solidFill>
            </a:endParaRPr>
          </a:p>
          <a:p>
            <a:pPr marL="800100" lvl="1" indent="-342900">
              <a:buFont typeface="Arial" panose="020B0604020202020204" pitchFamily="34" charset="0"/>
              <a:buChar char="•"/>
            </a:pPr>
            <a:r>
              <a:rPr lang="en-US" sz="2400">
                <a:solidFill>
                  <a:schemeClr val="accent6">
                    <a:lumMod val="75000"/>
                  </a:schemeClr>
                </a:solidFill>
              </a:rPr>
              <a:t>Type of cement</a:t>
            </a:r>
            <a:endParaRPr lang="en-US" sz="2400">
              <a:solidFill>
                <a:schemeClr val="accent6">
                  <a:lumMod val="75000"/>
                </a:schemeClr>
              </a:solidFill>
            </a:endParaRPr>
          </a:p>
          <a:p>
            <a:pPr marL="800100" lvl="1" indent="-342900">
              <a:buFont typeface="Arial" panose="020B0604020202020204" pitchFamily="34" charset="0"/>
              <a:buChar char="•"/>
            </a:pPr>
            <a:r>
              <a:rPr lang="en-US" sz="2400">
                <a:solidFill>
                  <a:schemeClr val="accent6">
                    <a:lumMod val="75000"/>
                  </a:schemeClr>
                </a:solidFill>
              </a:rPr>
              <a:t>Type of admixture</a:t>
            </a:r>
            <a:endParaRPr lang="en-US" sz="2400">
              <a:solidFill>
                <a:schemeClr val="accent6">
                  <a:lumMod val="75000"/>
                </a:schemeClr>
              </a:solidFill>
            </a:endParaRPr>
          </a:p>
          <a:p>
            <a:pPr marL="800100" lvl="1" indent="-342900">
              <a:buFont typeface="Arial" panose="020B0604020202020204" pitchFamily="34" charset="0"/>
              <a:buChar char="•"/>
            </a:pPr>
            <a:r>
              <a:rPr lang="en-US" sz="2400">
                <a:solidFill>
                  <a:schemeClr val="accent6">
                    <a:lumMod val="75000"/>
                  </a:schemeClr>
                </a:solidFill>
              </a:rPr>
              <a:t>Concrete temperature</a:t>
            </a:r>
            <a:endParaRPr lang="en-US" sz="2400">
              <a:solidFill>
                <a:schemeClr val="accent6">
                  <a:lumMod val="75000"/>
                </a:schemeClr>
              </a:solidFill>
            </a:endParaRPr>
          </a:p>
          <a:p>
            <a:pPr marL="800100" lvl="1" indent="-342900">
              <a:buFont typeface="Arial" panose="020B0604020202020204" pitchFamily="34" charset="0"/>
              <a:buChar char="•"/>
            </a:pPr>
            <a:r>
              <a:rPr lang="en-US" sz="2400">
                <a:solidFill>
                  <a:schemeClr val="accent6">
                    <a:lumMod val="75000"/>
                  </a:schemeClr>
                </a:solidFill>
              </a:rPr>
              <a:t>Curing conditions</a:t>
            </a:r>
            <a:endParaRPr lang="en-US" sz="2400">
              <a:solidFill>
                <a:schemeClr val="accent6">
                  <a:lumMod val="7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fontScale="90000"/>
          </a:bodyPr>
          <a:lstStyle/>
          <a:p>
            <a:r>
              <a:rPr lang="en-US" sz="4000"/>
              <a:t>Unsafe conditions</a:t>
            </a:r>
            <a:endParaRPr lang="en-US" sz="4000"/>
          </a:p>
        </p:txBody>
      </p:sp>
      <p:sp>
        <p:nvSpPr>
          <p:cNvPr id="68611" name="Rectangle 2051"/>
          <p:cNvSpPr>
            <a:spLocks noGrp="1" noChangeArrowheads="1"/>
          </p:cNvSpPr>
          <p:nvPr>
            <p:ph type="body" sz="quarter" idx="10"/>
          </p:nvPr>
        </p:nvSpPr>
        <p:spPr>
          <a:xfrm>
            <a:off x="1919536" y="1412776"/>
            <a:ext cx="8748464" cy="3771900"/>
          </a:xfrm>
        </p:spPr>
        <p:txBody>
          <a:bodyPr>
            <a:normAutofit lnSpcReduction="10000"/>
          </a:bodyPr>
          <a:lstStyle/>
          <a:p>
            <a:pPr lvl="0">
              <a:buFont typeface="Arial" panose="020B0604020202020204" pitchFamily="34" charset="0"/>
              <a:buChar char="•"/>
            </a:pPr>
            <a:r>
              <a:rPr lang="en-US" sz="2800"/>
              <a:t>Use of substandard or damaged materials</a:t>
            </a:r>
            <a:endParaRPr lang="en-US" sz="2800"/>
          </a:p>
          <a:p>
            <a:pPr lvl="0">
              <a:buFont typeface="Arial" panose="020B0604020202020204" pitchFamily="34" charset="0"/>
              <a:buChar char="•"/>
            </a:pPr>
            <a:r>
              <a:rPr lang="en-US" sz="2800"/>
              <a:t>Loss of support</a:t>
            </a:r>
            <a:endParaRPr lang="en-US" sz="2800"/>
          </a:p>
          <a:p>
            <a:pPr lvl="1">
              <a:buFont typeface="Arial" panose="020B0604020202020204" pitchFamily="34" charset="0"/>
              <a:buChar char="•"/>
            </a:pPr>
            <a:r>
              <a:rPr lang="en-US" sz="2400">
                <a:solidFill>
                  <a:schemeClr val="accent6">
                    <a:lumMod val="75000"/>
                  </a:schemeClr>
                </a:solidFill>
              </a:rPr>
              <a:t>settlement of fill material, insufficient supporting capacity of the ground, adjacent excavations, vibration from plant or traffic, washout by rain or burst water main)</a:t>
            </a:r>
            <a:endParaRPr lang="en-US" sz="2400">
              <a:solidFill>
                <a:schemeClr val="accent6">
                  <a:lumMod val="75000"/>
                </a:schemeClr>
              </a:solidFill>
            </a:endParaRPr>
          </a:p>
          <a:p>
            <a:pPr lvl="0">
              <a:buFont typeface="Arial" panose="020B0604020202020204" pitchFamily="34" charset="0"/>
              <a:buChar char="•"/>
            </a:pPr>
            <a:r>
              <a:rPr lang="en-US" sz="2800"/>
              <a:t>Inadequate, incorrect type of fastenings or improperly secured fastenings (nails instead of bolts to take tension)</a:t>
            </a:r>
            <a:endParaRPr lang="en-US" sz="2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fontScale="90000"/>
          </a:bodyPr>
          <a:lstStyle/>
          <a:p>
            <a:r>
              <a:rPr lang="en-US" sz="4000"/>
              <a:t>Unsafe conditions</a:t>
            </a:r>
            <a:endParaRPr lang="en-US" sz="4000"/>
          </a:p>
        </p:txBody>
      </p:sp>
      <p:sp>
        <p:nvSpPr>
          <p:cNvPr id="68611" name="Rectangle 2051"/>
          <p:cNvSpPr>
            <a:spLocks noGrp="1" noChangeArrowheads="1"/>
          </p:cNvSpPr>
          <p:nvPr>
            <p:ph type="body" sz="quarter" idx="10"/>
          </p:nvPr>
        </p:nvSpPr>
        <p:spPr>
          <a:xfrm>
            <a:off x="1919536" y="1412776"/>
            <a:ext cx="8748464" cy="3771900"/>
          </a:xfrm>
        </p:spPr>
        <p:txBody>
          <a:bodyPr/>
          <a:lstStyle/>
          <a:p>
            <a:pPr lvl="0">
              <a:buFont typeface="Arial" panose="020B0604020202020204" pitchFamily="34" charset="0"/>
              <a:buChar char="•"/>
            </a:pPr>
            <a:r>
              <a:rPr lang="en-US" sz="2800"/>
              <a:t>Poor workmanship</a:t>
            </a:r>
            <a:endParaRPr lang="en-US" sz="2800"/>
          </a:p>
          <a:p>
            <a:pPr lvl="0">
              <a:buFont typeface="Arial" panose="020B0604020202020204" pitchFamily="34" charset="0"/>
              <a:buChar char="•"/>
            </a:pPr>
            <a:r>
              <a:rPr lang="en-US" sz="2800"/>
              <a:t>Overloading</a:t>
            </a:r>
            <a:endParaRPr lang="en-US" sz="2800"/>
          </a:p>
          <a:p>
            <a:pPr lvl="0">
              <a:buFont typeface="Arial" panose="020B0604020202020204" pitchFamily="34" charset="0"/>
              <a:buChar char="•"/>
            </a:pPr>
            <a:r>
              <a:rPr lang="en-US" sz="2800"/>
              <a:t>Eccentric or shock loads</a:t>
            </a:r>
            <a:endParaRPr lang="en-US" sz="2800"/>
          </a:p>
          <a:p>
            <a:pPr lvl="0">
              <a:buFont typeface="Arial" panose="020B0604020202020204" pitchFamily="34" charset="0"/>
              <a:buChar char="•"/>
            </a:pPr>
            <a:r>
              <a:rPr lang="en-US" sz="2800"/>
              <a:t>Failure of support</a:t>
            </a:r>
            <a:endParaRPr lang="en-US" sz="2800"/>
          </a:p>
          <a:p>
            <a:pPr lvl="1">
              <a:buFont typeface="Arial" panose="020B0604020202020204" pitchFamily="34" charset="0"/>
              <a:buChar char="•"/>
            </a:pPr>
            <a:r>
              <a:rPr lang="en-US" sz="2400">
                <a:solidFill>
                  <a:schemeClr val="accent6">
                    <a:lumMod val="75000"/>
                  </a:schemeClr>
                </a:solidFill>
              </a:rPr>
              <a:t>inadequate diagonal bracing, props out of plumb</a:t>
            </a:r>
            <a:endParaRPr lang="en-US" sz="2400">
              <a:solidFill>
                <a:schemeClr val="accent6">
                  <a:lumMod val="75000"/>
                </a:schemeClr>
              </a:solidFill>
            </a:endParaRPr>
          </a:p>
          <a:p>
            <a:pPr lvl="0"/>
            <a:endParaRPr lang="en-US"/>
          </a:p>
          <a:p>
            <a:pPr lvl="0"/>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209800" y="0"/>
            <a:ext cx="7772400" cy="1143000"/>
          </a:xfrm>
        </p:spPr>
        <p:txBody>
          <a:bodyPr/>
          <a:lstStyle/>
          <a:p>
            <a:r>
              <a:rPr lang="en-US" sz="4000"/>
              <a:t>Common Failures</a:t>
            </a:r>
            <a:endParaRPr lang="en-US" sz="4000"/>
          </a:p>
        </p:txBody>
      </p:sp>
      <p:sp>
        <p:nvSpPr>
          <p:cNvPr id="73731" name="Rectangle 3"/>
          <p:cNvSpPr>
            <a:spLocks noGrp="1" noChangeArrowheads="1"/>
          </p:cNvSpPr>
          <p:nvPr>
            <p:ph type="body" sz="quarter" idx="10"/>
          </p:nvPr>
        </p:nvSpPr>
        <p:spPr>
          <a:xfrm>
            <a:off x="2208213" y="981076"/>
            <a:ext cx="7848600" cy="4824413"/>
          </a:xfrm>
        </p:spPr>
        <p:txBody>
          <a:bodyPr/>
          <a:lstStyle/>
          <a:p>
            <a:pPr>
              <a:buFont typeface="Arial" panose="020B0604020202020204" pitchFamily="34" charset="0"/>
              <a:buChar char="•"/>
            </a:pPr>
            <a:r>
              <a:rPr lang="en-US" sz="2800"/>
              <a:t>Inaccurate shape</a:t>
            </a:r>
            <a:endParaRPr lang="en-US" sz="2800"/>
          </a:p>
          <a:p>
            <a:pPr lvl="1">
              <a:buFont typeface="Arial" panose="020B0604020202020204" pitchFamily="34" charset="0"/>
              <a:buChar char="•"/>
            </a:pPr>
            <a:r>
              <a:rPr lang="en-US" sz="2400">
                <a:solidFill>
                  <a:schemeClr val="accent6">
                    <a:lumMod val="75000"/>
                  </a:schemeClr>
                </a:solidFill>
              </a:rPr>
              <a:t>Poor erection, deflection, opening of joints</a:t>
            </a:r>
            <a:endParaRPr lang="en-US" sz="2400">
              <a:solidFill>
                <a:schemeClr val="accent6">
                  <a:lumMod val="75000"/>
                </a:schemeClr>
              </a:solidFill>
            </a:endParaRPr>
          </a:p>
          <a:p>
            <a:pPr>
              <a:buFont typeface="Arial" panose="020B0604020202020204" pitchFamily="34" charset="0"/>
              <a:buChar char="•"/>
            </a:pPr>
            <a:r>
              <a:rPr lang="en-US" sz="2800"/>
              <a:t>Inadequate ties</a:t>
            </a:r>
            <a:endParaRPr lang="en-US" sz="2800"/>
          </a:p>
          <a:p>
            <a:pPr lvl="1">
              <a:buFont typeface="Arial" panose="020B0604020202020204" pitchFamily="34" charset="0"/>
              <a:buChar char="•"/>
            </a:pPr>
            <a:r>
              <a:rPr lang="en-US" sz="2400">
                <a:solidFill>
                  <a:schemeClr val="accent6">
                    <a:lumMod val="75000"/>
                  </a:schemeClr>
                </a:solidFill>
              </a:rPr>
              <a:t>Kicking, loss of fines</a:t>
            </a:r>
            <a:endParaRPr lang="en-US" sz="2400">
              <a:solidFill>
                <a:schemeClr val="accent6">
                  <a:lumMod val="75000"/>
                </a:schemeClr>
              </a:solidFill>
            </a:endParaRPr>
          </a:p>
          <a:p>
            <a:pPr>
              <a:buFont typeface="Arial" panose="020B0604020202020204" pitchFamily="34" charset="0"/>
              <a:buChar char="•"/>
            </a:pPr>
            <a:r>
              <a:rPr lang="en-US" sz="2800"/>
              <a:t>Collapse of props</a:t>
            </a:r>
            <a:endParaRPr lang="en-US" sz="2800"/>
          </a:p>
          <a:p>
            <a:pPr lvl="1">
              <a:buFont typeface="Arial" panose="020B0604020202020204" pitchFamily="34" charset="0"/>
              <a:buChar char="•"/>
            </a:pPr>
            <a:r>
              <a:rPr lang="en-US" sz="2400">
                <a:solidFill>
                  <a:schemeClr val="accent6">
                    <a:lumMod val="75000"/>
                  </a:schemeClr>
                </a:solidFill>
              </a:rPr>
              <a:t>Lack of bracing</a:t>
            </a:r>
            <a:endParaRPr lang="en-US" sz="2400">
              <a:solidFill>
                <a:schemeClr val="accent6">
                  <a:lumMod val="75000"/>
                </a:schemeClr>
              </a:solidFill>
            </a:endParaRPr>
          </a:p>
          <a:p>
            <a:pPr>
              <a:buFont typeface="Arial" panose="020B0604020202020204" pitchFamily="34" charset="0"/>
              <a:buChar char="•"/>
            </a:pPr>
            <a:r>
              <a:rPr lang="en-US" sz="2800"/>
              <a:t>Surface blemishes</a:t>
            </a:r>
            <a:endParaRPr lang="en-US" sz="2800"/>
          </a:p>
          <a:p>
            <a:pPr lvl="1">
              <a:buFont typeface="Arial" panose="020B0604020202020204" pitchFamily="34" charset="0"/>
              <a:buChar char="•"/>
            </a:pPr>
            <a:r>
              <a:rPr lang="en-US" sz="2400">
                <a:solidFill>
                  <a:schemeClr val="accent6">
                    <a:lumMod val="75000"/>
                  </a:schemeClr>
                </a:solidFill>
              </a:rPr>
              <a:t>Release agents, crazing, staining, loss of fines</a:t>
            </a:r>
            <a:endParaRPr lang="en-US" sz="2400">
              <a:solidFill>
                <a:schemeClr val="accent6">
                  <a:lumMod val="7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a:xfrm>
            <a:off x="2592924" y="-95"/>
            <a:ext cx="8911687" cy="1280890"/>
          </a:xfrm>
        </p:spPr>
        <p:txBody>
          <a:bodyPr>
            <a:normAutofit/>
          </a:bodyPr>
          <a:lstStyle/>
          <a:p>
            <a:pPr algn="ctr"/>
            <a:r>
              <a:rPr lang="en-US" sz="4000" b="1"/>
              <a:t>What is Falsework?</a:t>
            </a:r>
            <a:endParaRPr lang="en-US" sz="4000" b="1"/>
          </a:p>
        </p:txBody>
      </p:sp>
      <p:sp>
        <p:nvSpPr>
          <p:cNvPr id="68611" name="Rectangle 2051"/>
          <p:cNvSpPr>
            <a:spLocks noGrp="1" noChangeArrowheads="1"/>
          </p:cNvSpPr>
          <p:nvPr>
            <p:ph sz="half" idx="2"/>
          </p:nvPr>
        </p:nvSpPr>
        <p:spPr>
          <a:xfrm>
            <a:off x="1064895" y="967740"/>
            <a:ext cx="4675505" cy="3745230"/>
          </a:xfrm>
        </p:spPr>
        <p:txBody>
          <a:bodyPr>
            <a:noAutofit/>
          </a:bodyPr>
          <a:lstStyle/>
          <a:p>
            <a:pPr algn="just">
              <a:buFont typeface="Arial" panose="020B0604020202020204" pitchFamily="34" charset="0"/>
              <a:buChar char="•"/>
            </a:pPr>
            <a:endParaRPr lang="en-US" sz="2800"/>
          </a:p>
          <a:p>
            <a:pPr algn="just">
              <a:buFont typeface="Arial" panose="020B0604020202020204" pitchFamily="34" charset="0"/>
              <a:buChar char="•"/>
            </a:pPr>
            <a:r>
              <a:rPr lang="en-US" sz="2800"/>
              <a:t>Falsework is that part of formwork which supports the forms. </a:t>
            </a:r>
            <a:endParaRPr lang="en-US" sz="2800"/>
          </a:p>
          <a:p>
            <a:pPr algn="just">
              <a:buFont typeface="Arial" panose="020B0604020202020204" pitchFamily="34" charset="0"/>
              <a:buChar char="•"/>
            </a:pPr>
            <a:endParaRPr lang="en-US" sz="2800"/>
          </a:p>
          <a:p>
            <a:pPr algn="just">
              <a:buFont typeface="Arial" panose="020B0604020202020204" pitchFamily="34" charset="0"/>
              <a:buChar char="•"/>
            </a:pPr>
            <a:r>
              <a:rPr lang="en-US" sz="2800"/>
              <a:t>Falsework is when dealing with situations where the supporting systems is carrying a </a:t>
            </a:r>
            <a:r>
              <a:rPr lang="en-US" sz="2800" b="1"/>
              <a:t>vertical load</a:t>
            </a:r>
            <a:r>
              <a:rPr lang="en-US" sz="2800"/>
              <a:t>.</a:t>
            </a:r>
            <a:endParaRPr lang="en-US" sz="2800"/>
          </a:p>
          <a:p>
            <a:pPr algn="just">
              <a:buFont typeface="Arial" panose="020B0604020202020204" pitchFamily="34" charset="0"/>
              <a:buChar char="•"/>
            </a:pPr>
            <a:endParaRPr lang="en-US" sz="2800" b="1"/>
          </a:p>
        </p:txBody>
      </p:sp>
      <p:pic>
        <p:nvPicPr>
          <p:cNvPr id="2" name="Content Placeholder 1"/>
          <p:cNvPicPr>
            <a:picLocks noChangeAspect="1"/>
          </p:cNvPicPr>
          <p:nvPr>
            <p:ph sz="half" idx="1"/>
          </p:nvPr>
        </p:nvPicPr>
        <p:blipFill>
          <a:blip r:embed="rId1"/>
          <a:stretch>
            <a:fillRect/>
          </a:stretch>
        </p:blipFill>
        <p:spPr>
          <a:xfrm>
            <a:off x="6459220" y="1109980"/>
            <a:ext cx="5347970" cy="4993640"/>
          </a:xfrm>
          <a:prstGeom prst="rect">
            <a:avLst/>
          </a:prstGeom>
        </p:spPr>
      </p:pic>
      <p:sp>
        <p:nvSpPr>
          <p:cNvPr id="3" name="Text Box 2"/>
          <p:cNvSpPr txBox="1"/>
          <p:nvPr/>
        </p:nvSpPr>
        <p:spPr>
          <a:xfrm>
            <a:off x="7163435" y="6207125"/>
            <a:ext cx="4270375" cy="368300"/>
          </a:xfrm>
          <a:prstGeom prst="rect">
            <a:avLst/>
          </a:prstGeom>
          <a:noFill/>
        </p:spPr>
        <p:txBody>
          <a:bodyPr wrap="square" rtlCol="0">
            <a:spAutoFit/>
          </a:bodyPr>
          <a:p>
            <a:pPr algn="ctr"/>
            <a:r>
              <a:rPr lang="en-US" b="1"/>
              <a:t>Example of Bridge False-Work</a:t>
            </a:r>
            <a:endParaRPr lang="en-US"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a:xfrm>
            <a:off x="2592924" y="-95"/>
            <a:ext cx="8911687" cy="1280890"/>
          </a:xfrm>
        </p:spPr>
        <p:txBody>
          <a:bodyPr>
            <a:normAutofit/>
          </a:bodyPr>
          <a:lstStyle/>
          <a:p>
            <a:pPr algn="ctr"/>
            <a:r>
              <a:rPr lang="en-US" sz="4000" b="1"/>
              <a:t>What is Falsework?</a:t>
            </a:r>
            <a:endParaRPr lang="en-US" sz="4000" b="1"/>
          </a:p>
        </p:txBody>
      </p:sp>
      <p:sp>
        <p:nvSpPr>
          <p:cNvPr id="68611" name="Rectangle 2051"/>
          <p:cNvSpPr>
            <a:spLocks noGrp="1" noChangeArrowheads="1"/>
          </p:cNvSpPr>
          <p:nvPr>
            <p:ph sz="half" idx="2"/>
          </p:nvPr>
        </p:nvSpPr>
        <p:spPr>
          <a:xfrm>
            <a:off x="1064895" y="1372235"/>
            <a:ext cx="4675505" cy="3745230"/>
          </a:xfrm>
        </p:spPr>
        <p:txBody>
          <a:bodyPr>
            <a:noAutofit/>
          </a:bodyPr>
          <a:lstStyle/>
          <a:p>
            <a:pPr marL="0" indent="0" algn="just">
              <a:buNone/>
            </a:pPr>
            <a:r>
              <a:rPr lang="en-US" sz="2800"/>
              <a:t>Therefore, </a:t>
            </a:r>
            <a:r>
              <a:rPr lang="en-US" sz="2800" b="1" u="sng"/>
              <a:t>falsework can be defined as any temporary structure, in which the main load bearing elements are vertical, used to support a permanent structure and its associated members during the erection until it is self-supporting.</a:t>
            </a:r>
            <a:endParaRPr lang="en-US" sz="2800"/>
          </a:p>
          <a:p>
            <a:pPr algn="just">
              <a:buFont typeface="Arial" panose="020B0604020202020204" pitchFamily="34" charset="0"/>
              <a:buChar char="•"/>
            </a:pPr>
            <a:endParaRPr lang="en-US" sz="2800" b="1"/>
          </a:p>
        </p:txBody>
      </p:sp>
      <p:pic>
        <p:nvPicPr>
          <p:cNvPr id="2" name="Content Placeholder 1"/>
          <p:cNvPicPr>
            <a:picLocks noChangeAspect="1"/>
          </p:cNvPicPr>
          <p:nvPr>
            <p:ph sz="half" idx="1"/>
          </p:nvPr>
        </p:nvPicPr>
        <p:blipFill>
          <a:blip r:embed="rId1"/>
          <a:stretch>
            <a:fillRect/>
          </a:stretch>
        </p:blipFill>
        <p:spPr>
          <a:xfrm>
            <a:off x="6459220" y="1109980"/>
            <a:ext cx="5347970" cy="4993640"/>
          </a:xfrm>
          <a:prstGeom prst="rect">
            <a:avLst/>
          </a:prstGeom>
        </p:spPr>
      </p:pic>
      <p:sp>
        <p:nvSpPr>
          <p:cNvPr id="3" name="Text Box 2"/>
          <p:cNvSpPr txBox="1"/>
          <p:nvPr/>
        </p:nvSpPr>
        <p:spPr>
          <a:xfrm>
            <a:off x="7163435" y="6207125"/>
            <a:ext cx="4270375" cy="368300"/>
          </a:xfrm>
          <a:prstGeom prst="rect">
            <a:avLst/>
          </a:prstGeom>
          <a:noFill/>
        </p:spPr>
        <p:txBody>
          <a:bodyPr wrap="square" rtlCol="0">
            <a:spAutoFit/>
          </a:bodyPr>
          <a:p>
            <a:pPr algn="ctr"/>
            <a:r>
              <a:rPr lang="en-US" b="1"/>
              <a:t>Example of Bridge False-Work</a:t>
            </a:r>
            <a:endParaRPr lang="en-US"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fontScale="90000"/>
          </a:bodyPr>
          <a:lstStyle/>
          <a:p>
            <a:r>
              <a:rPr lang="en-US" sz="4000"/>
              <a:t>Purpose of </a:t>
            </a:r>
            <a:r>
              <a:rPr lang="en-US" sz="4000" err="1"/>
              <a:t>Falsework</a:t>
            </a:r>
            <a:endParaRPr lang="en-US" sz="4000"/>
          </a:p>
        </p:txBody>
      </p:sp>
      <p:sp>
        <p:nvSpPr>
          <p:cNvPr id="68611" name="Rectangle 2051"/>
          <p:cNvSpPr>
            <a:spLocks noGrp="1" noChangeArrowheads="1"/>
          </p:cNvSpPr>
          <p:nvPr>
            <p:ph type="body" sz="quarter" idx="10"/>
          </p:nvPr>
        </p:nvSpPr>
        <p:spPr>
          <a:xfrm>
            <a:off x="1991544" y="1268760"/>
            <a:ext cx="8424936" cy="3771900"/>
          </a:xfrm>
        </p:spPr>
        <p:txBody>
          <a:bodyPr>
            <a:normAutofit fontScale="77500" lnSpcReduction="20000"/>
          </a:bodyPr>
          <a:lstStyle/>
          <a:p>
            <a:pPr>
              <a:buFont typeface="Arial" panose="020B0604020202020204" pitchFamily="34" charset="0"/>
              <a:buChar char="•"/>
            </a:pPr>
            <a:r>
              <a:rPr lang="en-US" sz="2800"/>
              <a:t>Temporary structure used to support formwork.</a:t>
            </a:r>
            <a:endParaRPr lang="en-US" sz="2800"/>
          </a:p>
          <a:p>
            <a:pPr>
              <a:buFont typeface="Arial" panose="020B0604020202020204" pitchFamily="34" charset="0"/>
              <a:buChar char="•"/>
            </a:pPr>
            <a:r>
              <a:rPr lang="en-US" sz="2800" err="1"/>
              <a:t>Falsework</a:t>
            </a:r>
            <a:r>
              <a:rPr lang="en-US" sz="2800"/>
              <a:t> needs to be:</a:t>
            </a:r>
            <a:endParaRPr lang="en-US" sz="2800"/>
          </a:p>
          <a:p>
            <a:pPr lvl="1">
              <a:buFont typeface="Arial" panose="020B0604020202020204" pitchFamily="34" charset="0"/>
              <a:buChar char="•"/>
            </a:pPr>
            <a:r>
              <a:rPr lang="en-US" sz="2800">
                <a:solidFill>
                  <a:schemeClr val="accent6">
                    <a:lumMod val="75000"/>
                  </a:schemeClr>
                </a:solidFill>
              </a:rPr>
              <a:t> Strong enough to carry its own weight, formwork, reinforcement, concrete, workmen and equipment</a:t>
            </a:r>
            <a:endParaRPr lang="en-US" sz="2800">
              <a:solidFill>
                <a:schemeClr val="accent6">
                  <a:lumMod val="75000"/>
                </a:schemeClr>
              </a:solidFill>
            </a:endParaRPr>
          </a:p>
          <a:p>
            <a:pPr lvl="1">
              <a:buFont typeface="Arial" panose="020B0604020202020204" pitchFamily="34" charset="0"/>
              <a:buChar char="•"/>
            </a:pPr>
            <a:r>
              <a:rPr lang="en-US" sz="2800">
                <a:solidFill>
                  <a:schemeClr val="accent6">
                    <a:lumMod val="75000"/>
                  </a:schemeClr>
                </a:solidFill>
              </a:rPr>
              <a:t> Properly braced to prevent side-sway and buckling</a:t>
            </a:r>
            <a:endParaRPr lang="en-US" sz="2800">
              <a:solidFill>
                <a:schemeClr val="accent6">
                  <a:lumMod val="75000"/>
                </a:schemeClr>
              </a:solidFill>
            </a:endParaRPr>
          </a:p>
          <a:p>
            <a:pPr lvl="1">
              <a:buFont typeface="Arial" panose="020B0604020202020204" pitchFamily="34" charset="0"/>
              <a:buChar char="•"/>
            </a:pPr>
            <a:r>
              <a:rPr lang="en-US" sz="2800">
                <a:solidFill>
                  <a:schemeClr val="accent6">
                    <a:lumMod val="75000"/>
                  </a:schemeClr>
                </a:solidFill>
              </a:rPr>
              <a:t>Supported on a firm surface, eg. concrete, or on stiff pads that spread the load on soft surfaces, eg. soil</a:t>
            </a:r>
            <a:endParaRPr lang="en-US" sz="2800">
              <a:solidFill>
                <a:schemeClr val="accent6">
                  <a:lumMod val="75000"/>
                </a:schemeClr>
              </a:solidFill>
            </a:endParaRPr>
          </a:p>
          <a:p>
            <a:pPr lvl="1">
              <a:buFont typeface="Arial" panose="020B0604020202020204" pitchFamily="34" charset="0"/>
              <a:buChar char="•"/>
            </a:pPr>
            <a:r>
              <a:rPr lang="en-US" sz="2800">
                <a:solidFill>
                  <a:schemeClr val="accent6">
                    <a:lumMod val="75000"/>
                  </a:schemeClr>
                </a:solidFill>
              </a:rPr>
              <a:t>Easy and safe to erect and dismantle.</a:t>
            </a:r>
            <a:endParaRPr lang="en-US" sz="2800">
              <a:solidFill>
                <a:schemeClr val="accent6">
                  <a:lumMod val="7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a:bodyPr>
          <a:lstStyle/>
          <a:p>
            <a:pPr algn="ctr"/>
            <a:r>
              <a:rPr lang="en-US" sz="4000" b="1"/>
              <a:t>Types of Falsework</a:t>
            </a:r>
            <a:endParaRPr lang="en-US" sz="4000" b="1"/>
          </a:p>
        </p:txBody>
      </p:sp>
      <p:sp>
        <p:nvSpPr>
          <p:cNvPr id="68611" name="Rectangle 2051"/>
          <p:cNvSpPr>
            <a:spLocks noGrp="1" noChangeArrowheads="1"/>
          </p:cNvSpPr>
          <p:nvPr>
            <p:ph sz="half" idx="1"/>
          </p:nvPr>
        </p:nvSpPr>
        <p:spPr>
          <a:xfrm>
            <a:off x="929005" y="1509395"/>
            <a:ext cx="5664835" cy="4373880"/>
          </a:xfrm>
        </p:spPr>
        <p:txBody>
          <a:bodyPr>
            <a:noAutofit/>
          </a:bodyPr>
          <a:lstStyle/>
          <a:p>
            <a:pPr marL="0" indent="0" algn="l">
              <a:buFont typeface="+mj-lt"/>
              <a:buNone/>
            </a:pPr>
            <a:r>
              <a:rPr lang="en-US" sz="2800"/>
              <a:t>Three basic types of scaffold which can be employed in falsework are;</a:t>
            </a:r>
            <a:endParaRPr lang="en-US" sz="2800"/>
          </a:p>
          <a:p>
            <a:pPr marL="457200" indent="-457200" algn="l">
              <a:buFont typeface="+mj-lt"/>
              <a:buAutoNum type="romanLcPeriod"/>
            </a:pPr>
            <a:r>
              <a:rPr lang="en-US" sz="2800"/>
              <a:t>Scaffold tubes and fittings</a:t>
            </a:r>
            <a:endParaRPr lang="en-US" sz="2800"/>
          </a:p>
          <a:p>
            <a:pPr marL="457200" indent="-457200" algn="l">
              <a:buFont typeface="+mj-lt"/>
              <a:buAutoNum type="romanLcPeriod"/>
            </a:pPr>
            <a:r>
              <a:rPr lang="en-US" sz="2800"/>
              <a:t>Prefabricated systems</a:t>
            </a:r>
            <a:endParaRPr lang="en-US" sz="2800"/>
          </a:p>
          <a:p>
            <a:pPr marL="457200" indent="-457200" algn="l">
              <a:buFont typeface="+mj-lt"/>
              <a:buAutoNum type="romanLcPeriod"/>
            </a:pPr>
            <a:r>
              <a:rPr lang="en-US" sz="2800"/>
              <a:t>Specially designed falsework in the form of prefabricated units.</a:t>
            </a:r>
            <a:endParaRPr lang="en-US" sz="2800"/>
          </a:p>
        </p:txBody>
      </p:sp>
      <p:pic>
        <p:nvPicPr>
          <p:cNvPr id="3" name="Content Placeholder 2"/>
          <p:cNvPicPr>
            <a:picLocks noChangeAspect="1"/>
          </p:cNvPicPr>
          <p:nvPr>
            <p:ph sz="half" idx="2"/>
          </p:nvPr>
        </p:nvPicPr>
        <p:blipFill>
          <a:blip r:embed="rId1"/>
          <a:stretch>
            <a:fillRect/>
          </a:stretch>
        </p:blipFill>
        <p:spPr>
          <a:xfrm>
            <a:off x="6685915" y="1509395"/>
            <a:ext cx="5323205" cy="43732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050"/>
          <p:cNvSpPr>
            <a:spLocks noGrp="1" noChangeArrowheads="1"/>
          </p:cNvSpPr>
          <p:nvPr>
            <p:ph type="title"/>
          </p:nvPr>
        </p:nvSpPr>
        <p:spPr/>
        <p:txBody>
          <a:bodyPr>
            <a:normAutofit fontScale="90000"/>
          </a:bodyPr>
          <a:lstStyle/>
          <a:p>
            <a:pPr algn="ctr"/>
            <a:r>
              <a:rPr lang="en-US" sz="4000" b="1"/>
              <a:t>Materials for Formwork and Falsework</a:t>
            </a:r>
            <a:endParaRPr lang="en-US" sz="4000" b="1"/>
          </a:p>
        </p:txBody>
      </p:sp>
      <p:sp>
        <p:nvSpPr>
          <p:cNvPr id="68611" name="Rectangle 2051"/>
          <p:cNvSpPr>
            <a:spLocks noGrp="1" noChangeArrowheads="1"/>
          </p:cNvSpPr>
          <p:nvPr>
            <p:ph sz="half" idx="1"/>
          </p:nvPr>
        </p:nvSpPr>
        <p:spPr>
          <a:xfrm>
            <a:off x="929005" y="1540510"/>
            <a:ext cx="6986270" cy="3702685"/>
          </a:xfrm>
        </p:spPr>
        <p:txBody>
          <a:bodyPr>
            <a:noAutofit/>
          </a:bodyPr>
          <a:lstStyle/>
          <a:p>
            <a:pPr marL="457200" indent="-457200" algn="l">
              <a:buFont typeface="+mj-lt"/>
              <a:buAutoNum type="romanLcPeriod"/>
            </a:pPr>
            <a:r>
              <a:rPr lang="en-US" sz="2200" b="1"/>
              <a:t>Steel</a:t>
            </a:r>
            <a:endParaRPr lang="en-US" sz="2200" b="1"/>
          </a:p>
          <a:p>
            <a:pPr marL="457200" indent="-457200" algn="l">
              <a:buFont typeface="+mj-lt"/>
              <a:buAutoNum type="romanLcPeriod"/>
            </a:pPr>
            <a:endParaRPr lang="en-US" sz="2200"/>
          </a:p>
          <a:p>
            <a:pPr marL="457200" indent="-457200" algn="l">
              <a:buFont typeface="+mj-lt"/>
              <a:buAutoNum type="romanLcPeriod"/>
            </a:pPr>
            <a:endParaRPr lang="en-US" sz="2200"/>
          </a:p>
          <a:p>
            <a:pPr marL="457200" indent="-457200" algn="l">
              <a:buFont typeface="+mj-lt"/>
              <a:buAutoNum type="romanLcPeriod"/>
            </a:pPr>
            <a:endParaRPr lang="en-US" sz="2200"/>
          </a:p>
          <a:p>
            <a:pPr marL="457200" indent="-457200" algn="l">
              <a:buFont typeface="+mj-lt"/>
              <a:buAutoNum type="romanLcPeriod"/>
            </a:pPr>
            <a:endParaRPr lang="en-US" sz="2200"/>
          </a:p>
          <a:p>
            <a:pPr marL="457200" indent="-457200" algn="r">
              <a:buFont typeface="+mj-lt"/>
              <a:buAutoNum type="romanLcPeriod"/>
            </a:pPr>
            <a:r>
              <a:rPr lang="en-US" sz="2200" b="1"/>
              <a:t>Timber</a:t>
            </a:r>
            <a:endParaRPr lang="en-US" sz="2200" b="1"/>
          </a:p>
          <a:p>
            <a:pPr marL="457200" indent="-457200" algn="r">
              <a:buFont typeface="+mj-lt"/>
              <a:buAutoNum type="romanLcPeriod"/>
            </a:pPr>
            <a:endParaRPr lang="en-US" sz="2200" b="1"/>
          </a:p>
          <a:p>
            <a:pPr marL="457200" indent="-457200" algn="r">
              <a:buFont typeface="+mj-lt"/>
              <a:buAutoNum type="romanLcPeriod"/>
            </a:pPr>
            <a:endParaRPr lang="en-US" sz="2200" b="1"/>
          </a:p>
          <a:p>
            <a:pPr marL="457200" indent="-457200" algn="r">
              <a:buFont typeface="+mj-lt"/>
              <a:buAutoNum type="romanLcPeriod"/>
            </a:pPr>
            <a:endParaRPr lang="en-US" sz="2200" b="1"/>
          </a:p>
          <a:p>
            <a:pPr marL="457200" indent="-457200" algn="ctr">
              <a:buFont typeface="+mj-lt"/>
              <a:buAutoNum type="romanLcPeriod"/>
            </a:pPr>
            <a:r>
              <a:rPr lang="en-US" sz="2200" b="1"/>
              <a:t>Plastic</a:t>
            </a:r>
            <a:endParaRPr lang="en-US" sz="2200" b="1"/>
          </a:p>
        </p:txBody>
      </p:sp>
      <p:pic>
        <p:nvPicPr>
          <p:cNvPr id="4" name="Content Placeholder 3"/>
          <p:cNvPicPr>
            <a:picLocks noChangeAspect="1"/>
          </p:cNvPicPr>
          <p:nvPr>
            <p:ph sz="half" idx="2"/>
          </p:nvPr>
        </p:nvPicPr>
        <p:blipFill>
          <a:blip r:embed="rId1"/>
          <a:stretch>
            <a:fillRect/>
          </a:stretch>
        </p:blipFill>
        <p:spPr>
          <a:xfrm>
            <a:off x="2204085" y="1356360"/>
            <a:ext cx="3411855" cy="2724785"/>
          </a:xfrm>
          <a:prstGeom prst="rect">
            <a:avLst/>
          </a:prstGeom>
        </p:spPr>
      </p:pic>
      <p:pic>
        <p:nvPicPr>
          <p:cNvPr id="2" name="Picture 1"/>
          <p:cNvPicPr/>
          <p:nvPr/>
        </p:nvPicPr>
        <p:blipFill>
          <a:blip r:embed="rId2"/>
          <a:stretch>
            <a:fillRect/>
          </a:stretch>
        </p:blipFill>
        <p:spPr>
          <a:xfrm>
            <a:off x="8010525" y="1356360"/>
            <a:ext cx="3677285" cy="2725420"/>
          </a:xfrm>
          <a:prstGeom prst="rect">
            <a:avLst/>
          </a:prstGeom>
        </p:spPr>
      </p:pic>
      <p:pic>
        <p:nvPicPr>
          <p:cNvPr id="3" name="Picture 2"/>
          <p:cNvPicPr/>
          <p:nvPr/>
        </p:nvPicPr>
        <p:blipFill>
          <a:blip r:embed="rId3"/>
          <a:stretch>
            <a:fillRect/>
          </a:stretch>
        </p:blipFill>
        <p:spPr>
          <a:xfrm>
            <a:off x="5327650" y="4681855"/>
            <a:ext cx="2501900" cy="2049780"/>
          </a:xfrm>
          <a:prstGeom prst="rect">
            <a:avLst/>
          </a:prstGeom>
        </p:spPr>
      </p:pic>
      <p:sp>
        <p:nvSpPr>
          <p:cNvPr id="5" name="Text Box 4"/>
          <p:cNvSpPr txBox="1"/>
          <p:nvPr/>
        </p:nvSpPr>
        <p:spPr>
          <a:xfrm>
            <a:off x="8010525" y="6207125"/>
            <a:ext cx="3237230" cy="368300"/>
          </a:xfrm>
          <a:prstGeom prst="rect">
            <a:avLst/>
          </a:prstGeom>
          <a:noFill/>
        </p:spPr>
        <p:txBody>
          <a:bodyPr wrap="square" rtlCol="0">
            <a:spAutoFit/>
          </a:bodyPr>
          <a:p>
            <a:pPr algn="l"/>
            <a:r>
              <a:rPr lang="en-US" b="1"/>
              <a:t>PVC Plastic Formwork</a:t>
            </a:r>
            <a:endParaRPr lang="en-US" b="1"/>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5590" y="2641600"/>
            <a:ext cx="2852420" cy="787400"/>
          </a:xfrm>
        </p:spPr>
        <p:txBody>
          <a:bodyPr/>
          <a:lstStyle/>
          <a:p>
            <a:r>
              <a:rPr lang="en-GB" b="1"/>
              <a:t>Feedback</a:t>
            </a:r>
            <a:endParaRPr lang="en-GB" b="1"/>
          </a:p>
        </p:txBody>
      </p:sp>
      <p:sp>
        <p:nvSpPr>
          <p:cNvPr id="8" name="Slide Number Placeholder 7"/>
          <p:cNvSpPr>
            <a:spLocks noGrp="1"/>
          </p:cNvSpPr>
          <p:nvPr>
            <p:ph type="sldNum" sz="quarter" idx="12"/>
          </p:nvPr>
        </p:nvSpPr>
        <p:spPr/>
        <p:txBody>
          <a:bodyPr/>
          <a:lstStyle/>
          <a:p>
            <a:fld id="{D57F1E4F-1CFF-5643-939E-217C01CDF565}" type="slidenum">
              <a:rPr lang="en-US" smtClean="0"/>
            </a:fld>
            <a:endParaRPr lang="en-US"/>
          </a:p>
        </p:txBody>
      </p:sp>
      <p:pic>
        <p:nvPicPr>
          <p:cNvPr id="5" name="Picture 4"/>
          <p:cNvPicPr>
            <a:picLocks noChangeAspect="1"/>
          </p:cNvPicPr>
          <p:nvPr/>
        </p:nvPicPr>
        <p:blipFill>
          <a:blip r:embed="rId1"/>
          <a:stretch>
            <a:fillRect/>
          </a:stretch>
        </p:blipFill>
        <p:spPr>
          <a:xfrm>
            <a:off x="7046912" y="1749654"/>
            <a:ext cx="4451959" cy="3358693"/>
          </a:xfrm>
          <a:prstGeom prst="rect">
            <a:avLst/>
          </a:prstGeom>
        </p:spPr>
      </p:pic>
      <p:sp>
        <p:nvSpPr>
          <p:cNvPr id="6" name="TextBox 5"/>
          <p:cNvSpPr txBox="1"/>
          <p:nvPr/>
        </p:nvSpPr>
        <p:spPr>
          <a:xfrm rot="16200000">
            <a:off x="10251043" y="3167390"/>
            <a:ext cx="3358694" cy="523220"/>
          </a:xfrm>
          <a:prstGeom prst="rect">
            <a:avLst/>
          </a:prstGeom>
          <a:solidFill>
            <a:srgbClr val="00B0F0"/>
          </a:solidFill>
        </p:spPr>
        <p:txBody>
          <a:bodyPr wrap="square" rtlCol="0">
            <a:spAutoFit/>
          </a:bodyPr>
          <a:lstStyle/>
          <a:p>
            <a:pPr algn="ctr"/>
            <a:r>
              <a:rPr lang="en-GB" sz="2800" b="1">
                <a:solidFill>
                  <a:schemeClr val="accent2">
                    <a:lumMod val="20000"/>
                    <a:lumOff val="80000"/>
                  </a:schemeClr>
                </a:solidFill>
                <a:latin typeface="Tw Cen MT" panose="020B0602020104020603" pitchFamily="34" charset="0"/>
              </a:rPr>
              <a:t>feedback</a:t>
            </a:r>
            <a:endParaRPr lang="en-GB" sz="7200" b="1">
              <a:solidFill>
                <a:schemeClr val="accent2">
                  <a:lumMod val="20000"/>
                  <a:lumOff val="80000"/>
                </a:schemeClr>
              </a:solidFill>
              <a:latin typeface="Tw Cen MT" panose="020B0602020104020603" pitchFamily="34" charset="0"/>
            </a:endParaRPr>
          </a:p>
        </p:txBody>
      </p:sp>
      <p:sp>
        <p:nvSpPr>
          <p:cNvPr id="9" name="Date Placeholder 7"/>
          <p:cNvSpPr>
            <a:spLocks noGrp="1"/>
          </p:cNvSpPr>
          <p:nvPr>
            <p:ph type="dt" sz="half" idx="10"/>
          </p:nvPr>
        </p:nvSpPr>
        <p:spPr>
          <a:xfrm>
            <a:off x="198784" y="6487604"/>
            <a:ext cx="2067338" cy="370396"/>
          </a:xfrm>
        </p:spPr>
        <p:txBody>
          <a:bodyPr/>
          <a:lstStyle/>
          <a:p>
            <a:fld id="{9855C6FE-EDAB-4FDE-9C59-19A1F0C9F540}" type="datetime3">
              <a:rPr lang="en-US" sz="1600" b="1" smtClean="0">
                <a:solidFill>
                  <a:schemeClr val="tx1"/>
                </a:solidFill>
              </a:rPr>
            </a:fld>
            <a:endParaRPr lang="en-US" b="1">
              <a:solidFill>
                <a:schemeClr val="tx1"/>
              </a:solidFill>
            </a:endParaRP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0</TotalTime>
  <Words>5112</Words>
  <Application>WPS Presentation</Application>
  <PresentationFormat>Widescreen</PresentationFormat>
  <Paragraphs>169</Paragraphs>
  <Slides>20</Slides>
  <Notes>9</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Wingdings 3</vt:lpstr>
      <vt:lpstr>Arial</vt:lpstr>
      <vt:lpstr>Century Gothic</vt:lpstr>
      <vt:lpstr>Microsoft YaHei</vt:lpstr>
      <vt:lpstr>Arial Unicode MS</vt:lpstr>
      <vt:lpstr>Calibri</vt:lpstr>
      <vt:lpstr>Tw Cen MT</vt:lpstr>
      <vt:lpstr>Wisp</vt:lpstr>
      <vt:lpstr>FCC3 246: CONCRETE MATERIALS  Lecture 9: FORMWORK &amp; FALSEWORK</vt:lpstr>
      <vt:lpstr>PowerPoint 演示文稿</vt:lpstr>
      <vt:lpstr>What is Formwork?</vt:lpstr>
      <vt:lpstr>Purpose of Formwork</vt:lpstr>
      <vt:lpstr>Types of Formwork</vt:lpstr>
      <vt:lpstr>Parts of Formwork</vt:lpstr>
      <vt:lpstr>General Requirements for Formwork</vt:lpstr>
      <vt:lpstr>General Requirements for Formwork</vt:lpstr>
      <vt:lpstr>General Requirements for Formwork</vt:lpstr>
      <vt:lpstr>Requirements of Formwork</vt:lpstr>
      <vt:lpstr>Striking Formwork </vt:lpstr>
      <vt:lpstr>Unsafe conditions</vt:lpstr>
      <vt:lpstr>Unsafe conditions</vt:lpstr>
      <vt:lpstr>Common Failures</vt:lpstr>
      <vt:lpstr>What is Falsework?</vt:lpstr>
      <vt:lpstr>What is Falsework?</vt:lpstr>
      <vt:lpstr>Purpose of Falsework</vt:lpstr>
      <vt:lpstr>Types of Falsework</vt:lpstr>
      <vt:lpstr>Materials for Formwork and Falsework</vt:lpstr>
      <vt:lpstr>Feedback</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BAR 303: THEORY AND DESIGN OF STRUCTURES 3</dc:title>
  <dc:creator>Muthomi</dc:creator>
  <cp:lastModifiedBy>Injinia Mwaura</cp:lastModifiedBy>
  <cp:revision>138</cp:revision>
  <cp:lastPrinted>2024-06-07T16:12:00Z</cp:lastPrinted>
  <dcterms:created xsi:type="dcterms:W3CDTF">2018-09-25T15:18:00Z</dcterms:created>
  <dcterms:modified xsi:type="dcterms:W3CDTF">2025-03-31T22:54:35Z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3FEB0334FB7F4BBDBBCD12D0F23A9CFE_12</vt:lpwstr>
  </property>
  <property fmtid="{D5CDD505-2E9C-101B-9397-08002B2CF9AE}" pid="3" name="KSOProductBuildVer">
    <vt:lpwstr>1033-12.2.0.20326</vt:lpwstr>
  </property>
</Properties>
</file>