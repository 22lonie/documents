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49"/>
  </p:handoutMasterIdLst>
  <p:sldIdLst>
    <p:sldId id="1120" r:id="rId3"/>
    <p:sldId id="898" r:id="rId4"/>
    <p:sldId id="361" r:id="rId6"/>
    <p:sldId id="1121" r:id="rId7"/>
    <p:sldId id="402" r:id="rId8"/>
    <p:sldId id="403" r:id="rId9"/>
    <p:sldId id="404" r:id="rId10"/>
    <p:sldId id="405" r:id="rId11"/>
    <p:sldId id="406" r:id="rId12"/>
    <p:sldId id="407" r:id="rId13"/>
    <p:sldId id="409" r:id="rId14"/>
    <p:sldId id="410" r:id="rId15"/>
    <p:sldId id="412" r:id="rId16"/>
    <p:sldId id="413" r:id="rId17"/>
    <p:sldId id="414" r:id="rId18"/>
    <p:sldId id="415" r:id="rId19"/>
    <p:sldId id="416" r:id="rId20"/>
    <p:sldId id="417" r:id="rId21"/>
    <p:sldId id="418" r:id="rId22"/>
    <p:sldId id="419" r:id="rId23"/>
    <p:sldId id="420" r:id="rId24"/>
    <p:sldId id="421" r:id="rId25"/>
    <p:sldId id="312" r:id="rId26"/>
    <p:sldId id="313" r:id="rId27"/>
    <p:sldId id="377" r:id="rId28"/>
    <p:sldId id="378" r:id="rId29"/>
    <p:sldId id="314" r:id="rId30"/>
    <p:sldId id="1122" r:id="rId31"/>
    <p:sldId id="899" r:id="rId32"/>
    <p:sldId id="900" r:id="rId33"/>
    <p:sldId id="901" r:id="rId34"/>
    <p:sldId id="388" r:id="rId35"/>
    <p:sldId id="322" r:id="rId36"/>
    <p:sldId id="425" r:id="rId37"/>
    <p:sldId id="905" r:id="rId38"/>
    <p:sldId id="906" r:id="rId39"/>
    <p:sldId id="907" r:id="rId40"/>
    <p:sldId id="381" r:id="rId41"/>
    <p:sldId id="375" r:id="rId42"/>
    <p:sldId id="399" r:id="rId43"/>
    <p:sldId id="400" r:id="rId44"/>
    <p:sldId id="1123" r:id="rId45"/>
    <p:sldId id="1124" r:id="rId46"/>
    <p:sldId id="1125" r:id="rId47"/>
    <p:sldId id="1119" r:id="rId48"/>
  </p:sldIdLst>
  <p:sldSz cx="12192000" cy="6858000"/>
  <p:notesSz cx="7099300"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sorterViewPr>
    <p:cViewPr>
      <p:scale>
        <a:sx n="100" d="100"/>
        <a:sy n="100" d="100"/>
      </p:scale>
      <p:origin x="0" y="-127494"/>
    </p:cViewPr>
  </p:sorterViewPr>
  <p:notesViewPr>
    <p:cSldViewPr snapToGrid="0">
      <p:cViewPr varScale="1">
        <p:scale>
          <a:sx n="56" d="100"/>
          <a:sy n="56" d="100"/>
        </p:scale>
        <p:origin x="3312" y="53"/>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notesMaster" Target="notesMasters/notesMaster1.xml"/><Relationship Id="rId49" Type="http://schemas.openxmlformats.org/officeDocument/2006/relationships/handoutMaster" Target="handoutMasters/handoutMaster1.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r>
              <a:rPr lang="en-GB" dirty="0"/>
              <a:t>FCC3 246 – Concrete Materials 2023/2024</a:t>
            </a:r>
            <a:endParaRPr lang="en-GB" dirty="0"/>
          </a:p>
        </p:txBody>
      </p:sp>
      <p:sp>
        <p:nvSpPr>
          <p:cNvPr id="3" name="Date Placeholder 2"/>
          <p:cNvSpPr>
            <a:spLocks noGrp="1"/>
          </p:cNvSpPr>
          <p:nvPr>
            <p:ph type="dt" sz="quarter" idx="1"/>
          </p:nvPr>
        </p:nvSpPr>
        <p:spPr>
          <a:xfrm>
            <a:off x="4021138" y="1"/>
            <a:ext cx="3076575" cy="512763"/>
          </a:xfrm>
          <a:prstGeom prst="rect">
            <a:avLst/>
          </a:prstGeom>
        </p:spPr>
        <p:txBody>
          <a:bodyPr vert="horz" lIns="91440" tIns="45720" rIns="91440" bIns="45720" rtlCol="0"/>
          <a:lstStyle>
            <a:lvl1pPr algn="r">
              <a:defRPr sz="1200"/>
            </a:lvl1pPr>
          </a:lstStyle>
          <a:p>
            <a:fld id="{3E8D9978-ED5B-4A29-B35C-F452FF85B205}" type="datetime1">
              <a:rPr lang="en-GB" smtClean="0"/>
            </a:fld>
            <a:endParaRPr lang="en-GB"/>
          </a:p>
        </p:txBody>
      </p:sp>
      <p:sp>
        <p:nvSpPr>
          <p:cNvPr id="4" name="Footer Placeholder 3"/>
          <p:cNvSpPr>
            <a:spLocks noGrp="1"/>
          </p:cNvSpPr>
          <p:nvPr>
            <p:ph type="ftr" sz="quarter" idx="2"/>
          </p:nvPr>
        </p:nvSpPr>
        <p:spPr>
          <a:xfrm>
            <a:off x="1" y="9721850"/>
            <a:ext cx="3076575" cy="512763"/>
          </a:xfrm>
          <a:prstGeom prst="rect">
            <a:avLst/>
          </a:prstGeom>
        </p:spPr>
        <p:txBody>
          <a:bodyPr vert="horz" lIns="91440" tIns="45720" rIns="91440" bIns="45720" rtlCol="0" anchor="b"/>
          <a:lstStyle>
            <a:lvl1pPr algn="l">
              <a:defRPr sz="1200"/>
            </a:lvl1pPr>
          </a:lstStyle>
          <a:p>
            <a:r>
              <a:rPr lang="en-GB"/>
              <a:t>muthomi@uonbi.ac.ke </a:t>
            </a:r>
            <a:endParaRPr lang="en-GB"/>
          </a:p>
        </p:txBody>
      </p:sp>
    </p:spTree>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r>
              <a:rPr lang="en-GB"/>
              <a:t>BAR 303 - Theory &amp; Design of Structures III 2021/2022</a:t>
            </a:r>
            <a:endParaRPr lang="en-GB"/>
          </a:p>
        </p:txBody>
      </p:sp>
      <p:sp>
        <p:nvSpPr>
          <p:cNvPr id="3" name="Date Placeholder 2"/>
          <p:cNvSpPr>
            <a:spLocks noGrp="1"/>
          </p:cNvSpPr>
          <p:nvPr>
            <p:ph type="dt" idx="1"/>
          </p:nvPr>
        </p:nvSpPr>
        <p:spPr>
          <a:xfrm>
            <a:off x="4021138" y="1"/>
            <a:ext cx="3076575" cy="512763"/>
          </a:xfrm>
          <a:prstGeom prst="rect">
            <a:avLst/>
          </a:prstGeom>
        </p:spPr>
        <p:txBody>
          <a:bodyPr vert="horz" lIns="91440" tIns="45720" rIns="91440" bIns="45720" rtlCol="0"/>
          <a:lstStyle>
            <a:lvl1pPr algn="r">
              <a:defRPr sz="1200"/>
            </a:lvl1pPr>
          </a:lstStyle>
          <a:p>
            <a:fld id="{D6C46915-6F6C-46C9-BC95-22DE85ACF263}" type="datetime1">
              <a:rPr lang="en-GB" smtClean="0"/>
            </a:fld>
            <a:endParaRPr lang="en-GB"/>
          </a:p>
        </p:txBody>
      </p:sp>
      <p:sp>
        <p:nvSpPr>
          <p:cNvPr id="4" name="Slide Image Placeholder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1" y="9721850"/>
            <a:ext cx="3076575" cy="512763"/>
          </a:xfrm>
          <a:prstGeom prst="rect">
            <a:avLst/>
          </a:prstGeom>
        </p:spPr>
        <p:txBody>
          <a:bodyPr vert="horz" lIns="91440" tIns="45720" rIns="91440" bIns="45720" rtlCol="0" anchor="b"/>
          <a:lstStyle>
            <a:lvl1pPr algn="l">
              <a:defRPr sz="1200"/>
            </a:lvl1pPr>
          </a:lstStyle>
          <a:p>
            <a:r>
              <a:rPr lang="en-GB"/>
              <a:t>muthomi@uonbi.ac.ke </a:t>
            </a:r>
            <a:endParaRPr lang="en-GB"/>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A25A6967-00BE-478A-B95F-FC0FCC7AAC7A}" type="slidenum">
              <a:rPr lang="en-GB" smtClean="0"/>
            </a:fld>
            <a:endParaRPr lang="en-GB"/>
          </a:p>
        </p:txBody>
      </p:sp>
    </p:spTree>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p:sp>
      <p:sp>
        <p:nvSpPr>
          <p:cNvPr id="66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p:sp>
      <p:sp>
        <p:nvSpPr>
          <p:cNvPr id="58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p:sp>
      <p:sp>
        <p:nvSpPr>
          <p:cNvPr id="58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p:sp>
      <p:sp>
        <p:nvSpPr>
          <p:cNvPr id="58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p:sp>
      <p:sp>
        <p:nvSpPr>
          <p:cNvPr id="58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p:sp>
      <p:sp>
        <p:nvSpPr>
          <p:cNvPr id="61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p:sp>
      <p:sp>
        <p:nvSpPr>
          <p:cNvPr id="62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p:sp>
      <p:sp>
        <p:nvSpPr>
          <p:cNvPr id="67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p:sp>
      <p:sp>
        <p:nvSpPr>
          <p:cNvPr id="75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p:sp>
      <p:sp>
        <p:nvSpPr>
          <p:cNvPr id="80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p:sp>
      <p:sp>
        <p:nvSpPr>
          <p:cNvPr id="80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p:sp>
      <p:sp>
        <p:nvSpPr>
          <p:cNvPr id="80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EA51DB-7545-4FCC-999B-9C69657BAA00}"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DE41E48D-3178-4969-9A5C-45DFDA619D70}"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A9CAA164-BD06-4DC0-8508-CE9CD3E688E3}"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BBF0981-A9DF-4D39-BCDC-792ABAE223D4}"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D200EF-774B-45AF-86B5-56E128616D26}" type="datetime1">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1AF8E9-7970-4433-A1F5-BC2DA61645FB}" type="datetime1">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456501-28AB-474F-B348-D04254D40A16}" type="datetime1">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D7D35D68-FAEA-4665-BA4B-8B336C7888C6}"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FC14EF0C-7ED6-4CA6-B5C7-3625BFC78BA0}"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7E2D3BF3-B4BD-4BC1-8C80-6D2783FE851C}"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4B1ED4FD-4423-4F7B-A547-0B060E347A74}"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E75A82-2417-455C-BF49-8BC77D49FA9D}" type="slidenum">
              <a:rPr lang="en-GB" smtClean="0"/>
            </a:fld>
            <a:endParaRPr lang="en-GB"/>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CA9F0F62-C0E9-4ECB-A7FE-2E078C0CE7A9}"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4030CD46-7C61-4FD6-9F0C-6EF8C611CAF2}"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fld>
            <a:endParaRPr lang="en-GB"/>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970A744E-318E-4E1D-A7DB-5BBAAF3151F5}"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D6FCD25-4487-40A8-A98F-1EADDA3CA2F8}"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6158AC4-9216-489C-AD1B-F4EFDD367D86}"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8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533400"/>
          </a:xfrm>
        </p:spPr>
        <p:txBody>
          <a:bodyPr/>
          <a:lstStyle>
            <a:lvl1pPr algn="l">
              <a:defRPr sz="1600" b="1" i="0">
                <a:solidFill>
                  <a:srgbClr val="D95900"/>
                </a:solidFill>
                <a:latin typeface="Arial" panose="020B0604020202020204"/>
                <a:cs typeface="Arial" panose="020B0604020202020204"/>
              </a:defRPr>
            </a:lvl1pPr>
          </a:lstStyle>
          <a:p>
            <a:r>
              <a:rPr lang="en-US"/>
              <a:t>Click to edit Master title style</a:t>
            </a:r>
            <a:endParaRPr lang="en-US"/>
          </a:p>
        </p:txBody>
      </p:sp>
      <p:sp>
        <p:nvSpPr>
          <p:cNvPr id="7" name="Text Placeholder 5"/>
          <p:cNvSpPr>
            <a:spLocks noGrp="1"/>
          </p:cNvSpPr>
          <p:nvPr>
            <p:ph type="body" sz="quarter" idx="10"/>
          </p:nvPr>
        </p:nvSpPr>
        <p:spPr>
          <a:xfrm>
            <a:off x="609600" y="1189038"/>
            <a:ext cx="10972800" cy="4079875"/>
          </a:xfrm>
        </p:spPr>
        <p:txBody>
          <a:bodyPr/>
          <a:lstStyle>
            <a:lvl1pPr>
              <a:buFontTx/>
              <a:buNone/>
              <a:defRPr/>
            </a:lvl1pPr>
            <a:lvl2pPr>
              <a:buFontTx/>
              <a:buNone/>
              <a:defRPr/>
            </a:lvl2pPr>
            <a:lvl3pPr>
              <a:buFontTx/>
              <a:buNone/>
              <a:defRPr/>
            </a:lvl3pPr>
            <a:lvl4pPr>
              <a:buFontTx/>
              <a:buNone/>
              <a:defRPr/>
            </a:lvl4pPr>
            <a:lvl5pPr>
              <a:buFontTx/>
              <a:buNone/>
              <a:defRPr/>
            </a:lvl5pPr>
          </a:lstStyle>
          <a:p>
            <a:pPr lvl="0"/>
            <a:r>
              <a:rPr lang="en-US"/>
              <a:t>Click to edit Master text styles</a:t>
            </a:r>
            <a:endParaRPr lang="en-US"/>
          </a:p>
        </p:txBody>
      </p:sp>
      <p:sp>
        <p:nvSpPr>
          <p:cNvPr id="4" name="Footer Placeholder 8"/>
          <p:cNvSpPr>
            <a:spLocks noGrp="1"/>
          </p:cNvSpPr>
          <p:nvPr>
            <p:ph type="ftr" sz="quarter" idx="11"/>
          </p:nvPr>
        </p:nvSpPr>
        <p:spPr>
          <a:xfrm>
            <a:off x="609600" y="6248400"/>
            <a:ext cx="7112000" cy="228600"/>
          </a:xfrm>
        </p:spPr>
        <p:txBody>
          <a:bodyPr/>
          <a:lstStyle>
            <a:lvl1pPr algn="l" defTabSz="914400">
              <a:defRPr sz="1000">
                <a:solidFill>
                  <a:srgbClr val="D95900"/>
                </a:solidFill>
                <a:latin typeface="Arial" panose="020B0604020202020204" pitchFamily="34" charset="0"/>
                <a:cs typeface="Arial" panose="020B0604020202020204" pitchFamily="34" charset="0"/>
              </a:defRPr>
            </a:lvl1pPr>
          </a:lstStyle>
          <a:p>
            <a:pPr>
              <a:defRPr/>
            </a:pP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endParaRPr lang="en-US"/>
          </a:p>
        </p:txBody>
      </p:sp>
      <p:sp>
        <p:nvSpPr>
          <p:cNvPr id="3" name="Text Placeholder 2"/>
          <p:cNvSpPr>
            <a:spLocks noGrp="1"/>
          </p:cNvSpPr>
          <p:nvPr>
            <p:ph type="body" sz="half" idx="1"/>
          </p:nvPr>
        </p:nvSpPr>
        <p:spPr>
          <a:xfrm>
            <a:off x="1576917" y="2017713"/>
            <a:ext cx="10363200" cy="198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1576917" y="4151313"/>
            <a:ext cx="10363200" cy="19812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11"/>
          <p:cNvSpPr>
            <a:spLocks noGrp="1" noChangeArrowheads="1"/>
          </p:cNvSpPr>
          <p:nvPr>
            <p:ph type="dt" sz="half" idx="10"/>
          </p:nvPr>
        </p:nvSpPr>
        <p:spPr/>
        <p:txBody>
          <a:bodyPr/>
          <a:lstStyle>
            <a:lvl1pPr>
              <a:defRPr/>
            </a:lvl1pPr>
          </a:lstStyle>
          <a:p>
            <a:pPr>
              <a:defRPr/>
            </a:pPr>
            <a:endParaRPr lang="en-GB"/>
          </a:p>
        </p:txBody>
      </p:sp>
      <p:sp>
        <p:nvSpPr>
          <p:cNvPr id="6" name="Rectangle 12"/>
          <p:cNvSpPr>
            <a:spLocks noGrp="1" noChangeArrowheads="1"/>
          </p:cNvSpPr>
          <p:nvPr>
            <p:ph type="ftr" sz="quarter" idx="11"/>
          </p:nvPr>
        </p:nvSpPr>
        <p:spPr/>
        <p:txBody>
          <a:bodyPr/>
          <a:lstStyle>
            <a:lvl1pPr>
              <a:defRPr/>
            </a:lvl1pPr>
          </a:lstStyle>
          <a:p>
            <a:pPr>
              <a:defRPr/>
            </a:pPr>
            <a:endParaRPr lang="en-GB"/>
          </a:p>
        </p:txBody>
      </p:sp>
      <p:sp>
        <p:nvSpPr>
          <p:cNvPr id="7" name="Rectangle 13"/>
          <p:cNvSpPr>
            <a:spLocks noGrp="1" noChangeArrowheads="1"/>
          </p:cNvSpPr>
          <p:nvPr>
            <p:ph type="sldNum" sz="quarter" idx="12"/>
          </p:nvPr>
        </p:nvSpPr>
        <p:spPr/>
        <p:txBody>
          <a:bodyPr/>
          <a:lstStyle>
            <a:lvl1pPr>
              <a:defRPr/>
            </a:lvl1pPr>
          </a:lstStyle>
          <a:p>
            <a:pPr>
              <a:defRPr/>
            </a:pPr>
            <a:fld id="{B79855FD-0ACB-4786-ADA0-D92CDE1F6EC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49AE223-18DC-4218-A1FD-999B1D0A8C0C}" type="datetime1">
              <a:rPr lang="en-GB" smtClean="0"/>
            </a:fld>
            <a:endParaRPr lang="en-GB"/>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BE75A82-2417-455C-BF49-8BC77D49FA9D}"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mailto:muthomi@uonbi.ac.ke" TargetMode="Externa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7.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7.xml"/><Relationship Id="rId2" Type="http://schemas.openxmlformats.org/officeDocument/2006/relationships/image" Target="../media/image3.jpeg"/><Relationship Id="rId1" Type="http://schemas.openxmlformats.org/officeDocument/2006/relationships/image" Target="../media/image12.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7.xml"/><Relationship Id="rId1" Type="http://schemas.openxmlformats.org/officeDocument/2006/relationships/image" Target="../media/image14.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70088" y="1400175"/>
            <a:ext cx="8915399" cy="2262781"/>
          </a:xfrm>
        </p:spPr>
        <p:txBody>
          <a:bodyPr>
            <a:normAutofit fontScale="90000"/>
          </a:bodyPr>
          <a:lstStyle/>
          <a:p>
            <a:pPr algn="ctr"/>
            <a:r>
              <a:rPr lang="en-GB" sz="4000" b="1" dirty="0"/>
              <a:t>FCC3 246: CONCRETE MATERIALS</a:t>
            </a:r>
            <a:br>
              <a:rPr lang="en-GB" sz="4000" b="1" dirty="0"/>
            </a:br>
            <a:br>
              <a:rPr lang="en-GB" sz="4000" b="1" dirty="0"/>
            </a:br>
            <a:r>
              <a:rPr lang="en-US" altLang="en-GB" sz="4000" b="1" dirty="0"/>
              <a:t>Lecture 5: AGGREGATES IN CONCRETE</a:t>
            </a:r>
            <a:endParaRPr lang="en-US" altLang="en-GB" sz="4000" b="1" dirty="0"/>
          </a:p>
        </p:txBody>
      </p:sp>
      <p:sp>
        <p:nvSpPr>
          <p:cNvPr id="3" name="Subtitle 2"/>
          <p:cNvSpPr>
            <a:spLocks noGrp="1"/>
          </p:cNvSpPr>
          <p:nvPr>
            <p:ph type="subTitle" idx="1"/>
          </p:nvPr>
        </p:nvSpPr>
        <p:spPr/>
        <p:txBody>
          <a:bodyPr>
            <a:normAutofit lnSpcReduction="10000"/>
          </a:bodyPr>
          <a:lstStyle/>
          <a:p>
            <a:r>
              <a:rPr lang="en-GB"/>
              <a:t>Department of Civil &amp; Construction Engineering</a:t>
            </a:r>
            <a:endParaRPr lang="en-GB"/>
          </a:p>
          <a:p>
            <a:r>
              <a:rPr lang="en-GB"/>
              <a:t>University of Nairobi</a:t>
            </a:r>
            <a:endParaRPr lang="en-GB"/>
          </a:p>
          <a:p>
            <a:r>
              <a:rPr lang="en-GB" i="1">
                <a:solidFill>
                  <a:srgbClr val="0070C0"/>
                </a:solidFill>
                <a:hlinkClick r:id="rId1"/>
              </a:rPr>
              <a:t>m</a:t>
            </a:r>
            <a:r>
              <a:rPr lang="en-US" altLang="en-GB" i="1">
                <a:solidFill>
                  <a:srgbClr val="0070C0"/>
                </a:solidFill>
                <a:hlinkClick r:id="rId1"/>
              </a:rPr>
              <a:t>wauras</a:t>
            </a:r>
            <a:r>
              <a:rPr lang="en-GB" i="1">
                <a:solidFill>
                  <a:srgbClr val="0070C0"/>
                </a:solidFill>
                <a:hlinkClick r:id="rId1"/>
              </a:rPr>
              <a:t>@uonbi.ac.ke</a:t>
            </a:r>
            <a:r>
              <a:rPr lang="en-GB" i="1">
                <a:solidFill>
                  <a:srgbClr val="0070C0"/>
                </a:solidFill>
              </a:rPr>
              <a:t> </a:t>
            </a:r>
            <a:endParaRPr lang="en-GB"/>
          </a:p>
          <a:p>
            <a:endParaRPr lang="en-GB"/>
          </a:p>
        </p:txBody>
      </p:sp>
      <p:sp>
        <p:nvSpPr>
          <p:cNvPr id="4" name="Slide Number Placeholder 3"/>
          <p:cNvSpPr>
            <a:spLocks noGrp="1"/>
          </p:cNvSpPr>
          <p:nvPr>
            <p:ph type="sldNum" sz="quarter" idx="12"/>
          </p:nvPr>
        </p:nvSpPr>
        <p:spPr>
          <a:xfrm>
            <a:off x="160752" y="4412254"/>
            <a:ext cx="952431" cy="597068"/>
          </a:xfrm>
        </p:spPr>
        <p:txBody>
          <a:bodyPr/>
          <a:lstStyle/>
          <a:p>
            <a:fld id="{D57F1E4F-1CFF-5643-939E-217C01CDF565}" type="slidenum">
              <a:rPr lang="en-US" sz="4000" smtClean="0"/>
            </a:fld>
            <a:endParaRPr lang="en-US" sz="4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96008" y="1484785"/>
            <a:ext cx="4788024" cy="1322070"/>
          </a:xfrm>
          <a:prstGeom prst="rect">
            <a:avLst/>
          </a:prstGeom>
          <a:noFill/>
        </p:spPr>
        <p:txBody>
          <a:bodyPr wrap="square">
            <a:spAutoFit/>
          </a:bodyPr>
          <a:lstStyle/>
          <a:p>
            <a:pPr algn="ctr">
              <a:defRPr/>
            </a:pPr>
            <a:r>
              <a:rPr lang="en-ZA" sz="4000" b="1">
                <a:latin typeface="+mj-lt"/>
              </a:rPr>
              <a:t>Aggregate</a:t>
            </a:r>
            <a:r>
              <a:rPr lang="en-US" altLang="en-ZA" sz="4000" b="1">
                <a:latin typeface="+mj-lt"/>
              </a:rPr>
              <a:t>s</a:t>
            </a:r>
            <a:r>
              <a:rPr lang="en-ZA" sz="4000" b="1">
                <a:latin typeface="+mj-lt"/>
              </a:rPr>
              <a:t> in</a:t>
            </a:r>
            <a:r>
              <a:rPr lang="en-ZA" sz="4000" b="1"/>
              <a:t> Concrete</a:t>
            </a:r>
            <a:r>
              <a:rPr lang="en-ZA" sz="4000" b="1">
                <a:latin typeface="+mj-lt"/>
              </a:rPr>
              <a:t> </a:t>
            </a:r>
            <a:endParaRPr lang="en-US" sz="4000" b="1">
              <a:latin typeface="+mj-lt"/>
            </a:endParaRPr>
          </a:p>
        </p:txBody>
      </p:sp>
      <p:pic>
        <p:nvPicPr>
          <p:cNvPr id="15362" name="Picture 2" descr="IMAGE0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05170" y="0"/>
            <a:ext cx="638746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991544" y="116632"/>
            <a:ext cx="5915000" cy="994122"/>
          </a:xfrm>
          <a:noFill/>
        </p:spPr>
        <p:txBody>
          <a:bodyPr vert="horz" lIns="90488" tIns="44450" rIns="90488" bIns="44450" rtlCol="0" anchor="t">
            <a:normAutofit/>
          </a:bodyPr>
          <a:lstStyle/>
          <a:p>
            <a:r>
              <a:rPr lang="en-US" sz="4000"/>
              <a:t>Natural Aggregate</a:t>
            </a:r>
            <a:endParaRPr lang="en-US" sz="4000"/>
          </a:p>
        </p:txBody>
      </p:sp>
      <p:pic>
        <p:nvPicPr>
          <p:cNvPr id="5" name="Picture 4" descr="Crusher10.jpg"/>
          <p:cNvPicPr>
            <a:picLocks noChangeAspect="1"/>
          </p:cNvPicPr>
          <p:nvPr/>
        </p:nvPicPr>
        <p:blipFill>
          <a:blip r:embed="rId1" cstate="print"/>
          <a:stretch>
            <a:fillRect/>
          </a:stretch>
        </p:blipFill>
        <p:spPr>
          <a:xfrm>
            <a:off x="2855640" y="997071"/>
            <a:ext cx="7812360" cy="58609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86000" y="685800"/>
            <a:ext cx="7772400" cy="304800"/>
          </a:xfrm>
          <a:noFill/>
        </p:spPr>
        <p:txBody>
          <a:bodyPr vert="horz" lIns="90488" tIns="44450" rIns="90488" bIns="44450" rtlCol="0" anchor="ctr">
            <a:normAutofit fontScale="90000"/>
          </a:bodyPr>
          <a:lstStyle/>
          <a:p>
            <a:pPr eaLnBrk="1" hangingPunct="1"/>
            <a:r>
              <a:rPr lang="en-US" sz="4000"/>
              <a:t>What are Aggregates?</a:t>
            </a:r>
            <a:endParaRPr lang="en-US" sz="4000"/>
          </a:p>
        </p:txBody>
      </p:sp>
      <p:sp>
        <p:nvSpPr>
          <p:cNvPr id="83971" name="Rectangle 3"/>
          <p:cNvSpPr>
            <a:spLocks noGrp="1" noChangeArrowheads="1"/>
          </p:cNvSpPr>
          <p:nvPr>
            <p:ph type="body" sz="quarter" idx="10"/>
          </p:nvPr>
        </p:nvSpPr>
        <p:spPr>
          <a:xfrm>
            <a:off x="560705" y="1371600"/>
            <a:ext cx="11527790" cy="4091305"/>
          </a:xfrm>
          <a:noFill/>
        </p:spPr>
        <p:txBody>
          <a:bodyPr vert="horz" lIns="90488" tIns="44450" rIns="90488" bIns="44450" rtlCol="0">
            <a:noAutofit/>
          </a:bodyPr>
          <a:lstStyle/>
          <a:p>
            <a:pPr marL="457200" indent="-457200">
              <a:buFont typeface="Arial" panose="020B0604020202020204" pitchFamily="34" charset="0"/>
              <a:buChar char="•"/>
            </a:pPr>
            <a:r>
              <a:rPr lang="en-US" sz="2400"/>
              <a:t>Filler materials used in manufacturing cement concrete are known as aggregates.</a:t>
            </a:r>
            <a:endParaRPr lang="en-US" sz="2400"/>
          </a:p>
          <a:p>
            <a:pPr marL="457200" indent="-457200">
              <a:buFont typeface="Arial" panose="020B0604020202020204" pitchFamily="34" charset="0"/>
              <a:buChar char="•"/>
            </a:pPr>
            <a:r>
              <a:rPr lang="en-US" sz="2400"/>
              <a:t>Sand, gravel, crushed rock and other filler materials are used as aggregates.</a:t>
            </a:r>
            <a:endParaRPr lang="en-US" sz="2400"/>
          </a:p>
          <a:p>
            <a:pPr marL="457200" indent="-457200">
              <a:buFont typeface="Arial" panose="020B0604020202020204" pitchFamily="34" charset="0"/>
              <a:buChar char="•"/>
            </a:pPr>
            <a:r>
              <a:rPr lang="en-US" sz="2400"/>
              <a:t>In CC, the volume occupied by aggregates is about 75% of the total volume of concrete.</a:t>
            </a:r>
            <a:endParaRPr lang="en-US" sz="2400"/>
          </a:p>
          <a:p>
            <a:pPr marL="457200" indent="-457200">
              <a:buFont typeface="Arial" panose="020B0604020202020204" pitchFamily="34" charset="0"/>
              <a:buChar char="•"/>
            </a:pPr>
            <a:r>
              <a:rPr lang="en-US" sz="2400"/>
              <a:t>Almost any material, provided it has the required strength, durability and soundness can be used as an aggregate for making concrete.</a:t>
            </a:r>
            <a:endParaRPr lang="en-US" sz="2400"/>
          </a:p>
          <a:p>
            <a:pPr marL="457200" indent="-457200">
              <a:buFont typeface="Arial" panose="020B0604020202020204" pitchFamily="34" charset="0"/>
              <a:buChar char="•"/>
            </a:pPr>
            <a:r>
              <a:rPr lang="en-US" sz="2400"/>
              <a:t>According to size, aggregates may be classified under two categories;</a:t>
            </a:r>
            <a:endParaRPr lang="en-US" sz="2400"/>
          </a:p>
          <a:p>
            <a:pPr marL="914400" lvl="1" indent="-457200">
              <a:buFont typeface="Arial" panose="020B0604020202020204" pitchFamily="34" charset="0"/>
              <a:buChar char="•"/>
            </a:pPr>
            <a:r>
              <a:rPr lang="en-US" sz="1800" b="1"/>
              <a:t>COARSE Aggregate</a:t>
            </a:r>
            <a:r>
              <a:rPr lang="en-US" sz="1800"/>
              <a:t> - Generally applied for aggregates that are greater than 1/4 inch</a:t>
            </a:r>
            <a:endParaRPr lang="en-US" sz="1800"/>
          </a:p>
          <a:p>
            <a:pPr marL="914400" lvl="1" indent="-457200">
              <a:buFont typeface="Arial" panose="020B0604020202020204" pitchFamily="34" charset="0"/>
              <a:buChar char="•"/>
            </a:pPr>
            <a:r>
              <a:rPr lang="en-US" sz="1800" b="1"/>
              <a:t>FINE Aggregate</a:t>
            </a:r>
            <a:r>
              <a:rPr lang="en-US" sz="1800"/>
              <a:t> - Generally applied for aggregates that are less than 1/4 inch</a:t>
            </a:r>
            <a:endParaRPr 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60401"/>
            <a:ext cx="8229600" cy="487363"/>
          </a:xfrm>
        </p:spPr>
        <p:txBody>
          <a:bodyPr>
            <a:normAutofit fontScale="90000"/>
          </a:bodyPr>
          <a:lstStyle/>
          <a:p>
            <a:r>
              <a:rPr lang="en-ZA" sz="4000" b="1"/>
              <a:t>Introduction</a:t>
            </a:r>
            <a:endParaRPr lang="en-ZA" sz="4000" b="1"/>
          </a:p>
        </p:txBody>
      </p:sp>
      <p:sp>
        <p:nvSpPr>
          <p:cNvPr id="7" name="Content Placeholder 6"/>
          <p:cNvSpPr>
            <a:spLocks noGrp="1"/>
          </p:cNvSpPr>
          <p:nvPr>
            <p:ph sz="half" idx="1"/>
          </p:nvPr>
        </p:nvSpPr>
        <p:spPr>
          <a:xfrm>
            <a:off x="1981200" y="1519238"/>
            <a:ext cx="3810000" cy="4687887"/>
          </a:xfrm>
        </p:spPr>
        <p:txBody>
          <a:bodyPr/>
          <a:lstStyle/>
          <a:p>
            <a:r>
              <a:rPr lang="en-ZA"/>
              <a:t>Aggregates are inert</a:t>
            </a:r>
            <a:endParaRPr lang="en-ZA"/>
          </a:p>
          <a:p>
            <a:r>
              <a:rPr lang="en-ZA"/>
              <a:t>Normally derived from crushing rock </a:t>
            </a:r>
            <a:endParaRPr lang="en-ZA"/>
          </a:p>
          <a:p>
            <a:r>
              <a:rPr lang="en-ZA"/>
              <a:t>Aggregates make up:</a:t>
            </a:r>
            <a:endParaRPr lang="en-ZA"/>
          </a:p>
          <a:p>
            <a:pPr lvl="1"/>
            <a:r>
              <a:rPr lang="en-ZA">
                <a:solidFill>
                  <a:schemeClr val="accent6">
                    <a:lumMod val="50000"/>
                  </a:schemeClr>
                </a:solidFill>
              </a:rPr>
              <a:t>¾ mass</a:t>
            </a:r>
            <a:endParaRPr lang="en-ZA">
              <a:solidFill>
                <a:schemeClr val="accent6">
                  <a:lumMod val="50000"/>
                </a:schemeClr>
              </a:solidFill>
            </a:endParaRPr>
          </a:p>
          <a:p>
            <a:pPr lvl="1"/>
            <a:r>
              <a:rPr lang="en-ZA">
                <a:solidFill>
                  <a:schemeClr val="accent6">
                    <a:lumMod val="50000"/>
                  </a:schemeClr>
                </a:solidFill>
              </a:rPr>
              <a:t>2/3 volume of concrete</a:t>
            </a:r>
            <a:endParaRPr lang="en-ZA">
              <a:solidFill>
                <a:schemeClr val="accent6">
                  <a:lumMod val="50000"/>
                </a:schemeClr>
              </a:solidFill>
            </a:endParaRPr>
          </a:p>
        </p:txBody>
      </p:sp>
      <p:sp>
        <p:nvSpPr>
          <p:cNvPr id="8" name="Content Placeholder 7"/>
          <p:cNvSpPr>
            <a:spLocks noGrp="1"/>
          </p:cNvSpPr>
          <p:nvPr>
            <p:ph sz="half" idx="2"/>
          </p:nvPr>
        </p:nvSpPr>
        <p:spPr>
          <a:xfrm>
            <a:off x="6172200" y="1524001"/>
            <a:ext cx="4038600" cy="4525963"/>
          </a:xfrm>
        </p:spPr>
        <p:txBody>
          <a:bodyPr/>
          <a:lstStyle/>
          <a:p>
            <a:r>
              <a:rPr lang="en-ZA"/>
              <a:t>By providing bulk, aggregates:</a:t>
            </a:r>
            <a:endParaRPr lang="en-ZA"/>
          </a:p>
          <a:p>
            <a:pPr lvl="1"/>
            <a:r>
              <a:rPr lang="en-ZA">
                <a:solidFill>
                  <a:schemeClr val="accent6">
                    <a:lumMod val="50000"/>
                  </a:schemeClr>
                </a:solidFill>
              </a:rPr>
              <a:t>Reduce cost</a:t>
            </a:r>
            <a:endParaRPr lang="en-ZA">
              <a:solidFill>
                <a:schemeClr val="accent6">
                  <a:lumMod val="50000"/>
                </a:schemeClr>
              </a:solidFill>
            </a:endParaRPr>
          </a:p>
          <a:p>
            <a:pPr lvl="1"/>
            <a:r>
              <a:rPr lang="en-ZA">
                <a:solidFill>
                  <a:schemeClr val="accent6">
                    <a:lumMod val="50000"/>
                  </a:schemeClr>
                </a:solidFill>
              </a:rPr>
              <a:t>Improve dimensional stability</a:t>
            </a:r>
            <a:endParaRPr lang="en-ZA">
              <a:solidFill>
                <a:schemeClr val="accent6">
                  <a:lumMod val="50000"/>
                </a:schemeClr>
              </a:solidFill>
            </a:endParaRPr>
          </a:p>
          <a:p>
            <a:r>
              <a:rPr lang="en-ZA"/>
              <a:t>There are two types:</a:t>
            </a:r>
            <a:endParaRPr lang="en-ZA"/>
          </a:p>
          <a:p>
            <a:pPr lvl="1"/>
            <a:r>
              <a:rPr lang="en-ZA">
                <a:solidFill>
                  <a:schemeClr val="accent6">
                    <a:lumMod val="50000"/>
                  </a:schemeClr>
                </a:solidFill>
              </a:rPr>
              <a:t>Fine aggregate </a:t>
            </a:r>
            <a:endParaRPr lang="en-ZA">
              <a:solidFill>
                <a:schemeClr val="accent6">
                  <a:lumMod val="50000"/>
                </a:schemeClr>
              </a:solidFill>
            </a:endParaRPr>
          </a:p>
          <a:p>
            <a:pPr lvl="2"/>
            <a:r>
              <a:rPr lang="en-ZA">
                <a:solidFill>
                  <a:schemeClr val="accent6">
                    <a:lumMod val="50000"/>
                  </a:schemeClr>
                </a:solidFill>
              </a:rPr>
              <a:t>Sand (-6mm)</a:t>
            </a:r>
            <a:endParaRPr lang="en-ZA">
              <a:solidFill>
                <a:schemeClr val="accent6">
                  <a:lumMod val="50000"/>
                </a:schemeClr>
              </a:solidFill>
            </a:endParaRPr>
          </a:p>
          <a:p>
            <a:pPr lvl="1"/>
            <a:r>
              <a:rPr lang="en-ZA">
                <a:solidFill>
                  <a:schemeClr val="accent6">
                    <a:lumMod val="50000"/>
                  </a:schemeClr>
                </a:solidFill>
              </a:rPr>
              <a:t>Coarse aggregate</a:t>
            </a:r>
            <a:endParaRPr lang="en-ZA">
              <a:solidFill>
                <a:schemeClr val="accent6">
                  <a:lumMod val="50000"/>
                </a:schemeClr>
              </a:solidFill>
            </a:endParaRPr>
          </a:p>
          <a:p>
            <a:pPr lvl="2"/>
            <a:r>
              <a:rPr lang="en-ZA">
                <a:solidFill>
                  <a:schemeClr val="accent6">
                    <a:lumMod val="50000"/>
                  </a:schemeClr>
                </a:solidFill>
              </a:rPr>
              <a:t>Stone (+6mm)</a:t>
            </a:r>
            <a:endParaRPr lang="en-ZA">
              <a:solidFill>
                <a:schemeClr val="accent6">
                  <a:lumMod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966173" y="685800"/>
            <a:ext cx="7772400" cy="457200"/>
          </a:xfrm>
          <a:noFill/>
        </p:spPr>
        <p:txBody>
          <a:bodyPr vert="horz" lIns="90488" tIns="44450" rIns="90488" bIns="44450" rtlCol="0" anchor="ctr">
            <a:normAutofit fontScale="90000"/>
          </a:bodyPr>
          <a:lstStyle/>
          <a:p>
            <a:pPr eaLnBrk="1" hangingPunct="1"/>
            <a:r>
              <a:rPr lang="en-US" sz="4000" b="1"/>
              <a:t>Why use aggregates in concrete?</a:t>
            </a:r>
            <a:endParaRPr lang="en-US" sz="4000" b="1"/>
          </a:p>
        </p:txBody>
      </p:sp>
      <p:sp>
        <p:nvSpPr>
          <p:cNvPr id="6148" name="Rectangle 4" descr="Bouquet"/>
          <p:cNvSpPr>
            <a:spLocks noChangeArrowheads="1"/>
          </p:cNvSpPr>
          <p:nvPr/>
        </p:nvSpPr>
        <p:spPr bwMode="auto">
          <a:xfrm>
            <a:off x="2181225" y="4356100"/>
            <a:ext cx="7759700" cy="368300"/>
          </a:xfrm>
          <a:prstGeom prst="rect">
            <a:avLst/>
          </a:prstGeom>
          <a:blipFill dpi="0" rotWithShape="0">
            <a:blip r:embed="rId1"/>
            <a:srcRect/>
            <a:tile tx="0" ty="0" sx="100000" sy="100000" flip="none" algn="tl"/>
          </a:blipFill>
          <a:ln w="12700">
            <a:solidFill>
              <a:schemeClr val="tx1"/>
            </a:solidFill>
            <a:miter lim="800000"/>
          </a:ln>
        </p:spPr>
        <p:txBody>
          <a:bodyPr wrap="none" anchor="ctr"/>
          <a:lstStyle/>
          <a:p>
            <a:endParaRPr lang="en-US"/>
          </a:p>
        </p:txBody>
      </p:sp>
      <p:sp>
        <p:nvSpPr>
          <p:cNvPr id="6150" name="Line 10"/>
          <p:cNvSpPr>
            <a:spLocks noChangeShapeType="1"/>
          </p:cNvSpPr>
          <p:nvPr/>
        </p:nvSpPr>
        <p:spPr bwMode="auto">
          <a:xfrm>
            <a:off x="3962400" y="4267200"/>
            <a:ext cx="0" cy="13970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en-ZA"/>
          </a:p>
        </p:txBody>
      </p:sp>
      <p:sp>
        <p:nvSpPr>
          <p:cNvPr id="6151" name="Line 11"/>
          <p:cNvSpPr>
            <a:spLocks noChangeShapeType="1"/>
          </p:cNvSpPr>
          <p:nvPr/>
        </p:nvSpPr>
        <p:spPr bwMode="auto">
          <a:xfrm>
            <a:off x="5761038" y="4297364"/>
            <a:ext cx="0" cy="10953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en-ZA"/>
          </a:p>
        </p:txBody>
      </p:sp>
      <p:sp>
        <p:nvSpPr>
          <p:cNvPr id="6152" name="Line 12"/>
          <p:cNvSpPr>
            <a:spLocks noChangeShapeType="1"/>
          </p:cNvSpPr>
          <p:nvPr/>
        </p:nvSpPr>
        <p:spPr bwMode="auto">
          <a:xfrm>
            <a:off x="7454900" y="4297364"/>
            <a:ext cx="0" cy="128587"/>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en-ZA"/>
          </a:p>
        </p:txBody>
      </p:sp>
      <p:sp>
        <p:nvSpPr>
          <p:cNvPr id="6154" name="Rectangle 14" descr="Bouquet"/>
          <p:cNvSpPr>
            <a:spLocks noChangeArrowheads="1"/>
          </p:cNvSpPr>
          <p:nvPr/>
        </p:nvSpPr>
        <p:spPr bwMode="auto">
          <a:xfrm>
            <a:off x="2181225" y="3481376"/>
            <a:ext cx="2368550" cy="654050"/>
          </a:xfrm>
          <a:prstGeom prst="rect">
            <a:avLst/>
          </a:prstGeom>
          <a:blipFill dpi="0" rotWithShape="0">
            <a:blip r:embed="rId1"/>
            <a:srcRect/>
            <a:tile tx="0" ty="0" sx="100000" sy="100000" flip="none" algn="tl"/>
          </a:blipFill>
          <a:ln w="12700">
            <a:solidFill>
              <a:schemeClr val="tx1"/>
            </a:solidFill>
            <a:miter lim="800000"/>
          </a:ln>
        </p:spPr>
        <p:txBody>
          <a:bodyPr wrap="none" lIns="90488" tIns="44450" rIns="90488" bIns="44450" anchor="ctr"/>
          <a:lstStyle/>
          <a:p>
            <a:pPr algn="ctr" eaLnBrk="0" hangingPunct="0"/>
            <a:r>
              <a:rPr lang="en-US" sz="2800" b="1">
                <a:solidFill>
                  <a:srgbClr val="6E0043"/>
                </a:solidFill>
                <a:latin typeface="Times New Roman" panose="02020603050405020304" pitchFamily="18" charset="0"/>
              </a:rPr>
              <a:t>Cement paste</a:t>
            </a:r>
            <a:endParaRPr lang="en-US" sz="2800" b="1">
              <a:solidFill>
                <a:srgbClr val="6E0043"/>
              </a:solidFill>
              <a:latin typeface="Times New Roman" panose="02020603050405020304" pitchFamily="18" charset="0"/>
            </a:endParaRPr>
          </a:p>
        </p:txBody>
      </p:sp>
      <p:sp>
        <p:nvSpPr>
          <p:cNvPr id="6155" name="Rectangle 15" descr="Bouquet"/>
          <p:cNvSpPr>
            <a:spLocks noChangeArrowheads="1"/>
          </p:cNvSpPr>
          <p:nvPr/>
        </p:nvSpPr>
        <p:spPr bwMode="auto">
          <a:xfrm>
            <a:off x="4994329" y="3476614"/>
            <a:ext cx="1716088" cy="688975"/>
          </a:xfrm>
          <a:prstGeom prst="rect">
            <a:avLst/>
          </a:prstGeom>
          <a:blipFill dpi="0" rotWithShape="0">
            <a:blip r:embed="rId1"/>
            <a:srcRect/>
            <a:tile tx="0" ty="0" sx="100000" sy="100000" flip="none" algn="tl"/>
          </a:blipFill>
          <a:ln w="12700">
            <a:solidFill>
              <a:schemeClr val="tx1"/>
            </a:solidFill>
            <a:miter lim="800000"/>
          </a:ln>
        </p:spPr>
        <p:txBody>
          <a:bodyPr wrap="none" lIns="90488" tIns="44450" rIns="90488" bIns="44450" anchor="ctr"/>
          <a:lstStyle/>
          <a:p>
            <a:pPr algn="ctr" eaLnBrk="0" hangingPunct="0"/>
            <a:r>
              <a:rPr lang="en-US" sz="2800" b="1">
                <a:solidFill>
                  <a:srgbClr val="6E0043"/>
                </a:solidFill>
                <a:latin typeface="Times New Roman" panose="02020603050405020304" pitchFamily="18" charset="0"/>
              </a:rPr>
              <a:t>Mortar</a:t>
            </a:r>
            <a:endParaRPr lang="en-US" sz="2800" b="1">
              <a:solidFill>
                <a:srgbClr val="6E0043"/>
              </a:solidFill>
              <a:latin typeface="Times New Roman" panose="02020603050405020304" pitchFamily="18" charset="0"/>
            </a:endParaRPr>
          </a:p>
        </p:txBody>
      </p:sp>
      <p:sp>
        <p:nvSpPr>
          <p:cNvPr id="6156" name="Rectangle 16" descr="Bouquet"/>
          <p:cNvSpPr>
            <a:spLocks noChangeArrowheads="1"/>
          </p:cNvSpPr>
          <p:nvPr/>
        </p:nvSpPr>
        <p:spPr bwMode="auto">
          <a:xfrm>
            <a:off x="6947187" y="3471932"/>
            <a:ext cx="2172930" cy="520655"/>
          </a:xfrm>
          <a:prstGeom prst="rect">
            <a:avLst/>
          </a:prstGeom>
          <a:blipFill dpi="0" rotWithShape="0">
            <a:blip r:embed="rId1"/>
            <a:srcRect/>
            <a:tile tx="0" ty="0" sx="100000" sy="100000" flip="none" algn="tl"/>
          </a:blip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eaLnBrk="0" hangingPunct="0"/>
            <a:r>
              <a:rPr lang="en-US" sz="2800" b="1">
                <a:solidFill>
                  <a:srgbClr val="6E0043"/>
                </a:solidFill>
                <a:latin typeface="Times New Roman" panose="02020603050405020304" pitchFamily="18" charset="0"/>
              </a:rPr>
              <a:t>Concrete</a:t>
            </a:r>
            <a:endParaRPr lang="en-US" sz="2800" b="1">
              <a:solidFill>
                <a:srgbClr val="6E0043"/>
              </a:solidFill>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008573" y="688928"/>
            <a:ext cx="8229600" cy="533400"/>
          </a:xfrm>
        </p:spPr>
        <p:txBody>
          <a:bodyPr>
            <a:normAutofit fontScale="90000"/>
          </a:bodyPr>
          <a:lstStyle/>
          <a:p>
            <a:pPr eaLnBrk="1" hangingPunct="1"/>
            <a:r>
              <a:rPr lang="en-ZA" sz="4000"/>
              <a:t>Aggregate properties</a:t>
            </a:r>
            <a:endParaRPr lang="en-GB" sz="4000"/>
          </a:p>
        </p:txBody>
      </p:sp>
      <p:sp>
        <p:nvSpPr>
          <p:cNvPr id="7171" name="Rectangle 3"/>
          <p:cNvSpPr>
            <a:spLocks noGrp="1" noChangeArrowheads="1"/>
          </p:cNvSpPr>
          <p:nvPr>
            <p:ph type="body" sz="quarter" idx="10"/>
          </p:nvPr>
        </p:nvSpPr>
        <p:spPr>
          <a:xfrm>
            <a:off x="2068830" y="1600200"/>
            <a:ext cx="9578340" cy="4079875"/>
          </a:xfrm>
        </p:spPr>
        <p:txBody>
          <a:bodyPr>
            <a:noAutofit/>
          </a:bodyPr>
          <a:lstStyle/>
          <a:p>
            <a:pPr marL="0" indent="0"/>
            <a:r>
              <a:rPr lang="en-ZA"/>
              <a:t>Aggregates need to be:</a:t>
            </a:r>
            <a:endParaRPr lang="en-ZA"/>
          </a:p>
          <a:p>
            <a:pPr marL="457200" indent="-457200">
              <a:buFont typeface="Arial" panose="020B0604020202020204" pitchFamily="34" charset="0"/>
              <a:buChar char="•"/>
            </a:pPr>
            <a:r>
              <a:rPr lang="en-ZA"/>
              <a:t>Clean</a:t>
            </a:r>
            <a:endParaRPr lang="en-ZA"/>
          </a:p>
          <a:p>
            <a:pPr marL="457200" indent="-457200">
              <a:buFont typeface="Arial" panose="020B0604020202020204" pitchFamily="34" charset="0"/>
              <a:buChar char="•"/>
            </a:pPr>
            <a:r>
              <a:rPr lang="en-ZA"/>
              <a:t>Hard</a:t>
            </a:r>
            <a:endParaRPr lang="en-ZA"/>
          </a:p>
          <a:p>
            <a:pPr marL="457200" indent="-457200">
              <a:buFont typeface="Arial" panose="020B0604020202020204" pitchFamily="34" charset="0"/>
              <a:buChar char="•"/>
            </a:pPr>
            <a:r>
              <a:rPr lang="en-ZA"/>
              <a:t>Strong</a:t>
            </a:r>
            <a:endParaRPr lang="en-ZA"/>
          </a:p>
          <a:p>
            <a:pPr marL="457200" indent="-457200">
              <a:buFont typeface="Arial" panose="020B0604020202020204" pitchFamily="34" charset="0"/>
              <a:buChar char="•"/>
            </a:pPr>
            <a:r>
              <a:rPr lang="en-ZA"/>
              <a:t>Dimensionally stable</a:t>
            </a:r>
            <a:endParaRPr lang="en-ZA"/>
          </a:p>
          <a:p>
            <a:pPr marL="457200" indent="-457200">
              <a:buFont typeface="Arial" panose="020B0604020202020204" pitchFamily="34" charset="0"/>
              <a:buChar char="•"/>
            </a:pPr>
            <a:r>
              <a:rPr lang="en-ZA"/>
              <a:t>Durable rock particles</a:t>
            </a:r>
            <a:endParaRPr lang="en-ZA"/>
          </a:p>
          <a:p>
            <a:pPr marL="457200" indent="-457200">
              <a:buFont typeface="Arial" panose="020B0604020202020204" pitchFamily="34" charset="0"/>
              <a:buChar char="•"/>
            </a:pPr>
            <a:r>
              <a:rPr lang="en-ZA"/>
              <a:t>Free from clay </a:t>
            </a:r>
            <a:endParaRPr lang="en-ZA"/>
          </a:p>
          <a:p>
            <a:pPr marL="457200" indent="-457200">
              <a:buFont typeface="Arial" panose="020B0604020202020204" pitchFamily="34" charset="0"/>
              <a:buChar char="•"/>
            </a:pPr>
            <a:r>
              <a:rPr lang="en-ZA"/>
              <a:t>Free from organic materials</a:t>
            </a:r>
            <a:endParaRPr lang="en-ZA"/>
          </a:p>
          <a:p>
            <a:pPr marL="457200" indent="-457200">
              <a:buFont typeface="Arial" panose="020B0604020202020204" pitchFamily="34" charset="0"/>
              <a:buChar char="•"/>
            </a:pPr>
            <a:r>
              <a:rPr lang="en-US" altLang="en-GB"/>
              <a:t>Chemically stable</a:t>
            </a:r>
            <a:endParaRPr lang="en-US" altLang="en-GB"/>
          </a:p>
          <a:p>
            <a:pPr marL="457200" indent="-457200">
              <a:buFont typeface="Arial" panose="020B0604020202020204" pitchFamily="34" charset="0"/>
              <a:buChar char="•"/>
            </a:pPr>
            <a:r>
              <a:rPr lang="en-US" altLang="en-GB"/>
              <a:t>Properly graded for size distribution</a:t>
            </a:r>
            <a:endParaRPr lang="en-US" altLang="en-GB"/>
          </a:p>
          <a:p>
            <a:pPr marL="457200" indent="-457200">
              <a:buFont typeface="Arial" panose="020B0604020202020204" pitchFamily="34" charset="0"/>
              <a:buChar char="•"/>
            </a:pPr>
            <a:r>
              <a:rPr lang="en-US" altLang="en-GB"/>
              <a:t>Without any deleterious material which may cause physical and chemical changes in the concrete</a:t>
            </a:r>
            <a:endParaRPr lang="en-US" alt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981200" y="685800"/>
            <a:ext cx="8229600" cy="533400"/>
          </a:xfrm>
          <a:noFill/>
        </p:spPr>
        <p:txBody>
          <a:bodyPr vert="horz" lIns="90488" tIns="44450" rIns="90488" bIns="44450" rtlCol="0" anchor="ctr">
            <a:normAutofit fontScale="90000"/>
          </a:bodyPr>
          <a:lstStyle/>
          <a:p>
            <a:pPr eaLnBrk="1" hangingPunct="1"/>
            <a:r>
              <a:rPr lang="en-US" sz="4000"/>
              <a:t>Deleterious substances:</a:t>
            </a:r>
            <a:br>
              <a:rPr lang="en-US" sz="4000"/>
            </a:br>
            <a:r>
              <a:rPr lang="en-US" sz="4000"/>
              <a:t>Silt, clay and dust</a:t>
            </a:r>
            <a:endParaRPr lang="en-US" sz="4000"/>
          </a:p>
        </p:txBody>
      </p:sp>
      <p:sp>
        <p:nvSpPr>
          <p:cNvPr id="41987" name="Rectangle 3"/>
          <p:cNvSpPr>
            <a:spLocks noGrp="1" noChangeArrowheads="1"/>
          </p:cNvSpPr>
          <p:nvPr>
            <p:ph type="body" sz="quarter" idx="10"/>
          </p:nvPr>
        </p:nvSpPr>
        <p:spPr>
          <a:xfrm>
            <a:off x="1400175" y="1981200"/>
            <a:ext cx="10153650" cy="4114800"/>
          </a:xfrm>
          <a:noFill/>
        </p:spPr>
        <p:txBody>
          <a:bodyPr vert="horz" lIns="90488" tIns="44450" rIns="90488" bIns="44450" rtlCol="0">
            <a:normAutofit/>
          </a:bodyPr>
          <a:lstStyle/>
          <a:p>
            <a:pPr marL="457200" indent="-457200">
              <a:buFont typeface="Arial" panose="020B0604020202020204" pitchFamily="34" charset="0"/>
              <a:buChar char="•"/>
            </a:pPr>
            <a:r>
              <a:rPr lang="en-US" sz="2800">
                <a:solidFill>
                  <a:srgbClr val="000000"/>
                </a:solidFill>
              </a:rPr>
              <a:t>Increased water demand</a:t>
            </a:r>
            <a:endParaRPr lang="en-US" sz="2800">
              <a:solidFill>
                <a:srgbClr val="000000"/>
              </a:solidFill>
            </a:endParaRPr>
          </a:p>
          <a:p>
            <a:pPr marL="457200" indent="-457200">
              <a:buFont typeface="Arial" panose="020B0604020202020204" pitchFamily="34" charset="0"/>
              <a:buChar char="•"/>
            </a:pPr>
            <a:r>
              <a:rPr lang="en-US" sz="2800">
                <a:solidFill>
                  <a:srgbClr val="000000"/>
                </a:solidFill>
              </a:rPr>
              <a:t>If it sticks on aggregates, it will reduce bond</a:t>
            </a:r>
            <a:endParaRPr lang="en-US" sz="2800">
              <a:solidFill>
                <a:srgbClr val="000000"/>
              </a:solidFill>
            </a:endParaRPr>
          </a:p>
          <a:p>
            <a:pPr marL="457200" indent="-457200">
              <a:buFont typeface="Arial" panose="020B0604020202020204" pitchFamily="34" charset="0"/>
              <a:buChar char="•"/>
            </a:pPr>
            <a:r>
              <a:rPr lang="en-US" sz="2800">
                <a:solidFill>
                  <a:srgbClr val="000000"/>
                </a:solidFill>
              </a:rPr>
              <a:t>If loose, it could reduce bleeding </a:t>
            </a:r>
            <a:endParaRPr lang="en-US" sz="2800">
              <a:solidFill>
                <a:srgbClr val="000000"/>
              </a:solidFill>
            </a:endParaRPr>
          </a:p>
          <a:p>
            <a:pPr marL="457200" indent="-457200">
              <a:buFont typeface="Arial" panose="020B0604020202020204" pitchFamily="34" charset="0"/>
              <a:buChar char="•"/>
            </a:pPr>
            <a:r>
              <a:rPr lang="en-US" sz="2800">
                <a:solidFill>
                  <a:srgbClr val="000000"/>
                </a:solidFill>
              </a:rPr>
              <a:t>Because aggregates make up roughly 75% of the volume of concrete, the structural strength of concrete is heavily dependent on the quality of its aggregates</a:t>
            </a:r>
            <a:endParaRPr lang="en-US" sz="2800">
              <a:solidFill>
                <a:srgbClr val="000000"/>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981200" y="685800"/>
            <a:ext cx="8229600" cy="533400"/>
          </a:xfrm>
          <a:noFill/>
        </p:spPr>
        <p:txBody>
          <a:bodyPr vert="horz" lIns="90488" tIns="44450" rIns="90488" bIns="44450" rtlCol="0" anchor="ctr">
            <a:normAutofit fontScale="90000"/>
          </a:bodyPr>
          <a:lstStyle/>
          <a:p>
            <a:pPr eaLnBrk="1" hangingPunct="1"/>
            <a:r>
              <a:rPr lang="en-US" sz="4000"/>
              <a:t>Deleterious substances:</a:t>
            </a:r>
            <a:br>
              <a:rPr lang="en-US" sz="4000"/>
            </a:br>
            <a:r>
              <a:rPr lang="en-US" sz="4000"/>
              <a:t>Organic impurities</a:t>
            </a:r>
            <a:endParaRPr lang="en-US" sz="4000"/>
          </a:p>
        </p:txBody>
      </p:sp>
      <p:sp>
        <p:nvSpPr>
          <p:cNvPr id="43011" name="Rectangle 3"/>
          <p:cNvSpPr>
            <a:spLocks noGrp="1" noChangeArrowheads="1"/>
          </p:cNvSpPr>
          <p:nvPr>
            <p:ph type="body" sz="quarter" idx="10"/>
          </p:nvPr>
        </p:nvSpPr>
        <p:spPr>
          <a:xfrm>
            <a:off x="2590800" y="1828800"/>
            <a:ext cx="7772400" cy="4114800"/>
          </a:xfrm>
          <a:noFill/>
        </p:spPr>
        <p:txBody>
          <a:bodyPr vert="horz" lIns="90488" tIns="44450" rIns="90488" bIns="44450" rtlCol="0">
            <a:normAutofit lnSpcReduction="20000"/>
          </a:bodyPr>
          <a:lstStyle/>
          <a:p>
            <a:pPr marL="457200" indent="-457200">
              <a:buFont typeface="Arial" panose="020B0604020202020204" pitchFamily="34" charset="0"/>
              <a:buChar char="•"/>
            </a:pPr>
            <a:r>
              <a:rPr lang="en-US" sz="2800">
                <a:solidFill>
                  <a:srgbClr val="000000"/>
                </a:solidFill>
              </a:rPr>
              <a:t>Humus or loam, vegetable matter</a:t>
            </a:r>
            <a:endParaRPr lang="en-US" sz="2800">
              <a:solidFill>
                <a:srgbClr val="000000"/>
              </a:solidFill>
            </a:endParaRPr>
          </a:p>
          <a:p>
            <a:pPr marL="457200" indent="-457200">
              <a:buFont typeface="Arial" panose="020B0604020202020204" pitchFamily="34" charset="0"/>
              <a:buChar char="•"/>
            </a:pPr>
            <a:r>
              <a:rPr lang="en-US" sz="2800">
                <a:solidFill>
                  <a:srgbClr val="000000"/>
                </a:solidFill>
              </a:rPr>
              <a:t>Remove by washing</a:t>
            </a:r>
            <a:endParaRPr lang="en-US" sz="2800">
              <a:solidFill>
                <a:srgbClr val="000000"/>
              </a:solidFill>
            </a:endParaRPr>
          </a:p>
          <a:p>
            <a:pPr marL="457200" indent="-457200">
              <a:buFont typeface="Arial" panose="020B0604020202020204" pitchFamily="34" charset="0"/>
              <a:buChar char="•"/>
            </a:pPr>
            <a:r>
              <a:rPr lang="en-US" sz="2800">
                <a:solidFill>
                  <a:srgbClr val="000000"/>
                </a:solidFill>
              </a:rPr>
              <a:t>Retard the setting of fresh concrete and hardening of concrete</a:t>
            </a:r>
            <a:endParaRPr lang="en-US" sz="2800">
              <a:solidFill>
                <a:srgbClr val="000000"/>
              </a:solidFill>
            </a:endParaRPr>
          </a:p>
          <a:p>
            <a:pPr marL="457200" indent="-457200">
              <a:buFont typeface="Arial" panose="020B0604020202020204" pitchFamily="34" charset="0"/>
              <a:buChar char="•"/>
            </a:pPr>
            <a:r>
              <a:rPr lang="en-US" sz="2800">
                <a:solidFill>
                  <a:srgbClr val="000000"/>
                </a:solidFill>
              </a:rPr>
              <a:t>Aggregates should have clean, uncoated, properly shaped particles of strong, dense and durable materials</a:t>
            </a:r>
            <a:endParaRPr lang="en-US" sz="2800">
              <a:solidFill>
                <a:srgbClr val="000000"/>
              </a:solidFill>
            </a:endParaRPr>
          </a:p>
          <a:p>
            <a:pPr marL="457200" indent="-457200">
              <a:buFont typeface="Arial" panose="020B0604020202020204" pitchFamily="34" charset="0"/>
              <a:buChar char="•"/>
            </a:pPr>
            <a:r>
              <a:rPr lang="en-US" sz="2800">
                <a:solidFill>
                  <a:srgbClr val="000000"/>
                </a:solidFill>
              </a:rPr>
              <a:t>An aggregate that is dusty or muddy will contaminate the cement paste with inert particles that weaken it</a:t>
            </a:r>
            <a:endParaRPr lang="en-US" sz="2800">
              <a:solidFill>
                <a:srgbClr val="000000"/>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2317813" y="685800"/>
            <a:ext cx="7091363" cy="609600"/>
          </a:xfrm>
          <a:noFill/>
        </p:spPr>
        <p:txBody>
          <a:bodyPr vert="horz" lIns="90488" tIns="44450" rIns="90488" bIns="44450" rtlCol="0" anchor="ctr">
            <a:normAutofit fontScale="90000"/>
          </a:bodyPr>
          <a:lstStyle/>
          <a:p>
            <a:pPr eaLnBrk="1" hangingPunct="1"/>
            <a:r>
              <a:rPr lang="en-US" sz="4000"/>
              <a:t>Deleterious substances:</a:t>
            </a:r>
            <a:br>
              <a:rPr lang="en-US" sz="4000"/>
            </a:br>
            <a:r>
              <a:rPr lang="en-US" sz="4000"/>
              <a:t>Chlorides</a:t>
            </a:r>
            <a:endParaRPr lang="en-US" sz="4000"/>
          </a:p>
        </p:txBody>
      </p:sp>
      <p:sp>
        <p:nvSpPr>
          <p:cNvPr id="44035" name="Rectangle 3"/>
          <p:cNvSpPr>
            <a:spLocks noGrp="1" noChangeArrowheads="1"/>
          </p:cNvSpPr>
          <p:nvPr>
            <p:ph type="body" sz="quarter" idx="10"/>
          </p:nvPr>
        </p:nvSpPr>
        <p:spPr>
          <a:xfrm>
            <a:off x="1617980" y="1752600"/>
            <a:ext cx="9916160" cy="3738880"/>
          </a:xfrm>
          <a:noFill/>
        </p:spPr>
        <p:txBody>
          <a:bodyPr vert="horz" lIns="90488" tIns="44450" rIns="90488" bIns="44450" rtlCol="0">
            <a:noAutofit/>
          </a:bodyPr>
          <a:lstStyle/>
          <a:p>
            <a:pPr marL="457200" indent="-457200">
              <a:buFont typeface="Arial" panose="020B0604020202020204" pitchFamily="34" charset="0"/>
              <a:buChar char="•"/>
            </a:pPr>
            <a:r>
              <a:rPr lang="en-US" sz="2400">
                <a:solidFill>
                  <a:srgbClr val="000000"/>
                </a:solidFill>
              </a:rPr>
              <a:t>In sand from seashores or rivers and can:</a:t>
            </a:r>
            <a:endParaRPr lang="en-US" sz="2400">
              <a:solidFill>
                <a:srgbClr val="000000"/>
              </a:solidFill>
            </a:endParaRPr>
          </a:p>
          <a:p>
            <a:pPr marL="800100" lvl="1" indent="-342900">
              <a:buFont typeface="Arial" panose="020B0604020202020204" pitchFamily="34" charset="0"/>
              <a:buChar char="•"/>
            </a:pPr>
            <a:r>
              <a:rPr lang="en-US" sz="2000">
                <a:solidFill>
                  <a:schemeClr val="accent6">
                    <a:lumMod val="50000"/>
                  </a:schemeClr>
                </a:solidFill>
              </a:rPr>
              <a:t>accelerate hardening</a:t>
            </a:r>
            <a:endParaRPr lang="en-US" sz="2000">
              <a:solidFill>
                <a:schemeClr val="accent6">
                  <a:lumMod val="50000"/>
                </a:schemeClr>
              </a:solidFill>
            </a:endParaRPr>
          </a:p>
          <a:p>
            <a:pPr marL="800100" lvl="1" indent="-342900">
              <a:buFont typeface="Arial" panose="020B0604020202020204" pitchFamily="34" charset="0"/>
              <a:buChar char="•"/>
            </a:pPr>
            <a:r>
              <a:rPr lang="en-US" sz="2000">
                <a:solidFill>
                  <a:schemeClr val="accent6">
                    <a:lumMod val="50000"/>
                  </a:schemeClr>
                </a:solidFill>
              </a:rPr>
              <a:t>increase corrosion</a:t>
            </a:r>
            <a:endParaRPr lang="en-US" sz="2000">
              <a:solidFill>
                <a:schemeClr val="accent6">
                  <a:lumMod val="50000"/>
                </a:schemeClr>
              </a:solidFill>
            </a:endParaRPr>
          </a:p>
          <a:p>
            <a:pPr marL="800100" lvl="1" indent="-342900">
              <a:buFont typeface="Arial" panose="020B0604020202020204" pitchFamily="34" charset="0"/>
              <a:buChar char="•"/>
            </a:pPr>
            <a:r>
              <a:rPr lang="en-US" sz="2000">
                <a:solidFill>
                  <a:schemeClr val="accent6">
                    <a:lumMod val="50000"/>
                  </a:schemeClr>
                </a:solidFill>
              </a:rPr>
              <a:t>cause efflorescence</a:t>
            </a:r>
            <a:endParaRPr lang="en-US" sz="2000">
              <a:solidFill>
                <a:schemeClr val="accent6">
                  <a:lumMod val="50000"/>
                </a:schemeClr>
              </a:solidFill>
            </a:endParaRPr>
          </a:p>
          <a:p>
            <a:pPr marL="457200" indent="-457200">
              <a:buFont typeface="Arial" panose="020B0604020202020204" pitchFamily="34" charset="0"/>
              <a:buChar char="•"/>
            </a:pPr>
            <a:r>
              <a:rPr lang="en-US" sz="2400">
                <a:solidFill>
                  <a:srgbClr val="000000"/>
                </a:solidFill>
              </a:rPr>
              <a:t>Check levels in sand and water</a:t>
            </a:r>
            <a:endParaRPr lang="en-US" sz="2400">
              <a:solidFill>
                <a:srgbClr val="000000"/>
              </a:solidFill>
            </a:endParaRPr>
          </a:p>
          <a:p>
            <a:pPr marL="457200" indent="-457200">
              <a:buFont typeface="Arial" panose="020B0604020202020204" pitchFamily="34" charset="0"/>
              <a:buChar char="•"/>
            </a:pPr>
            <a:r>
              <a:rPr lang="en-US" sz="2400">
                <a:solidFill>
                  <a:srgbClr val="000000"/>
                </a:solidFill>
              </a:rPr>
              <a:t>Do not use calcium chloride as accelerator in reinforced concrete</a:t>
            </a:r>
            <a:endParaRPr lang="en-US" sz="2400">
              <a:solidFill>
                <a:srgbClr val="000000"/>
              </a:solidFill>
            </a:endParaRPr>
          </a:p>
          <a:p>
            <a:pPr marL="457200" indent="-457200">
              <a:buFont typeface="Arial" panose="020B0604020202020204" pitchFamily="34" charset="0"/>
              <a:buChar char="•"/>
            </a:pPr>
            <a:r>
              <a:rPr lang="en-US" sz="2400">
                <a:solidFill>
                  <a:srgbClr val="000000"/>
                </a:solidFill>
              </a:rPr>
              <a:t>Aggregates that contains any of a number of chemicals from sea salts to organic compounds can cause problems ranging from corrosion of reinforcing steel to retardartaion of the curing process and ultimate weakening of the concrete. </a:t>
            </a:r>
            <a:endParaRPr lang="en-US" sz="2400">
              <a:solidFill>
                <a:srgbClr val="000000"/>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992297" y="671173"/>
            <a:ext cx="8229600" cy="533400"/>
          </a:xfrm>
        </p:spPr>
        <p:txBody>
          <a:bodyPr>
            <a:normAutofit fontScale="90000"/>
          </a:bodyPr>
          <a:lstStyle/>
          <a:p>
            <a:pPr eaLnBrk="1" hangingPunct="1"/>
            <a:r>
              <a:rPr lang="en-ZA" sz="4000"/>
              <a:t>Characterize aggregates to:</a:t>
            </a:r>
            <a:endParaRPr lang="en-GB" sz="4000"/>
          </a:p>
        </p:txBody>
      </p:sp>
      <p:sp>
        <p:nvSpPr>
          <p:cNvPr id="8195" name="Rectangle 3"/>
          <p:cNvSpPr>
            <a:spLocks noGrp="1" noChangeArrowheads="1"/>
          </p:cNvSpPr>
          <p:nvPr>
            <p:ph type="body" sz="quarter" idx="10"/>
          </p:nvPr>
        </p:nvSpPr>
        <p:spPr>
          <a:xfrm>
            <a:off x="2667000" y="1524001"/>
            <a:ext cx="8229600" cy="4079875"/>
          </a:xfrm>
        </p:spPr>
        <p:txBody>
          <a:bodyPr/>
          <a:lstStyle/>
          <a:p>
            <a:pPr marL="457200" indent="-457200">
              <a:buFont typeface="Arial" panose="020B0604020202020204" pitchFamily="34" charset="0"/>
              <a:buChar char="•"/>
            </a:pPr>
            <a:r>
              <a:rPr lang="en-ZA" sz="2800"/>
              <a:t>Assess the suitability to make concrete</a:t>
            </a:r>
            <a:endParaRPr lang="en-ZA" sz="2800"/>
          </a:p>
          <a:p>
            <a:pPr marL="457200" indent="-457200">
              <a:buFont typeface="Arial" panose="020B0604020202020204" pitchFamily="34" charset="0"/>
              <a:buChar char="•"/>
            </a:pPr>
            <a:r>
              <a:rPr lang="en-ZA" sz="2800"/>
              <a:t>Compare different aggregates</a:t>
            </a:r>
            <a:endParaRPr lang="en-ZA" sz="2800"/>
          </a:p>
          <a:p>
            <a:pPr marL="457200" indent="-457200">
              <a:buFont typeface="Arial" panose="020B0604020202020204" pitchFamily="34" charset="0"/>
              <a:buChar char="•"/>
            </a:pPr>
            <a:r>
              <a:rPr lang="en-ZA" sz="2800"/>
              <a:t>Design a mix</a:t>
            </a:r>
            <a:endParaRPr lang="en-ZA" sz="2800"/>
          </a:p>
          <a:p>
            <a:pPr marL="457200" indent="-457200">
              <a:buFont typeface="Arial" panose="020B0604020202020204" pitchFamily="34" charset="0"/>
              <a:buChar char="•"/>
            </a:pPr>
            <a:r>
              <a:rPr lang="en-ZA" sz="2800"/>
              <a:t>Monitor the uniformity of supply</a:t>
            </a:r>
            <a:endParaRPr lang="en-GB"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86000" y="685800"/>
            <a:ext cx="7772400" cy="304800"/>
          </a:xfrm>
          <a:noFill/>
        </p:spPr>
        <p:txBody>
          <a:bodyPr vert="horz" lIns="90488" tIns="44450" rIns="90488" bIns="44450" rtlCol="0" anchor="ctr">
            <a:normAutofit fontScale="90000"/>
          </a:bodyPr>
          <a:lstStyle/>
          <a:p>
            <a:pPr eaLnBrk="1" hangingPunct="1"/>
            <a:r>
              <a:rPr lang="en-US" sz="4000"/>
              <a:t>Important properties</a:t>
            </a:r>
            <a:endParaRPr lang="en-US" sz="4000"/>
          </a:p>
        </p:txBody>
      </p:sp>
      <p:sp>
        <p:nvSpPr>
          <p:cNvPr id="83971" name="Rectangle 3"/>
          <p:cNvSpPr>
            <a:spLocks noGrp="1" noChangeArrowheads="1"/>
          </p:cNvSpPr>
          <p:nvPr>
            <p:ph type="body" sz="quarter" idx="10"/>
          </p:nvPr>
        </p:nvSpPr>
        <p:spPr>
          <a:xfrm>
            <a:off x="2438400" y="1676400"/>
            <a:ext cx="7772400" cy="4114800"/>
          </a:xfrm>
          <a:noFill/>
        </p:spPr>
        <p:txBody>
          <a:bodyPr vert="horz" lIns="90488" tIns="44450" rIns="90488" bIns="44450" rtlCol="0">
            <a:normAutofit lnSpcReduction="10000"/>
          </a:bodyPr>
          <a:lstStyle/>
          <a:p>
            <a:pPr marL="457200" indent="-457200">
              <a:buFont typeface="Arial" panose="020B0604020202020204" pitchFamily="34" charset="0"/>
              <a:buChar char="•"/>
            </a:pPr>
            <a:r>
              <a:rPr lang="en-US" sz="2800"/>
              <a:t>Grading, bulk and relative density, shape, surface texture, strength, shrinkage, geological type and alkali reactivity</a:t>
            </a:r>
            <a:endParaRPr lang="en-US" sz="2800"/>
          </a:p>
          <a:p>
            <a:pPr marL="0" indent="0"/>
            <a:br>
              <a:rPr lang="en-US"/>
            </a:br>
            <a:br>
              <a:rPr lang="en-US"/>
            </a:br>
            <a:r>
              <a:rPr lang="en-US" sz="2800" b="1">
                <a:solidFill>
                  <a:schemeClr val="accent6">
                    <a:lumMod val="75000"/>
                  </a:schemeClr>
                </a:solidFill>
              </a:rPr>
              <a:t>Influenced by:</a:t>
            </a:r>
            <a:endParaRPr lang="en-US" sz="2800" b="1">
              <a:solidFill>
                <a:schemeClr val="accent6">
                  <a:lumMod val="75000"/>
                </a:schemeClr>
              </a:solidFill>
            </a:endParaRPr>
          </a:p>
          <a:p>
            <a:pPr marL="457200" indent="-457200">
              <a:buFont typeface="Arial" panose="020B0604020202020204" pitchFamily="34" charset="0"/>
              <a:buChar char="•"/>
            </a:pPr>
            <a:r>
              <a:rPr lang="en-US" sz="2800"/>
              <a:t>Parent rock, geological exposure conditions, type of operation, equipment used for production</a:t>
            </a:r>
            <a:endParaRPr lang="en-US"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981200" y="698018"/>
            <a:ext cx="7772400" cy="364939"/>
          </a:xfrm>
          <a:noFill/>
        </p:spPr>
        <p:txBody>
          <a:bodyPr vert="horz" lIns="90488" tIns="44450" rIns="90488" bIns="44450" rtlCol="0" anchor="ctr">
            <a:normAutofit fontScale="90000"/>
          </a:bodyPr>
          <a:lstStyle/>
          <a:p>
            <a:pPr eaLnBrk="1" hangingPunct="1"/>
            <a:r>
              <a:rPr lang="en-US" sz="4000" b="1"/>
              <a:t>Production</a:t>
            </a:r>
            <a:endParaRPr lang="en-US" sz="4000" b="1"/>
          </a:p>
        </p:txBody>
      </p:sp>
      <p:sp>
        <p:nvSpPr>
          <p:cNvPr id="12291" name="Rectangle 3"/>
          <p:cNvSpPr>
            <a:spLocks noChangeArrowheads="1"/>
          </p:cNvSpPr>
          <p:nvPr/>
        </p:nvSpPr>
        <p:spPr bwMode="auto">
          <a:xfrm>
            <a:off x="1814513" y="3324226"/>
            <a:ext cx="1898534"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b="1">
                <a:latin typeface="Times New Roman" panose="02020603050405020304" pitchFamily="18" charset="0"/>
              </a:rPr>
              <a:t>Base rock</a:t>
            </a:r>
            <a:endParaRPr lang="en-US" sz="3200" b="1">
              <a:latin typeface="Times New Roman" panose="02020603050405020304" pitchFamily="18" charset="0"/>
            </a:endParaRPr>
          </a:p>
        </p:txBody>
      </p:sp>
      <p:sp>
        <p:nvSpPr>
          <p:cNvPr id="12292" name="Rectangle 4"/>
          <p:cNvSpPr>
            <a:spLocks noChangeArrowheads="1"/>
          </p:cNvSpPr>
          <p:nvPr/>
        </p:nvSpPr>
        <p:spPr bwMode="auto">
          <a:xfrm>
            <a:off x="3810000" y="1905001"/>
            <a:ext cx="4364144" cy="1074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b="1">
                <a:solidFill>
                  <a:schemeClr val="accent1"/>
                </a:solidFill>
                <a:latin typeface="Times New Roman" panose="02020603050405020304" pitchFamily="18" charset="0"/>
              </a:rPr>
              <a:t>Natural weathering:</a:t>
            </a:r>
            <a:endParaRPr lang="en-US" sz="3200" b="1">
              <a:solidFill>
                <a:schemeClr val="accent1"/>
              </a:solidFill>
              <a:latin typeface="Times New Roman" panose="02020603050405020304" pitchFamily="18" charset="0"/>
            </a:endParaRPr>
          </a:p>
          <a:p>
            <a:pPr eaLnBrk="0" hangingPunct="0"/>
            <a:r>
              <a:rPr lang="en-US" sz="3200" b="1">
                <a:latin typeface="Times New Roman" panose="02020603050405020304" pitchFamily="18" charset="0"/>
              </a:rPr>
              <a:t>Beach, river, dunes, pits</a:t>
            </a:r>
            <a:endParaRPr lang="en-US" sz="3200" b="1">
              <a:latin typeface="Times New Roman" panose="02020603050405020304" pitchFamily="18" charset="0"/>
            </a:endParaRPr>
          </a:p>
        </p:txBody>
      </p:sp>
      <p:sp>
        <p:nvSpPr>
          <p:cNvPr id="12293" name="Rectangle 5"/>
          <p:cNvSpPr>
            <a:spLocks noChangeArrowheads="1"/>
          </p:cNvSpPr>
          <p:nvPr/>
        </p:nvSpPr>
        <p:spPr bwMode="auto">
          <a:xfrm>
            <a:off x="7681913" y="3248026"/>
            <a:ext cx="2848538" cy="1074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b="1">
                <a:latin typeface="Times New Roman" panose="02020603050405020304" pitchFamily="18" charset="0"/>
              </a:rPr>
              <a:t>Aggregate:</a:t>
            </a:r>
            <a:endParaRPr lang="en-US" sz="3200" b="1">
              <a:latin typeface="Times New Roman" panose="02020603050405020304" pitchFamily="18" charset="0"/>
            </a:endParaRPr>
          </a:p>
          <a:p>
            <a:pPr eaLnBrk="0" hangingPunct="0"/>
            <a:r>
              <a:rPr lang="en-US" sz="3200" b="1">
                <a:latin typeface="Times New Roman" panose="02020603050405020304" pitchFamily="18" charset="0"/>
              </a:rPr>
              <a:t>Sand and stone</a:t>
            </a:r>
            <a:endParaRPr lang="en-US" sz="3200" b="1">
              <a:latin typeface="Times New Roman" panose="02020603050405020304" pitchFamily="18" charset="0"/>
            </a:endParaRPr>
          </a:p>
        </p:txBody>
      </p:sp>
      <p:sp>
        <p:nvSpPr>
          <p:cNvPr id="12294" name="Rectangle 6"/>
          <p:cNvSpPr>
            <a:spLocks noChangeArrowheads="1"/>
          </p:cNvSpPr>
          <p:nvPr/>
        </p:nvSpPr>
        <p:spPr bwMode="auto">
          <a:xfrm>
            <a:off x="4024314" y="4876800"/>
            <a:ext cx="4445129"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b="1">
                <a:solidFill>
                  <a:schemeClr val="accent1"/>
                </a:solidFill>
                <a:latin typeface="Times New Roman" panose="02020603050405020304" pitchFamily="18" charset="0"/>
              </a:rPr>
              <a:t>Crushing:</a:t>
            </a:r>
            <a:endParaRPr lang="en-US" sz="3200" b="1">
              <a:solidFill>
                <a:schemeClr val="accent1"/>
              </a:solidFill>
              <a:latin typeface="Times New Roman" panose="02020603050405020304" pitchFamily="18" charset="0"/>
            </a:endParaRPr>
          </a:p>
          <a:p>
            <a:pPr eaLnBrk="0" hangingPunct="0"/>
            <a:r>
              <a:rPr lang="en-US" sz="3200" b="1">
                <a:latin typeface="Times New Roman" panose="02020603050405020304" pitchFamily="18" charset="0"/>
              </a:rPr>
              <a:t>Sand and stone:</a:t>
            </a:r>
            <a:endParaRPr lang="en-US" sz="3200" b="1">
              <a:latin typeface="Times New Roman" panose="02020603050405020304" pitchFamily="18" charset="0"/>
            </a:endParaRPr>
          </a:p>
          <a:p>
            <a:pPr eaLnBrk="0" hangingPunct="0"/>
            <a:r>
              <a:rPr lang="en-US" sz="3200" b="1">
                <a:latin typeface="Times New Roman" panose="02020603050405020304" pitchFamily="18" charset="0"/>
              </a:rPr>
              <a:t>Quartz, granite, dolerite</a:t>
            </a:r>
            <a:endParaRPr lang="en-US" sz="3200" b="1">
              <a:latin typeface="Times New Roman" panose="02020603050405020304" pitchFamily="18" charset="0"/>
            </a:endParaRPr>
          </a:p>
        </p:txBody>
      </p:sp>
      <p:sp>
        <p:nvSpPr>
          <p:cNvPr id="12295" name="AutoShape 7" descr="Bouquet"/>
          <p:cNvSpPr>
            <a:spLocks noChangeArrowheads="1"/>
          </p:cNvSpPr>
          <p:nvPr/>
        </p:nvSpPr>
        <p:spPr bwMode="auto">
          <a:xfrm rot="-2640000">
            <a:off x="2368550" y="2444750"/>
            <a:ext cx="1282700" cy="368300"/>
          </a:xfrm>
          <a:prstGeom prst="rightArrow">
            <a:avLst>
              <a:gd name="adj1" fmla="val 50000"/>
              <a:gd name="adj2" fmla="val 174154"/>
            </a:avLst>
          </a:prstGeom>
          <a:blipFill dpi="0" rotWithShape="0">
            <a:blip r:embed="rId1"/>
            <a:srcRect/>
            <a:tile tx="0" ty="0" sx="100000" sy="100000" flip="none" algn="tl"/>
          </a:blipFill>
          <a:ln w="12700">
            <a:solidFill>
              <a:schemeClr val="tx1"/>
            </a:solidFill>
            <a:miter lim="800000"/>
          </a:ln>
        </p:spPr>
        <p:txBody>
          <a:bodyPr wrap="none" anchor="ctr"/>
          <a:lstStyle/>
          <a:p>
            <a:endParaRPr lang="en-US"/>
          </a:p>
        </p:txBody>
      </p:sp>
      <p:sp>
        <p:nvSpPr>
          <p:cNvPr id="12296" name="AutoShape 8" descr="Bouquet"/>
          <p:cNvSpPr>
            <a:spLocks noChangeArrowheads="1"/>
          </p:cNvSpPr>
          <p:nvPr/>
        </p:nvSpPr>
        <p:spPr bwMode="auto">
          <a:xfrm rot="2580000">
            <a:off x="2368550" y="4806950"/>
            <a:ext cx="1282700" cy="368300"/>
          </a:xfrm>
          <a:prstGeom prst="rightArrow">
            <a:avLst>
              <a:gd name="adj1" fmla="val 50000"/>
              <a:gd name="adj2" fmla="val 174154"/>
            </a:avLst>
          </a:prstGeom>
          <a:blipFill dpi="0" rotWithShape="0">
            <a:blip r:embed="rId1"/>
            <a:srcRect/>
            <a:tile tx="0" ty="0" sx="100000" sy="100000" flip="none" algn="tl"/>
          </a:blipFill>
          <a:ln w="12700">
            <a:solidFill>
              <a:schemeClr val="tx1"/>
            </a:solidFill>
            <a:miter lim="800000"/>
          </a:ln>
        </p:spPr>
        <p:txBody>
          <a:bodyPr wrap="none" anchor="ctr"/>
          <a:lstStyle/>
          <a:p>
            <a:endParaRPr lang="en-US"/>
          </a:p>
        </p:txBody>
      </p:sp>
      <p:sp>
        <p:nvSpPr>
          <p:cNvPr id="12297" name="AutoShape 9" descr="Bouquet"/>
          <p:cNvSpPr>
            <a:spLocks noChangeArrowheads="1"/>
          </p:cNvSpPr>
          <p:nvPr/>
        </p:nvSpPr>
        <p:spPr bwMode="auto">
          <a:xfrm rot="2700000">
            <a:off x="8083550" y="2444750"/>
            <a:ext cx="1282700" cy="368300"/>
          </a:xfrm>
          <a:prstGeom prst="rightArrow">
            <a:avLst>
              <a:gd name="adj1" fmla="val 50000"/>
              <a:gd name="adj2" fmla="val 174154"/>
            </a:avLst>
          </a:prstGeom>
          <a:blipFill dpi="0" rotWithShape="0">
            <a:blip r:embed="rId1"/>
            <a:srcRect/>
            <a:tile tx="0" ty="0" sx="100000" sy="100000" flip="none" algn="tl"/>
          </a:blipFill>
          <a:ln w="12700">
            <a:solidFill>
              <a:schemeClr val="tx1"/>
            </a:solidFill>
            <a:miter lim="800000"/>
          </a:ln>
        </p:spPr>
        <p:txBody>
          <a:bodyPr wrap="none" anchor="ctr"/>
          <a:lstStyle/>
          <a:p>
            <a:endParaRPr lang="en-US"/>
          </a:p>
        </p:txBody>
      </p:sp>
      <p:sp>
        <p:nvSpPr>
          <p:cNvPr id="12298" name="AutoShape 10" descr="Bouquet"/>
          <p:cNvSpPr>
            <a:spLocks noChangeArrowheads="1"/>
          </p:cNvSpPr>
          <p:nvPr/>
        </p:nvSpPr>
        <p:spPr bwMode="auto">
          <a:xfrm rot="-2820000">
            <a:off x="8007350" y="4806950"/>
            <a:ext cx="1282700" cy="368300"/>
          </a:xfrm>
          <a:prstGeom prst="rightArrow">
            <a:avLst>
              <a:gd name="adj1" fmla="val 50000"/>
              <a:gd name="adj2" fmla="val 174154"/>
            </a:avLst>
          </a:prstGeom>
          <a:blipFill dpi="0" rotWithShape="0">
            <a:blip r:embed="rId1"/>
            <a:srcRect/>
            <a:tile tx="0" ty="0" sx="100000" sy="100000" flip="none" algn="tl"/>
          </a:blipFill>
          <a:ln w="12700">
            <a:solidFill>
              <a:schemeClr val="tx1"/>
            </a:solidFill>
            <a:miter lim="800000"/>
          </a:ln>
        </p:spPr>
        <p:txBody>
          <a:bodyPr wrap="none" anchor="ct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2"/>
          <p:cNvGraphicFramePr>
            <a:graphicFrameLocks noChangeAspect="1"/>
          </p:cNvGraphicFramePr>
          <p:nvPr/>
        </p:nvGraphicFramePr>
        <p:xfrm>
          <a:off x="1524000" y="1"/>
          <a:ext cx="9144000" cy="6856413"/>
        </p:xfrm>
        <a:graphic>
          <a:graphicData uri="http://schemas.openxmlformats.org/presentationml/2006/ole">
            <mc:AlternateContent xmlns:mc="http://schemas.openxmlformats.org/markup-compatibility/2006">
              <mc:Choice xmlns:v="urn:schemas-microsoft-com:vml" Requires="v">
                <p:oleObj spid="_x0000_s2" name="" r:id="rId1" imgW="6502400" imgH="4876800" progId="">
                  <p:embed/>
                </p:oleObj>
              </mc:Choice>
              <mc:Fallback>
                <p:oleObj name="" r:id="rId1" imgW="6502400" imgH="4876800" progId="">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
                        <a:ext cx="9144000" cy="685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5" name="Text Box 3"/>
          <p:cNvSpPr txBox="1">
            <a:spLocks noChangeArrowheads="1"/>
          </p:cNvSpPr>
          <p:nvPr/>
        </p:nvSpPr>
        <p:spPr bwMode="auto">
          <a:xfrm>
            <a:off x="1524000" y="6035676"/>
            <a:ext cx="9144000" cy="830997"/>
          </a:xfrm>
          <a:prstGeom prst="rect">
            <a:avLst/>
          </a:prstGeom>
          <a:solidFill>
            <a:schemeClr val="bg1">
              <a:lumMod val="85000"/>
            </a:schemeClr>
          </a:solidFill>
          <a:ln>
            <a:noFill/>
          </a:ln>
        </p:spPr>
        <p:txBody>
          <a:bodyPr>
            <a:spAutoFit/>
          </a:bodyPr>
          <a:lstStyle>
            <a:lvl1pPr eaLnBrk="0" hangingPunct="0">
              <a:defRPr>
                <a:solidFill>
                  <a:schemeClr val="tx1"/>
                </a:solidFill>
                <a:latin typeface="Tahoma" panose="020B0604030504040204" charset="0"/>
              </a:defRPr>
            </a:lvl1pPr>
            <a:lvl2pPr marL="742950" indent="-285750" eaLnBrk="0" hangingPunct="0">
              <a:defRPr>
                <a:solidFill>
                  <a:schemeClr val="tx1"/>
                </a:solidFill>
                <a:latin typeface="Tahoma" panose="020B0604030504040204" charset="0"/>
              </a:defRPr>
            </a:lvl2pPr>
            <a:lvl3pPr marL="1143000" indent="-228600" eaLnBrk="0" hangingPunct="0">
              <a:defRPr>
                <a:solidFill>
                  <a:schemeClr val="tx1"/>
                </a:solidFill>
                <a:latin typeface="Tahoma" panose="020B0604030504040204" charset="0"/>
              </a:defRPr>
            </a:lvl3pPr>
            <a:lvl4pPr marL="1600200" indent="-228600" eaLnBrk="0" hangingPunct="0">
              <a:defRPr>
                <a:solidFill>
                  <a:schemeClr val="tx1"/>
                </a:solidFill>
                <a:latin typeface="Tahoma" panose="020B0604030504040204" charset="0"/>
              </a:defRPr>
            </a:lvl4pPr>
            <a:lvl5pPr marL="2057400" indent="-228600" eaLnBrk="0" hangingPunct="0">
              <a:defRPr>
                <a:solidFill>
                  <a:schemeClr val="tx1"/>
                </a:solidFill>
                <a:latin typeface="Tahoma" panose="020B0604030504040204" charset="0"/>
              </a:defRPr>
            </a:lvl5pPr>
            <a:lvl6pPr marL="2514600" indent="-228600" eaLnBrk="0" fontAlgn="base" hangingPunct="0">
              <a:spcBef>
                <a:spcPct val="0"/>
              </a:spcBef>
              <a:spcAft>
                <a:spcPct val="0"/>
              </a:spcAft>
              <a:defRPr>
                <a:solidFill>
                  <a:schemeClr val="tx1"/>
                </a:solidFill>
                <a:latin typeface="Tahoma" panose="020B0604030504040204" charset="0"/>
              </a:defRPr>
            </a:lvl6pPr>
            <a:lvl7pPr marL="2971800" indent="-228600" eaLnBrk="0" fontAlgn="base" hangingPunct="0">
              <a:spcBef>
                <a:spcPct val="0"/>
              </a:spcBef>
              <a:spcAft>
                <a:spcPct val="0"/>
              </a:spcAft>
              <a:defRPr>
                <a:solidFill>
                  <a:schemeClr val="tx1"/>
                </a:solidFill>
                <a:latin typeface="Tahoma" panose="020B0604030504040204" charset="0"/>
              </a:defRPr>
            </a:lvl7pPr>
            <a:lvl8pPr marL="3429000" indent="-228600" eaLnBrk="0" fontAlgn="base" hangingPunct="0">
              <a:spcBef>
                <a:spcPct val="0"/>
              </a:spcBef>
              <a:spcAft>
                <a:spcPct val="0"/>
              </a:spcAft>
              <a:defRPr>
                <a:solidFill>
                  <a:schemeClr val="tx1"/>
                </a:solidFill>
                <a:latin typeface="Tahoma" panose="020B0604030504040204" charset="0"/>
              </a:defRPr>
            </a:lvl8pPr>
            <a:lvl9pPr marL="3886200" indent="-228600" eaLnBrk="0" fontAlgn="base" hangingPunct="0">
              <a:spcBef>
                <a:spcPct val="0"/>
              </a:spcBef>
              <a:spcAft>
                <a:spcPct val="0"/>
              </a:spcAft>
              <a:defRPr>
                <a:solidFill>
                  <a:schemeClr val="tx1"/>
                </a:solidFill>
                <a:latin typeface="Tahoma" panose="020B0604030504040204" charset="0"/>
              </a:defRPr>
            </a:lvl9pPr>
          </a:lstStyle>
          <a:p>
            <a:r>
              <a:rPr lang="en-US" sz="2400">
                <a:latin typeface="Times New Roman" panose="02020603050405020304" pitchFamily="18" charset="0"/>
              </a:rPr>
              <a:t>Sand washing plant.  Washing removes excess clay and organic material (the organic floats off and is skimmed from the top).</a:t>
            </a:r>
            <a:endParaRPr lang="en-US" sz="2400">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IMAGE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Text Box 3"/>
          <p:cNvSpPr txBox="1">
            <a:spLocks noChangeArrowheads="1"/>
          </p:cNvSpPr>
          <p:nvPr/>
        </p:nvSpPr>
        <p:spPr bwMode="auto">
          <a:xfrm>
            <a:off x="1524000" y="6400800"/>
            <a:ext cx="9144000" cy="457200"/>
          </a:xfrm>
          <a:prstGeom prst="rect">
            <a:avLst/>
          </a:prstGeom>
          <a:solidFill>
            <a:schemeClr val="bg1">
              <a:lumMod val="85000"/>
            </a:schemeClr>
          </a:solidFill>
          <a:ln>
            <a:noFill/>
          </a:ln>
        </p:spPr>
        <p:txBody>
          <a:bodyPr>
            <a:spAutoFit/>
          </a:bodyPr>
          <a:lstStyle>
            <a:lvl1pPr eaLnBrk="0" hangingPunct="0">
              <a:defRPr>
                <a:solidFill>
                  <a:schemeClr val="tx1"/>
                </a:solidFill>
                <a:latin typeface="Tahoma" panose="020B0604030504040204" charset="0"/>
              </a:defRPr>
            </a:lvl1pPr>
            <a:lvl2pPr marL="742950" indent="-285750" eaLnBrk="0" hangingPunct="0">
              <a:defRPr>
                <a:solidFill>
                  <a:schemeClr val="tx1"/>
                </a:solidFill>
                <a:latin typeface="Tahoma" panose="020B0604030504040204" charset="0"/>
              </a:defRPr>
            </a:lvl2pPr>
            <a:lvl3pPr marL="1143000" indent="-228600" eaLnBrk="0" hangingPunct="0">
              <a:defRPr>
                <a:solidFill>
                  <a:schemeClr val="tx1"/>
                </a:solidFill>
                <a:latin typeface="Tahoma" panose="020B0604030504040204" charset="0"/>
              </a:defRPr>
            </a:lvl3pPr>
            <a:lvl4pPr marL="1600200" indent="-228600" eaLnBrk="0" hangingPunct="0">
              <a:defRPr>
                <a:solidFill>
                  <a:schemeClr val="tx1"/>
                </a:solidFill>
                <a:latin typeface="Tahoma" panose="020B0604030504040204" charset="0"/>
              </a:defRPr>
            </a:lvl4pPr>
            <a:lvl5pPr marL="2057400" indent="-228600" eaLnBrk="0" hangingPunct="0">
              <a:defRPr>
                <a:solidFill>
                  <a:schemeClr val="tx1"/>
                </a:solidFill>
                <a:latin typeface="Tahoma" panose="020B0604030504040204" charset="0"/>
              </a:defRPr>
            </a:lvl5pPr>
            <a:lvl6pPr marL="2514600" indent="-228600" eaLnBrk="0" fontAlgn="base" hangingPunct="0">
              <a:spcBef>
                <a:spcPct val="0"/>
              </a:spcBef>
              <a:spcAft>
                <a:spcPct val="0"/>
              </a:spcAft>
              <a:defRPr>
                <a:solidFill>
                  <a:schemeClr val="tx1"/>
                </a:solidFill>
                <a:latin typeface="Tahoma" panose="020B0604030504040204" charset="0"/>
              </a:defRPr>
            </a:lvl6pPr>
            <a:lvl7pPr marL="2971800" indent="-228600" eaLnBrk="0" fontAlgn="base" hangingPunct="0">
              <a:spcBef>
                <a:spcPct val="0"/>
              </a:spcBef>
              <a:spcAft>
                <a:spcPct val="0"/>
              </a:spcAft>
              <a:defRPr>
                <a:solidFill>
                  <a:schemeClr val="tx1"/>
                </a:solidFill>
                <a:latin typeface="Tahoma" panose="020B0604030504040204" charset="0"/>
              </a:defRPr>
            </a:lvl7pPr>
            <a:lvl8pPr marL="3429000" indent="-228600" eaLnBrk="0" fontAlgn="base" hangingPunct="0">
              <a:spcBef>
                <a:spcPct val="0"/>
              </a:spcBef>
              <a:spcAft>
                <a:spcPct val="0"/>
              </a:spcAft>
              <a:defRPr>
                <a:solidFill>
                  <a:schemeClr val="tx1"/>
                </a:solidFill>
                <a:latin typeface="Tahoma" panose="020B0604030504040204" charset="0"/>
              </a:defRPr>
            </a:lvl8pPr>
            <a:lvl9pPr marL="3886200" indent="-228600" eaLnBrk="0" fontAlgn="base" hangingPunct="0">
              <a:spcBef>
                <a:spcPct val="0"/>
              </a:spcBef>
              <a:spcAft>
                <a:spcPct val="0"/>
              </a:spcAft>
              <a:defRPr>
                <a:solidFill>
                  <a:schemeClr val="tx1"/>
                </a:solidFill>
                <a:latin typeface="Tahoma" panose="020B0604030504040204" charset="0"/>
              </a:defRPr>
            </a:lvl9pPr>
          </a:lstStyle>
          <a:p>
            <a:r>
              <a:rPr lang="en-US" sz="2400">
                <a:latin typeface="Times New Roman" panose="02020603050405020304" pitchFamily="18" charset="0"/>
              </a:rPr>
              <a:t>Granite </a:t>
            </a:r>
            <a:r>
              <a:rPr lang="en-US" sz="2400" err="1">
                <a:latin typeface="Times New Roman" panose="02020603050405020304" pitchFamily="18" charset="0"/>
              </a:rPr>
              <a:t>quary</a:t>
            </a:r>
            <a:r>
              <a:rPr lang="en-US" sz="2400">
                <a:latin typeface="Times New Roman" panose="02020603050405020304" pitchFamily="18" charset="0"/>
              </a:rPr>
              <a:t>.</a:t>
            </a:r>
            <a:endParaRPr lang="en-US" sz="240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IMAGE0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Text Box 3"/>
          <p:cNvSpPr txBox="1">
            <a:spLocks noChangeArrowheads="1"/>
          </p:cNvSpPr>
          <p:nvPr/>
        </p:nvSpPr>
        <p:spPr bwMode="auto">
          <a:xfrm>
            <a:off x="1524000" y="6400800"/>
            <a:ext cx="9144000" cy="457200"/>
          </a:xfrm>
          <a:prstGeom prst="rect">
            <a:avLst/>
          </a:prstGeom>
          <a:solidFill>
            <a:schemeClr val="bg1">
              <a:lumMod val="85000"/>
            </a:schemeClr>
          </a:solidFill>
          <a:ln>
            <a:noFill/>
          </a:ln>
        </p:spPr>
        <p:txBody>
          <a:bodyPr>
            <a:spAutoFit/>
          </a:bodyPr>
          <a:lstStyle>
            <a:lvl1pPr eaLnBrk="0" hangingPunct="0">
              <a:defRPr>
                <a:solidFill>
                  <a:schemeClr val="tx1"/>
                </a:solidFill>
                <a:latin typeface="Tahoma" panose="020B0604030504040204" charset="0"/>
              </a:defRPr>
            </a:lvl1pPr>
            <a:lvl2pPr marL="742950" indent="-285750" eaLnBrk="0" hangingPunct="0">
              <a:defRPr>
                <a:solidFill>
                  <a:schemeClr val="tx1"/>
                </a:solidFill>
                <a:latin typeface="Tahoma" panose="020B0604030504040204" charset="0"/>
              </a:defRPr>
            </a:lvl2pPr>
            <a:lvl3pPr marL="1143000" indent="-228600" eaLnBrk="0" hangingPunct="0">
              <a:defRPr>
                <a:solidFill>
                  <a:schemeClr val="tx1"/>
                </a:solidFill>
                <a:latin typeface="Tahoma" panose="020B0604030504040204" charset="0"/>
              </a:defRPr>
            </a:lvl3pPr>
            <a:lvl4pPr marL="1600200" indent="-228600" eaLnBrk="0" hangingPunct="0">
              <a:defRPr>
                <a:solidFill>
                  <a:schemeClr val="tx1"/>
                </a:solidFill>
                <a:latin typeface="Tahoma" panose="020B0604030504040204" charset="0"/>
              </a:defRPr>
            </a:lvl4pPr>
            <a:lvl5pPr marL="2057400" indent="-228600" eaLnBrk="0" hangingPunct="0">
              <a:defRPr>
                <a:solidFill>
                  <a:schemeClr val="tx1"/>
                </a:solidFill>
                <a:latin typeface="Tahoma" panose="020B0604030504040204" charset="0"/>
              </a:defRPr>
            </a:lvl5pPr>
            <a:lvl6pPr marL="2514600" indent="-228600" eaLnBrk="0" fontAlgn="base" hangingPunct="0">
              <a:spcBef>
                <a:spcPct val="0"/>
              </a:spcBef>
              <a:spcAft>
                <a:spcPct val="0"/>
              </a:spcAft>
              <a:defRPr>
                <a:solidFill>
                  <a:schemeClr val="tx1"/>
                </a:solidFill>
                <a:latin typeface="Tahoma" panose="020B0604030504040204" charset="0"/>
              </a:defRPr>
            </a:lvl6pPr>
            <a:lvl7pPr marL="2971800" indent="-228600" eaLnBrk="0" fontAlgn="base" hangingPunct="0">
              <a:spcBef>
                <a:spcPct val="0"/>
              </a:spcBef>
              <a:spcAft>
                <a:spcPct val="0"/>
              </a:spcAft>
              <a:defRPr>
                <a:solidFill>
                  <a:schemeClr val="tx1"/>
                </a:solidFill>
                <a:latin typeface="Tahoma" panose="020B0604030504040204" charset="0"/>
              </a:defRPr>
            </a:lvl7pPr>
            <a:lvl8pPr marL="3429000" indent="-228600" eaLnBrk="0" fontAlgn="base" hangingPunct="0">
              <a:spcBef>
                <a:spcPct val="0"/>
              </a:spcBef>
              <a:spcAft>
                <a:spcPct val="0"/>
              </a:spcAft>
              <a:defRPr>
                <a:solidFill>
                  <a:schemeClr val="tx1"/>
                </a:solidFill>
                <a:latin typeface="Tahoma" panose="020B0604030504040204" charset="0"/>
              </a:defRPr>
            </a:lvl8pPr>
            <a:lvl9pPr marL="3886200" indent="-228600" eaLnBrk="0" fontAlgn="base" hangingPunct="0">
              <a:spcBef>
                <a:spcPct val="0"/>
              </a:spcBef>
              <a:spcAft>
                <a:spcPct val="0"/>
              </a:spcAft>
              <a:defRPr>
                <a:solidFill>
                  <a:schemeClr val="tx1"/>
                </a:solidFill>
                <a:latin typeface="Tahoma" panose="020B0604030504040204" charset="0"/>
              </a:defRPr>
            </a:lvl9pPr>
          </a:lstStyle>
          <a:p>
            <a:r>
              <a:rPr lang="en-US" sz="2400">
                <a:latin typeface="Times New Roman" panose="02020603050405020304" pitchFamily="18" charset="0"/>
              </a:rPr>
              <a:t>Loading blasted rock into dump trucks for transport to the crusher.</a:t>
            </a:r>
            <a:endParaRPr lang="en-US" sz="24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IMAGE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Text Box 3"/>
          <p:cNvSpPr txBox="1">
            <a:spLocks noChangeArrowheads="1"/>
          </p:cNvSpPr>
          <p:nvPr/>
        </p:nvSpPr>
        <p:spPr bwMode="auto">
          <a:xfrm>
            <a:off x="1524000" y="6400800"/>
            <a:ext cx="9144000" cy="457200"/>
          </a:xfrm>
          <a:prstGeom prst="rect">
            <a:avLst/>
          </a:prstGeom>
          <a:solidFill>
            <a:schemeClr val="bg1">
              <a:lumMod val="85000"/>
            </a:schemeClr>
          </a:solidFill>
          <a:ln>
            <a:noFill/>
          </a:ln>
        </p:spPr>
        <p:txBody>
          <a:bodyPr>
            <a:spAutoFit/>
          </a:bodyPr>
          <a:lstStyle>
            <a:lvl1pPr eaLnBrk="0" hangingPunct="0">
              <a:defRPr>
                <a:solidFill>
                  <a:schemeClr val="tx1"/>
                </a:solidFill>
                <a:latin typeface="Tahoma" panose="020B0604030504040204" charset="0"/>
              </a:defRPr>
            </a:lvl1pPr>
            <a:lvl2pPr marL="742950" indent="-285750" eaLnBrk="0" hangingPunct="0">
              <a:defRPr>
                <a:solidFill>
                  <a:schemeClr val="tx1"/>
                </a:solidFill>
                <a:latin typeface="Tahoma" panose="020B0604030504040204" charset="0"/>
              </a:defRPr>
            </a:lvl2pPr>
            <a:lvl3pPr marL="1143000" indent="-228600" eaLnBrk="0" hangingPunct="0">
              <a:defRPr>
                <a:solidFill>
                  <a:schemeClr val="tx1"/>
                </a:solidFill>
                <a:latin typeface="Tahoma" panose="020B0604030504040204" charset="0"/>
              </a:defRPr>
            </a:lvl3pPr>
            <a:lvl4pPr marL="1600200" indent="-228600" eaLnBrk="0" hangingPunct="0">
              <a:defRPr>
                <a:solidFill>
                  <a:schemeClr val="tx1"/>
                </a:solidFill>
                <a:latin typeface="Tahoma" panose="020B0604030504040204" charset="0"/>
              </a:defRPr>
            </a:lvl4pPr>
            <a:lvl5pPr marL="2057400" indent="-228600" eaLnBrk="0" hangingPunct="0">
              <a:defRPr>
                <a:solidFill>
                  <a:schemeClr val="tx1"/>
                </a:solidFill>
                <a:latin typeface="Tahoma" panose="020B0604030504040204" charset="0"/>
              </a:defRPr>
            </a:lvl5pPr>
            <a:lvl6pPr marL="2514600" indent="-228600" eaLnBrk="0" fontAlgn="base" hangingPunct="0">
              <a:spcBef>
                <a:spcPct val="0"/>
              </a:spcBef>
              <a:spcAft>
                <a:spcPct val="0"/>
              </a:spcAft>
              <a:defRPr>
                <a:solidFill>
                  <a:schemeClr val="tx1"/>
                </a:solidFill>
                <a:latin typeface="Tahoma" panose="020B0604030504040204" charset="0"/>
              </a:defRPr>
            </a:lvl6pPr>
            <a:lvl7pPr marL="2971800" indent="-228600" eaLnBrk="0" fontAlgn="base" hangingPunct="0">
              <a:spcBef>
                <a:spcPct val="0"/>
              </a:spcBef>
              <a:spcAft>
                <a:spcPct val="0"/>
              </a:spcAft>
              <a:defRPr>
                <a:solidFill>
                  <a:schemeClr val="tx1"/>
                </a:solidFill>
                <a:latin typeface="Tahoma" panose="020B0604030504040204" charset="0"/>
              </a:defRPr>
            </a:lvl7pPr>
            <a:lvl8pPr marL="3429000" indent="-228600" eaLnBrk="0" fontAlgn="base" hangingPunct="0">
              <a:spcBef>
                <a:spcPct val="0"/>
              </a:spcBef>
              <a:spcAft>
                <a:spcPct val="0"/>
              </a:spcAft>
              <a:defRPr>
                <a:solidFill>
                  <a:schemeClr val="tx1"/>
                </a:solidFill>
                <a:latin typeface="Tahoma" panose="020B0604030504040204" charset="0"/>
              </a:defRPr>
            </a:lvl8pPr>
            <a:lvl9pPr marL="3886200" indent="-228600" eaLnBrk="0" fontAlgn="base" hangingPunct="0">
              <a:spcBef>
                <a:spcPct val="0"/>
              </a:spcBef>
              <a:spcAft>
                <a:spcPct val="0"/>
              </a:spcAft>
              <a:defRPr>
                <a:solidFill>
                  <a:schemeClr val="tx1"/>
                </a:solidFill>
                <a:latin typeface="Tahoma" panose="020B0604030504040204" charset="0"/>
              </a:defRPr>
            </a:lvl9pPr>
          </a:lstStyle>
          <a:p>
            <a:r>
              <a:rPr lang="en-US" sz="2400">
                <a:latin typeface="Times New Roman" panose="02020603050405020304" pitchFamily="18" charset="0"/>
              </a:rPr>
              <a:t>Rock is dumped onto a grizzly.  </a:t>
            </a:r>
            <a:endParaRPr lang="en-US" sz="240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IMAGE0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 Box 3"/>
          <p:cNvSpPr txBox="1">
            <a:spLocks noChangeArrowheads="1"/>
          </p:cNvSpPr>
          <p:nvPr/>
        </p:nvSpPr>
        <p:spPr bwMode="auto">
          <a:xfrm>
            <a:off x="1524000" y="6400800"/>
            <a:ext cx="9144000" cy="457200"/>
          </a:xfrm>
          <a:prstGeom prst="rect">
            <a:avLst/>
          </a:prstGeom>
          <a:solidFill>
            <a:schemeClr val="bg1">
              <a:lumMod val="85000"/>
            </a:schemeClr>
          </a:solidFill>
          <a:ln>
            <a:noFill/>
          </a:ln>
        </p:spPr>
        <p:txBody>
          <a:bodyPr>
            <a:spAutoFit/>
          </a:bodyPr>
          <a:lstStyle>
            <a:lvl1pPr eaLnBrk="0" hangingPunct="0">
              <a:defRPr>
                <a:solidFill>
                  <a:schemeClr val="tx1"/>
                </a:solidFill>
                <a:latin typeface="Tahoma" panose="020B0604030504040204" charset="0"/>
              </a:defRPr>
            </a:lvl1pPr>
            <a:lvl2pPr marL="742950" indent="-285750" eaLnBrk="0" hangingPunct="0">
              <a:defRPr>
                <a:solidFill>
                  <a:schemeClr val="tx1"/>
                </a:solidFill>
                <a:latin typeface="Tahoma" panose="020B0604030504040204" charset="0"/>
              </a:defRPr>
            </a:lvl2pPr>
            <a:lvl3pPr marL="1143000" indent="-228600" eaLnBrk="0" hangingPunct="0">
              <a:defRPr>
                <a:solidFill>
                  <a:schemeClr val="tx1"/>
                </a:solidFill>
                <a:latin typeface="Tahoma" panose="020B0604030504040204" charset="0"/>
              </a:defRPr>
            </a:lvl3pPr>
            <a:lvl4pPr marL="1600200" indent="-228600" eaLnBrk="0" hangingPunct="0">
              <a:defRPr>
                <a:solidFill>
                  <a:schemeClr val="tx1"/>
                </a:solidFill>
                <a:latin typeface="Tahoma" panose="020B0604030504040204" charset="0"/>
              </a:defRPr>
            </a:lvl4pPr>
            <a:lvl5pPr marL="2057400" indent="-228600" eaLnBrk="0" hangingPunct="0">
              <a:defRPr>
                <a:solidFill>
                  <a:schemeClr val="tx1"/>
                </a:solidFill>
                <a:latin typeface="Tahoma" panose="020B0604030504040204" charset="0"/>
              </a:defRPr>
            </a:lvl5pPr>
            <a:lvl6pPr marL="2514600" indent="-228600" eaLnBrk="0" fontAlgn="base" hangingPunct="0">
              <a:spcBef>
                <a:spcPct val="0"/>
              </a:spcBef>
              <a:spcAft>
                <a:spcPct val="0"/>
              </a:spcAft>
              <a:defRPr>
                <a:solidFill>
                  <a:schemeClr val="tx1"/>
                </a:solidFill>
                <a:latin typeface="Tahoma" panose="020B0604030504040204" charset="0"/>
              </a:defRPr>
            </a:lvl6pPr>
            <a:lvl7pPr marL="2971800" indent="-228600" eaLnBrk="0" fontAlgn="base" hangingPunct="0">
              <a:spcBef>
                <a:spcPct val="0"/>
              </a:spcBef>
              <a:spcAft>
                <a:spcPct val="0"/>
              </a:spcAft>
              <a:defRPr>
                <a:solidFill>
                  <a:schemeClr val="tx1"/>
                </a:solidFill>
                <a:latin typeface="Tahoma" panose="020B0604030504040204" charset="0"/>
              </a:defRPr>
            </a:lvl7pPr>
            <a:lvl8pPr marL="3429000" indent="-228600" eaLnBrk="0" fontAlgn="base" hangingPunct="0">
              <a:spcBef>
                <a:spcPct val="0"/>
              </a:spcBef>
              <a:spcAft>
                <a:spcPct val="0"/>
              </a:spcAft>
              <a:defRPr>
                <a:solidFill>
                  <a:schemeClr val="tx1"/>
                </a:solidFill>
                <a:latin typeface="Tahoma" panose="020B0604030504040204" charset="0"/>
              </a:defRPr>
            </a:lvl8pPr>
            <a:lvl9pPr marL="3886200" indent="-228600" eaLnBrk="0" fontAlgn="base" hangingPunct="0">
              <a:spcBef>
                <a:spcPct val="0"/>
              </a:spcBef>
              <a:spcAft>
                <a:spcPct val="0"/>
              </a:spcAft>
              <a:defRPr>
                <a:solidFill>
                  <a:schemeClr val="tx1"/>
                </a:solidFill>
                <a:latin typeface="Tahoma" panose="020B0604030504040204" charset="0"/>
              </a:defRPr>
            </a:lvl9pPr>
          </a:lstStyle>
          <a:p>
            <a:r>
              <a:rPr lang="en-US" sz="2400">
                <a:latin typeface="Times New Roman" panose="02020603050405020304" pitchFamily="18" charset="0"/>
              </a:rPr>
              <a:t>Boulders are crushed by a jaw crusher.</a:t>
            </a:r>
            <a:endParaRPr lang="en-US" sz="240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IMAGE0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 Box 3"/>
          <p:cNvSpPr txBox="1">
            <a:spLocks noChangeArrowheads="1"/>
          </p:cNvSpPr>
          <p:nvPr/>
        </p:nvSpPr>
        <p:spPr bwMode="auto">
          <a:xfrm>
            <a:off x="1524000" y="6400800"/>
            <a:ext cx="9144000" cy="457200"/>
          </a:xfrm>
          <a:prstGeom prst="rect">
            <a:avLst/>
          </a:prstGeom>
          <a:solidFill>
            <a:schemeClr val="bg1">
              <a:lumMod val="85000"/>
            </a:schemeClr>
          </a:solidFill>
          <a:ln>
            <a:noFill/>
          </a:ln>
        </p:spPr>
        <p:txBody>
          <a:bodyPr>
            <a:spAutoFit/>
          </a:bodyPr>
          <a:lstStyle>
            <a:lvl1pPr eaLnBrk="0" hangingPunct="0">
              <a:defRPr>
                <a:solidFill>
                  <a:schemeClr val="tx1"/>
                </a:solidFill>
                <a:latin typeface="Tahoma" panose="020B0604030504040204" charset="0"/>
              </a:defRPr>
            </a:lvl1pPr>
            <a:lvl2pPr marL="742950" indent="-285750" eaLnBrk="0" hangingPunct="0">
              <a:defRPr>
                <a:solidFill>
                  <a:schemeClr val="tx1"/>
                </a:solidFill>
                <a:latin typeface="Tahoma" panose="020B0604030504040204" charset="0"/>
              </a:defRPr>
            </a:lvl2pPr>
            <a:lvl3pPr marL="1143000" indent="-228600" eaLnBrk="0" hangingPunct="0">
              <a:defRPr>
                <a:solidFill>
                  <a:schemeClr val="tx1"/>
                </a:solidFill>
                <a:latin typeface="Tahoma" panose="020B0604030504040204" charset="0"/>
              </a:defRPr>
            </a:lvl3pPr>
            <a:lvl4pPr marL="1600200" indent="-228600" eaLnBrk="0" hangingPunct="0">
              <a:defRPr>
                <a:solidFill>
                  <a:schemeClr val="tx1"/>
                </a:solidFill>
                <a:latin typeface="Tahoma" panose="020B0604030504040204" charset="0"/>
              </a:defRPr>
            </a:lvl4pPr>
            <a:lvl5pPr marL="2057400" indent="-228600" eaLnBrk="0" hangingPunct="0">
              <a:defRPr>
                <a:solidFill>
                  <a:schemeClr val="tx1"/>
                </a:solidFill>
                <a:latin typeface="Tahoma" panose="020B0604030504040204" charset="0"/>
              </a:defRPr>
            </a:lvl5pPr>
            <a:lvl6pPr marL="2514600" indent="-228600" eaLnBrk="0" fontAlgn="base" hangingPunct="0">
              <a:spcBef>
                <a:spcPct val="0"/>
              </a:spcBef>
              <a:spcAft>
                <a:spcPct val="0"/>
              </a:spcAft>
              <a:defRPr>
                <a:solidFill>
                  <a:schemeClr val="tx1"/>
                </a:solidFill>
                <a:latin typeface="Tahoma" panose="020B0604030504040204" charset="0"/>
              </a:defRPr>
            </a:lvl6pPr>
            <a:lvl7pPr marL="2971800" indent="-228600" eaLnBrk="0" fontAlgn="base" hangingPunct="0">
              <a:spcBef>
                <a:spcPct val="0"/>
              </a:spcBef>
              <a:spcAft>
                <a:spcPct val="0"/>
              </a:spcAft>
              <a:defRPr>
                <a:solidFill>
                  <a:schemeClr val="tx1"/>
                </a:solidFill>
                <a:latin typeface="Tahoma" panose="020B0604030504040204" charset="0"/>
              </a:defRPr>
            </a:lvl7pPr>
            <a:lvl8pPr marL="3429000" indent="-228600" eaLnBrk="0" fontAlgn="base" hangingPunct="0">
              <a:spcBef>
                <a:spcPct val="0"/>
              </a:spcBef>
              <a:spcAft>
                <a:spcPct val="0"/>
              </a:spcAft>
              <a:defRPr>
                <a:solidFill>
                  <a:schemeClr val="tx1"/>
                </a:solidFill>
                <a:latin typeface="Tahoma" panose="020B0604030504040204" charset="0"/>
              </a:defRPr>
            </a:lvl8pPr>
            <a:lvl9pPr marL="3886200" indent="-228600" eaLnBrk="0" fontAlgn="base" hangingPunct="0">
              <a:spcBef>
                <a:spcPct val="0"/>
              </a:spcBef>
              <a:spcAft>
                <a:spcPct val="0"/>
              </a:spcAft>
              <a:defRPr>
                <a:solidFill>
                  <a:schemeClr val="tx1"/>
                </a:solidFill>
                <a:latin typeface="Tahoma" panose="020B0604030504040204" charset="0"/>
              </a:defRPr>
            </a:lvl9pPr>
          </a:lstStyle>
          <a:p>
            <a:r>
              <a:rPr lang="en-US" sz="2400">
                <a:latin typeface="Times New Roman" panose="02020603050405020304" pitchFamily="18" charset="0"/>
              </a:rPr>
              <a:t>Feeding the jaw crusher.</a:t>
            </a:r>
            <a:endParaRPr lang="en-US" sz="240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IMAGE0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Text Box 3"/>
          <p:cNvSpPr txBox="1">
            <a:spLocks noChangeArrowheads="1"/>
          </p:cNvSpPr>
          <p:nvPr/>
        </p:nvSpPr>
        <p:spPr bwMode="auto">
          <a:xfrm>
            <a:off x="1524000" y="6400800"/>
            <a:ext cx="9144000" cy="457200"/>
          </a:xfrm>
          <a:prstGeom prst="rect">
            <a:avLst/>
          </a:prstGeom>
          <a:solidFill>
            <a:schemeClr val="bg1">
              <a:lumMod val="85000"/>
            </a:schemeClr>
          </a:solidFill>
          <a:ln>
            <a:noFill/>
          </a:ln>
        </p:spPr>
        <p:txBody>
          <a:bodyPr>
            <a:spAutoFit/>
          </a:bodyPr>
          <a:lstStyle>
            <a:lvl1pPr eaLnBrk="0" hangingPunct="0">
              <a:defRPr>
                <a:solidFill>
                  <a:schemeClr val="tx1"/>
                </a:solidFill>
                <a:latin typeface="Tahoma" panose="020B0604030504040204" charset="0"/>
              </a:defRPr>
            </a:lvl1pPr>
            <a:lvl2pPr marL="742950" indent="-285750" eaLnBrk="0" hangingPunct="0">
              <a:defRPr>
                <a:solidFill>
                  <a:schemeClr val="tx1"/>
                </a:solidFill>
                <a:latin typeface="Tahoma" panose="020B0604030504040204" charset="0"/>
              </a:defRPr>
            </a:lvl2pPr>
            <a:lvl3pPr marL="1143000" indent="-228600" eaLnBrk="0" hangingPunct="0">
              <a:defRPr>
                <a:solidFill>
                  <a:schemeClr val="tx1"/>
                </a:solidFill>
                <a:latin typeface="Tahoma" panose="020B0604030504040204" charset="0"/>
              </a:defRPr>
            </a:lvl3pPr>
            <a:lvl4pPr marL="1600200" indent="-228600" eaLnBrk="0" hangingPunct="0">
              <a:defRPr>
                <a:solidFill>
                  <a:schemeClr val="tx1"/>
                </a:solidFill>
                <a:latin typeface="Tahoma" panose="020B0604030504040204" charset="0"/>
              </a:defRPr>
            </a:lvl4pPr>
            <a:lvl5pPr marL="2057400" indent="-228600" eaLnBrk="0" hangingPunct="0">
              <a:defRPr>
                <a:solidFill>
                  <a:schemeClr val="tx1"/>
                </a:solidFill>
                <a:latin typeface="Tahoma" panose="020B0604030504040204" charset="0"/>
              </a:defRPr>
            </a:lvl5pPr>
            <a:lvl6pPr marL="2514600" indent="-228600" eaLnBrk="0" fontAlgn="base" hangingPunct="0">
              <a:spcBef>
                <a:spcPct val="0"/>
              </a:spcBef>
              <a:spcAft>
                <a:spcPct val="0"/>
              </a:spcAft>
              <a:defRPr>
                <a:solidFill>
                  <a:schemeClr val="tx1"/>
                </a:solidFill>
                <a:latin typeface="Tahoma" panose="020B0604030504040204" charset="0"/>
              </a:defRPr>
            </a:lvl6pPr>
            <a:lvl7pPr marL="2971800" indent="-228600" eaLnBrk="0" fontAlgn="base" hangingPunct="0">
              <a:spcBef>
                <a:spcPct val="0"/>
              </a:spcBef>
              <a:spcAft>
                <a:spcPct val="0"/>
              </a:spcAft>
              <a:defRPr>
                <a:solidFill>
                  <a:schemeClr val="tx1"/>
                </a:solidFill>
                <a:latin typeface="Tahoma" panose="020B0604030504040204" charset="0"/>
              </a:defRPr>
            </a:lvl7pPr>
            <a:lvl8pPr marL="3429000" indent="-228600" eaLnBrk="0" fontAlgn="base" hangingPunct="0">
              <a:spcBef>
                <a:spcPct val="0"/>
              </a:spcBef>
              <a:spcAft>
                <a:spcPct val="0"/>
              </a:spcAft>
              <a:defRPr>
                <a:solidFill>
                  <a:schemeClr val="tx1"/>
                </a:solidFill>
                <a:latin typeface="Tahoma" panose="020B0604030504040204" charset="0"/>
              </a:defRPr>
            </a:lvl8pPr>
            <a:lvl9pPr marL="3886200" indent="-228600" eaLnBrk="0" fontAlgn="base" hangingPunct="0">
              <a:spcBef>
                <a:spcPct val="0"/>
              </a:spcBef>
              <a:spcAft>
                <a:spcPct val="0"/>
              </a:spcAft>
              <a:defRPr>
                <a:solidFill>
                  <a:schemeClr val="tx1"/>
                </a:solidFill>
                <a:latin typeface="Tahoma" panose="020B0604030504040204" charset="0"/>
              </a:defRPr>
            </a:lvl9pPr>
          </a:lstStyle>
          <a:p>
            <a:r>
              <a:rPr lang="en-US" sz="2400">
                <a:latin typeface="Times New Roman" panose="02020603050405020304" pitchFamily="18" charset="0"/>
              </a:rPr>
              <a:t>Boulders being crushed by the jaws of the jaw crusher.</a:t>
            </a:r>
            <a:endParaRPr lang="en-US" sz="240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IMAGE0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Text Box 3"/>
          <p:cNvSpPr txBox="1">
            <a:spLocks noChangeArrowheads="1"/>
          </p:cNvSpPr>
          <p:nvPr/>
        </p:nvSpPr>
        <p:spPr bwMode="auto">
          <a:xfrm>
            <a:off x="1524000" y="6400800"/>
            <a:ext cx="9144000" cy="457200"/>
          </a:xfrm>
          <a:prstGeom prst="rect">
            <a:avLst/>
          </a:prstGeom>
          <a:solidFill>
            <a:schemeClr val="bg1">
              <a:lumMod val="85000"/>
            </a:schemeClr>
          </a:solidFill>
          <a:ln>
            <a:noFill/>
          </a:ln>
        </p:spPr>
        <p:txBody>
          <a:bodyPr>
            <a:spAutoFit/>
          </a:bodyPr>
          <a:lstStyle>
            <a:lvl1pPr eaLnBrk="0" hangingPunct="0">
              <a:defRPr>
                <a:solidFill>
                  <a:schemeClr val="tx1"/>
                </a:solidFill>
                <a:latin typeface="Tahoma" panose="020B0604030504040204" charset="0"/>
              </a:defRPr>
            </a:lvl1pPr>
            <a:lvl2pPr marL="742950" indent="-285750" eaLnBrk="0" hangingPunct="0">
              <a:defRPr>
                <a:solidFill>
                  <a:schemeClr val="tx1"/>
                </a:solidFill>
                <a:latin typeface="Tahoma" panose="020B0604030504040204" charset="0"/>
              </a:defRPr>
            </a:lvl2pPr>
            <a:lvl3pPr marL="1143000" indent="-228600" eaLnBrk="0" hangingPunct="0">
              <a:defRPr>
                <a:solidFill>
                  <a:schemeClr val="tx1"/>
                </a:solidFill>
                <a:latin typeface="Tahoma" panose="020B0604030504040204" charset="0"/>
              </a:defRPr>
            </a:lvl3pPr>
            <a:lvl4pPr marL="1600200" indent="-228600" eaLnBrk="0" hangingPunct="0">
              <a:defRPr>
                <a:solidFill>
                  <a:schemeClr val="tx1"/>
                </a:solidFill>
                <a:latin typeface="Tahoma" panose="020B0604030504040204" charset="0"/>
              </a:defRPr>
            </a:lvl4pPr>
            <a:lvl5pPr marL="2057400" indent="-228600" eaLnBrk="0" hangingPunct="0">
              <a:defRPr>
                <a:solidFill>
                  <a:schemeClr val="tx1"/>
                </a:solidFill>
                <a:latin typeface="Tahoma" panose="020B0604030504040204" charset="0"/>
              </a:defRPr>
            </a:lvl5pPr>
            <a:lvl6pPr marL="2514600" indent="-228600" eaLnBrk="0" fontAlgn="base" hangingPunct="0">
              <a:spcBef>
                <a:spcPct val="0"/>
              </a:spcBef>
              <a:spcAft>
                <a:spcPct val="0"/>
              </a:spcAft>
              <a:defRPr>
                <a:solidFill>
                  <a:schemeClr val="tx1"/>
                </a:solidFill>
                <a:latin typeface="Tahoma" panose="020B0604030504040204" charset="0"/>
              </a:defRPr>
            </a:lvl6pPr>
            <a:lvl7pPr marL="2971800" indent="-228600" eaLnBrk="0" fontAlgn="base" hangingPunct="0">
              <a:spcBef>
                <a:spcPct val="0"/>
              </a:spcBef>
              <a:spcAft>
                <a:spcPct val="0"/>
              </a:spcAft>
              <a:defRPr>
                <a:solidFill>
                  <a:schemeClr val="tx1"/>
                </a:solidFill>
                <a:latin typeface="Tahoma" panose="020B0604030504040204" charset="0"/>
              </a:defRPr>
            </a:lvl7pPr>
            <a:lvl8pPr marL="3429000" indent="-228600" eaLnBrk="0" fontAlgn="base" hangingPunct="0">
              <a:spcBef>
                <a:spcPct val="0"/>
              </a:spcBef>
              <a:spcAft>
                <a:spcPct val="0"/>
              </a:spcAft>
              <a:defRPr>
                <a:solidFill>
                  <a:schemeClr val="tx1"/>
                </a:solidFill>
                <a:latin typeface="Tahoma" panose="020B0604030504040204" charset="0"/>
              </a:defRPr>
            </a:lvl8pPr>
            <a:lvl9pPr marL="3886200" indent="-228600" eaLnBrk="0" fontAlgn="base" hangingPunct="0">
              <a:spcBef>
                <a:spcPct val="0"/>
              </a:spcBef>
              <a:spcAft>
                <a:spcPct val="0"/>
              </a:spcAft>
              <a:defRPr>
                <a:solidFill>
                  <a:schemeClr val="tx1"/>
                </a:solidFill>
                <a:latin typeface="Tahoma" panose="020B0604030504040204" charset="0"/>
              </a:defRPr>
            </a:lvl9pPr>
          </a:lstStyle>
          <a:p>
            <a:r>
              <a:rPr lang="en-US" sz="2400">
                <a:latin typeface="Times New Roman" panose="02020603050405020304" pitchFamily="18" charset="0"/>
              </a:rPr>
              <a:t>Rock fragments are conveyed away from the crusher and stockpiled.</a:t>
            </a:r>
            <a:endParaRPr lang="en-US" sz="240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IMAGE0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Text Box 3"/>
          <p:cNvSpPr txBox="1">
            <a:spLocks noChangeArrowheads="1"/>
          </p:cNvSpPr>
          <p:nvPr/>
        </p:nvSpPr>
        <p:spPr bwMode="auto">
          <a:xfrm>
            <a:off x="1524000" y="6400800"/>
            <a:ext cx="9144000" cy="457200"/>
          </a:xfrm>
          <a:prstGeom prst="rect">
            <a:avLst/>
          </a:prstGeom>
          <a:solidFill>
            <a:schemeClr val="bg1">
              <a:lumMod val="85000"/>
            </a:schemeClr>
          </a:solidFill>
          <a:ln>
            <a:noFill/>
          </a:ln>
        </p:spPr>
        <p:txBody>
          <a:bodyPr>
            <a:spAutoFit/>
          </a:bodyPr>
          <a:lstStyle>
            <a:lvl1pPr eaLnBrk="0" hangingPunct="0">
              <a:defRPr>
                <a:solidFill>
                  <a:schemeClr val="tx1"/>
                </a:solidFill>
                <a:latin typeface="Tahoma" panose="020B0604030504040204" charset="0"/>
              </a:defRPr>
            </a:lvl1pPr>
            <a:lvl2pPr marL="742950" indent="-285750" eaLnBrk="0" hangingPunct="0">
              <a:defRPr>
                <a:solidFill>
                  <a:schemeClr val="tx1"/>
                </a:solidFill>
                <a:latin typeface="Tahoma" panose="020B0604030504040204" charset="0"/>
              </a:defRPr>
            </a:lvl2pPr>
            <a:lvl3pPr marL="1143000" indent="-228600" eaLnBrk="0" hangingPunct="0">
              <a:defRPr>
                <a:solidFill>
                  <a:schemeClr val="tx1"/>
                </a:solidFill>
                <a:latin typeface="Tahoma" panose="020B0604030504040204" charset="0"/>
              </a:defRPr>
            </a:lvl3pPr>
            <a:lvl4pPr marL="1600200" indent="-228600" eaLnBrk="0" hangingPunct="0">
              <a:defRPr>
                <a:solidFill>
                  <a:schemeClr val="tx1"/>
                </a:solidFill>
                <a:latin typeface="Tahoma" panose="020B0604030504040204" charset="0"/>
              </a:defRPr>
            </a:lvl4pPr>
            <a:lvl5pPr marL="2057400" indent="-228600" eaLnBrk="0" hangingPunct="0">
              <a:defRPr>
                <a:solidFill>
                  <a:schemeClr val="tx1"/>
                </a:solidFill>
                <a:latin typeface="Tahoma" panose="020B0604030504040204" charset="0"/>
              </a:defRPr>
            </a:lvl5pPr>
            <a:lvl6pPr marL="2514600" indent="-228600" eaLnBrk="0" fontAlgn="base" hangingPunct="0">
              <a:spcBef>
                <a:spcPct val="0"/>
              </a:spcBef>
              <a:spcAft>
                <a:spcPct val="0"/>
              </a:spcAft>
              <a:defRPr>
                <a:solidFill>
                  <a:schemeClr val="tx1"/>
                </a:solidFill>
                <a:latin typeface="Tahoma" panose="020B0604030504040204" charset="0"/>
              </a:defRPr>
            </a:lvl6pPr>
            <a:lvl7pPr marL="2971800" indent="-228600" eaLnBrk="0" fontAlgn="base" hangingPunct="0">
              <a:spcBef>
                <a:spcPct val="0"/>
              </a:spcBef>
              <a:spcAft>
                <a:spcPct val="0"/>
              </a:spcAft>
              <a:defRPr>
                <a:solidFill>
                  <a:schemeClr val="tx1"/>
                </a:solidFill>
                <a:latin typeface="Tahoma" panose="020B0604030504040204" charset="0"/>
              </a:defRPr>
            </a:lvl7pPr>
            <a:lvl8pPr marL="3429000" indent="-228600" eaLnBrk="0" fontAlgn="base" hangingPunct="0">
              <a:spcBef>
                <a:spcPct val="0"/>
              </a:spcBef>
              <a:spcAft>
                <a:spcPct val="0"/>
              </a:spcAft>
              <a:defRPr>
                <a:solidFill>
                  <a:schemeClr val="tx1"/>
                </a:solidFill>
                <a:latin typeface="Tahoma" panose="020B0604030504040204" charset="0"/>
              </a:defRPr>
            </a:lvl8pPr>
            <a:lvl9pPr marL="3886200" indent="-228600" eaLnBrk="0" fontAlgn="base" hangingPunct="0">
              <a:spcBef>
                <a:spcPct val="0"/>
              </a:spcBef>
              <a:spcAft>
                <a:spcPct val="0"/>
              </a:spcAft>
              <a:defRPr>
                <a:solidFill>
                  <a:schemeClr val="tx1"/>
                </a:solidFill>
                <a:latin typeface="Tahoma" panose="020B0604030504040204" charset="0"/>
              </a:defRPr>
            </a:lvl9pPr>
          </a:lstStyle>
          <a:p>
            <a:r>
              <a:rPr lang="en-US" sz="2400">
                <a:latin typeface="Times New Roman" panose="02020603050405020304" pitchFamily="18" charset="0"/>
              </a:rPr>
              <a:t>Stockpile</a:t>
            </a:r>
            <a:endParaRPr lang="en-US" sz="240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981200" y="274639"/>
            <a:ext cx="8229600" cy="777875"/>
          </a:xfrm>
          <a:noFill/>
        </p:spPr>
        <p:txBody>
          <a:bodyPr vert="horz" lIns="90488" tIns="44450" rIns="90488" bIns="44450" rtlCol="0" anchor="t">
            <a:normAutofit/>
          </a:bodyPr>
          <a:lstStyle/>
          <a:p>
            <a:r>
              <a:rPr lang="en-US" sz="4000"/>
              <a:t>Types of Rock</a:t>
            </a:r>
            <a:endParaRPr lang="en-US" sz="4000"/>
          </a:p>
        </p:txBody>
      </p:sp>
      <p:sp>
        <p:nvSpPr>
          <p:cNvPr id="11267" name="Rectangle 3"/>
          <p:cNvSpPr>
            <a:spLocks noGrp="1" noChangeArrowheads="1"/>
          </p:cNvSpPr>
          <p:nvPr>
            <p:ph type="body" sz="quarter" idx="10"/>
          </p:nvPr>
        </p:nvSpPr>
        <p:spPr>
          <a:xfrm>
            <a:off x="2135188" y="1268413"/>
            <a:ext cx="8353300" cy="4114800"/>
          </a:xfrm>
          <a:noFill/>
        </p:spPr>
        <p:txBody>
          <a:bodyPr vert="horz" lIns="90488" tIns="44450" rIns="90488" bIns="44450" rtlCol="0">
            <a:normAutofit lnSpcReduction="10000"/>
          </a:bodyPr>
          <a:lstStyle/>
          <a:p>
            <a:pPr>
              <a:buFont typeface="Arial" panose="020B0604020202020204" pitchFamily="34" charset="0"/>
              <a:buChar char="•"/>
            </a:pPr>
            <a:r>
              <a:rPr lang="en-US" sz="2800"/>
              <a:t>Igneous rock: solidification of molten masses forced by pressure towards earth surface.</a:t>
            </a:r>
            <a:endParaRPr lang="en-US" sz="2800"/>
          </a:p>
          <a:p>
            <a:pPr marL="1200150" lvl="2" indent="-285750">
              <a:buFont typeface="Arial" panose="020B0604020202020204" pitchFamily="34" charset="0"/>
              <a:buChar char="•"/>
            </a:pPr>
            <a:r>
              <a:rPr lang="en-US" sz="2400">
                <a:solidFill>
                  <a:schemeClr val="accent6">
                    <a:lumMod val="75000"/>
                  </a:schemeClr>
                </a:solidFill>
              </a:rPr>
              <a:t>granite, </a:t>
            </a:r>
            <a:r>
              <a:rPr lang="en-US" sz="2400" err="1">
                <a:solidFill>
                  <a:schemeClr val="accent6">
                    <a:lumMod val="75000"/>
                  </a:schemeClr>
                </a:solidFill>
              </a:rPr>
              <a:t>andesite</a:t>
            </a:r>
            <a:r>
              <a:rPr lang="en-US" sz="2400">
                <a:solidFill>
                  <a:schemeClr val="accent6">
                    <a:lumMod val="75000"/>
                  </a:schemeClr>
                </a:solidFill>
              </a:rPr>
              <a:t>, basalt, dolerite, </a:t>
            </a:r>
            <a:r>
              <a:rPr lang="en-US" sz="2400" err="1">
                <a:solidFill>
                  <a:schemeClr val="accent6">
                    <a:lumMod val="75000"/>
                  </a:schemeClr>
                </a:solidFill>
              </a:rPr>
              <a:t>gabbro</a:t>
            </a:r>
            <a:r>
              <a:rPr lang="en-US" sz="2400">
                <a:solidFill>
                  <a:schemeClr val="accent6">
                    <a:lumMod val="75000"/>
                  </a:schemeClr>
                </a:solidFill>
              </a:rPr>
              <a:t>, </a:t>
            </a:r>
            <a:r>
              <a:rPr lang="en-US" sz="2400" err="1">
                <a:solidFill>
                  <a:schemeClr val="accent6">
                    <a:lumMod val="75000"/>
                  </a:schemeClr>
                </a:solidFill>
              </a:rPr>
              <a:t>norite</a:t>
            </a:r>
            <a:r>
              <a:rPr lang="en-US" sz="2400">
                <a:solidFill>
                  <a:schemeClr val="accent6">
                    <a:lumMod val="75000"/>
                  </a:schemeClr>
                </a:solidFill>
              </a:rPr>
              <a:t> </a:t>
            </a:r>
            <a:endParaRPr lang="en-US" sz="2400">
              <a:solidFill>
                <a:schemeClr val="accent6">
                  <a:lumMod val="75000"/>
                </a:schemeClr>
              </a:solidFill>
            </a:endParaRPr>
          </a:p>
          <a:p>
            <a:pPr>
              <a:buFont typeface="Arial" panose="020B0604020202020204" pitchFamily="34" charset="0"/>
              <a:buChar char="•"/>
            </a:pPr>
            <a:r>
              <a:rPr lang="en-US" sz="2800"/>
              <a:t>Sedimentary rock: older rock broken down chemically or mechanically, particles deposited  mostly under water and cemented together forming dense mass.</a:t>
            </a:r>
            <a:endParaRPr lang="en-US" sz="2800"/>
          </a:p>
          <a:p>
            <a:pPr marL="1200150" lvl="2" indent="-285750">
              <a:buFont typeface="Arial" panose="020B0604020202020204" pitchFamily="34" charset="0"/>
              <a:buChar char="•"/>
            </a:pPr>
            <a:r>
              <a:rPr lang="en-US" sz="2400">
                <a:solidFill>
                  <a:schemeClr val="accent6">
                    <a:lumMod val="75000"/>
                  </a:schemeClr>
                </a:solidFill>
              </a:rPr>
              <a:t>Conglomerate, </a:t>
            </a:r>
            <a:r>
              <a:rPr lang="en-US" sz="2400" err="1">
                <a:solidFill>
                  <a:schemeClr val="accent6">
                    <a:lumMod val="75000"/>
                  </a:schemeClr>
                </a:solidFill>
              </a:rPr>
              <a:t>tillite</a:t>
            </a:r>
            <a:r>
              <a:rPr lang="en-US" sz="2400">
                <a:solidFill>
                  <a:schemeClr val="accent6">
                    <a:lumMod val="75000"/>
                  </a:schemeClr>
                </a:solidFill>
              </a:rPr>
              <a:t>, sandstone, shale, dolomite, limestone</a:t>
            </a:r>
            <a:endParaRPr lang="en-US" sz="2400">
              <a:solidFill>
                <a:schemeClr val="accent6">
                  <a:lumMod val="75000"/>
                </a:schemeClr>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981200" y="274639"/>
            <a:ext cx="8229600" cy="777875"/>
          </a:xfrm>
          <a:noFill/>
        </p:spPr>
        <p:txBody>
          <a:bodyPr vert="horz" lIns="90488" tIns="44450" rIns="90488" bIns="44450" rtlCol="0" anchor="t">
            <a:normAutofit/>
          </a:bodyPr>
          <a:lstStyle/>
          <a:p>
            <a:r>
              <a:rPr lang="en-US" sz="4000"/>
              <a:t>Types of Rock</a:t>
            </a:r>
            <a:endParaRPr lang="en-US" sz="4000"/>
          </a:p>
        </p:txBody>
      </p:sp>
      <p:sp>
        <p:nvSpPr>
          <p:cNvPr id="11267" name="Rectangle 3"/>
          <p:cNvSpPr>
            <a:spLocks noGrp="1" noChangeArrowheads="1"/>
          </p:cNvSpPr>
          <p:nvPr>
            <p:ph type="body" sz="quarter" idx="10"/>
          </p:nvPr>
        </p:nvSpPr>
        <p:spPr>
          <a:xfrm>
            <a:off x="2135188" y="1268413"/>
            <a:ext cx="8353300" cy="4114800"/>
          </a:xfrm>
          <a:noFill/>
        </p:spPr>
        <p:txBody>
          <a:bodyPr vert="horz" lIns="90488" tIns="44450" rIns="90488" bIns="44450" rtlCol="0">
            <a:normAutofit fontScale="92500" lnSpcReduction="20000"/>
          </a:bodyPr>
          <a:lstStyle/>
          <a:p>
            <a:pPr marL="457200" indent="-457200">
              <a:buFont typeface="Arial" panose="020B0604020202020204" pitchFamily="34" charset="0"/>
              <a:buChar char="•"/>
            </a:pPr>
            <a:r>
              <a:rPr lang="en-US" sz="2800"/>
              <a:t>Metamorphic rock: </a:t>
            </a:r>
            <a:r>
              <a:rPr lang="en-GB" sz="2800"/>
              <a:t>rocks subjected to intense heat and/or pressure which changed the structure and chemical composition of the original rock</a:t>
            </a:r>
            <a:endParaRPr lang="en-GB" sz="2800"/>
          </a:p>
          <a:p>
            <a:pPr>
              <a:buFont typeface="Arial" panose="020B0604020202020204" pitchFamily="34" charset="0"/>
              <a:buChar char="•"/>
            </a:pPr>
            <a:r>
              <a:rPr lang="en-GB" sz="2800"/>
              <a:t>Two types of metamorphism:</a:t>
            </a:r>
            <a:endParaRPr lang="en-GB" sz="2800"/>
          </a:p>
          <a:p>
            <a:pPr lvl="1">
              <a:buFont typeface="Arial" panose="020B0604020202020204" pitchFamily="34" charset="0"/>
              <a:buChar char="•"/>
            </a:pPr>
            <a:r>
              <a:rPr lang="en-GB" sz="2400">
                <a:solidFill>
                  <a:schemeClr val="accent6">
                    <a:lumMod val="75000"/>
                  </a:schemeClr>
                </a:solidFill>
              </a:rPr>
              <a:t>Thermal, heat with little pressure</a:t>
            </a:r>
            <a:endParaRPr lang="en-GB" sz="2400">
              <a:solidFill>
                <a:schemeClr val="accent6">
                  <a:lumMod val="75000"/>
                </a:schemeClr>
              </a:solidFill>
            </a:endParaRPr>
          </a:p>
          <a:p>
            <a:pPr lvl="1">
              <a:buFont typeface="Arial" panose="020B0604020202020204" pitchFamily="34" charset="0"/>
              <a:buChar char="•"/>
            </a:pPr>
            <a:r>
              <a:rPr lang="en-GB" sz="2400">
                <a:solidFill>
                  <a:schemeClr val="accent6">
                    <a:lumMod val="75000"/>
                  </a:schemeClr>
                </a:solidFill>
              </a:rPr>
              <a:t>Dynamic, where pressure is the main factor</a:t>
            </a:r>
            <a:endParaRPr lang="en-GB" sz="2800"/>
          </a:p>
          <a:p>
            <a:pPr>
              <a:buFont typeface="Arial" panose="020B0604020202020204" pitchFamily="34" charset="0"/>
              <a:buChar char="•"/>
            </a:pPr>
            <a:r>
              <a:rPr lang="en-GB" sz="2800"/>
              <a:t>Metamorphic rocks may have been formed by either or both types. </a:t>
            </a:r>
            <a:endParaRPr lang="en-US" sz="2800"/>
          </a:p>
          <a:p>
            <a:pPr marL="1200150" lvl="2" indent="-285750">
              <a:buFont typeface="Arial" panose="020B0604020202020204" pitchFamily="34" charset="0"/>
              <a:buChar char="•"/>
            </a:pPr>
            <a:r>
              <a:rPr lang="en-GB" sz="2400">
                <a:solidFill>
                  <a:schemeClr val="accent6">
                    <a:lumMod val="75000"/>
                  </a:schemeClr>
                </a:solidFill>
              </a:rPr>
              <a:t>Quartzite, marble, slate, </a:t>
            </a:r>
            <a:r>
              <a:rPr lang="en-GB" sz="2400" err="1">
                <a:solidFill>
                  <a:schemeClr val="accent6">
                    <a:lumMod val="75000"/>
                  </a:schemeClr>
                </a:solidFill>
              </a:rPr>
              <a:t>hornfels</a:t>
            </a:r>
            <a:endParaRPr lang="en-US" sz="2400">
              <a:solidFill>
                <a:schemeClr val="accent6">
                  <a:lumMod val="75000"/>
                </a:schemeClr>
              </a:solidFill>
            </a:endParaRPr>
          </a:p>
          <a:p>
            <a:pPr lvl="2"/>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981200" y="274639"/>
            <a:ext cx="8229600" cy="777875"/>
          </a:xfrm>
          <a:noFill/>
        </p:spPr>
        <p:txBody>
          <a:bodyPr vert="horz" lIns="90488" tIns="44450" rIns="90488" bIns="44450" rtlCol="0" anchor="t">
            <a:normAutofit/>
          </a:bodyPr>
          <a:lstStyle/>
          <a:p>
            <a:r>
              <a:rPr lang="en-US" sz="4000"/>
              <a:t>Types of Aggregate</a:t>
            </a:r>
            <a:endParaRPr lang="en-US" sz="4000"/>
          </a:p>
        </p:txBody>
      </p:sp>
      <p:sp>
        <p:nvSpPr>
          <p:cNvPr id="11267" name="Rectangle 3"/>
          <p:cNvSpPr>
            <a:spLocks noGrp="1" noChangeArrowheads="1"/>
          </p:cNvSpPr>
          <p:nvPr>
            <p:ph type="body" sz="quarter" idx="10"/>
          </p:nvPr>
        </p:nvSpPr>
        <p:spPr>
          <a:xfrm>
            <a:off x="2135188" y="1268413"/>
            <a:ext cx="8353300" cy="4114800"/>
          </a:xfrm>
          <a:noFill/>
        </p:spPr>
        <p:txBody>
          <a:bodyPr vert="horz" lIns="90488" tIns="44450" rIns="90488" bIns="44450" rtlCol="0">
            <a:normAutofit fontScale="92500" lnSpcReduction="10000"/>
          </a:bodyPr>
          <a:lstStyle/>
          <a:p>
            <a:pPr marL="457200" indent="-457200">
              <a:buFont typeface="Arial" panose="020B0604020202020204" pitchFamily="34" charset="0"/>
              <a:buChar char="•"/>
            </a:pPr>
            <a:r>
              <a:rPr lang="en-US" sz="2800"/>
              <a:t>Natural aggregate consists of sands, gravels and crushed rock</a:t>
            </a:r>
            <a:endParaRPr lang="en-US" sz="2800"/>
          </a:p>
          <a:p>
            <a:pPr marL="457200" indent="-457200">
              <a:buFont typeface="Arial" panose="020B0604020202020204" pitchFamily="34" charset="0"/>
              <a:buChar char="•"/>
            </a:pPr>
            <a:r>
              <a:rPr lang="en-US" sz="2800"/>
              <a:t>Sands and gravels are products from water and wind erosion or glaciations</a:t>
            </a:r>
            <a:endParaRPr lang="en-US" sz="2800"/>
          </a:p>
          <a:p>
            <a:pPr marL="457200" indent="-457200">
              <a:buFont typeface="Arial" panose="020B0604020202020204" pitchFamily="34" charset="0"/>
              <a:buChar char="•"/>
            </a:pPr>
            <a:r>
              <a:rPr lang="en-US" sz="2800"/>
              <a:t>Crushed rock is obtained from quarries by drilling and blasting the rock face to maximize fragmentation</a:t>
            </a:r>
            <a:endParaRPr lang="en-US" sz="2800"/>
          </a:p>
          <a:p>
            <a:pPr marL="457200" indent="-457200">
              <a:buFont typeface="Arial" panose="020B0604020202020204" pitchFamily="34" charset="0"/>
              <a:buChar char="•"/>
            </a:pPr>
            <a:r>
              <a:rPr lang="en-US" sz="2800"/>
              <a:t>Blasted fragments are crushed and passed through a series of screens to produce particle size fractions required</a:t>
            </a:r>
            <a:r>
              <a:rPr lang="en-US"/>
              <a:t>.</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981200" y="274639"/>
            <a:ext cx="8229600" cy="777875"/>
          </a:xfrm>
          <a:noFill/>
        </p:spPr>
        <p:txBody>
          <a:bodyPr vert="horz" lIns="90488" tIns="44450" rIns="90488" bIns="44450" rtlCol="0" anchor="t">
            <a:normAutofit/>
          </a:bodyPr>
          <a:lstStyle/>
          <a:p>
            <a:r>
              <a:rPr lang="en-US" sz="4000"/>
              <a:t>Production and processing</a:t>
            </a:r>
            <a:endParaRPr lang="en-US" sz="4000"/>
          </a:p>
        </p:txBody>
      </p:sp>
      <p:sp>
        <p:nvSpPr>
          <p:cNvPr id="11267" name="Rectangle 3"/>
          <p:cNvSpPr>
            <a:spLocks noGrp="1" noChangeArrowheads="1"/>
          </p:cNvSpPr>
          <p:nvPr>
            <p:ph type="body" sz="quarter" idx="10"/>
          </p:nvPr>
        </p:nvSpPr>
        <p:spPr>
          <a:xfrm>
            <a:off x="2135560" y="980728"/>
            <a:ext cx="7993260" cy="4114800"/>
          </a:xfrm>
          <a:noFill/>
        </p:spPr>
        <p:txBody>
          <a:bodyPr vert="horz" lIns="90488" tIns="44450" rIns="90488" bIns="44450" rtlCol="0">
            <a:normAutofit fontScale="92500" lnSpcReduction="20000"/>
          </a:bodyPr>
          <a:lstStyle/>
          <a:p>
            <a:pPr marL="0" indent="0"/>
            <a:r>
              <a:rPr lang="en-US" sz="2800"/>
              <a:t>Main methods of extracting sand and gravel:</a:t>
            </a:r>
            <a:endParaRPr lang="en-US" sz="2800"/>
          </a:p>
          <a:p>
            <a:pPr>
              <a:buFont typeface="Arial" panose="020B0604020202020204" pitchFamily="34" charset="0"/>
              <a:buChar char="•"/>
            </a:pPr>
            <a:r>
              <a:rPr lang="en-US" sz="2800"/>
              <a:t>Wet</a:t>
            </a:r>
            <a:endParaRPr lang="en-US" sz="2800"/>
          </a:p>
          <a:p>
            <a:pPr lvl="1">
              <a:buFont typeface="Arial" panose="020B0604020202020204" pitchFamily="34" charset="0"/>
              <a:buChar char="•"/>
            </a:pPr>
            <a:r>
              <a:rPr lang="en-US" sz="2400">
                <a:solidFill>
                  <a:schemeClr val="accent6">
                    <a:lumMod val="75000"/>
                  </a:schemeClr>
                </a:solidFill>
              </a:rPr>
              <a:t>Extraction below water table.  Extracted by suction dredging or floating grab dredgers</a:t>
            </a:r>
            <a:endParaRPr lang="en-US" sz="2400">
              <a:solidFill>
                <a:schemeClr val="accent6">
                  <a:lumMod val="75000"/>
                </a:schemeClr>
              </a:solidFill>
            </a:endParaRPr>
          </a:p>
          <a:p>
            <a:pPr>
              <a:buFont typeface="Arial" panose="020B0604020202020204" pitchFamily="34" charset="0"/>
              <a:buChar char="•"/>
            </a:pPr>
            <a:r>
              <a:rPr lang="en-US" sz="2800"/>
              <a:t>Dry</a:t>
            </a:r>
            <a:endParaRPr lang="en-US" sz="2800"/>
          </a:p>
          <a:p>
            <a:pPr lvl="1">
              <a:buFont typeface="Arial" panose="020B0604020202020204" pitchFamily="34" charset="0"/>
              <a:buChar char="•"/>
            </a:pPr>
            <a:r>
              <a:rPr lang="en-US" sz="2400">
                <a:solidFill>
                  <a:schemeClr val="accent6">
                    <a:lumMod val="75000"/>
                  </a:schemeClr>
                </a:solidFill>
              </a:rPr>
              <a:t>Extracted by dragline or front-end loader</a:t>
            </a:r>
            <a:endParaRPr lang="en-US" sz="2400">
              <a:solidFill>
                <a:schemeClr val="accent6">
                  <a:lumMod val="75000"/>
                </a:schemeClr>
              </a:solidFill>
            </a:endParaRPr>
          </a:p>
          <a:p>
            <a:pPr>
              <a:buFont typeface="Arial" panose="020B0604020202020204" pitchFamily="34" charset="0"/>
              <a:buChar char="•"/>
            </a:pPr>
            <a:r>
              <a:rPr lang="en-US" sz="2800"/>
              <a:t>Marine</a:t>
            </a:r>
            <a:endParaRPr lang="en-US" sz="2800"/>
          </a:p>
          <a:p>
            <a:pPr lvl="1">
              <a:buFont typeface="Arial" panose="020B0604020202020204" pitchFamily="34" charset="0"/>
              <a:buChar char="•"/>
            </a:pPr>
            <a:r>
              <a:rPr lang="en-US" sz="2400">
                <a:solidFill>
                  <a:schemeClr val="accent6">
                    <a:lumMod val="75000"/>
                  </a:schemeClr>
                </a:solidFill>
              </a:rPr>
              <a:t>Extracted with large self-propelled seagoing barges</a:t>
            </a:r>
            <a:endParaRPr lang="en-US" sz="2400">
              <a:solidFill>
                <a:schemeClr val="accent6">
                  <a:lumMod val="75000"/>
                </a:schemeClr>
              </a:solidFill>
            </a:endParaRPr>
          </a:p>
          <a:p>
            <a:pPr>
              <a:buFont typeface="Arial" panose="020B0604020202020204" pitchFamily="34" charset="0"/>
              <a:buChar char="•"/>
            </a:pPr>
            <a:r>
              <a:rPr lang="en-US" sz="2800"/>
              <a:t>Processing  includes crushing, screening and washing</a:t>
            </a:r>
            <a:endParaRPr lang="en-US" sz="28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524000" y="0"/>
            <a:ext cx="9144000" cy="1066800"/>
          </a:xfrm>
          <a:noFill/>
        </p:spPr>
        <p:txBody>
          <a:bodyPr vert="horz" lIns="90488" tIns="44450" rIns="90488" bIns="44450" rtlCol="0" anchor="t">
            <a:normAutofit fontScale="90000"/>
          </a:bodyPr>
          <a:lstStyle/>
          <a:p>
            <a:r>
              <a:rPr lang="en-US" sz="4000"/>
              <a:t>Aggregate Properties affecting Concrete</a:t>
            </a:r>
            <a:endParaRPr lang="en-US" sz="4000"/>
          </a:p>
        </p:txBody>
      </p:sp>
      <p:sp>
        <p:nvSpPr>
          <p:cNvPr id="14339" name="Rectangle 3"/>
          <p:cNvSpPr>
            <a:spLocks noGrp="1" noChangeArrowheads="1"/>
          </p:cNvSpPr>
          <p:nvPr>
            <p:ph type="body" sz="quarter" idx="10"/>
          </p:nvPr>
        </p:nvSpPr>
        <p:spPr>
          <a:xfrm>
            <a:off x="3503713" y="1340768"/>
            <a:ext cx="6326187" cy="4114800"/>
          </a:xfrm>
          <a:noFill/>
        </p:spPr>
        <p:txBody>
          <a:bodyPr vert="horz" lIns="90488" tIns="44450" rIns="90488" bIns="44450" rtlCol="0">
            <a:normAutofit/>
          </a:bodyPr>
          <a:lstStyle/>
          <a:p>
            <a:pPr>
              <a:buFont typeface="Arial" panose="020B0604020202020204" pitchFamily="34" charset="0"/>
              <a:buChar char="•"/>
            </a:pPr>
            <a:r>
              <a:rPr lang="en-US" sz="2800"/>
              <a:t>Particle size</a:t>
            </a:r>
            <a:endParaRPr lang="en-US" sz="2800"/>
          </a:p>
          <a:p>
            <a:pPr>
              <a:buFont typeface="Arial" panose="020B0604020202020204" pitchFamily="34" charset="0"/>
              <a:buChar char="•"/>
            </a:pPr>
            <a:r>
              <a:rPr lang="en-US" sz="2800"/>
              <a:t>Grading</a:t>
            </a:r>
            <a:endParaRPr lang="en-US" sz="2800"/>
          </a:p>
          <a:p>
            <a:pPr>
              <a:buFont typeface="Arial" panose="020B0604020202020204" pitchFamily="34" charset="0"/>
              <a:buChar char="•"/>
            </a:pPr>
            <a:r>
              <a:rPr lang="en-US" sz="2800"/>
              <a:t>Shape &amp; surface texture</a:t>
            </a:r>
            <a:endParaRPr lang="en-US" sz="2800"/>
          </a:p>
          <a:p>
            <a:pPr>
              <a:buFont typeface="Arial" panose="020B0604020202020204" pitchFamily="34" charset="0"/>
              <a:buChar char="•"/>
            </a:pPr>
            <a:r>
              <a:rPr lang="en-US" sz="2800"/>
              <a:t>Bulk density</a:t>
            </a:r>
            <a:endParaRPr lang="en-US" sz="2800"/>
          </a:p>
          <a:p>
            <a:pPr>
              <a:buFont typeface="Arial" panose="020B0604020202020204" pitchFamily="34" charset="0"/>
              <a:buChar char="•"/>
            </a:pPr>
            <a:r>
              <a:rPr lang="en-US" sz="2800"/>
              <a:t>Absorption</a:t>
            </a:r>
            <a:endParaRPr lang="en-US" sz="2800"/>
          </a:p>
          <a:p>
            <a:pPr>
              <a:buFont typeface="Arial" panose="020B0604020202020204" pitchFamily="34" charset="0"/>
              <a:buChar char="•"/>
            </a:pPr>
            <a:r>
              <a:rPr lang="en-US" sz="2800"/>
              <a:t>Relative density</a:t>
            </a:r>
            <a:endParaRPr lang="en-US" sz="2800"/>
          </a:p>
          <a:p>
            <a:pPr>
              <a:buFont typeface="Arial" panose="020B0604020202020204" pitchFamily="34" charset="0"/>
              <a:buChar char="•"/>
            </a:pPr>
            <a:r>
              <a:rPr lang="en-US" sz="2800"/>
              <a:t>Strength</a:t>
            </a:r>
            <a:endParaRPr lang="en-US" sz="2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Aggregate Characteristics</a:t>
            </a:r>
            <a:endParaRPr lang="en-US" sz="4000"/>
          </a:p>
        </p:txBody>
      </p:sp>
      <p:sp>
        <p:nvSpPr>
          <p:cNvPr id="18435" name="Rectangle 3"/>
          <p:cNvSpPr>
            <a:spLocks noGrp="1" noChangeArrowheads="1"/>
          </p:cNvSpPr>
          <p:nvPr>
            <p:ph type="body" sz="quarter" idx="10"/>
          </p:nvPr>
        </p:nvSpPr>
        <p:spPr>
          <a:xfrm>
            <a:off x="886460" y="1124585"/>
            <a:ext cx="10999470" cy="4114800"/>
          </a:xfrm>
          <a:noFill/>
        </p:spPr>
        <p:txBody>
          <a:bodyPr vert="horz" lIns="90488" tIns="44450" rIns="90488" bIns="44450" rtlCol="0">
            <a:noAutofit/>
          </a:bodyPr>
          <a:lstStyle/>
          <a:p>
            <a:pPr>
              <a:buFont typeface="Arial" panose="020B0604020202020204" pitchFamily="34" charset="0"/>
              <a:buChar char="•"/>
            </a:pPr>
            <a:r>
              <a:rPr lang="en-US" sz="2400"/>
              <a:t>A number of laboratory tests are used to assess the various qualities of aggregates</a:t>
            </a:r>
            <a:endParaRPr lang="en-US" sz="2400"/>
          </a:p>
          <a:p>
            <a:pPr>
              <a:buFont typeface="Arial" panose="020B0604020202020204" pitchFamily="34" charset="0"/>
              <a:buChar char="•"/>
            </a:pPr>
            <a:r>
              <a:rPr lang="en-US" sz="2400"/>
              <a:t>Size distribution of aggregate particles is important because a range of sizes must be included and properly proportioned in each concrete mix to achieve close packing of the particles</a:t>
            </a:r>
            <a:endParaRPr lang="en-US" sz="2400"/>
          </a:p>
          <a:p>
            <a:pPr>
              <a:buFont typeface="Arial" panose="020B0604020202020204" pitchFamily="34" charset="0"/>
              <a:buChar char="•"/>
            </a:pPr>
            <a:r>
              <a:rPr lang="en-US" sz="2400"/>
              <a:t>A concrete aggregate is graded for size by passing a sample of it through a standard assortment of sieves with diminishing mesh spacings.</a:t>
            </a:r>
            <a:endParaRPr lang="en-US" sz="2400"/>
          </a:p>
          <a:p>
            <a:pPr>
              <a:buFont typeface="Arial" panose="020B0604020202020204" pitchFamily="34" charset="0"/>
              <a:buChar char="•"/>
            </a:pPr>
            <a:r>
              <a:rPr lang="en-US" sz="2400"/>
              <a:t>Other important characteristics of aggregates which may affect the performance of concrete are shape of the particles, surface texture, porosity, adsorption and presence or absence of deleterious materials in the aggregates.</a:t>
            </a:r>
            <a:endParaRPr lang="en-US"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sz="quarter" idx="10"/>
          </p:nvPr>
        </p:nvSpPr>
        <p:spPr>
          <a:xfrm>
            <a:off x="2341563" y="44624"/>
            <a:ext cx="7772400" cy="4114800"/>
          </a:xfrm>
          <a:noFill/>
        </p:spPr>
        <p:txBody>
          <a:bodyPr vert="horz" lIns="90488" tIns="44450" rIns="90488" bIns="44450" rtlCol="0">
            <a:normAutofit/>
          </a:bodyPr>
          <a:lstStyle/>
          <a:p>
            <a:pPr marL="571500" indent="-571500">
              <a:buFont typeface="Arial" panose="020B0604020202020204" pitchFamily="34" charset="0"/>
              <a:buChar char="•"/>
            </a:pPr>
            <a:r>
              <a:rPr lang="en-US" sz="3600">
                <a:solidFill>
                  <a:schemeClr val="tx1"/>
                </a:solidFill>
              </a:rPr>
              <a:t> Fine aggregate</a:t>
            </a:r>
            <a:endParaRPr lang="en-US" sz="3600">
              <a:solidFill>
                <a:schemeClr val="tx1"/>
              </a:solidFill>
            </a:endParaRPr>
          </a:p>
          <a:p>
            <a:pPr lvl="1"/>
            <a:r>
              <a:rPr lang="en-US" sz="3200"/>
              <a:t> &gt; </a:t>
            </a:r>
            <a:r>
              <a:rPr lang="en-US" sz="2800"/>
              <a:t>90% pass through 4mm sieve</a:t>
            </a:r>
            <a:endParaRPr lang="en-US" sz="3200"/>
          </a:p>
          <a:p>
            <a:pPr lvl="1"/>
            <a:r>
              <a:rPr lang="en-US" sz="3200"/>
              <a:t> &gt; 90% retained on 63 micron</a:t>
            </a:r>
            <a:endParaRPr lang="en-US" sz="3200"/>
          </a:p>
        </p:txBody>
      </p:sp>
      <p:grpSp>
        <p:nvGrpSpPr>
          <p:cNvPr id="2" name="Group 8"/>
          <p:cNvGrpSpPr/>
          <p:nvPr/>
        </p:nvGrpSpPr>
        <p:grpSpPr bwMode="auto">
          <a:xfrm>
            <a:off x="3503614" y="1149524"/>
            <a:ext cx="6696843" cy="4007668"/>
            <a:chOff x="672" y="1515"/>
            <a:chExt cx="4368" cy="2661"/>
          </a:xfrm>
        </p:grpSpPr>
        <p:pic>
          <p:nvPicPr>
            <p:cNvPr id="15364" name="Picture 4" descr="sieves"/>
            <p:cNvPicPr>
              <a:picLocks noChangeAspect="1" noChangeArrowheads="1"/>
            </p:cNvPicPr>
            <p:nvPr/>
          </p:nvPicPr>
          <p:blipFill>
            <a:blip r:embed="rId1" cstate="print"/>
            <a:srcRect/>
            <a:stretch>
              <a:fillRect/>
            </a:stretch>
          </p:blipFill>
          <p:spPr bwMode="auto">
            <a:xfrm>
              <a:off x="672" y="2108"/>
              <a:ext cx="4368" cy="2068"/>
            </a:xfrm>
            <a:prstGeom prst="rect">
              <a:avLst/>
            </a:prstGeom>
            <a:noFill/>
            <a:effectLst/>
          </p:spPr>
        </p:pic>
        <p:sp>
          <p:nvSpPr>
            <p:cNvPr id="15366" name="AutoShape 6" descr="Bouquet"/>
            <p:cNvSpPr>
              <a:spLocks noChangeArrowheads="1"/>
            </p:cNvSpPr>
            <p:nvPr/>
          </p:nvSpPr>
          <p:spPr bwMode="auto">
            <a:xfrm rot="7935842">
              <a:off x="3734" y="1467"/>
              <a:ext cx="816" cy="912"/>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blipFill dpi="0" rotWithShape="0">
              <a:blip r:embed="rId2" cstate="print"/>
              <a:srcRect/>
              <a:tile tx="0" ty="0" sx="100000" sy="100000" flip="none" algn="tl"/>
            </a:blipFill>
            <a:ln w="12700">
              <a:solidFill>
                <a:schemeClr val="tx1"/>
              </a:solidFill>
              <a:miter lim="800000"/>
            </a:ln>
            <a:effectLst>
              <a:outerShdw dist="107763" dir="2700000" algn="ctr" rotWithShape="0">
                <a:schemeClr val="bg2"/>
              </a:outerShdw>
            </a:effectLst>
          </p:spPr>
          <p:txBody>
            <a:bodyPr wrap="none" anchor="ctr"/>
            <a:lstStyle/>
            <a:p>
              <a:endParaRPr lang="en-US"/>
            </a:p>
          </p:txBody>
        </p:sp>
        <p:sp>
          <p:nvSpPr>
            <p:cNvPr id="15367" name="AutoShape 7" descr="Bouquet"/>
            <p:cNvSpPr>
              <a:spLocks noChangeArrowheads="1"/>
            </p:cNvSpPr>
            <p:nvPr/>
          </p:nvSpPr>
          <p:spPr bwMode="auto">
            <a:xfrm rot="-1739856">
              <a:off x="1200" y="1968"/>
              <a:ext cx="432" cy="672"/>
            </a:xfrm>
            <a:prstGeom prst="downArrow">
              <a:avLst>
                <a:gd name="adj1" fmla="val 50000"/>
                <a:gd name="adj2" fmla="val 38889"/>
              </a:avLst>
            </a:prstGeom>
            <a:blipFill dpi="0" rotWithShape="0">
              <a:blip r:embed="rId2" cstate="print"/>
              <a:srcRect/>
              <a:tile tx="0" ty="0" sx="100000" sy="100000" flip="none" algn="tl"/>
            </a:blipFill>
            <a:ln w="12700">
              <a:solidFill>
                <a:schemeClr val="tx1"/>
              </a:solidFill>
              <a:miter lim="800000"/>
            </a:ln>
            <a:effectLst>
              <a:outerShdw dist="107763" dir="2700000" algn="ctr" rotWithShape="0">
                <a:schemeClr val="bg2"/>
              </a:outerShdw>
            </a:effectLst>
          </p:spPr>
          <p:txBody>
            <a:bodyPr wrap="none" anchor="ctr"/>
            <a:lstStyle/>
            <a:p>
              <a:endParaRPr lang="en-US"/>
            </a:p>
          </p:txBody>
        </p:sp>
      </p:grpSp>
      <p:sp>
        <p:nvSpPr>
          <p:cNvPr id="9" name="Rectangle 3"/>
          <p:cNvSpPr txBox="1">
            <a:spLocks noChangeArrowheads="1"/>
          </p:cNvSpPr>
          <p:nvPr/>
        </p:nvSpPr>
        <p:spPr>
          <a:xfrm>
            <a:off x="2205932" y="5373216"/>
            <a:ext cx="7274445" cy="1512168"/>
          </a:xfrm>
          <a:prstGeom prst="rect">
            <a:avLst/>
          </a:prstGeom>
          <a:noFill/>
        </p:spPr>
        <p:txBody>
          <a:bodyPr lIns="90488" tIns="44450" rIns="90488" bIns="44450"/>
          <a:lstStyle/>
          <a:p>
            <a:pPr marL="342900" indent="-342900">
              <a:spcBef>
                <a:spcPct val="20000"/>
              </a:spcBef>
              <a:buFont typeface="Arial" panose="020B0604020202020204" pitchFamily="34" charset="0"/>
              <a:buChar char="•"/>
              <a:defRPr/>
            </a:pPr>
            <a:r>
              <a:rPr lang="en-US" sz="3600"/>
              <a:t> Coarse aggregate</a:t>
            </a:r>
            <a:endParaRPr lang="en-US" sz="3600"/>
          </a:p>
          <a:p>
            <a:pPr marL="742950" lvl="1" indent="-285750">
              <a:spcBef>
                <a:spcPct val="20000"/>
              </a:spcBef>
              <a:buFont typeface="Arial" panose="020B0604020202020204" pitchFamily="34" charset="0"/>
              <a:buChar char="–"/>
              <a:defRPr/>
            </a:pPr>
            <a:r>
              <a:rPr lang="en-US" sz="3200"/>
              <a:t> Larger than 6mm</a:t>
            </a:r>
            <a:endParaRPr lang="en-US" sz="3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Grading</a:t>
            </a:r>
            <a:endParaRPr lang="en-US" sz="4000"/>
          </a:p>
        </p:txBody>
      </p:sp>
      <p:sp>
        <p:nvSpPr>
          <p:cNvPr id="18435" name="Rectangle 3"/>
          <p:cNvSpPr>
            <a:spLocks noGrp="1" noChangeArrowheads="1"/>
          </p:cNvSpPr>
          <p:nvPr>
            <p:ph type="body" sz="quarter" idx="10"/>
          </p:nvPr>
        </p:nvSpPr>
        <p:spPr>
          <a:xfrm>
            <a:off x="2499995" y="1124585"/>
            <a:ext cx="9083040" cy="4114800"/>
          </a:xfrm>
          <a:noFill/>
        </p:spPr>
        <p:txBody>
          <a:bodyPr vert="horz" lIns="90488" tIns="44450" rIns="90488" bIns="44450" rtlCol="0">
            <a:normAutofit fontScale="92500" lnSpcReduction="10000"/>
          </a:bodyPr>
          <a:lstStyle/>
          <a:p>
            <a:pPr>
              <a:buFont typeface="Arial" panose="020B0604020202020204" pitchFamily="34" charset="0"/>
              <a:buChar char="•"/>
            </a:pPr>
            <a:r>
              <a:rPr lang="en-US" sz="2800"/>
              <a:t>Distribution of particle sizes very important for workability and durability</a:t>
            </a:r>
            <a:endParaRPr lang="en-US" sz="2800"/>
          </a:p>
          <a:p>
            <a:pPr>
              <a:buFont typeface="Arial" panose="020B0604020202020204" pitchFamily="34" charset="0"/>
              <a:buChar char="•"/>
            </a:pPr>
            <a:r>
              <a:rPr lang="en-US" sz="2800"/>
              <a:t>Grading analysis can be used to:</a:t>
            </a:r>
            <a:endParaRPr lang="en-US" sz="2800"/>
          </a:p>
          <a:p>
            <a:pPr lvl="1">
              <a:buFont typeface="Arial" panose="020B0604020202020204" pitchFamily="34" charset="0"/>
              <a:buChar char="•"/>
            </a:pPr>
            <a:r>
              <a:rPr lang="en-US" sz="2400">
                <a:solidFill>
                  <a:schemeClr val="accent6">
                    <a:lumMod val="75000"/>
                  </a:schemeClr>
                </a:solidFill>
              </a:rPr>
              <a:t>Determine proportions in trial mixes</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Ensure consistent properties of delivered material</a:t>
            </a:r>
            <a:endParaRPr lang="en-US" sz="2400">
              <a:solidFill>
                <a:schemeClr val="accent6">
                  <a:lumMod val="75000"/>
                </a:schemeClr>
              </a:solidFill>
            </a:endParaRPr>
          </a:p>
          <a:p>
            <a:pPr>
              <a:buFont typeface="Arial" panose="020B0604020202020204" pitchFamily="34" charset="0"/>
              <a:buChar char="•"/>
            </a:pPr>
            <a:r>
              <a:rPr lang="en-US" sz="2800"/>
              <a:t>Deficiency or surplus of a size (single sized) will give poor workability</a:t>
            </a:r>
            <a:endParaRPr lang="en-US" sz="2800"/>
          </a:p>
          <a:p>
            <a:pPr>
              <a:buFont typeface="Arial" panose="020B0604020202020204" pitchFamily="34" charset="0"/>
              <a:buChar char="•"/>
            </a:pPr>
            <a:r>
              <a:rPr lang="en-US" sz="2800"/>
              <a:t>Fineness Modulus (FM) is a measure of average particle size</a:t>
            </a:r>
            <a:endParaRPr lang="en-US" sz="28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Grading</a:t>
            </a:r>
            <a:endParaRPr lang="en-US" sz="4000"/>
          </a:p>
        </p:txBody>
      </p:sp>
      <p:sp>
        <p:nvSpPr>
          <p:cNvPr id="18435" name="Rectangle 3"/>
          <p:cNvSpPr>
            <a:spLocks noGrp="1" noChangeArrowheads="1"/>
          </p:cNvSpPr>
          <p:nvPr>
            <p:ph type="body" sz="quarter" idx="10"/>
          </p:nvPr>
        </p:nvSpPr>
        <p:spPr>
          <a:xfrm>
            <a:off x="1847528" y="980728"/>
            <a:ext cx="8208912" cy="4114800"/>
          </a:xfrm>
          <a:noFill/>
        </p:spPr>
        <p:txBody>
          <a:bodyPr vert="horz" lIns="90488" tIns="44450" rIns="90488" bIns="44450" rtlCol="0">
            <a:normAutofit/>
          </a:bodyPr>
          <a:lstStyle/>
          <a:p>
            <a:r>
              <a:rPr lang="en-US" sz="2800"/>
              <a:t>Sieve sizes</a:t>
            </a:r>
            <a:endParaRPr lang="en-US" sz="2800"/>
          </a:p>
          <a:p>
            <a:pPr lvl="1">
              <a:buFont typeface="Arial" panose="020B0604020202020204" pitchFamily="34" charset="0"/>
              <a:buChar char="•"/>
            </a:pPr>
            <a:r>
              <a:rPr lang="en-GB" sz="2400">
                <a:solidFill>
                  <a:schemeClr val="accent6">
                    <a:lumMod val="75000"/>
                  </a:schemeClr>
                </a:solidFill>
              </a:rPr>
              <a:t>Because aggregates are classified in terms of their minimum size d and maximum size D such as 6/20 for 20 mm down and 0/6 for sand, sieve sizes are also identified in terms of d and D</a:t>
            </a:r>
            <a:endParaRPr lang="en-GB" sz="2400">
              <a:solidFill>
                <a:schemeClr val="accent6">
                  <a:lumMod val="75000"/>
                </a:schemeClr>
              </a:solidFill>
            </a:endParaRPr>
          </a:p>
          <a:p>
            <a:r>
              <a:rPr lang="en-GB" sz="2800"/>
              <a:t>Mid-range sieve</a:t>
            </a:r>
            <a:endParaRPr lang="en-US" sz="2800"/>
          </a:p>
          <a:p>
            <a:pPr lvl="1">
              <a:buFont typeface="Arial" panose="020B0604020202020204" pitchFamily="34" charset="0"/>
              <a:buChar char="•"/>
            </a:pPr>
            <a:r>
              <a:rPr lang="en-GB" sz="2400">
                <a:solidFill>
                  <a:schemeClr val="accent6">
                    <a:lumMod val="75000"/>
                  </a:schemeClr>
                </a:solidFill>
              </a:rPr>
              <a:t>A specific sieve, known as the mid-range sieve, may be required for graded (as opposed to single-sized) coarse aggregates</a:t>
            </a:r>
            <a:endParaRPr lang="en-GB" sz="2400">
              <a:solidFill>
                <a:schemeClr val="accent6">
                  <a:lumMod val="75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981200" y="44624"/>
            <a:ext cx="8229600" cy="1143000"/>
          </a:xfrm>
          <a:noFill/>
        </p:spPr>
        <p:txBody>
          <a:bodyPr vert="horz" lIns="90488" tIns="44450" rIns="90488" bIns="44450" rtlCol="0" anchor="t">
            <a:normAutofit/>
          </a:bodyPr>
          <a:lstStyle/>
          <a:p>
            <a:r>
              <a:rPr lang="en-US" sz="4000"/>
              <a:t>Sieving</a:t>
            </a:r>
            <a:endParaRPr lang="en-US" sz="4000"/>
          </a:p>
        </p:txBody>
      </p:sp>
      <p:sp>
        <p:nvSpPr>
          <p:cNvPr id="18435" name="Rectangle 3"/>
          <p:cNvSpPr>
            <a:spLocks noGrp="1" noChangeArrowheads="1"/>
          </p:cNvSpPr>
          <p:nvPr>
            <p:ph type="body" sz="quarter" idx="10"/>
          </p:nvPr>
        </p:nvSpPr>
        <p:spPr>
          <a:xfrm>
            <a:off x="1991544" y="1340768"/>
            <a:ext cx="8208912" cy="4114800"/>
          </a:xfrm>
          <a:noFill/>
        </p:spPr>
        <p:txBody>
          <a:bodyPr vert="horz" lIns="90488" tIns="44450" rIns="90488" bIns="44450" rtlCol="0">
            <a:normAutofit fontScale="92500" lnSpcReduction="20000"/>
          </a:bodyPr>
          <a:lstStyle/>
          <a:p>
            <a:pPr>
              <a:buFont typeface="Arial" panose="020B0604020202020204" pitchFamily="34" charset="0"/>
              <a:buChar char="•"/>
            </a:pPr>
            <a:r>
              <a:rPr lang="en-GB" sz="2400"/>
              <a:t>After washing and oven drying the aggregate test sample pour it carefully into the top sieve and fit the lid.</a:t>
            </a:r>
            <a:endParaRPr lang="en-US" sz="2400"/>
          </a:p>
          <a:p>
            <a:pPr>
              <a:buFont typeface="Arial" panose="020B0604020202020204" pitchFamily="34" charset="0"/>
              <a:buChar char="•"/>
            </a:pPr>
            <a:r>
              <a:rPr lang="en-GB" sz="2400"/>
              <a:t>Shake the column either by hand or mechanically.</a:t>
            </a:r>
            <a:endParaRPr lang="en-US" sz="2400"/>
          </a:p>
          <a:p>
            <a:pPr>
              <a:buFont typeface="Arial" panose="020B0604020202020204" pitchFamily="34" charset="0"/>
              <a:buChar char="•"/>
            </a:pPr>
            <a:r>
              <a:rPr lang="en-GB" sz="2400"/>
              <a:t>Remove the top sieve, place it on a sieve pan and fit a lid on top.</a:t>
            </a:r>
            <a:endParaRPr lang="en-US" sz="2400"/>
          </a:p>
          <a:p>
            <a:pPr>
              <a:buFont typeface="Arial" panose="020B0604020202020204" pitchFamily="34" charset="0"/>
              <a:buChar char="•"/>
            </a:pPr>
            <a:r>
              <a:rPr lang="en-GB" sz="2400"/>
              <a:t>Shake the sieve and weigh the material retained on it.</a:t>
            </a:r>
            <a:endParaRPr lang="en-US" sz="2400"/>
          </a:p>
          <a:p>
            <a:pPr>
              <a:buFont typeface="Arial" panose="020B0604020202020204" pitchFamily="34" charset="0"/>
              <a:buChar char="•"/>
            </a:pPr>
            <a:r>
              <a:rPr lang="en-GB" sz="2400"/>
              <a:t>Return the weighed sample to the sieve, continue shaking it for another 1 minute</a:t>
            </a:r>
            <a:endParaRPr lang="en-US" sz="2400"/>
          </a:p>
          <a:p>
            <a:pPr>
              <a:buFont typeface="Arial" panose="020B0604020202020204" pitchFamily="34" charset="0"/>
              <a:buChar char="•"/>
            </a:pPr>
            <a:r>
              <a:rPr lang="en-GB" sz="2400"/>
              <a:t> and then reweigh the material retained.</a:t>
            </a:r>
            <a:endParaRPr lang="en-US" sz="2400"/>
          </a:p>
          <a:p>
            <a:pPr>
              <a:buFont typeface="Arial" panose="020B0604020202020204" pitchFamily="34" charset="0"/>
              <a:buChar char="•"/>
            </a:pPr>
            <a:r>
              <a:rPr lang="en-GB" sz="2400"/>
              <a:t>When the retained material is constant to 1.0% after one minute sieving, record</a:t>
            </a:r>
            <a:endParaRPr lang="en-US"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noFill/>
        </p:spPr>
        <p:txBody>
          <a:bodyPr vert="horz" lIns="90488" tIns="44450" rIns="90488" bIns="44450" rtlCol="0" anchor="t">
            <a:normAutofit/>
          </a:bodyPr>
          <a:lstStyle/>
          <a:p>
            <a:r>
              <a:rPr lang="en-US" sz="4000" b="1"/>
              <a:t>Shape &amp; Surface Texture</a:t>
            </a:r>
            <a:endParaRPr lang="en-US" sz="4000" b="1"/>
          </a:p>
        </p:txBody>
      </p:sp>
      <p:sp>
        <p:nvSpPr>
          <p:cNvPr id="6" name="Rectangle 3"/>
          <p:cNvSpPr txBox="1">
            <a:spLocks noChangeArrowheads="1"/>
          </p:cNvSpPr>
          <p:nvPr/>
        </p:nvSpPr>
        <p:spPr>
          <a:xfrm>
            <a:off x="1828800" y="1447800"/>
            <a:ext cx="8534400" cy="4114800"/>
          </a:xfrm>
          <a:prstGeom prst="rect">
            <a:avLst/>
          </a:prstGeom>
          <a:noFill/>
        </p:spPr>
        <p:txBody>
          <a:bodyPr lIns="90488" tIns="44450" rIns="90488" bIns="44450"/>
          <a:lstStyle/>
          <a:p>
            <a:pPr marL="342900" indent="-342900">
              <a:spcBef>
                <a:spcPct val="20000"/>
              </a:spcBef>
              <a:buFont typeface="Arial" panose="020B0604020202020204" pitchFamily="34" charset="0"/>
              <a:buChar char="•"/>
              <a:defRPr/>
            </a:pPr>
            <a:r>
              <a:rPr lang="en-US" sz="3200"/>
              <a:t>Both shape and surface texture influence strength and water requirement</a:t>
            </a:r>
            <a:endParaRPr lang="en-US" sz="3200"/>
          </a:p>
          <a:p>
            <a:pPr marL="342900" indent="-342900">
              <a:spcBef>
                <a:spcPct val="20000"/>
              </a:spcBef>
              <a:buFont typeface="Arial" panose="020B0604020202020204" pitchFamily="34" charset="0"/>
              <a:buChar char="•"/>
              <a:defRPr/>
            </a:pPr>
            <a:r>
              <a:rPr lang="en-US" sz="3200"/>
              <a:t>Bond is improved with rough texture</a:t>
            </a:r>
            <a:endParaRPr lang="en-US" sz="3200"/>
          </a:p>
          <a:p>
            <a:pPr marL="342900" indent="-342900">
              <a:spcBef>
                <a:spcPct val="20000"/>
              </a:spcBef>
              <a:buFont typeface="Arial" panose="020B0604020202020204" pitchFamily="34" charset="0"/>
              <a:buChar char="•"/>
              <a:defRPr/>
            </a:pPr>
            <a:r>
              <a:rPr lang="en-US" sz="3200"/>
              <a:t>Rough, angular particles has higher water requirement</a:t>
            </a:r>
            <a:endParaRPr lang="en-US" sz="3200"/>
          </a:p>
          <a:p>
            <a:pPr marL="342900" indent="-342900">
              <a:spcBef>
                <a:spcPct val="20000"/>
              </a:spcBef>
              <a:buFont typeface="Arial" panose="020B0604020202020204" pitchFamily="34" charset="0"/>
              <a:buChar char="•"/>
              <a:defRPr/>
            </a:pPr>
            <a:r>
              <a:rPr lang="en-US" sz="3200"/>
              <a:t>Smooth and round particles better workability, require less water, but lower bond strength</a:t>
            </a:r>
            <a:r>
              <a:rPr lang="en-US" sz="2800"/>
              <a:t> </a:t>
            </a:r>
            <a:endParaRPr lang="en-US" sz="2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082553" y="696814"/>
            <a:ext cx="7772400" cy="415925"/>
          </a:xfrm>
          <a:noFill/>
        </p:spPr>
        <p:txBody>
          <a:bodyPr vert="horz" lIns="90488" tIns="44450" rIns="90488" bIns="44450" rtlCol="0" anchor="ctr">
            <a:normAutofit fontScale="90000"/>
          </a:bodyPr>
          <a:lstStyle/>
          <a:p>
            <a:pPr eaLnBrk="1" hangingPunct="1"/>
            <a:r>
              <a:rPr lang="en-US" sz="4000" b="1"/>
              <a:t>Shape &amp; surface texture</a:t>
            </a:r>
            <a:endParaRPr lang="en-US" sz="4000" b="1"/>
          </a:p>
        </p:txBody>
      </p:sp>
      <p:sp>
        <p:nvSpPr>
          <p:cNvPr id="31747" name="AutoShape 3" descr="Bouquet"/>
          <p:cNvSpPr>
            <a:spLocks noChangeArrowheads="1"/>
          </p:cNvSpPr>
          <p:nvPr/>
        </p:nvSpPr>
        <p:spPr bwMode="auto">
          <a:xfrm>
            <a:off x="2819400" y="1856115"/>
            <a:ext cx="6845300" cy="603250"/>
          </a:xfrm>
          <a:prstGeom prst="rightArrow">
            <a:avLst>
              <a:gd name="adj1" fmla="val 50000"/>
              <a:gd name="adj2" fmla="val 567421"/>
            </a:avLst>
          </a:prstGeom>
          <a:solidFill>
            <a:schemeClr val="accent6">
              <a:lumMod val="50000"/>
            </a:schemeClr>
          </a:solidFill>
          <a:ln w="12700">
            <a:solidFill>
              <a:schemeClr val="tx1"/>
            </a:solidFill>
            <a:miter lim="800000"/>
          </a:ln>
        </p:spPr>
        <p:txBody>
          <a:bodyPr wrap="none" anchor="ctr"/>
          <a:lstStyle/>
          <a:p>
            <a:endParaRPr lang="en-US"/>
          </a:p>
        </p:txBody>
      </p:sp>
      <p:sp>
        <p:nvSpPr>
          <p:cNvPr id="31748" name="Rectangle 4"/>
          <p:cNvSpPr>
            <a:spLocks noChangeArrowheads="1"/>
          </p:cNvSpPr>
          <p:nvPr/>
        </p:nvSpPr>
        <p:spPr bwMode="auto">
          <a:xfrm>
            <a:off x="2262188" y="1359693"/>
            <a:ext cx="31337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2800" b="1">
                <a:solidFill>
                  <a:srgbClr val="000000"/>
                </a:solidFill>
                <a:latin typeface="Times New Roman" panose="02020603050405020304" pitchFamily="18" charset="0"/>
              </a:rPr>
              <a:t>Increasing strength</a:t>
            </a:r>
            <a:endParaRPr lang="en-US" sz="2800" b="1">
              <a:solidFill>
                <a:srgbClr val="000000"/>
              </a:solidFill>
              <a:latin typeface="Times New Roman" panose="02020603050405020304" pitchFamily="18" charset="0"/>
            </a:endParaRPr>
          </a:p>
        </p:txBody>
      </p:sp>
      <p:sp>
        <p:nvSpPr>
          <p:cNvPr id="31749" name="Rectangle 5"/>
          <p:cNvSpPr>
            <a:spLocks noChangeArrowheads="1"/>
          </p:cNvSpPr>
          <p:nvPr/>
        </p:nvSpPr>
        <p:spPr bwMode="auto">
          <a:xfrm>
            <a:off x="5562601" y="1349895"/>
            <a:ext cx="472122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2800" b="1">
                <a:solidFill>
                  <a:srgbClr val="000000"/>
                </a:solidFill>
                <a:latin typeface="Times New Roman" panose="02020603050405020304" pitchFamily="18" charset="0"/>
              </a:rPr>
              <a:t>Increasing water requirement</a:t>
            </a:r>
            <a:endParaRPr lang="en-US" sz="2800" b="1">
              <a:solidFill>
                <a:srgbClr val="000000"/>
              </a:solidFill>
              <a:latin typeface="Times New Roman" panose="02020603050405020304" pitchFamily="18" charset="0"/>
            </a:endParaRPr>
          </a:p>
        </p:txBody>
      </p:sp>
      <p:sp>
        <p:nvSpPr>
          <p:cNvPr id="31750" name="Rectangle 6"/>
          <p:cNvSpPr>
            <a:spLocks noChangeArrowheads="1"/>
          </p:cNvSpPr>
          <p:nvPr/>
        </p:nvSpPr>
        <p:spPr bwMode="auto">
          <a:xfrm>
            <a:off x="2057399" y="3429001"/>
            <a:ext cx="1788952"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2800" b="1">
                <a:solidFill>
                  <a:srgbClr val="000000"/>
                </a:solidFill>
                <a:latin typeface="Times New Roman" panose="02020603050405020304" pitchFamily="18" charset="0"/>
              </a:rPr>
              <a:t>33% voids</a:t>
            </a:r>
            <a:endParaRPr lang="en-US" sz="2800" b="1">
              <a:solidFill>
                <a:srgbClr val="000000"/>
              </a:solidFill>
              <a:latin typeface="Times New Roman" panose="02020603050405020304" pitchFamily="18" charset="0"/>
            </a:endParaRPr>
          </a:p>
        </p:txBody>
      </p:sp>
      <p:sp>
        <p:nvSpPr>
          <p:cNvPr id="31751" name="Rectangle 7"/>
          <p:cNvSpPr>
            <a:spLocks noChangeArrowheads="1"/>
          </p:cNvSpPr>
          <p:nvPr/>
        </p:nvSpPr>
        <p:spPr bwMode="auto">
          <a:xfrm>
            <a:off x="8565318" y="3423822"/>
            <a:ext cx="1788952"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2800" b="1">
                <a:solidFill>
                  <a:srgbClr val="000000"/>
                </a:solidFill>
                <a:latin typeface="Times New Roman" panose="02020603050405020304" pitchFamily="18" charset="0"/>
              </a:rPr>
              <a:t>45% voids</a:t>
            </a:r>
            <a:endParaRPr lang="en-US" sz="2800" b="1">
              <a:solidFill>
                <a:srgbClr val="000000"/>
              </a:solidFill>
              <a:latin typeface="Times New Roman" panose="02020603050405020304" pitchFamily="18" charset="0"/>
            </a:endParaRPr>
          </a:p>
        </p:txBody>
      </p:sp>
      <p:sp>
        <p:nvSpPr>
          <p:cNvPr id="31752" name="Rectangle 8"/>
          <p:cNvSpPr>
            <a:spLocks noChangeArrowheads="1"/>
          </p:cNvSpPr>
          <p:nvPr/>
        </p:nvSpPr>
        <p:spPr bwMode="auto">
          <a:xfrm>
            <a:off x="2973934" y="5998053"/>
            <a:ext cx="6021842"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2800" b="1">
                <a:solidFill>
                  <a:schemeClr val="accent6">
                    <a:lumMod val="50000"/>
                  </a:schemeClr>
                </a:solidFill>
                <a:latin typeface="Times New Roman" panose="02020603050405020304" pitchFamily="18" charset="0"/>
              </a:rPr>
              <a:t>=&gt; Angularity number = % voids - 33 </a:t>
            </a:r>
            <a:endParaRPr lang="en-US" sz="2800" b="1">
              <a:solidFill>
                <a:schemeClr val="accent6">
                  <a:lumMod val="50000"/>
                </a:schemeClr>
              </a:solidFill>
              <a:latin typeface="Times New Roman" panose="02020603050405020304" pitchFamily="18" charset="0"/>
            </a:endParaRPr>
          </a:p>
        </p:txBody>
      </p:sp>
      <p:pic>
        <p:nvPicPr>
          <p:cNvPr id="31753" name="Picture 9" descr="Pebbles vs crus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86200" y="2550251"/>
            <a:ext cx="4495800" cy="337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noFill/>
        </p:spPr>
        <p:txBody>
          <a:bodyPr vert="horz" lIns="90488" tIns="44450" rIns="90488" bIns="44450" rtlCol="0" anchor="t">
            <a:normAutofit fontScale="90000"/>
          </a:bodyPr>
          <a:lstStyle/>
          <a:p>
            <a:r>
              <a:rPr lang="en-US" sz="4000"/>
              <a:t>Strength of Aggregates</a:t>
            </a:r>
            <a:endParaRPr lang="en-US" sz="4000"/>
          </a:p>
        </p:txBody>
      </p:sp>
      <p:sp>
        <p:nvSpPr>
          <p:cNvPr id="34819" name="Rectangle 3"/>
          <p:cNvSpPr>
            <a:spLocks noGrp="1" noChangeArrowheads="1"/>
          </p:cNvSpPr>
          <p:nvPr>
            <p:ph type="body" sz="quarter" idx="10"/>
          </p:nvPr>
        </p:nvSpPr>
        <p:spPr>
          <a:xfrm>
            <a:off x="1991546" y="1124745"/>
            <a:ext cx="5616623" cy="4525963"/>
          </a:xfrm>
          <a:noFill/>
        </p:spPr>
        <p:txBody>
          <a:bodyPr vert="horz" lIns="90488" tIns="44450" rIns="90488" bIns="44450" rtlCol="0">
            <a:normAutofit fontScale="92500"/>
          </a:bodyPr>
          <a:lstStyle/>
          <a:p>
            <a:pPr>
              <a:buFont typeface="Arial" panose="020B0604020202020204" pitchFamily="34" charset="0"/>
              <a:buChar char="•"/>
            </a:pPr>
            <a:r>
              <a:rPr lang="en-US" sz="2800"/>
              <a:t>Little effect on concrete with strength up to 40 </a:t>
            </a:r>
            <a:r>
              <a:rPr lang="en-US" sz="2800" err="1"/>
              <a:t>MPa</a:t>
            </a:r>
            <a:endParaRPr lang="en-US" sz="2800"/>
          </a:p>
          <a:p>
            <a:pPr>
              <a:buFont typeface="Arial" panose="020B0604020202020204" pitchFamily="34" charset="0"/>
              <a:buChar char="•"/>
            </a:pPr>
            <a:r>
              <a:rPr lang="en-US" sz="2800"/>
              <a:t>No relation between concrete and aggregate strengths</a:t>
            </a:r>
            <a:endParaRPr lang="en-US" sz="2800"/>
          </a:p>
          <a:p>
            <a:pPr>
              <a:buFont typeface="Arial" panose="020B0604020202020204" pitchFamily="34" charset="0"/>
              <a:buChar char="•"/>
            </a:pPr>
            <a:r>
              <a:rPr lang="en-US" sz="2800"/>
              <a:t>Measured indirectly</a:t>
            </a:r>
            <a:endParaRPr lang="en-US" sz="2800"/>
          </a:p>
          <a:p>
            <a:pPr lvl="1">
              <a:buFont typeface="Arial" panose="020B0604020202020204" pitchFamily="34" charset="0"/>
              <a:buChar char="•"/>
            </a:pPr>
            <a:r>
              <a:rPr lang="en-US" sz="2400">
                <a:solidFill>
                  <a:schemeClr val="accent6">
                    <a:lumMod val="75000"/>
                  </a:schemeClr>
                </a:solidFill>
              </a:rPr>
              <a:t>Max. ACV 29% breakdown</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10% FACT (force to cause 10% breakdown) to be 110 </a:t>
            </a:r>
            <a:r>
              <a:rPr lang="en-US" sz="2400" err="1">
                <a:solidFill>
                  <a:schemeClr val="accent6">
                    <a:lumMod val="75000"/>
                  </a:schemeClr>
                </a:solidFill>
              </a:rPr>
              <a:t>kN</a:t>
            </a:r>
            <a:r>
              <a:rPr lang="en-US" sz="2400">
                <a:solidFill>
                  <a:schemeClr val="accent6">
                    <a:lumMod val="75000"/>
                  </a:schemeClr>
                </a:solidFill>
              </a:rPr>
              <a:t> for abrasion resistance and structural reinforced concrete-</a:t>
            </a:r>
            <a:endParaRPr lang="en-US" sz="2400">
              <a:solidFill>
                <a:schemeClr val="accent6">
                  <a:lumMod val="75000"/>
                </a:schemeClr>
              </a:solidFill>
            </a:endParaRPr>
          </a:p>
        </p:txBody>
      </p:sp>
      <p:pic>
        <p:nvPicPr>
          <p:cNvPr id="4" name="Picture 3" descr="acv"/>
          <p:cNvPicPr>
            <a:picLocks noChangeAspect="1" noChangeArrowheads="1"/>
          </p:cNvPicPr>
          <p:nvPr/>
        </p:nvPicPr>
        <p:blipFill>
          <a:blip r:embed="rId1" cstate="print"/>
          <a:srcRect/>
          <a:stretch>
            <a:fillRect/>
          </a:stretch>
        </p:blipFill>
        <p:spPr bwMode="auto">
          <a:xfrm>
            <a:off x="7464152" y="2849337"/>
            <a:ext cx="3024336" cy="2948727"/>
          </a:xfrm>
          <a:prstGeom prst="rect">
            <a:avLst/>
          </a:prstGeom>
          <a:noFill/>
          <a:effec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207568" y="332656"/>
            <a:ext cx="7772400" cy="1219200"/>
          </a:xfrm>
          <a:noFill/>
        </p:spPr>
        <p:txBody>
          <a:bodyPr vert="horz" lIns="90488" tIns="44450" rIns="90488" bIns="44450" rtlCol="0" anchor="t">
            <a:normAutofit/>
          </a:bodyPr>
          <a:lstStyle/>
          <a:p>
            <a:r>
              <a:rPr lang="en-US" sz="4000"/>
              <a:t>Site tests</a:t>
            </a:r>
            <a:endParaRPr lang="en-US" sz="4000"/>
          </a:p>
        </p:txBody>
      </p:sp>
      <p:sp>
        <p:nvSpPr>
          <p:cNvPr id="39939" name="Rectangle 3"/>
          <p:cNvSpPr>
            <a:spLocks noGrp="1" noChangeArrowheads="1"/>
          </p:cNvSpPr>
          <p:nvPr>
            <p:ph type="body" sz="quarter" idx="10"/>
          </p:nvPr>
        </p:nvSpPr>
        <p:spPr>
          <a:xfrm>
            <a:off x="2279576" y="1556792"/>
            <a:ext cx="7772400" cy="4114800"/>
          </a:xfrm>
          <a:noFill/>
        </p:spPr>
        <p:txBody>
          <a:bodyPr vert="horz" lIns="90488" tIns="44450" rIns="90488" bIns="44450" rtlCol="0">
            <a:normAutofit fontScale="92500" lnSpcReduction="10000"/>
          </a:bodyPr>
          <a:lstStyle/>
          <a:p>
            <a:pPr>
              <a:buFont typeface="Arial" panose="020B0604020202020204" pitchFamily="34" charset="0"/>
              <a:buChar char="•"/>
            </a:pPr>
            <a:r>
              <a:rPr lang="en-US" sz="2800"/>
              <a:t>Grading</a:t>
            </a:r>
            <a:endParaRPr lang="en-US" sz="2800"/>
          </a:p>
          <a:p>
            <a:pPr lvl="1">
              <a:buFont typeface="Arial" panose="020B0604020202020204" pitchFamily="34" charset="0"/>
              <a:buChar char="•"/>
            </a:pPr>
            <a:r>
              <a:rPr lang="en-US" sz="2400">
                <a:solidFill>
                  <a:schemeClr val="accent6">
                    <a:lumMod val="75000"/>
                  </a:schemeClr>
                </a:solidFill>
              </a:rPr>
              <a:t>To determine size distribution</a:t>
            </a:r>
            <a:endParaRPr lang="en-US" sz="2400">
              <a:solidFill>
                <a:schemeClr val="accent6">
                  <a:lumMod val="75000"/>
                </a:schemeClr>
              </a:solidFill>
            </a:endParaRPr>
          </a:p>
          <a:p>
            <a:pPr>
              <a:buFont typeface="Arial" panose="020B0604020202020204" pitchFamily="34" charset="0"/>
              <a:buChar char="•"/>
            </a:pPr>
            <a:r>
              <a:rPr lang="en-US" sz="2800"/>
              <a:t>Moisture content</a:t>
            </a:r>
            <a:endParaRPr lang="en-US" sz="2800"/>
          </a:p>
          <a:p>
            <a:pPr lvl="1">
              <a:buFont typeface="Arial" panose="020B0604020202020204" pitchFamily="34" charset="0"/>
              <a:buChar char="•"/>
            </a:pPr>
            <a:r>
              <a:rPr lang="en-US" sz="2400">
                <a:solidFill>
                  <a:schemeClr val="accent6">
                    <a:lumMod val="75000"/>
                  </a:schemeClr>
                </a:solidFill>
              </a:rPr>
              <a:t>To enable an estimate to be made of the quantity of water contained within aggregate and to adjust the mix design accordingly</a:t>
            </a:r>
            <a:endParaRPr lang="en-US" sz="2400">
              <a:solidFill>
                <a:schemeClr val="accent6">
                  <a:lumMod val="75000"/>
                </a:schemeClr>
              </a:solidFill>
            </a:endParaRPr>
          </a:p>
          <a:p>
            <a:pPr>
              <a:buFont typeface="Arial" panose="020B0604020202020204" pitchFamily="34" charset="0"/>
              <a:buChar char="•"/>
            </a:pPr>
            <a:r>
              <a:rPr lang="en-US" sz="2800"/>
              <a:t>Visual examination</a:t>
            </a:r>
            <a:endParaRPr lang="en-US" sz="2800"/>
          </a:p>
          <a:p>
            <a:pPr lvl="1">
              <a:buFont typeface="Arial" panose="020B0604020202020204" pitchFamily="34" charset="0"/>
              <a:buChar char="•"/>
            </a:pPr>
            <a:r>
              <a:rPr lang="en-US" sz="2400">
                <a:solidFill>
                  <a:schemeClr val="accent6">
                    <a:lumMod val="75000"/>
                  </a:schemeClr>
                </a:solidFill>
              </a:rPr>
              <a:t>Inspect aggregate to recognize changes in size, grading, shape, surface texture, cleanliness, </a:t>
            </a:r>
            <a:r>
              <a:rPr lang="en-US" sz="2400" err="1">
                <a:solidFill>
                  <a:schemeClr val="accent6">
                    <a:lumMod val="75000"/>
                  </a:schemeClr>
                </a:solidFill>
              </a:rPr>
              <a:t>colour</a:t>
            </a:r>
            <a:r>
              <a:rPr lang="en-US" sz="2400">
                <a:solidFill>
                  <a:schemeClr val="accent6">
                    <a:lumMod val="75000"/>
                  </a:schemeClr>
                </a:solidFill>
              </a:rPr>
              <a:t> and staining.</a:t>
            </a:r>
            <a:endParaRPr lang="en-US" sz="2400">
              <a:solidFill>
                <a:schemeClr val="accent6">
                  <a:lumMod val="75000"/>
                </a:schemeClr>
              </a:solidFill>
            </a:endParaRPr>
          </a:p>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209800" y="332656"/>
            <a:ext cx="7772400" cy="1219200"/>
          </a:xfrm>
          <a:noFill/>
        </p:spPr>
        <p:txBody>
          <a:bodyPr vert="horz" lIns="90488" tIns="44450" rIns="90488" bIns="44450" rtlCol="0" anchor="t">
            <a:normAutofit/>
          </a:bodyPr>
          <a:lstStyle/>
          <a:p>
            <a:r>
              <a:rPr lang="en-US" sz="4000"/>
              <a:t>Moisture content</a:t>
            </a:r>
            <a:endParaRPr lang="en-US" sz="4000"/>
          </a:p>
        </p:txBody>
      </p:sp>
      <p:sp>
        <p:nvSpPr>
          <p:cNvPr id="39939" name="Rectangle 3"/>
          <p:cNvSpPr>
            <a:spLocks noGrp="1" noChangeArrowheads="1"/>
          </p:cNvSpPr>
          <p:nvPr>
            <p:ph type="body" sz="quarter" idx="10"/>
          </p:nvPr>
        </p:nvSpPr>
        <p:spPr>
          <a:xfrm>
            <a:off x="2063552" y="1340768"/>
            <a:ext cx="8136904" cy="4114800"/>
          </a:xfrm>
          <a:noFill/>
        </p:spPr>
        <p:txBody>
          <a:bodyPr vert="horz" lIns="90488" tIns="44450" rIns="90488" bIns="44450" rtlCol="0">
            <a:normAutofit lnSpcReduction="10000"/>
          </a:bodyPr>
          <a:lstStyle/>
          <a:p>
            <a:r>
              <a:rPr lang="en-US" sz="2800"/>
              <a:t>Standard (oven-drying) method</a:t>
            </a:r>
            <a:endParaRPr lang="en-US" sz="2800"/>
          </a:p>
          <a:p>
            <a:pPr marL="914400" lvl="1" indent="-457200">
              <a:buFont typeface="Arial" panose="020B0604020202020204" pitchFamily="34" charset="0"/>
              <a:buChar char="•"/>
            </a:pPr>
            <a:r>
              <a:rPr lang="en-US" sz="2800"/>
              <a:t>Weigh the sample containing the moisture (A)</a:t>
            </a:r>
            <a:endParaRPr lang="en-US" sz="2800"/>
          </a:p>
          <a:p>
            <a:pPr marL="914400" lvl="1" indent="-457200">
              <a:buFont typeface="Arial" panose="020B0604020202020204" pitchFamily="34" charset="0"/>
              <a:buChar char="•"/>
            </a:pPr>
            <a:r>
              <a:rPr lang="en-US" sz="2800"/>
              <a:t>Dry the sample in a ventilated oven (at 105±5°C) or a microwave oven, but do not use direct heat</a:t>
            </a:r>
            <a:endParaRPr lang="en-US" sz="2800"/>
          </a:p>
          <a:p>
            <a:pPr marL="914400" lvl="1" indent="-457200">
              <a:buFont typeface="Arial" panose="020B0604020202020204" pitchFamily="34" charset="0"/>
              <a:buChar char="•"/>
            </a:pPr>
            <a:r>
              <a:rPr lang="en-US" sz="2800"/>
              <a:t>Allow to cool for 45±5 min and weigh the dry mass (B)</a:t>
            </a:r>
            <a:endParaRPr lang="en-US" sz="2800"/>
          </a:p>
          <a:p>
            <a:pPr marL="914400" lvl="1" indent="-457200">
              <a:buFont typeface="Arial" panose="020B0604020202020204" pitchFamily="34" charset="0"/>
              <a:buChar char="•"/>
            </a:pPr>
            <a:r>
              <a:rPr lang="en-US" sz="2800"/>
              <a:t>Calculate: </a:t>
            </a:r>
            <a:endParaRPr lang="en-US" sz="2800"/>
          </a:p>
          <a:p>
            <a:endParaRPr lang="en-US"/>
          </a:p>
        </p:txBody>
      </p:sp>
      <p:grpSp>
        <p:nvGrpSpPr>
          <p:cNvPr id="4" name="Group 23"/>
          <p:cNvGrpSpPr/>
          <p:nvPr/>
        </p:nvGrpSpPr>
        <p:grpSpPr>
          <a:xfrm>
            <a:off x="4323395" y="4758824"/>
            <a:ext cx="3364709" cy="1046440"/>
            <a:chOff x="2943410" y="5013176"/>
            <a:chExt cx="3364709" cy="1046440"/>
          </a:xfrm>
        </p:grpSpPr>
        <p:grpSp>
          <p:nvGrpSpPr>
            <p:cNvPr id="5" name="Group 4"/>
            <p:cNvGrpSpPr/>
            <p:nvPr/>
          </p:nvGrpSpPr>
          <p:grpSpPr>
            <a:xfrm>
              <a:off x="2943410" y="5013176"/>
              <a:ext cx="2780718" cy="1046440"/>
              <a:chOff x="3375458" y="4974848"/>
              <a:chExt cx="2780718" cy="1046440"/>
            </a:xfrm>
          </p:grpSpPr>
          <p:sp>
            <p:nvSpPr>
              <p:cNvPr id="7" name="Text Box 4"/>
              <p:cNvSpPr txBox="1">
                <a:spLocks noChangeArrowheads="1"/>
              </p:cNvSpPr>
              <p:nvPr/>
            </p:nvSpPr>
            <p:spPr bwMode="auto">
              <a:xfrm>
                <a:off x="3375458" y="5190872"/>
                <a:ext cx="1566454" cy="523220"/>
              </a:xfrm>
              <a:prstGeom prst="rect">
                <a:avLst/>
              </a:prstGeom>
              <a:noFill/>
              <a:ln w="12700">
                <a:noFill/>
                <a:miter lim="800000"/>
              </a:ln>
              <a:effectLst/>
            </p:spPr>
            <p:txBody>
              <a:bodyPr wrap="none">
                <a:spAutoFit/>
              </a:bodyPr>
              <a:lstStyle/>
              <a:p>
                <a:pPr lvl="1">
                  <a:buNone/>
                </a:pPr>
                <a:r>
                  <a:rPr lang="en-US" sz="2800" b="1"/>
                  <a:t>MC =</a:t>
                </a:r>
                <a:endParaRPr lang="en-US" sz="2800" b="1"/>
              </a:p>
            </p:txBody>
          </p:sp>
          <p:sp>
            <p:nvSpPr>
              <p:cNvPr id="8" name="Text Box 14"/>
              <p:cNvSpPr txBox="1">
                <a:spLocks noChangeArrowheads="1"/>
              </p:cNvSpPr>
              <p:nvPr/>
            </p:nvSpPr>
            <p:spPr bwMode="auto">
              <a:xfrm>
                <a:off x="5111434" y="5498068"/>
                <a:ext cx="1044742" cy="523220"/>
              </a:xfrm>
              <a:prstGeom prst="rect">
                <a:avLst/>
              </a:prstGeom>
              <a:noFill/>
              <a:ln w="12700">
                <a:noFill/>
                <a:miter lim="800000"/>
              </a:ln>
              <a:effectLst/>
            </p:spPr>
            <p:txBody>
              <a:bodyPr wrap="square">
                <a:spAutoFit/>
              </a:bodyPr>
              <a:lstStyle/>
              <a:p>
                <a:pPr algn="l"/>
                <a:r>
                  <a:rPr lang="en-US" sz="2800" b="1">
                    <a:latin typeface="Arial Narrow" panose="020B0606020202030204" pitchFamily="34" charset="0"/>
                  </a:rPr>
                  <a:t>B</a:t>
                </a:r>
                <a:endParaRPr lang="en-US" sz="2800" b="1">
                  <a:latin typeface="Arial Narrow" panose="020B0606020202030204" pitchFamily="34" charset="0"/>
                </a:endParaRPr>
              </a:p>
            </p:txBody>
          </p:sp>
          <p:sp>
            <p:nvSpPr>
              <p:cNvPr id="9" name="Text Box 5"/>
              <p:cNvSpPr txBox="1">
                <a:spLocks noChangeArrowheads="1"/>
              </p:cNvSpPr>
              <p:nvPr/>
            </p:nvSpPr>
            <p:spPr bwMode="auto">
              <a:xfrm>
                <a:off x="4824536" y="4974848"/>
                <a:ext cx="861646" cy="523220"/>
              </a:xfrm>
              <a:prstGeom prst="rect">
                <a:avLst/>
              </a:prstGeom>
              <a:noFill/>
              <a:ln w="12700">
                <a:noFill/>
                <a:miter lim="800000"/>
              </a:ln>
              <a:effectLst/>
            </p:spPr>
            <p:txBody>
              <a:bodyPr wrap="none">
                <a:spAutoFit/>
              </a:bodyPr>
              <a:lstStyle/>
              <a:p>
                <a:r>
                  <a:rPr lang="en-US" sz="2800" b="1">
                    <a:latin typeface="Arial Narrow" panose="020B0606020202030204" pitchFamily="34" charset="0"/>
                  </a:rPr>
                  <a:t>A - B</a:t>
                </a:r>
                <a:endParaRPr lang="en-US" sz="2800" b="1">
                  <a:latin typeface="Arial Narrow" panose="020B0606020202030204" pitchFamily="34" charset="0"/>
                </a:endParaRPr>
              </a:p>
            </p:txBody>
          </p:sp>
          <p:cxnSp>
            <p:nvCxnSpPr>
              <p:cNvPr id="10" name="Straight Connector 9"/>
              <p:cNvCxnSpPr/>
              <p:nvPr/>
            </p:nvCxnSpPr>
            <p:spPr>
              <a:xfrm flipV="1">
                <a:off x="4788024" y="5478904"/>
                <a:ext cx="827584" cy="19164"/>
              </a:xfrm>
              <a:prstGeom prst="line">
                <a:avLst/>
              </a:prstGeom>
              <a:ln w="22225"/>
            </p:spPr>
            <p:style>
              <a:lnRef idx="1">
                <a:schemeClr val="dk1"/>
              </a:lnRef>
              <a:fillRef idx="0">
                <a:schemeClr val="dk1"/>
              </a:fillRef>
              <a:effectRef idx="0">
                <a:schemeClr val="dk1"/>
              </a:effectRef>
              <a:fontRef idx="minor">
                <a:schemeClr val="tx1"/>
              </a:fontRef>
            </p:style>
          </p:cxnSp>
        </p:grpSp>
        <p:sp>
          <p:nvSpPr>
            <p:cNvPr id="6" name="Text Box 4"/>
            <p:cNvSpPr txBox="1">
              <a:spLocks noChangeArrowheads="1"/>
            </p:cNvSpPr>
            <p:nvPr/>
          </p:nvSpPr>
          <p:spPr bwMode="auto">
            <a:xfrm>
              <a:off x="4716016" y="5248364"/>
              <a:ext cx="1592103" cy="523220"/>
            </a:xfrm>
            <a:prstGeom prst="rect">
              <a:avLst/>
            </a:prstGeom>
            <a:noFill/>
            <a:ln w="12700">
              <a:noFill/>
              <a:miter lim="800000"/>
            </a:ln>
            <a:effectLst/>
          </p:spPr>
          <p:txBody>
            <a:bodyPr wrap="none">
              <a:spAutoFit/>
            </a:bodyPr>
            <a:lstStyle/>
            <a:p>
              <a:pPr lvl="1">
                <a:buNone/>
              </a:pPr>
              <a:r>
                <a:rPr lang="en-US" sz="2800" b="1"/>
                <a:t>X 100</a:t>
              </a:r>
              <a:endParaRPr lang="en-US" sz="2800" b="1"/>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2207568" y="193576"/>
            <a:ext cx="7772400" cy="1219200"/>
          </a:xfrm>
          <a:noFill/>
        </p:spPr>
        <p:txBody>
          <a:bodyPr vert="horz" lIns="90488" tIns="44450" rIns="90488" bIns="44450" rtlCol="0" anchor="t">
            <a:normAutofit/>
          </a:bodyPr>
          <a:lstStyle/>
          <a:p>
            <a:r>
              <a:rPr lang="en-US" sz="4000"/>
              <a:t>Representative sample</a:t>
            </a:r>
            <a:endParaRPr lang="en-US" sz="4000"/>
          </a:p>
        </p:txBody>
      </p:sp>
      <p:sp>
        <p:nvSpPr>
          <p:cNvPr id="39939" name="Rectangle 3"/>
          <p:cNvSpPr>
            <a:spLocks noGrp="1" noChangeArrowheads="1"/>
          </p:cNvSpPr>
          <p:nvPr>
            <p:ph type="body" sz="quarter" idx="10"/>
          </p:nvPr>
        </p:nvSpPr>
        <p:spPr>
          <a:xfrm>
            <a:off x="1847528" y="1268760"/>
            <a:ext cx="8568952" cy="4114800"/>
          </a:xfrm>
          <a:noFill/>
        </p:spPr>
        <p:txBody>
          <a:bodyPr vert="horz" lIns="90488" tIns="44450" rIns="90488" bIns="44450" rtlCol="0">
            <a:normAutofit fontScale="92500" lnSpcReduction="10000"/>
          </a:bodyPr>
          <a:lstStyle/>
          <a:p>
            <a:pPr>
              <a:buFont typeface="Arial" panose="020B0604020202020204" pitchFamily="34" charset="0"/>
              <a:buChar char="•"/>
            </a:pPr>
            <a:r>
              <a:rPr lang="en-US" sz="2800"/>
              <a:t>Take increments from positions evenly distributed over whole surface of the heap, removing at each position the top 150mm before digging in the scoop</a:t>
            </a:r>
            <a:endParaRPr lang="en-US" sz="2800"/>
          </a:p>
          <a:p>
            <a:pPr>
              <a:buFont typeface="Arial" panose="020B0604020202020204" pitchFamily="34" charset="0"/>
              <a:buChar char="•"/>
            </a:pPr>
            <a:r>
              <a:rPr lang="en-US" sz="2800"/>
              <a:t>Reduce the sample using coning and quartering or use a riffle box</a:t>
            </a:r>
            <a:endParaRPr lang="en-US" sz="2800"/>
          </a:p>
          <a:p>
            <a:pPr>
              <a:buFont typeface="Arial" panose="020B0604020202020204" pitchFamily="34" charset="0"/>
              <a:buChar char="•"/>
            </a:pPr>
            <a:r>
              <a:rPr lang="en-US" sz="2800"/>
              <a:t>The riffle box divides the sample in two portions</a:t>
            </a:r>
            <a:endParaRPr lang="en-US" sz="2800"/>
          </a:p>
          <a:p>
            <a:pPr>
              <a:buFont typeface="Arial" panose="020B0604020202020204" pitchFamily="34" charset="0"/>
              <a:buChar char="•"/>
            </a:pPr>
            <a:r>
              <a:rPr lang="en-US" sz="2800"/>
              <a:t>One is discarded and the other portion passed through again.  Repeat this process until required size</a:t>
            </a:r>
            <a:endParaRPr lang="en-US" sz="2800"/>
          </a:p>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19536" y="0"/>
            <a:ext cx="8229600" cy="1143000"/>
          </a:xfrm>
          <a:noFill/>
        </p:spPr>
        <p:txBody>
          <a:bodyPr vert="horz" lIns="90488" tIns="44450" rIns="90488" bIns="44450" rtlCol="0" anchor="t">
            <a:normAutofit/>
          </a:bodyPr>
          <a:lstStyle/>
          <a:p>
            <a:r>
              <a:rPr lang="en-US" sz="4000"/>
              <a:t>Field settling test</a:t>
            </a:r>
            <a:endParaRPr lang="en-US" sz="4000"/>
          </a:p>
        </p:txBody>
      </p:sp>
      <p:sp>
        <p:nvSpPr>
          <p:cNvPr id="38915" name="Rectangle 3"/>
          <p:cNvSpPr>
            <a:spLocks noGrp="1" noChangeArrowheads="1"/>
          </p:cNvSpPr>
          <p:nvPr>
            <p:ph type="body" sz="quarter" idx="10"/>
          </p:nvPr>
        </p:nvSpPr>
        <p:spPr>
          <a:xfrm>
            <a:off x="1991544" y="1124745"/>
            <a:ext cx="8280920" cy="4474369"/>
          </a:xfrm>
          <a:noFill/>
        </p:spPr>
        <p:txBody>
          <a:bodyPr vert="horz" lIns="90488" tIns="44450" rIns="90488" bIns="44450" rtlCol="0">
            <a:normAutofit fontScale="92500" lnSpcReduction="20000"/>
          </a:bodyPr>
          <a:lstStyle/>
          <a:p>
            <a:pPr>
              <a:buFont typeface="Arial" panose="020B0604020202020204" pitchFamily="34" charset="0"/>
              <a:buChar char="•"/>
            </a:pPr>
            <a:r>
              <a:rPr lang="en-US" sz="2800"/>
              <a:t>Give approximate guide to amount of fines in natural sands, but not coarse aggregate or crushed-rock sand</a:t>
            </a:r>
            <a:endParaRPr lang="en-US" sz="2800"/>
          </a:p>
          <a:p>
            <a:pPr>
              <a:buFont typeface="Arial" panose="020B0604020202020204" pitchFamily="34" charset="0"/>
              <a:buChar char="•"/>
            </a:pPr>
            <a:r>
              <a:rPr lang="en-US" sz="2800"/>
              <a:t>Place 50ml of 1% salt solution (2 teaspoonsful per liter in 250ml measuring cylinder</a:t>
            </a:r>
            <a:endParaRPr lang="en-US" sz="2800"/>
          </a:p>
          <a:p>
            <a:pPr>
              <a:buFont typeface="Arial" panose="020B0604020202020204" pitchFamily="34" charset="0"/>
              <a:buChar char="•"/>
            </a:pPr>
            <a:r>
              <a:rPr lang="en-US" sz="2800"/>
              <a:t>Add sand until level of sand is at 100ml mark</a:t>
            </a:r>
            <a:endParaRPr lang="en-US" sz="2800"/>
          </a:p>
          <a:p>
            <a:pPr>
              <a:buFont typeface="Arial" panose="020B0604020202020204" pitchFamily="34" charset="0"/>
              <a:buChar char="•"/>
            </a:pPr>
            <a:r>
              <a:rPr lang="en-US" sz="2800"/>
              <a:t>Add more solution to 150ml mark</a:t>
            </a:r>
            <a:endParaRPr lang="en-US" sz="2800"/>
          </a:p>
          <a:p>
            <a:pPr>
              <a:buFont typeface="Arial" panose="020B0604020202020204" pitchFamily="34" charset="0"/>
              <a:buChar char="•"/>
            </a:pPr>
            <a:r>
              <a:rPr lang="en-US" sz="2800"/>
              <a:t>Shake vigorously, allow to settle for 3 hours</a:t>
            </a:r>
            <a:endParaRPr lang="en-US" sz="2800"/>
          </a:p>
          <a:p>
            <a:pPr>
              <a:buFont typeface="Arial" panose="020B0604020202020204" pitchFamily="34" charset="0"/>
              <a:buChar char="•"/>
            </a:pPr>
            <a:r>
              <a:rPr lang="en-US" sz="2800"/>
              <a:t>Thickness of layer of fines above sand is measured and expressed as percentage of height of sand below the layer.</a:t>
            </a:r>
            <a:endParaRPr lang="en-US" sz="28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19536" y="0"/>
            <a:ext cx="8229600" cy="1143000"/>
          </a:xfrm>
          <a:noFill/>
        </p:spPr>
        <p:txBody>
          <a:bodyPr vert="horz" lIns="90488" tIns="44450" rIns="90488" bIns="44450" rtlCol="0" anchor="t">
            <a:normAutofit/>
          </a:bodyPr>
          <a:lstStyle/>
          <a:p>
            <a:r>
              <a:rPr lang="en-US" sz="4000"/>
              <a:t>Flakiness index test</a:t>
            </a:r>
            <a:endParaRPr lang="en-US" sz="4000"/>
          </a:p>
        </p:txBody>
      </p:sp>
      <p:sp>
        <p:nvSpPr>
          <p:cNvPr id="38915" name="Rectangle 3"/>
          <p:cNvSpPr>
            <a:spLocks noGrp="1" noChangeArrowheads="1"/>
          </p:cNvSpPr>
          <p:nvPr>
            <p:ph type="body" sz="quarter" idx="10"/>
          </p:nvPr>
        </p:nvSpPr>
        <p:spPr>
          <a:xfrm>
            <a:off x="1991544" y="1196753"/>
            <a:ext cx="8424936" cy="4474369"/>
          </a:xfrm>
          <a:noFill/>
        </p:spPr>
        <p:txBody>
          <a:bodyPr vert="horz" lIns="90488" tIns="44450" rIns="90488" bIns="44450" rtlCol="0">
            <a:normAutofit fontScale="92500" lnSpcReduction="20000"/>
          </a:bodyPr>
          <a:lstStyle/>
          <a:p>
            <a:pPr marL="457200" indent="-457200">
              <a:buFont typeface="Arial" panose="020B0604020202020204" pitchFamily="34" charset="0"/>
              <a:buChar char="•"/>
            </a:pPr>
            <a:r>
              <a:rPr lang="en-US" sz="2800"/>
              <a:t>Consists of two sieving operations</a:t>
            </a:r>
            <a:endParaRPr lang="en-US" sz="2800"/>
          </a:p>
          <a:p>
            <a:pPr marL="457200" indent="-457200">
              <a:buFont typeface="Arial" panose="020B0604020202020204" pitchFamily="34" charset="0"/>
              <a:buChar char="•"/>
            </a:pPr>
            <a:r>
              <a:rPr lang="en-US" sz="2800"/>
              <a:t>First using test sieve, sample is separated into various particle size fractions </a:t>
            </a:r>
            <a:r>
              <a:rPr lang="en-US" sz="2800" err="1"/>
              <a:t>d</a:t>
            </a:r>
            <a:r>
              <a:rPr lang="en-US" sz="2800" i="1" err="1">
                <a:latin typeface="Brush Script MT" panose="03060802040406070304" pitchFamily="66" charset="0"/>
              </a:rPr>
              <a:t>i</a:t>
            </a:r>
            <a:r>
              <a:rPr lang="en-US" sz="2800"/>
              <a:t>/D</a:t>
            </a:r>
            <a:r>
              <a:rPr lang="en-US" sz="2800" i="1">
                <a:latin typeface="Brush Script MT" panose="03060802040406070304" pitchFamily="66" charset="0"/>
              </a:rPr>
              <a:t>i</a:t>
            </a:r>
            <a:endParaRPr lang="en-US" sz="2800" i="1">
              <a:latin typeface="Brush Script MT" panose="03060802040406070304" pitchFamily="66" charset="0"/>
            </a:endParaRPr>
          </a:p>
          <a:p>
            <a:pPr marL="457200" indent="-457200">
              <a:buFont typeface="Arial" panose="020B0604020202020204" pitchFamily="34" charset="0"/>
              <a:buChar char="•"/>
            </a:pPr>
            <a:r>
              <a:rPr lang="en-US" sz="2800"/>
              <a:t>Each particle size faction </a:t>
            </a:r>
            <a:r>
              <a:rPr lang="en-US" sz="2800" err="1"/>
              <a:t>d</a:t>
            </a:r>
            <a:r>
              <a:rPr lang="en-US" sz="2800" i="1" err="1">
                <a:latin typeface="Brush Script MT" panose="03060802040406070304" pitchFamily="66" charset="0"/>
              </a:rPr>
              <a:t>i</a:t>
            </a:r>
            <a:r>
              <a:rPr lang="en-US" sz="2800"/>
              <a:t>/D</a:t>
            </a:r>
            <a:r>
              <a:rPr lang="en-US" sz="2800" i="1">
                <a:latin typeface="Brush Script MT" panose="03060802040406070304" pitchFamily="66" charset="0"/>
              </a:rPr>
              <a:t>i </a:t>
            </a:r>
            <a:r>
              <a:rPr lang="en-US" sz="2800"/>
              <a:t>is then sieved using bar sieves with parallel slots of width D</a:t>
            </a:r>
            <a:r>
              <a:rPr lang="en-US" sz="2800" i="1">
                <a:latin typeface="Brush Script MT" panose="03060802040406070304" pitchFamily="66" charset="0"/>
              </a:rPr>
              <a:t>i</a:t>
            </a:r>
            <a:r>
              <a:rPr lang="en-US" sz="2800"/>
              <a:t>/2</a:t>
            </a:r>
            <a:endParaRPr lang="en-US" sz="2800"/>
          </a:p>
          <a:p>
            <a:pPr marL="457200" indent="-457200">
              <a:buFont typeface="Arial" panose="020B0604020202020204" pitchFamily="34" charset="0"/>
              <a:buChar char="•"/>
            </a:pPr>
            <a:r>
              <a:rPr lang="en-US" sz="2800"/>
              <a:t>Sieving is done manually and is complete when retained mass does not change by more than 1% during 1min sieving operation</a:t>
            </a:r>
            <a:endParaRPr lang="en-US" sz="2800"/>
          </a:p>
          <a:p>
            <a:pPr marL="457200" indent="-457200">
              <a:buFont typeface="Arial" panose="020B0604020202020204" pitchFamily="34" charset="0"/>
              <a:buChar char="•"/>
            </a:pPr>
            <a:r>
              <a:rPr lang="en-US" sz="2800"/>
              <a:t>Overall flakiness index is calculated as total mass of particles passing bar sieves expressed as percentage of total dry mass of particles tested.</a:t>
            </a:r>
            <a:endParaRPr lang="en-US" sz="28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19536" y="0"/>
            <a:ext cx="8229600" cy="1143000"/>
          </a:xfrm>
          <a:noFill/>
        </p:spPr>
        <p:txBody>
          <a:bodyPr vert="horz" lIns="90488" tIns="44450" rIns="90488" bIns="44450" rtlCol="0" anchor="t">
            <a:normAutofit/>
          </a:bodyPr>
          <a:lstStyle/>
          <a:p>
            <a:r>
              <a:rPr lang="en-US" sz="4000"/>
              <a:t>Shape index test</a:t>
            </a:r>
            <a:endParaRPr lang="en-US" sz="4000"/>
          </a:p>
        </p:txBody>
      </p:sp>
      <p:sp>
        <p:nvSpPr>
          <p:cNvPr id="38915" name="Rectangle 3"/>
          <p:cNvSpPr>
            <a:spLocks noGrp="1" noChangeArrowheads="1"/>
          </p:cNvSpPr>
          <p:nvPr>
            <p:ph type="body" sz="quarter" idx="10"/>
          </p:nvPr>
        </p:nvSpPr>
        <p:spPr>
          <a:xfrm>
            <a:off x="1991544" y="1042864"/>
            <a:ext cx="8424936" cy="5698505"/>
          </a:xfrm>
          <a:noFill/>
        </p:spPr>
        <p:txBody>
          <a:bodyPr vert="horz" lIns="90488" tIns="44450" rIns="90488" bIns="44450" rtlCol="0">
            <a:normAutofit/>
          </a:bodyPr>
          <a:lstStyle/>
          <a:p>
            <a:pPr>
              <a:buFont typeface="Arial" panose="020B0604020202020204" pitchFamily="34" charset="0"/>
              <a:buChar char="•"/>
            </a:pPr>
            <a:r>
              <a:rPr lang="en-US" sz="2800"/>
              <a:t>Individual particles are classified on basis of ratio of their length (</a:t>
            </a:r>
            <a:r>
              <a:rPr lang="en-US" sz="2800" i="1"/>
              <a:t>L</a:t>
            </a:r>
            <a:r>
              <a:rPr lang="en-US" sz="2800"/>
              <a:t>) to thickness (</a:t>
            </a:r>
            <a:r>
              <a:rPr lang="en-US" sz="2800" i="1"/>
              <a:t>E</a:t>
            </a:r>
            <a:r>
              <a:rPr lang="en-US" sz="2800"/>
              <a:t>) using particle slide gauge</a:t>
            </a:r>
            <a:endParaRPr lang="en-US" sz="2800"/>
          </a:p>
          <a:p>
            <a:pPr>
              <a:buFont typeface="Arial" panose="020B0604020202020204" pitchFamily="34" charset="0"/>
              <a:buChar char="•"/>
            </a:pPr>
            <a:r>
              <a:rPr lang="en-US" sz="2800"/>
              <a:t>Shape index is calculated as mass of particles with ratio </a:t>
            </a:r>
            <a:r>
              <a:rPr lang="en-US" sz="2800" i="1"/>
              <a:t>L/E</a:t>
            </a:r>
            <a:r>
              <a:rPr lang="en-US" sz="2800"/>
              <a:t> &gt; 3 expressed as a percentage of total dry mass of particles tested</a:t>
            </a:r>
            <a:endParaRPr lang="en-US" sz="2800"/>
          </a:p>
          <a:p>
            <a:pPr>
              <a:buFont typeface="Arial" panose="020B0604020202020204" pitchFamily="34" charset="0"/>
              <a:buChar char="•"/>
            </a:pPr>
            <a:r>
              <a:rPr lang="en-US" sz="2800"/>
              <a:t>If </a:t>
            </a:r>
            <a:r>
              <a:rPr lang="en-US" sz="2800" i="1"/>
              <a:t>L/E</a:t>
            </a:r>
            <a:r>
              <a:rPr lang="en-US" sz="2800"/>
              <a:t> &gt; 3, particles are classified as non-cubical</a:t>
            </a:r>
            <a:endParaRPr lang="en-US" sz="2800"/>
          </a:p>
          <a:p>
            <a:pPr>
              <a:buFont typeface="Arial" panose="020B0604020202020204" pitchFamily="34" charset="0"/>
              <a:buChar char="•"/>
            </a:pPr>
            <a:r>
              <a:rPr lang="en-US" sz="2800"/>
              <a:t>Do test on each particle size fraction </a:t>
            </a:r>
            <a:r>
              <a:rPr lang="en-US" sz="2800" err="1"/>
              <a:t>d</a:t>
            </a:r>
            <a:r>
              <a:rPr lang="en-US" sz="2800" i="1" err="1">
                <a:latin typeface="Brush Script MT" panose="03060802040406070304" pitchFamily="66" charset="0"/>
              </a:rPr>
              <a:t>i</a:t>
            </a:r>
            <a:r>
              <a:rPr lang="en-US" sz="2800"/>
              <a:t>/D</a:t>
            </a:r>
            <a:r>
              <a:rPr lang="en-US" sz="2800" i="1">
                <a:latin typeface="Brush Script MT" panose="03060802040406070304" pitchFamily="66" charset="0"/>
              </a:rPr>
              <a:t>i</a:t>
            </a:r>
            <a:r>
              <a:rPr lang="en-US" sz="2800" i="1"/>
              <a:t> </a:t>
            </a:r>
            <a:r>
              <a:rPr lang="en-US" sz="2800"/>
              <a:t>where D</a:t>
            </a:r>
            <a:r>
              <a:rPr lang="en-US" sz="2800" i="1">
                <a:latin typeface="Brush Script MT" panose="03060802040406070304" pitchFamily="66" charset="0"/>
              </a:rPr>
              <a:t>i</a:t>
            </a:r>
            <a:r>
              <a:rPr lang="en-US" sz="2800"/>
              <a:t> ≤ 2 </a:t>
            </a:r>
            <a:r>
              <a:rPr lang="en-US" sz="2800" err="1"/>
              <a:t>d</a:t>
            </a:r>
            <a:r>
              <a:rPr lang="en-US" sz="2800" i="1" err="1">
                <a:latin typeface="Brush Script MT" panose="03060802040406070304" pitchFamily="66" charset="0"/>
              </a:rPr>
              <a:t>i</a:t>
            </a:r>
            <a:r>
              <a:rPr lang="en-US" sz="2800"/>
              <a:t>.</a:t>
            </a:r>
            <a:endParaRPr lang="en-US" sz="2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20395" y="-125730"/>
            <a:ext cx="12316460" cy="1143000"/>
          </a:xfrm>
          <a:noFill/>
        </p:spPr>
        <p:txBody>
          <a:bodyPr vert="horz" lIns="90488" tIns="44450" rIns="90488" bIns="44450" rtlCol="0" anchor="t">
            <a:normAutofit/>
          </a:bodyPr>
          <a:lstStyle/>
          <a:p>
            <a:r>
              <a:rPr lang="en-US" sz="4000"/>
              <a:t>Storage of Aggregates in a Construction Site</a:t>
            </a:r>
            <a:endParaRPr lang="en-US" sz="4000"/>
          </a:p>
        </p:txBody>
      </p:sp>
      <p:sp>
        <p:nvSpPr>
          <p:cNvPr id="38915" name="Rectangle 3"/>
          <p:cNvSpPr>
            <a:spLocks noGrp="1" noChangeArrowheads="1"/>
          </p:cNvSpPr>
          <p:nvPr>
            <p:ph type="body" sz="quarter" idx="10"/>
          </p:nvPr>
        </p:nvSpPr>
        <p:spPr>
          <a:xfrm>
            <a:off x="606425" y="815340"/>
            <a:ext cx="11051540" cy="4474210"/>
          </a:xfrm>
          <a:noFill/>
        </p:spPr>
        <p:txBody>
          <a:bodyPr vert="horz" lIns="90488" tIns="44450" rIns="90488" bIns="44450" rtlCol="0">
            <a:noAutofit/>
          </a:bodyPr>
          <a:lstStyle/>
          <a:p>
            <a:pPr>
              <a:buFont typeface="Arial" panose="020B0604020202020204" pitchFamily="34" charset="0"/>
              <a:buChar char="•"/>
            </a:pPr>
            <a:r>
              <a:rPr lang="en-US" sz="2800"/>
              <a:t>An area should be demarcated and preferably fenced for storage of aggregates in the construction site</a:t>
            </a:r>
            <a:endParaRPr lang="en-US" sz="2800"/>
          </a:p>
          <a:p>
            <a:pPr>
              <a:buFont typeface="Arial" panose="020B0604020202020204" pitchFamily="34" charset="0"/>
              <a:buChar char="•"/>
            </a:pPr>
            <a:r>
              <a:rPr lang="en-US" sz="2800"/>
              <a:t>Proper material storage will help in reducing aggregates’ wastage that occurs due to run-off water during rains  and unnecessary spread over a larger area of the site</a:t>
            </a:r>
            <a:endParaRPr lang="en-US" sz="2800"/>
          </a:p>
          <a:p>
            <a:pPr>
              <a:buFont typeface="Arial" panose="020B0604020202020204" pitchFamily="34" charset="0"/>
              <a:buChar char="•"/>
            </a:pPr>
            <a:r>
              <a:rPr lang="en-US" sz="2800"/>
              <a:t>Securing aggregates on site reduces risk of theft</a:t>
            </a:r>
            <a:endParaRPr lang="en-US" sz="2800"/>
          </a:p>
          <a:p>
            <a:pPr>
              <a:buFont typeface="Arial" panose="020B0604020202020204" pitchFamily="34" charset="0"/>
              <a:buChar char="•"/>
            </a:pPr>
            <a:r>
              <a:rPr lang="en-US" sz="2800"/>
              <a:t>Storage should be such that it reduces obstruction to traffic and pedestrians</a:t>
            </a:r>
            <a:endParaRPr lang="en-US" sz="2800"/>
          </a:p>
          <a:p>
            <a:pPr>
              <a:buFont typeface="Arial" panose="020B0604020202020204" pitchFamily="34" charset="0"/>
              <a:buChar char="•"/>
            </a:pPr>
            <a:r>
              <a:rPr lang="en-US" sz="2800"/>
              <a:t>Aggregates must be stored in a clean area free of loam, clay and vegetable matter because these foreign particles prevent cement paste from properly binding aggregate particles together. </a:t>
            </a:r>
            <a:endParaRPr lang="en-US" sz="2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20395" y="-125730"/>
            <a:ext cx="12316460" cy="1143000"/>
          </a:xfrm>
          <a:noFill/>
        </p:spPr>
        <p:txBody>
          <a:bodyPr vert="horz" lIns="90488" tIns="44450" rIns="90488" bIns="44450" rtlCol="0" anchor="t">
            <a:normAutofit/>
          </a:bodyPr>
          <a:lstStyle/>
          <a:p>
            <a:r>
              <a:rPr lang="en-US" sz="4000"/>
              <a:t>Storage of Aggregates in a Construction Site</a:t>
            </a:r>
            <a:endParaRPr lang="en-US" sz="4000"/>
          </a:p>
        </p:txBody>
      </p:sp>
      <p:sp>
        <p:nvSpPr>
          <p:cNvPr id="38915" name="Rectangle 3"/>
          <p:cNvSpPr>
            <a:spLocks noGrp="1" noChangeArrowheads="1"/>
          </p:cNvSpPr>
          <p:nvPr>
            <p:ph type="body" sz="quarter" idx="10"/>
          </p:nvPr>
        </p:nvSpPr>
        <p:spPr>
          <a:xfrm>
            <a:off x="606425" y="815340"/>
            <a:ext cx="11051540" cy="4474210"/>
          </a:xfrm>
          <a:noFill/>
        </p:spPr>
        <p:txBody>
          <a:bodyPr vert="horz" lIns="90488" tIns="44450" rIns="90488" bIns="44450" rtlCol="0">
            <a:noAutofit/>
          </a:bodyPr>
          <a:lstStyle/>
          <a:p>
            <a:pPr>
              <a:buFont typeface="Arial" panose="020B0604020202020204" pitchFamily="34" charset="0"/>
              <a:buChar char="•"/>
            </a:pPr>
            <a:r>
              <a:rPr lang="en-US" sz="2800">
                <a:sym typeface="+mn-ea"/>
              </a:rPr>
              <a:t>Concrete that contains the above objectionable materials will be porous, have low resistance to weathering and have low strength. It could also develop surface defects such as pop-outs</a:t>
            </a:r>
            <a:endParaRPr lang="en-US" sz="2800"/>
          </a:p>
          <a:p>
            <a:pPr>
              <a:buFont typeface="Arial" panose="020B0604020202020204" pitchFamily="34" charset="0"/>
              <a:buChar char="•"/>
            </a:pPr>
            <a:r>
              <a:rPr lang="en-US" sz="2800"/>
              <a:t>Storage area needs to be clearly shown on the site plan</a:t>
            </a:r>
            <a:endParaRPr lang="en-US" sz="2800"/>
          </a:p>
          <a:p>
            <a:pPr>
              <a:buFont typeface="Arial" panose="020B0604020202020204" pitchFamily="34" charset="0"/>
              <a:buChar char="•"/>
            </a:pPr>
            <a:r>
              <a:rPr lang="en-US" sz="2800"/>
              <a:t>Storage area needs to be well allocated to have vehicular access</a:t>
            </a:r>
            <a:endParaRPr lang="en-US" sz="2800"/>
          </a:p>
          <a:p>
            <a:pPr>
              <a:buFont typeface="Arial" panose="020B0604020202020204" pitchFamily="34" charset="0"/>
              <a:buChar char="•"/>
            </a:pPr>
            <a:r>
              <a:rPr lang="en-US" sz="2800"/>
              <a:t>If no space is available on site for storage, the nearest available space is a near-by empty site which can be used with written permission from the site owner</a:t>
            </a:r>
            <a:endParaRPr lang="en-US" sz="2800"/>
          </a:p>
          <a:p>
            <a:pPr>
              <a:buFont typeface="Arial" panose="020B0604020202020204" pitchFamily="34" charset="0"/>
              <a:buChar char="•"/>
            </a:pPr>
            <a:r>
              <a:rPr lang="en-US" sz="2800"/>
              <a:t>The storage area should not be on the road or pavement or on any other community space</a:t>
            </a:r>
            <a:endParaRPr lang="en-US" sz="2800"/>
          </a:p>
          <a:p>
            <a:pPr>
              <a:buFont typeface="Arial" panose="020B0604020202020204" pitchFamily="34" charset="0"/>
              <a:buChar char="•"/>
            </a:pPr>
            <a:endParaRPr lang="en-US" sz="2800"/>
          </a:p>
          <a:p>
            <a:pPr>
              <a:buFont typeface="Arial" panose="020B0604020202020204" pitchFamily="34" charset="0"/>
              <a:buChar char="•"/>
            </a:pPr>
            <a:endParaRPr lang="en-US" sz="2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20395" y="-125730"/>
            <a:ext cx="12316460" cy="1143000"/>
          </a:xfrm>
          <a:noFill/>
        </p:spPr>
        <p:txBody>
          <a:bodyPr vert="horz" lIns="90488" tIns="44450" rIns="90488" bIns="44450" rtlCol="0" anchor="t">
            <a:normAutofit/>
          </a:bodyPr>
          <a:lstStyle/>
          <a:p>
            <a:r>
              <a:rPr lang="en-US" sz="4000"/>
              <a:t>Storage of Aggregates in a Construction Site</a:t>
            </a:r>
            <a:endParaRPr lang="en-US" sz="4000"/>
          </a:p>
        </p:txBody>
      </p:sp>
      <p:sp>
        <p:nvSpPr>
          <p:cNvPr id="38915" name="Rectangle 3"/>
          <p:cNvSpPr>
            <a:spLocks noGrp="1" noChangeArrowheads="1"/>
          </p:cNvSpPr>
          <p:nvPr>
            <p:ph type="body" sz="quarter" idx="10"/>
          </p:nvPr>
        </p:nvSpPr>
        <p:spPr>
          <a:xfrm>
            <a:off x="606425" y="815340"/>
            <a:ext cx="11051540" cy="4474210"/>
          </a:xfrm>
          <a:noFill/>
        </p:spPr>
        <p:txBody>
          <a:bodyPr vert="horz" lIns="90488" tIns="44450" rIns="90488" bIns="44450" rtlCol="0">
            <a:noAutofit/>
          </a:bodyPr>
          <a:lstStyle/>
          <a:p>
            <a:pPr>
              <a:buFont typeface="Arial" panose="020B0604020202020204" pitchFamily="34" charset="0"/>
              <a:buChar char="•"/>
            </a:pPr>
            <a:r>
              <a:rPr lang="en-US" sz="2800">
                <a:sym typeface="+mn-ea"/>
              </a:rPr>
              <a:t>The storage space should be clearly defined on site with temporary enclosures located for easy vehicular access</a:t>
            </a:r>
            <a:endParaRPr lang="en-US" sz="2800">
              <a:sym typeface="+mn-ea"/>
            </a:endParaRPr>
          </a:p>
          <a:p>
            <a:pPr>
              <a:buFont typeface="Arial" panose="020B0604020202020204" pitchFamily="34" charset="0"/>
              <a:buChar char="•"/>
            </a:pPr>
            <a:r>
              <a:rPr lang="en-US" sz="2800">
                <a:sym typeface="+mn-ea"/>
              </a:rPr>
              <a:t>The storage enclosure should be built such that sand and coarse aggregate do not spread beyond the allocated space for their storage</a:t>
            </a:r>
            <a:endParaRPr lang="en-US" sz="2800">
              <a:sym typeface="+mn-ea"/>
            </a:endParaRPr>
          </a:p>
          <a:p>
            <a:pPr>
              <a:buFont typeface="Arial" panose="020B0604020202020204" pitchFamily="34" charset="0"/>
              <a:buChar char="•"/>
            </a:pPr>
            <a:r>
              <a:rPr lang="en-US" sz="2800">
                <a:sym typeface="+mn-ea"/>
              </a:rPr>
              <a:t>If enclosure cannot be built due to space restrictions, aggregate should be stored in large jutes or gunny bags on site</a:t>
            </a:r>
            <a:endParaRPr lang="en-US" sz="2800">
              <a:sym typeface="+mn-ea"/>
            </a:endParaRPr>
          </a:p>
          <a:p>
            <a:pPr>
              <a:buFont typeface="Arial" panose="020B0604020202020204" pitchFamily="34" charset="0"/>
              <a:buChar char="•"/>
            </a:pPr>
            <a:r>
              <a:rPr lang="en-US" sz="2800">
                <a:sym typeface="+mn-ea"/>
              </a:rPr>
              <a:t>A last resort on space restrictions is to order ready-made concrete in bulk delivered by trucks specially designed for that purpose</a:t>
            </a:r>
            <a:endParaRPr lang="en-US" sz="2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1579" y="0"/>
            <a:ext cx="8911687" cy="1280890"/>
          </a:xfrm>
        </p:spPr>
        <p:txBody>
          <a:bodyPr/>
          <a:lstStyle/>
          <a:p>
            <a:r>
              <a:rPr lang="en-GB" b="1"/>
              <a:t>Feedback</a:t>
            </a:r>
            <a:endParaRPr lang="en-GB" b="1"/>
          </a:p>
        </p:txBody>
      </p:sp>
      <p:sp>
        <p:nvSpPr>
          <p:cNvPr id="8" name="Slide Number Placeholder 7"/>
          <p:cNvSpPr>
            <a:spLocks noGrp="1"/>
          </p:cNvSpPr>
          <p:nvPr>
            <p:ph type="sldNum" sz="quarter" idx="12"/>
          </p:nvPr>
        </p:nvSpPr>
        <p:spPr/>
        <p:txBody>
          <a:bodyPr/>
          <a:lstStyle/>
          <a:p>
            <a:fld id="{D57F1E4F-1CFF-5643-939E-217C01CDF565}" type="slidenum">
              <a:rPr lang="en-US" smtClean="0"/>
            </a:fld>
            <a:endParaRPr lang="en-US"/>
          </a:p>
        </p:txBody>
      </p:sp>
      <p:pic>
        <p:nvPicPr>
          <p:cNvPr id="5" name="Picture 4"/>
          <p:cNvPicPr>
            <a:picLocks noChangeAspect="1"/>
          </p:cNvPicPr>
          <p:nvPr/>
        </p:nvPicPr>
        <p:blipFill>
          <a:blip r:embed="rId1"/>
          <a:stretch>
            <a:fillRect/>
          </a:stretch>
        </p:blipFill>
        <p:spPr>
          <a:xfrm>
            <a:off x="7046912" y="1749654"/>
            <a:ext cx="4451959" cy="3358693"/>
          </a:xfrm>
          <a:prstGeom prst="rect">
            <a:avLst/>
          </a:prstGeom>
        </p:spPr>
      </p:pic>
      <p:sp>
        <p:nvSpPr>
          <p:cNvPr id="6" name="TextBox 5"/>
          <p:cNvSpPr txBox="1"/>
          <p:nvPr/>
        </p:nvSpPr>
        <p:spPr>
          <a:xfrm rot="16200000">
            <a:off x="10251043" y="3167390"/>
            <a:ext cx="3358694" cy="523220"/>
          </a:xfrm>
          <a:prstGeom prst="rect">
            <a:avLst/>
          </a:prstGeom>
          <a:solidFill>
            <a:srgbClr val="00B0F0"/>
          </a:solidFill>
        </p:spPr>
        <p:txBody>
          <a:bodyPr wrap="square" rtlCol="0">
            <a:spAutoFit/>
          </a:bodyPr>
          <a:lstStyle/>
          <a:p>
            <a:pPr algn="ctr"/>
            <a:r>
              <a:rPr lang="en-GB" sz="2800" b="1">
                <a:solidFill>
                  <a:schemeClr val="accent2">
                    <a:lumMod val="20000"/>
                    <a:lumOff val="80000"/>
                  </a:schemeClr>
                </a:solidFill>
                <a:latin typeface="Tw Cen MT" panose="020B0602020104020603" pitchFamily="34" charset="0"/>
              </a:rPr>
              <a:t>feedback</a:t>
            </a:r>
            <a:endParaRPr lang="en-GB" sz="7200" b="1">
              <a:solidFill>
                <a:schemeClr val="accent2">
                  <a:lumMod val="20000"/>
                  <a:lumOff val="80000"/>
                </a:schemeClr>
              </a:solidFill>
              <a:latin typeface="Tw Cen MT" panose="020B0602020104020603" pitchFamily="34" charset="0"/>
            </a:endParaRPr>
          </a:p>
        </p:txBody>
      </p:sp>
      <p:sp>
        <p:nvSpPr>
          <p:cNvPr id="9" name="Date Placeholder 7"/>
          <p:cNvSpPr>
            <a:spLocks noGrp="1"/>
          </p:cNvSpPr>
          <p:nvPr>
            <p:ph type="dt" sz="half" idx="10"/>
          </p:nvPr>
        </p:nvSpPr>
        <p:spPr>
          <a:xfrm>
            <a:off x="198784" y="6487604"/>
            <a:ext cx="2067338" cy="370396"/>
          </a:xfrm>
        </p:spPr>
        <p:txBody>
          <a:bodyPr/>
          <a:lstStyle/>
          <a:p>
            <a:fld id="{9855C6FE-EDAB-4FDE-9C59-19A1F0C9F540}" type="datetime3">
              <a:rPr lang="en-US" sz="1600" b="1" smtClean="0">
                <a:solidFill>
                  <a:schemeClr val="tx1"/>
                </a:solidFill>
              </a:rPr>
            </a:fld>
            <a:endParaRPr lang="en-US" b="1">
              <a:solidFill>
                <a:schemeClr val="tx1"/>
              </a:solidFill>
            </a:endParaRP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0</TotalTime>
  <Words>11656</Words>
  <Application>WPS Presentation</Application>
  <PresentationFormat>Widescreen</PresentationFormat>
  <Paragraphs>336</Paragraphs>
  <Slides>45</Slides>
  <Notes>20</Notes>
  <HiddenSlides>1</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0</vt:i4>
      </vt:variant>
      <vt:variant>
        <vt:lpstr>幻灯片标题</vt:lpstr>
      </vt:variant>
      <vt:variant>
        <vt:i4>45</vt:i4>
      </vt:variant>
    </vt:vector>
  </HeadingPairs>
  <TitlesOfParts>
    <vt:vector size="60" baseType="lpstr">
      <vt:lpstr>Arial</vt:lpstr>
      <vt:lpstr>SimSun</vt:lpstr>
      <vt:lpstr>Wingdings</vt:lpstr>
      <vt:lpstr>Wingdings 3</vt:lpstr>
      <vt:lpstr>Arial</vt:lpstr>
      <vt:lpstr>Times New Roman</vt:lpstr>
      <vt:lpstr>Century Gothic</vt:lpstr>
      <vt:lpstr>Microsoft YaHei</vt:lpstr>
      <vt:lpstr>Arial Unicode MS</vt:lpstr>
      <vt:lpstr>Calibri</vt:lpstr>
      <vt:lpstr>Tahoma</vt:lpstr>
      <vt:lpstr>Arial Narrow</vt:lpstr>
      <vt:lpstr>Brush Script MT</vt:lpstr>
      <vt:lpstr>Tw Cen MT</vt:lpstr>
      <vt:lpstr>Wisp</vt:lpstr>
      <vt:lpstr>FCC3 246: CONCRETE MATERIALS  Lecture 5: AGGREGATES IN CONCRETE</vt:lpstr>
      <vt:lpstr>PowerPoint 演示文稿</vt:lpstr>
      <vt:lpstr>Natural Aggregate</vt:lpstr>
      <vt:lpstr>What are Aggregates?</vt:lpstr>
      <vt:lpstr>Introduction</vt:lpstr>
      <vt:lpstr>Why use aggregates in concrete?</vt:lpstr>
      <vt:lpstr>Aggregate properties</vt:lpstr>
      <vt:lpstr>Deleterious substances: Silt, clay and dust</vt:lpstr>
      <vt:lpstr>Deleterious substances: Organic impurities</vt:lpstr>
      <vt:lpstr>Deleterious substances: Chlorides</vt:lpstr>
      <vt:lpstr>Characterize aggregates to:</vt:lpstr>
      <vt:lpstr>Important properties</vt:lpstr>
      <vt:lpstr>Production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Types of Rock</vt:lpstr>
      <vt:lpstr>Types of Rock</vt:lpstr>
      <vt:lpstr>Types of Aggregate</vt:lpstr>
      <vt:lpstr>Production and processing</vt:lpstr>
      <vt:lpstr>Aggregate Properties affecting Concrete</vt:lpstr>
      <vt:lpstr>Aggregate Characteristics</vt:lpstr>
      <vt:lpstr>PowerPoint 演示文稿</vt:lpstr>
      <vt:lpstr>Grading</vt:lpstr>
      <vt:lpstr>Grading</vt:lpstr>
      <vt:lpstr>Sieving</vt:lpstr>
      <vt:lpstr>Shape &amp; Surface Texture</vt:lpstr>
      <vt:lpstr>Shape &amp; surface texture</vt:lpstr>
      <vt:lpstr>Strength of Aggregates</vt:lpstr>
      <vt:lpstr>Site tests</vt:lpstr>
      <vt:lpstr>Moisture content</vt:lpstr>
      <vt:lpstr>Representative sample</vt:lpstr>
      <vt:lpstr>Field settling test</vt:lpstr>
      <vt:lpstr>Flakiness index test</vt:lpstr>
      <vt:lpstr>Shape index test</vt:lpstr>
      <vt:lpstr>Storage of Aggregates in a Construction Site</vt:lpstr>
      <vt:lpstr>Storage of Aggregates in a Construction Site</vt:lpstr>
      <vt:lpstr>Storage of Aggregates in a Construction Site</vt:lpstr>
      <vt:lpstr>Feedback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303: THEORY AND DESIGN OF STRUCTURES 3</dc:title>
  <dc:creator>Muthomi</dc:creator>
  <cp:lastModifiedBy>Injinia Mwaura</cp:lastModifiedBy>
  <cp:revision>127</cp:revision>
  <cp:lastPrinted>2024-06-07T13:07:00Z</cp:lastPrinted>
  <dcterms:created xsi:type="dcterms:W3CDTF">2018-09-25T15:18:00Z</dcterms:created>
  <dcterms:modified xsi:type="dcterms:W3CDTF">2025-03-31T22:52:34Z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AE0E17A16ACE47B7B5CEC28AD3B2E12F_13</vt:lpwstr>
  </property>
  <property fmtid="{D5CDD505-2E9C-101B-9397-08002B2CF9AE}" pid="3" name="KSOProductBuildVer">
    <vt:lpwstr>1033-12.2.0.20326</vt:lpwstr>
  </property>
</Properties>
</file>