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2"/>
  </p:notesMasterIdLst>
  <p:handoutMasterIdLst>
    <p:handoutMasterId r:id="rId63"/>
  </p:handoutMasterIdLst>
  <p:sldIdLst>
    <p:sldId id="1282" r:id="rId2"/>
    <p:sldId id="1294" r:id="rId3"/>
    <p:sldId id="1187" r:id="rId4"/>
    <p:sldId id="1190" r:id="rId5"/>
    <p:sldId id="1150" r:id="rId6"/>
    <p:sldId id="1164" r:id="rId7"/>
    <p:sldId id="1165" r:id="rId8"/>
    <p:sldId id="1158" r:id="rId9"/>
    <p:sldId id="1159" r:id="rId10"/>
    <p:sldId id="1161" r:id="rId11"/>
    <p:sldId id="1162" r:id="rId12"/>
    <p:sldId id="1166" r:id="rId13"/>
    <p:sldId id="1170" r:id="rId14"/>
    <p:sldId id="1171" r:id="rId15"/>
    <p:sldId id="1127" r:id="rId16"/>
    <p:sldId id="1290" r:id="rId17"/>
    <p:sldId id="1295" r:id="rId18"/>
    <p:sldId id="1149" r:id="rId19"/>
    <p:sldId id="1297" r:id="rId20"/>
    <p:sldId id="1296" r:id="rId21"/>
    <p:sldId id="1173" r:id="rId22"/>
    <p:sldId id="1172" r:id="rId23"/>
    <p:sldId id="1176" r:id="rId24"/>
    <p:sldId id="1299" r:id="rId25"/>
    <p:sldId id="1128" r:id="rId26"/>
    <p:sldId id="1200" r:id="rId27"/>
    <p:sldId id="1312" r:id="rId28"/>
    <p:sldId id="1131" r:id="rId29"/>
    <p:sldId id="1133" r:id="rId30"/>
    <p:sldId id="1129" r:id="rId31"/>
    <p:sldId id="1130" r:id="rId32"/>
    <p:sldId id="1169" r:id="rId33"/>
    <p:sldId id="1132" r:id="rId34"/>
    <p:sldId id="1136" r:id="rId35"/>
    <p:sldId id="1134" r:id="rId36"/>
    <p:sldId id="1142" r:id="rId37"/>
    <p:sldId id="1135" r:id="rId38"/>
    <p:sldId id="1313" r:id="rId39"/>
    <p:sldId id="1143" r:id="rId40"/>
    <p:sldId id="1141" r:id="rId41"/>
    <p:sldId id="1139" r:id="rId42"/>
    <p:sldId id="1140" r:id="rId43"/>
    <p:sldId id="1314" r:id="rId44"/>
    <p:sldId id="1144" r:id="rId45"/>
    <p:sldId id="1145" r:id="rId46"/>
    <p:sldId id="1147" r:id="rId47"/>
    <p:sldId id="1148" r:id="rId48"/>
    <p:sldId id="1146" r:id="rId49"/>
    <p:sldId id="1315" r:id="rId50"/>
    <p:sldId id="1198" r:id="rId51"/>
    <p:sldId id="1317" r:id="rId52"/>
    <p:sldId id="1316" r:id="rId53"/>
    <p:sldId id="1318" r:id="rId54"/>
    <p:sldId id="1319" r:id="rId55"/>
    <p:sldId id="1322" r:id="rId56"/>
    <p:sldId id="1320" r:id="rId57"/>
    <p:sldId id="1321" r:id="rId58"/>
    <p:sldId id="1137" r:id="rId59"/>
    <p:sldId id="1138" r:id="rId60"/>
    <p:sldId id="1174" r:id="rId61"/>
  </p:sldIdLst>
  <p:sldSz cx="12192000" cy="6858000"/>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10" id="{2E38C09B-798A-400D-BF9C-39B83F5120A9}">
          <p14:sldIdLst>
            <p14:sldId id="1282"/>
            <p14:sldId id="1294"/>
            <p14:sldId id="1187"/>
            <p14:sldId id="1190"/>
            <p14:sldId id="1150"/>
            <p14:sldId id="1164"/>
            <p14:sldId id="1165"/>
            <p14:sldId id="1158"/>
            <p14:sldId id="1159"/>
            <p14:sldId id="1161"/>
            <p14:sldId id="1162"/>
            <p14:sldId id="1166"/>
            <p14:sldId id="1170"/>
            <p14:sldId id="1171"/>
            <p14:sldId id="1127"/>
            <p14:sldId id="1290"/>
            <p14:sldId id="1295"/>
            <p14:sldId id="1149"/>
            <p14:sldId id="1297"/>
            <p14:sldId id="1296"/>
            <p14:sldId id="1173"/>
            <p14:sldId id="1172"/>
            <p14:sldId id="1176"/>
            <p14:sldId id="1299"/>
            <p14:sldId id="1128"/>
            <p14:sldId id="1200"/>
            <p14:sldId id="1312"/>
            <p14:sldId id="1131"/>
            <p14:sldId id="1133"/>
            <p14:sldId id="1129"/>
            <p14:sldId id="1130"/>
            <p14:sldId id="1169"/>
            <p14:sldId id="1132"/>
            <p14:sldId id="1136"/>
            <p14:sldId id="1134"/>
            <p14:sldId id="1142"/>
            <p14:sldId id="1135"/>
            <p14:sldId id="1313"/>
            <p14:sldId id="1143"/>
            <p14:sldId id="1141"/>
            <p14:sldId id="1139"/>
            <p14:sldId id="1140"/>
            <p14:sldId id="1314"/>
            <p14:sldId id="1144"/>
            <p14:sldId id="1145"/>
            <p14:sldId id="1147"/>
            <p14:sldId id="1148"/>
            <p14:sldId id="1146"/>
            <p14:sldId id="1315"/>
            <p14:sldId id="1198"/>
            <p14:sldId id="1317"/>
            <p14:sldId id="1316"/>
            <p14:sldId id="1318"/>
            <p14:sldId id="1319"/>
            <p14:sldId id="1322"/>
            <p14:sldId id="1320"/>
            <p14:sldId id="1321"/>
            <p14:sldId id="1137"/>
            <p14:sldId id="1138"/>
            <p14:sldId id="1174"/>
          </p14:sldIdLst>
        </p14:section>
        <p14:section name="Default Section" id="{45599542-B410-40C5-9D7B-B148690840DA}">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6" d="100"/>
          <a:sy n="66" d="100"/>
        </p:scale>
        <p:origin x="668" y="56"/>
      </p:cViewPr>
      <p:guideLst/>
    </p:cSldViewPr>
  </p:slideViewPr>
  <p:notesTextViewPr>
    <p:cViewPr>
      <p:scale>
        <a:sx n="1" d="1"/>
        <a:sy n="1" d="1"/>
      </p:scale>
      <p:origin x="0" y="0"/>
    </p:cViewPr>
  </p:notesTextViewPr>
  <p:sorterViewPr>
    <p:cViewPr varScale="1">
      <p:scale>
        <a:sx n="100" d="100"/>
        <a:sy n="100" d="100"/>
      </p:scale>
      <p:origin x="0" y="-25488"/>
    </p:cViewPr>
  </p:sorterViewPr>
  <p:notesViewPr>
    <p:cSldViewPr snapToGrid="0">
      <p:cViewPr varScale="1">
        <p:scale>
          <a:sx n="56" d="100"/>
          <a:sy n="56" d="100"/>
        </p:scale>
        <p:origin x="3312" y="5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Mwaura" userId="b779bf3b0341c298" providerId="LiveId" clId="{350A000F-7A96-47A7-A2AB-16287E96432C}"/>
    <pc:docChg chg="modSld sldOrd">
      <pc:chgData name="Stephen Mwaura" userId="b779bf3b0341c298" providerId="LiveId" clId="{350A000F-7A96-47A7-A2AB-16287E96432C}" dt="2025-04-28T08:02:59.310" v="16"/>
      <pc:docMkLst>
        <pc:docMk/>
      </pc:docMkLst>
      <pc:sldChg chg="modSp mod">
        <pc:chgData name="Stephen Mwaura" userId="b779bf3b0341c298" providerId="LiveId" clId="{350A000F-7A96-47A7-A2AB-16287E96432C}" dt="2025-04-19T08:46:42.666" v="7" actId="113"/>
        <pc:sldMkLst>
          <pc:docMk/>
          <pc:sldMk cId="0" sldId="1131"/>
        </pc:sldMkLst>
        <pc:spChg chg="mod">
          <ac:chgData name="Stephen Mwaura" userId="b779bf3b0341c298" providerId="LiveId" clId="{350A000F-7A96-47A7-A2AB-16287E96432C}" dt="2025-04-19T08:46:42.666" v="7" actId="113"/>
          <ac:spMkLst>
            <pc:docMk/>
            <pc:sldMk cId="0" sldId="1131"/>
            <ac:spMk id="8194" creationId="{00000000-0000-0000-0000-000000000000}"/>
          </ac:spMkLst>
        </pc:spChg>
      </pc:sldChg>
      <pc:sldChg chg="modSp mod">
        <pc:chgData name="Stephen Mwaura" userId="b779bf3b0341c298" providerId="LiveId" clId="{350A000F-7A96-47A7-A2AB-16287E96432C}" dt="2025-04-28T08:02:13.933" v="14" actId="5793"/>
        <pc:sldMkLst>
          <pc:docMk/>
          <pc:sldMk cId="475936393" sldId="1137"/>
        </pc:sldMkLst>
        <pc:spChg chg="mod">
          <ac:chgData name="Stephen Mwaura" userId="b779bf3b0341c298" providerId="LiveId" clId="{350A000F-7A96-47A7-A2AB-16287E96432C}" dt="2025-04-28T08:02:13.933" v="14" actId="5793"/>
          <ac:spMkLst>
            <pc:docMk/>
            <pc:sldMk cId="475936393" sldId="1137"/>
            <ac:spMk id="36867" creationId="{00000000-0000-0000-0000-000000000000}"/>
          </ac:spMkLst>
        </pc:spChg>
      </pc:sldChg>
      <pc:sldChg chg="ord">
        <pc:chgData name="Stephen Mwaura" userId="b779bf3b0341c298" providerId="LiveId" clId="{350A000F-7A96-47A7-A2AB-16287E96432C}" dt="2025-04-28T08:02:59.310" v="16"/>
        <pc:sldMkLst>
          <pc:docMk/>
          <pc:sldMk cId="0" sldId="1138"/>
        </pc:sldMkLst>
      </pc:sldChg>
      <pc:sldChg chg="addSp delSp modSp mod">
        <pc:chgData name="Stephen Mwaura" userId="b779bf3b0341c298" providerId="LiveId" clId="{350A000F-7A96-47A7-A2AB-16287E96432C}" dt="2025-04-19T08:43:55.794" v="6" actId="1076"/>
        <pc:sldMkLst>
          <pc:docMk/>
          <pc:sldMk cId="1979472428" sldId="1320"/>
        </pc:sldMkLst>
        <pc:picChg chg="add mod">
          <ac:chgData name="Stephen Mwaura" userId="b779bf3b0341c298" providerId="LiveId" clId="{350A000F-7A96-47A7-A2AB-16287E96432C}" dt="2025-04-19T08:43:55.794" v="6" actId="1076"/>
          <ac:picMkLst>
            <pc:docMk/>
            <pc:sldMk cId="1979472428" sldId="1320"/>
            <ac:picMk id="3" creationId="{49F306F9-76C9-B44D-8EFC-D98DDC78406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r>
              <a:rPr lang="en-GB" dirty="0"/>
              <a:t>FCC3 246 – Concrete Materials 2023/2024</a:t>
            </a:r>
          </a:p>
        </p:txBody>
      </p:sp>
      <p:sp>
        <p:nvSpPr>
          <p:cNvPr id="3" name="Date Placeholder 2"/>
          <p:cNvSpPr>
            <a:spLocks noGrp="1"/>
          </p:cNvSpPr>
          <p:nvPr>
            <p:ph type="dt" sz="quarter" idx="1"/>
          </p:nvPr>
        </p:nvSpPr>
        <p:spPr>
          <a:xfrm>
            <a:off x="4021138" y="1"/>
            <a:ext cx="3076575" cy="512763"/>
          </a:xfrm>
          <a:prstGeom prst="rect">
            <a:avLst/>
          </a:prstGeom>
        </p:spPr>
        <p:txBody>
          <a:bodyPr vert="horz" lIns="91440" tIns="45720" rIns="91440" bIns="45720" rtlCol="0"/>
          <a:lstStyle>
            <a:lvl1pPr algn="r">
              <a:defRPr sz="1200"/>
            </a:lvl1pPr>
          </a:lstStyle>
          <a:p>
            <a:fld id="{3E8D9978-ED5B-4A29-B35C-F452FF85B205}" type="datetime1">
              <a:rPr lang="en-GB" smtClean="0"/>
              <a:t>28/04/2025</a:t>
            </a:fld>
            <a:endParaRPr lang="en-GB"/>
          </a:p>
        </p:txBody>
      </p:sp>
      <p:sp>
        <p:nvSpPr>
          <p:cNvPr id="4" name="Footer Placeholder 3"/>
          <p:cNvSpPr>
            <a:spLocks noGrp="1"/>
          </p:cNvSpPr>
          <p:nvPr>
            <p:ph type="ftr" sz="quarter" idx="2"/>
          </p:nvPr>
        </p:nvSpPr>
        <p:spPr>
          <a:xfrm>
            <a:off x="1" y="9721850"/>
            <a:ext cx="3076575" cy="512763"/>
          </a:xfrm>
          <a:prstGeom prst="rect">
            <a:avLst/>
          </a:prstGeom>
        </p:spPr>
        <p:txBody>
          <a:bodyPr vert="horz" lIns="91440" tIns="45720" rIns="91440" bIns="45720" rtlCol="0" anchor="b"/>
          <a:lstStyle>
            <a:lvl1pPr algn="l">
              <a:defRPr sz="1200"/>
            </a:lvl1pPr>
          </a:lstStyle>
          <a:p>
            <a:r>
              <a:rPr lang="en-GB"/>
              <a:t>muthomi@uonbi.ac.ke </a:t>
            </a: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r>
              <a:rPr lang="en-GB"/>
              <a:t>BAR 303 - Theory &amp; Design of Structures III 2021/2022</a:t>
            </a:r>
          </a:p>
        </p:txBody>
      </p:sp>
      <p:sp>
        <p:nvSpPr>
          <p:cNvPr id="3" name="Date Placeholder 2"/>
          <p:cNvSpPr>
            <a:spLocks noGrp="1"/>
          </p:cNvSpPr>
          <p:nvPr>
            <p:ph type="dt" idx="1"/>
          </p:nvPr>
        </p:nvSpPr>
        <p:spPr>
          <a:xfrm>
            <a:off x="4021138" y="1"/>
            <a:ext cx="3076575" cy="512763"/>
          </a:xfrm>
          <a:prstGeom prst="rect">
            <a:avLst/>
          </a:prstGeom>
        </p:spPr>
        <p:txBody>
          <a:bodyPr vert="horz" lIns="91440" tIns="45720" rIns="91440" bIns="45720" rtlCol="0"/>
          <a:lstStyle>
            <a:lvl1pPr algn="r">
              <a:defRPr sz="1200"/>
            </a:lvl1pPr>
          </a:lstStyle>
          <a:p>
            <a:fld id="{D6C46915-6F6C-46C9-BC95-22DE85ACF263}" type="datetime1">
              <a:rPr lang="en-GB" smtClean="0"/>
              <a:t>28/04/2025</a:t>
            </a:fld>
            <a:endParaRPr lang="en-GB"/>
          </a:p>
        </p:txBody>
      </p:sp>
      <p:sp>
        <p:nvSpPr>
          <p:cNvPr id="4" name="Slide Image Placeholder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721850"/>
            <a:ext cx="3076575" cy="512763"/>
          </a:xfrm>
          <a:prstGeom prst="rect">
            <a:avLst/>
          </a:prstGeom>
        </p:spPr>
        <p:txBody>
          <a:bodyPr vert="horz" lIns="91440" tIns="45720" rIns="91440" bIns="45720" rtlCol="0" anchor="b"/>
          <a:lstStyle>
            <a:lvl1pPr algn="l">
              <a:defRPr sz="1200"/>
            </a:lvl1pPr>
          </a:lstStyle>
          <a:p>
            <a:r>
              <a:rPr lang="en-GB"/>
              <a:t>muthomi@uonbi.ac.ke </a:t>
            </a:r>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A25A6967-00BE-478A-B95F-FC0FCC7AAC7A}" type="slidenum">
              <a:rPr lang="en-GB" smtClean="0"/>
              <a:t>‹#›</a:t>
            </a:fld>
            <a:endParaRPr lang="en-GB"/>
          </a:p>
        </p:txBody>
      </p:sp>
    </p:spTree>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p:sp>
      <p:sp>
        <p:nvSpPr>
          <p:cNvPr id="634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bwMode="auto">
          <a:ln>
            <a:miter lim="800000"/>
          </a:ln>
        </p:spPr>
        <p:txBody>
          <a:bodyPr wrap="square" numCol="1" anchorCtr="0" compatLnSpc="1"/>
          <a:lstStyle/>
          <a:p>
            <a:pPr fontAlgn="base">
              <a:spcBef>
                <a:spcPct val="0"/>
              </a:spcBef>
              <a:spcAft>
                <a:spcPct val="0"/>
              </a:spcAft>
              <a:defRPr/>
            </a:pPr>
            <a:fld id="{997B85A8-E761-443E-AC31-934F4492847E}" type="slidenum">
              <a:rPr lang="en-US" smtClean="0">
                <a:cs typeface="Arial" panose="020B0604020202020204" pitchFamily="34" charset="0"/>
              </a:rPr>
              <a:t>3</a:t>
            </a:fld>
            <a:endParaRPr lang="en-US">
              <a:cs typeface="Arial" panose="020B0604020202020204" pitchFamily="34" charset="0"/>
            </a:endParaRPr>
          </a:p>
        </p:txBody>
      </p:sp>
      <p:sp>
        <p:nvSpPr>
          <p:cNvPr id="174083" name="Rectangle 2"/>
          <p:cNvSpPr>
            <a:spLocks noGrp="1" noRot="1" noChangeAspect="1" noChangeArrowheads="1" noTextEdit="1"/>
          </p:cNvSpPr>
          <p:nvPr>
            <p:ph type="sldImg"/>
          </p:nvPr>
        </p:nvSpPr>
        <p:spPr bwMode="auto">
          <a:xfrm>
            <a:off x="2295525" y="519113"/>
            <a:ext cx="4554538" cy="2562225"/>
          </a:xfrm>
          <a:noFill/>
          <a:ln cap="flat">
            <a:solidFill>
              <a:schemeClr val="tx1"/>
            </a:solidFill>
            <a:miter lim="800000"/>
          </a:ln>
        </p:spPr>
      </p:sp>
      <p:sp>
        <p:nvSpPr>
          <p:cNvPr id="174084" name="Rectangle 3"/>
          <p:cNvSpPr>
            <a:spLocks noGrp="1" noChangeArrowheads="1"/>
          </p:cNvSpPr>
          <p:nvPr>
            <p:ph type="body" idx="1"/>
          </p:nvPr>
        </p:nvSpPr>
        <p:spPr bwMode="auto">
          <a:xfrm>
            <a:off x="1219200" y="3257550"/>
            <a:ext cx="6705600" cy="3086100"/>
          </a:xfrm>
          <a:noFill/>
        </p:spPr>
        <p:txBody>
          <a:bodyPr wrap="square" lIns="90477" tIns="44444" rIns="90477" bIns="44444" numCol="1" anchor="t" anchorCtr="0" compatLnSpc="1"/>
          <a:lstStyle/>
          <a:p>
            <a:pPr eaLnBrk="1" hangingPunct="1">
              <a:spcBef>
                <a:spcPct val="0"/>
              </a:spcBef>
            </a:pPr>
            <a:endParaRPr lang="en-US"/>
          </a:p>
        </p:txBody>
      </p:sp>
    </p:spTree>
    <p:extLst>
      <p:ext uri="{BB962C8B-B14F-4D97-AF65-F5344CB8AC3E}">
        <p14:creationId xmlns:p14="http://schemas.microsoft.com/office/powerpoint/2010/main" val="2930145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Rot="1" noChangeAspect="1" noChangeArrowheads="1" noTextEdit="1"/>
          </p:cNvSpPr>
          <p:nvPr>
            <p:ph type="sldImg"/>
          </p:nvPr>
        </p:nvSpPr>
        <p:spPr bwMode="auto">
          <a:noFill/>
          <a:ln cap="flat">
            <a:solidFill>
              <a:srgbClr val="000000"/>
            </a:solidFill>
            <a:miter lim="800000"/>
          </a:ln>
        </p:spPr>
      </p:sp>
      <p:sp>
        <p:nvSpPr>
          <p:cNvPr id="176131"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GB"/>
          </a:p>
        </p:txBody>
      </p:sp>
    </p:spTree>
    <p:extLst>
      <p:ext uri="{BB962C8B-B14F-4D97-AF65-F5344CB8AC3E}">
        <p14:creationId xmlns:p14="http://schemas.microsoft.com/office/powerpoint/2010/main" val="2660713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p:sp>
      <p:sp>
        <p:nvSpPr>
          <p:cNvPr id="25603" name="Notes Placeholder 2"/>
          <p:cNvSpPr>
            <a:spLocks noGrp="1"/>
          </p:cNvSpPr>
          <p:nvPr>
            <p:ph type="body" idx="1"/>
          </p:nvPr>
        </p:nvSpPr>
        <p:spPr>
          <a:noFill/>
        </p:spPr>
        <p:txBody>
          <a:bodyPr/>
          <a:lstStyle/>
          <a:p>
            <a:pPr eaLnBrk="1" hangingPunct="1"/>
            <a:endParaRPr lang="en-US"/>
          </a:p>
        </p:txBody>
      </p:sp>
      <p:sp>
        <p:nvSpPr>
          <p:cNvPr id="25604" name="Slide Number Placeholder 3"/>
          <p:cNvSpPr>
            <a:spLocks noGrp="1"/>
          </p:cNvSpPr>
          <p:nvPr>
            <p:ph type="sldNum" sz="quarter" idx="5"/>
          </p:nvPr>
        </p:nvSpPr>
        <p:spPr>
          <a:noFill/>
        </p:spPr>
        <p:txBody>
          <a:bodyPr/>
          <a:lstStyle/>
          <a:p>
            <a:fld id="{9ADD49CE-CEDA-4D44-BD51-5797FF26E240}" type="slidenum">
              <a:rPr lang="en-US">
                <a:cs typeface="Arial" panose="020B0604020202020204" pitchFamily="34" charset="0"/>
              </a:rPr>
              <a:t>5</a:t>
            </a:fld>
            <a:endParaRPr lang="en-US">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bwMode="auto">
          <a:noFill/>
          <a:ln>
            <a:solidFill>
              <a:srgbClr val="000000"/>
            </a:solidFill>
            <a:miter lim="800000"/>
          </a:ln>
        </p:spPr>
      </p:sp>
      <p:sp>
        <p:nvSpPr>
          <p:cNvPr id="175107"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a:p>
        </p:txBody>
      </p:sp>
      <p:sp>
        <p:nvSpPr>
          <p:cNvPr id="145412" name="Slide Number Placeholder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7CDD01AF-5CCD-4EBB-A925-0D03BA1EE090}" type="slidenum">
              <a:rPr lang="en-US" smtClean="0">
                <a:cs typeface="Arial" panose="020B0604020202020204" pitchFamily="34" charset="0"/>
              </a:rPr>
              <a:t>6</a:t>
            </a:fld>
            <a:endParaRPr lang="en-US">
              <a:cs typeface="Arial" panose="020B0604020202020204" pitchFamily="34" charset="0"/>
            </a:endParaRPr>
          </a:p>
        </p:txBody>
      </p:sp>
    </p:spTree>
    <p:extLst>
      <p:ext uri="{BB962C8B-B14F-4D97-AF65-F5344CB8AC3E}">
        <p14:creationId xmlns:p14="http://schemas.microsoft.com/office/powerpoint/2010/main" val="3176798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p:sp>
      <p:sp>
        <p:nvSpPr>
          <p:cNvPr id="27651" name="Notes Placeholder 2"/>
          <p:cNvSpPr>
            <a:spLocks noGrp="1"/>
          </p:cNvSpPr>
          <p:nvPr>
            <p:ph type="body" idx="1"/>
          </p:nvPr>
        </p:nvSpPr>
        <p:spPr>
          <a:noFill/>
        </p:spPr>
        <p:txBody>
          <a:bodyPr/>
          <a:lstStyle/>
          <a:p>
            <a:pPr eaLnBrk="1" hangingPunct="1"/>
            <a:endParaRPr lang="en-US"/>
          </a:p>
        </p:txBody>
      </p:sp>
      <p:sp>
        <p:nvSpPr>
          <p:cNvPr id="27652" name="Slide Number Placeholder 3"/>
          <p:cNvSpPr>
            <a:spLocks noGrp="1"/>
          </p:cNvSpPr>
          <p:nvPr>
            <p:ph type="sldNum" sz="quarter" idx="5"/>
          </p:nvPr>
        </p:nvSpPr>
        <p:spPr>
          <a:noFill/>
        </p:spPr>
        <p:txBody>
          <a:bodyPr/>
          <a:lstStyle/>
          <a:p>
            <a:fld id="{14F3A5DC-43CF-46AB-AABD-816CCBBA9ECD}" type="slidenum">
              <a:rPr lang="en-US">
                <a:cs typeface="Arial" panose="020B0604020202020204" pitchFamily="34" charset="0"/>
              </a:rPr>
              <a:t>7</a:t>
            </a:fld>
            <a:endParaRPr lang="en-US">
              <a:cs typeface="Arial" panose="020B0604020202020204" pitchFamily="34" charset="0"/>
            </a:endParaRPr>
          </a:p>
        </p:txBody>
      </p:sp>
    </p:spTree>
    <p:extLst>
      <p:ext uri="{BB962C8B-B14F-4D97-AF65-F5344CB8AC3E}">
        <p14:creationId xmlns:p14="http://schemas.microsoft.com/office/powerpoint/2010/main" val="2725948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p:sp>
      <p:sp>
        <p:nvSpPr>
          <p:cNvPr id="276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p:sp>
      <p:sp>
        <p:nvSpPr>
          <p:cNvPr id="286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p:sp>
      <p:sp>
        <p:nvSpPr>
          <p:cNvPr id="74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p:sp>
      <p:sp>
        <p:nvSpPr>
          <p:cNvPr id="74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bwMode="auto">
          <a:noFill/>
          <a:ln cap="flat">
            <a:solidFill>
              <a:srgbClr val="000000"/>
            </a:solidFill>
            <a:miter lim="800000"/>
          </a:ln>
        </p:spPr>
      </p:sp>
      <p:sp>
        <p:nvSpPr>
          <p:cNvPr id="177155"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8F2D3D-4DCB-4EE8-A1A5-D7A360B91A81}" type="slidenum">
              <a:rPr lang="en-US" smtClean="0"/>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p:sp>
      <p:sp>
        <p:nvSpPr>
          <p:cNvPr id="655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p:sp>
      <p:sp>
        <p:nvSpPr>
          <p:cNvPr id="95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15F83-5C80-3921-A08C-8C34BC0B8468}"/>
            </a:ext>
          </a:extLst>
        </p:cNvPr>
        <p:cNvGrpSpPr/>
        <p:nvPr/>
      </p:nvGrpSpPr>
      <p:grpSpPr>
        <a:xfrm>
          <a:off x="0" y="0"/>
          <a:ext cx="0" cy="0"/>
          <a:chOff x="0" y="0"/>
          <a:chExt cx="0" cy="0"/>
        </a:xfrm>
      </p:grpSpPr>
      <p:sp>
        <p:nvSpPr>
          <p:cNvPr id="95234" name="Rectangle 2">
            <a:extLst>
              <a:ext uri="{FF2B5EF4-FFF2-40B4-BE49-F238E27FC236}">
                <a16:creationId xmlns:a16="http://schemas.microsoft.com/office/drawing/2014/main" id="{079CE452-12E6-2956-1AEF-9419C1A322E4}"/>
              </a:ext>
            </a:extLst>
          </p:cNvPr>
          <p:cNvSpPr>
            <a:spLocks noGrp="1" noRot="1" noChangeAspect="1" noChangeArrowheads="1" noTextEdit="1"/>
          </p:cNvSpPr>
          <p:nvPr>
            <p:ph type="sldImg"/>
          </p:nvPr>
        </p:nvSpPr>
        <p:spPr/>
      </p:sp>
      <p:sp>
        <p:nvSpPr>
          <p:cNvPr id="95235" name="Rectangle 3">
            <a:extLst>
              <a:ext uri="{FF2B5EF4-FFF2-40B4-BE49-F238E27FC236}">
                <a16:creationId xmlns:a16="http://schemas.microsoft.com/office/drawing/2014/main" id="{86146E89-33F4-F6DF-82D8-58D0A77DA24E}"/>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64075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Rot="1" noChangeAspect="1" noChangeArrowheads="1" noTextEdit="1"/>
          </p:cNvSpPr>
          <p:nvPr>
            <p:ph type="sldImg"/>
          </p:nvPr>
        </p:nvSpPr>
        <p:spPr/>
      </p:sp>
      <p:sp>
        <p:nvSpPr>
          <p:cNvPr id="3594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28935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05DAC-AB52-0C58-AE35-C3946CC9F766}"/>
            </a:ext>
          </a:extLst>
        </p:cNvPr>
        <p:cNvGrpSpPr/>
        <p:nvPr/>
      </p:nvGrpSpPr>
      <p:grpSpPr>
        <a:xfrm>
          <a:off x="0" y="0"/>
          <a:ext cx="0" cy="0"/>
          <a:chOff x="0" y="0"/>
          <a:chExt cx="0" cy="0"/>
        </a:xfrm>
      </p:grpSpPr>
      <p:sp>
        <p:nvSpPr>
          <p:cNvPr id="95234" name="Rectangle 2">
            <a:extLst>
              <a:ext uri="{FF2B5EF4-FFF2-40B4-BE49-F238E27FC236}">
                <a16:creationId xmlns:a16="http://schemas.microsoft.com/office/drawing/2014/main" id="{83CBC26F-F3C6-FA54-1A44-4F3EB5B14009}"/>
              </a:ext>
            </a:extLst>
          </p:cNvPr>
          <p:cNvSpPr>
            <a:spLocks noGrp="1" noRot="1" noChangeAspect="1" noChangeArrowheads="1" noTextEdit="1"/>
          </p:cNvSpPr>
          <p:nvPr>
            <p:ph type="sldImg"/>
          </p:nvPr>
        </p:nvSpPr>
        <p:spPr/>
      </p:sp>
      <p:sp>
        <p:nvSpPr>
          <p:cNvPr id="95235" name="Rectangle 3">
            <a:extLst>
              <a:ext uri="{FF2B5EF4-FFF2-40B4-BE49-F238E27FC236}">
                <a16:creationId xmlns:a16="http://schemas.microsoft.com/office/drawing/2014/main" id="{36FAA099-21D3-AECF-CA5F-56194FBFEA50}"/>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762893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B74EF-0116-A256-FEE1-F50B5C48FC5E}"/>
            </a:ext>
          </a:extLst>
        </p:cNvPr>
        <p:cNvGrpSpPr/>
        <p:nvPr/>
      </p:nvGrpSpPr>
      <p:grpSpPr>
        <a:xfrm>
          <a:off x="0" y="0"/>
          <a:ext cx="0" cy="0"/>
          <a:chOff x="0" y="0"/>
          <a:chExt cx="0" cy="0"/>
        </a:xfrm>
      </p:grpSpPr>
      <p:sp>
        <p:nvSpPr>
          <p:cNvPr id="95234" name="Rectangle 2">
            <a:extLst>
              <a:ext uri="{FF2B5EF4-FFF2-40B4-BE49-F238E27FC236}">
                <a16:creationId xmlns:a16="http://schemas.microsoft.com/office/drawing/2014/main" id="{F455CB06-7323-DF22-CD32-EA6E60945A3D}"/>
              </a:ext>
            </a:extLst>
          </p:cNvPr>
          <p:cNvSpPr>
            <a:spLocks noGrp="1" noRot="1" noChangeAspect="1" noChangeArrowheads="1" noTextEdit="1"/>
          </p:cNvSpPr>
          <p:nvPr>
            <p:ph type="sldImg"/>
          </p:nvPr>
        </p:nvSpPr>
        <p:spPr/>
      </p:sp>
      <p:sp>
        <p:nvSpPr>
          <p:cNvPr id="95235" name="Rectangle 3">
            <a:extLst>
              <a:ext uri="{FF2B5EF4-FFF2-40B4-BE49-F238E27FC236}">
                <a16:creationId xmlns:a16="http://schemas.microsoft.com/office/drawing/2014/main" id="{A339E4DA-AEB7-1309-2456-A8BCBC8AE3D6}"/>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769540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8F2D3D-4DCB-4EE8-A1A5-D7A360B91A81}" type="slidenum">
              <a:rPr lang="en-US" smtClean="0"/>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p:sp>
      <p:sp>
        <p:nvSpPr>
          <p:cNvPr id="634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p:sp>
      <p:sp>
        <p:nvSpPr>
          <p:cNvPr id="75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p:sp>
      <p:sp>
        <p:nvSpPr>
          <p:cNvPr id="75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Rot="1" noChangeAspect="1" noChangeArrowheads="1" noTextEdit="1"/>
          </p:cNvSpPr>
          <p:nvPr>
            <p:ph type="sldImg"/>
          </p:nvPr>
        </p:nvSpPr>
        <p:spPr/>
      </p:sp>
      <p:sp>
        <p:nvSpPr>
          <p:cNvPr id="3594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612804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p:sp>
      <p:sp>
        <p:nvSpPr>
          <p:cNvPr id="57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Rot="1" noChangeAspect="1" noChangeArrowheads="1" noTextEdit="1"/>
          </p:cNvSpPr>
          <p:nvPr>
            <p:ph type="sldImg"/>
          </p:nvPr>
        </p:nvSpPr>
        <p:spPr bwMode="auto">
          <a:noFill/>
          <a:ln>
            <a:solidFill>
              <a:srgbClr val="000000"/>
            </a:solidFill>
            <a:miter lim="800000"/>
          </a:ln>
        </p:spPr>
      </p:sp>
      <p:sp>
        <p:nvSpPr>
          <p:cNvPr id="180227"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ZA"/>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p:sp>
      <p:sp>
        <p:nvSpPr>
          <p:cNvPr id="78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p:sp>
      <p:sp>
        <p:nvSpPr>
          <p:cNvPr id="136195"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p:sp>
      <p:sp>
        <p:nvSpPr>
          <p:cNvPr id="137219"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p:sp>
      <p:sp>
        <p:nvSpPr>
          <p:cNvPr id="135171"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ln cap="flat"/>
        </p:spPr>
      </p:sp>
      <p:sp>
        <p:nvSpPr>
          <p:cNvPr id="133123" name="Rectangle 3"/>
          <p:cNvSpPr>
            <a:spLocks noGrp="1" noChangeArrowheads="1"/>
          </p:cNvSpPr>
          <p:nvPr>
            <p:ph type="body" idx="1"/>
          </p:nvPr>
        </p:nvSpPr>
        <p:spPr>
          <a:noFill/>
          <a:ln w="9525"/>
        </p:spPr>
        <p:txBody>
          <a:bodyPr/>
          <a:lstStyle/>
          <a:p>
            <a:endParaRPr lang="en-GB"/>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p:sp>
      <p:sp>
        <p:nvSpPr>
          <p:cNvPr id="134147"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Rot="1" noChangeAspect="1" noChangeArrowheads="1" noTextEdit="1"/>
          </p:cNvSpPr>
          <p:nvPr>
            <p:ph type="sldImg"/>
          </p:nvPr>
        </p:nvSpPr>
        <p:spPr/>
      </p:sp>
      <p:sp>
        <p:nvSpPr>
          <p:cNvPr id="3594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Rot="1" noChangeAspect="1" noChangeArrowheads="1" noTextEdit="1"/>
          </p:cNvSpPr>
          <p:nvPr>
            <p:ph type="sldImg"/>
          </p:nvPr>
        </p:nvSpPr>
        <p:spPr>
          <a:xfrm>
            <a:off x="2284413" y="512763"/>
            <a:ext cx="4575175" cy="2574925"/>
          </a:xfrm>
          <a:ln w="12700" cap="flat">
            <a:solidFill>
              <a:schemeClr val="tx1"/>
            </a:solidFill>
          </a:ln>
        </p:spPr>
      </p:sp>
      <p:sp>
        <p:nvSpPr>
          <p:cNvPr id="273411" name="Rectangle 3"/>
          <p:cNvSpPr>
            <a:spLocks noGrp="1" noChangeArrowheads="1"/>
          </p:cNvSpPr>
          <p:nvPr>
            <p:ph type="body" idx="1"/>
          </p:nvPr>
        </p:nvSpPr>
        <p:spPr/>
        <p:txBody>
          <a:bodyPr lIns="92075" tIns="46038" rIns="92075" bIns="46038"/>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p:sp>
      <p:sp>
        <p:nvSpPr>
          <p:cNvPr id="139267"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p:sp>
      <p:sp>
        <p:nvSpPr>
          <p:cNvPr id="140291"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p:sp>
      <p:sp>
        <p:nvSpPr>
          <p:cNvPr id="138243"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ln>
        </p:spPr>
      </p:sp>
      <p:sp>
        <p:nvSpPr>
          <p:cNvPr id="87043"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B5CF9-383E-C8AB-8734-A4B6C2706ADE}"/>
            </a:ext>
          </a:extLst>
        </p:cNvPr>
        <p:cNvGrpSpPr/>
        <p:nvPr/>
      </p:nvGrpSpPr>
      <p:grpSpPr>
        <a:xfrm>
          <a:off x="0" y="0"/>
          <a:ext cx="0" cy="0"/>
          <a:chOff x="0" y="0"/>
          <a:chExt cx="0" cy="0"/>
        </a:xfrm>
      </p:grpSpPr>
      <p:sp>
        <p:nvSpPr>
          <p:cNvPr id="359426" name="Rectangle 2">
            <a:extLst>
              <a:ext uri="{FF2B5EF4-FFF2-40B4-BE49-F238E27FC236}">
                <a16:creationId xmlns:a16="http://schemas.microsoft.com/office/drawing/2014/main" id="{475318C1-5D7F-E876-F416-7D00ABECCA0B}"/>
              </a:ext>
            </a:extLst>
          </p:cNvPr>
          <p:cNvSpPr>
            <a:spLocks noGrp="1" noRot="1" noChangeAspect="1" noChangeArrowheads="1" noTextEdit="1"/>
          </p:cNvSpPr>
          <p:nvPr>
            <p:ph type="sldImg"/>
          </p:nvPr>
        </p:nvSpPr>
        <p:spPr/>
      </p:sp>
      <p:sp>
        <p:nvSpPr>
          <p:cNvPr id="359427" name="Rectangle 3">
            <a:extLst>
              <a:ext uri="{FF2B5EF4-FFF2-40B4-BE49-F238E27FC236}">
                <a16:creationId xmlns:a16="http://schemas.microsoft.com/office/drawing/2014/main" id="{B4756603-82F6-4F7A-7335-49524E6CB48C}"/>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96192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BA5B-6375-7E53-3A2A-0D500F913709}"/>
            </a:ext>
          </a:extLst>
        </p:cNvPr>
        <p:cNvGrpSpPr/>
        <p:nvPr/>
      </p:nvGrpSpPr>
      <p:grpSpPr>
        <a:xfrm>
          <a:off x="0" y="0"/>
          <a:ext cx="0" cy="0"/>
          <a:chOff x="0" y="0"/>
          <a:chExt cx="0" cy="0"/>
        </a:xfrm>
      </p:grpSpPr>
      <p:sp>
        <p:nvSpPr>
          <p:cNvPr id="359426" name="Rectangle 2">
            <a:extLst>
              <a:ext uri="{FF2B5EF4-FFF2-40B4-BE49-F238E27FC236}">
                <a16:creationId xmlns:a16="http://schemas.microsoft.com/office/drawing/2014/main" id="{25C42CBC-56BA-5F57-B67B-E55E8B04384F}"/>
              </a:ext>
            </a:extLst>
          </p:cNvPr>
          <p:cNvSpPr>
            <a:spLocks noGrp="1" noRot="1" noChangeAspect="1" noChangeArrowheads="1" noTextEdit="1"/>
          </p:cNvSpPr>
          <p:nvPr>
            <p:ph type="sldImg"/>
          </p:nvPr>
        </p:nvSpPr>
        <p:spPr/>
      </p:sp>
      <p:sp>
        <p:nvSpPr>
          <p:cNvPr id="359427" name="Rectangle 3">
            <a:extLst>
              <a:ext uri="{FF2B5EF4-FFF2-40B4-BE49-F238E27FC236}">
                <a16:creationId xmlns:a16="http://schemas.microsoft.com/office/drawing/2014/main" id="{E4AD996F-8B42-A6B0-193E-A5E3A158D74A}"/>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840306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DD954-87C3-B003-966C-5492574D5725}"/>
            </a:ext>
          </a:extLst>
        </p:cNvPr>
        <p:cNvGrpSpPr/>
        <p:nvPr/>
      </p:nvGrpSpPr>
      <p:grpSpPr>
        <a:xfrm>
          <a:off x="0" y="0"/>
          <a:ext cx="0" cy="0"/>
          <a:chOff x="0" y="0"/>
          <a:chExt cx="0" cy="0"/>
        </a:xfrm>
      </p:grpSpPr>
      <p:sp>
        <p:nvSpPr>
          <p:cNvPr id="359426" name="Rectangle 2">
            <a:extLst>
              <a:ext uri="{FF2B5EF4-FFF2-40B4-BE49-F238E27FC236}">
                <a16:creationId xmlns:a16="http://schemas.microsoft.com/office/drawing/2014/main" id="{DBEC0360-366F-11C1-F329-7796E68F4F03}"/>
              </a:ext>
            </a:extLst>
          </p:cNvPr>
          <p:cNvSpPr>
            <a:spLocks noGrp="1" noRot="1" noChangeAspect="1" noChangeArrowheads="1" noTextEdit="1"/>
          </p:cNvSpPr>
          <p:nvPr>
            <p:ph type="sldImg"/>
          </p:nvPr>
        </p:nvSpPr>
        <p:spPr/>
      </p:sp>
      <p:sp>
        <p:nvSpPr>
          <p:cNvPr id="359427" name="Rectangle 3">
            <a:extLst>
              <a:ext uri="{FF2B5EF4-FFF2-40B4-BE49-F238E27FC236}">
                <a16:creationId xmlns:a16="http://schemas.microsoft.com/office/drawing/2014/main" id="{4EC7817F-1F88-607F-3761-5498D5A5DE86}"/>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427207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0CD1E-22A1-7737-D38F-4426A89C6FE8}"/>
            </a:ext>
          </a:extLst>
        </p:cNvPr>
        <p:cNvGrpSpPr/>
        <p:nvPr/>
      </p:nvGrpSpPr>
      <p:grpSpPr>
        <a:xfrm>
          <a:off x="0" y="0"/>
          <a:ext cx="0" cy="0"/>
          <a:chOff x="0" y="0"/>
          <a:chExt cx="0" cy="0"/>
        </a:xfrm>
      </p:grpSpPr>
      <p:sp>
        <p:nvSpPr>
          <p:cNvPr id="359426" name="Rectangle 2">
            <a:extLst>
              <a:ext uri="{FF2B5EF4-FFF2-40B4-BE49-F238E27FC236}">
                <a16:creationId xmlns:a16="http://schemas.microsoft.com/office/drawing/2014/main" id="{1ECD3E22-27B2-A9A4-0563-8350486D771D}"/>
              </a:ext>
            </a:extLst>
          </p:cNvPr>
          <p:cNvSpPr>
            <a:spLocks noGrp="1" noRot="1" noChangeAspect="1" noChangeArrowheads="1" noTextEdit="1"/>
          </p:cNvSpPr>
          <p:nvPr>
            <p:ph type="sldImg"/>
          </p:nvPr>
        </p:nvSpPr>
        <p:spPr/>
      </p:sp>
      <p:sp>
        <p:nvSpPr>
          <p:cNvPr id="359427" name="Rectangle 3">
            <a:extLst>
              <a:ext uri="{FF2B5EF4-FFF2-40B4-BE49-F238E27FC236}">
                <a16:creationId xmlns:a16="http://schemas.microsoft.com/office/drawing/2014/main" id="{A17878CA-71D8-5F8C-DDCB-D736EBA24EA2}"/>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795457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070A6-AA7C-F403-36BA-6B8B35CA8059}"/>
            </a:ext>
          </a:extLst>
        </p:cNvPr>
        <p:cNvGrpSpPr/>
        <p:nvPr/>
      </p:nvGrpSpPr>
      <p:grpSpPr>
        <a:xfrm>
          <a:off x="0" y="0"/>
          <a:ext cx="0" cy="0"/>
          <a:chOff x="0" y="0"/>
          <a:chExt cx="0" cy="0"/>
        </a:xfrm>
      </p:grpSpPr>
      <p:sp>
        <p:nvSpPr>
          <p:cNvPr id="359426" name="Rectangle 2">
            <a:extLst>
              <a:ext uri="{FF2B5EF4-FFF2-40B4-BE49-F238E27FC236}">
                <a16:creationId xmlns:a16="http://schemas.microsoft.com/office/drawing/2014/main" id="{7C4C607B-31EC-BC14-1315-D78FC3F1DBCF}"/>
              </a:ext>
            </a:extLst>
          </p:cNvPr>
          <p:cNvSpPr>
            <a:spLocks noGrp="1" noRot="1" noChangeAspect="1" noChangeArrowheads="1" noTextEdit="1"/>
          </p:cNvSpPr>
          <p:nvPr>
            <p:ph type="sldImg"/>
          </p:nvPr>
        </p:nvSpPr>
        <p:spPr/>
      </p:sp>
      <p:sp>
        <p:nvSpPr>
          <p:cNvPr id="359427" name="Rectangle 3">
            <a:extLst>
              <a:ext uri="{FF2B5EF4-FFF2-40B4-BE49-F238E27FC236}">
                <a16:creationId xmlns:a16="http://schemas.microsoft.com/office/drawing/2014/main" id="{C9A535C4-1B23-B626-CDD8-1F573BE19C93}"/>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6322381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78464-23C5-B1CD-9794-BA689649833A}"/>
            </a:ext>
          </a:extLst>
        </p:cNvPr>
        <p:cNvGrpSpPr/>
        <p:nvPr/>
      </p:nvGrpSpPr>
      <p:grpSpPr>
        <a:xfrm>
          <a:off x="0" y="0"/>
          <a:ext cx="0" cy="0"/>
          <a:chOff x="0" y="0"/>
          <a:chExt cx="0" cy="0"/>
        </a:xfrm>
      </p:grpSpPr>
      <p:sp>
        <p:nvSpPr>
          <p:cNvPr id="359426" name="Rectangle 2">
            <a:extLst>
              <a:ext uri="{FF2B5EF4-FFF2-40B4-BE49-F238E27FC236}">
                <a16:creationId xmlns:a16="http://schemas.microsoft.com/office/drawing/2014/main" id="{EA93E624-1EA0-AC20-6A36-F43C0C62B7FB}"/>
              </a:ext>
            </a:extLst>
          </p:cNvPr>
          <p:cNvSpPr>
            <a:spLocks noGrp="1" noRot="1" noChangeAspect="1" noChangeArrowheads="1" noTextEdit="1"/>
          </p:cNvSpPr>
          <p:nvPr>
            <p:ph type="sldImg"/>
          </p:nvPr>
        </p:nvSpPr>
        <p:spPr/>
      </p:sp>
      <p:sp>
        <p:nvSpPr>
          <p:cNvPr id="359427" name="Rectangle 3">
            <a:extLst>
              <a:ext uri="{FF2B5EF4-FFF2-40B4-BE49-F238E27FC236}">
                <a16:creationId xmlns:a16="http://schemas.microsoft.com/office/drawing/2014/main" id="{A3DE75FF-E7D5-8D3E-322E-D97F195FA521}"/>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374814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F376C-A724-CCA8-340C-18F35BAC2A28}"/>
            </a:ext>
          </a:extLst>
        </p:cNvPr>
        <p:cNvGrpSpPr/>
        <p:nvPr/>
      </p:nvGrpSpPr>
      <p:grpSpPr>
        <a:xfrm>
          <a:off x="0" y="0"/>
          <a:ext cx="0" cy="0"/>
          <a:chOff x="0" y="0"/>
          <a:chExt cx="0" cy="0"/>
        </a:xfrm>
      </p:grpSpPr>
      <p:sp>
        <p:nvSpPr>
          <p:cNvPr id="359426" name="Rectangle 2">
            <a:extLst>
              <a:ext uri="{FF2B5EF4-FFF2-40B4-BE49-F238E27FC236}">
                <a16:creationId xmlns:a16="http://schemas.microsoft.com/office/drawing/2014/main" id="{CC070DA1-5DD5-6F2A-55E2-8F8D1A9C73AD}"/>
              </a:ext>
            </a:extLst>
          </p:cNvPr>
          <p:cNvSpPr>
            <a:spLocks noGrp="1" noRot="1" noChangeAspect="1" noChangeArrowheads="1" noTextEdit="1"/>
          </p:cNvSpPr>
          <p:nvPr>
            <p:ph type="sldImg"/>
          </p:nvPr>
        </p:nvSpPr>
        <p:spPr/>
      </p:sp>
      <p:sp>
        <p:nvSpPr>
          <p:cNvPr id="359427" name="Rectangle 3">
            <a:extLst>
              <a:ext uri="{FF2B5EF4-FFF2-40B4-BE49-F238E27FC236}">
                <a16:creationId xmlns:a16="http://schemas.microsoft.com/office/drawing/2014/main" id="{BB6CD47F-0CA7-A30F-562F-4A3E29BF7819}"/>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880529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ln cap="flat"/>
        </p:spPr>
      </p:sp>
      <p:sp>
        <p:nvSpPr>
          <p:cNvPr id="130051"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39388085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p:sp>
      <p:sp>
        <p:nvSpPr>
          <p:cNvPr id="131075"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ln>
        </p:spPr>
      </p:sp>
      <p:sp>
        <p:nvSpPr>
          <p:cNvPr id="120835"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a:p>
        </p:txBody>
      </p:sp>
      <p:sp>
        <p:nvSpPr>
          <p:cNvPr id="122884" name="Slide Number Placeholder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DCA0DC82-AFDD-4164-BBC9-67FC89660376}" type="slidenum">
              <a:rPr lang="en-US" smtClean="0"/>
              <a:t>60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EA51DB-7545-4FCC-999B-9C69657BAA00}" type="datetime1">
              <a:rPr lang="en-GB" smtClean="0"/>
              <a:t>28/04/2025</a:t>
            </a:fld>
            <a:endParaRPr lang="en-GB"/>
          </a:p>
        </p:txBody>
      </p:sp>
      <p:sp>
        <p:nvSpPr>
          <p:cNvPr id="5" name="Footer Placeholder 4"/>
          <p:cNvSpPr>
            <a:spLocks noGrp="1"/>
          </p:cNvSpPr>
          <p:nvPr>
            <p:ph type="ftr" sz="quarter" idx="11"/>
          </p:nvPr>
        </p:nvSpPr>
        <p:spPr/>
        <p:txBody>
          <a:bodyPr/>
          <a:lstStyle/>
          <a:p>
            <a:endParaRPr lang="en-GB"/>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BE75A82-2417-455C-BF49-8BC77D49FA9D}"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41E48D-3178-4969-9A5C-45DFDA619D70}" type="datetime1">
              <a:rPr lang="en-GB" smtClean="0"/>
              <a:t>28/04/2025</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E75A82-2417-455C-BF49-8BC77D49FA9D}"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CAA164-BD06-4DC0-8508-CE9CD3E688E3}" type="datetime1">
              <a:rPr lang="en-GB" smtClean="0"/>
              <a:t>28/04/2025</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E75A82-2417-455C-BF49-8BC77D49FA9D}"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BF0981-A9DF-4D39-BCDC-792ABAE223D4}" type="datetime1">
              <a:rPr lang="en-GB" smtClean="0"/>
              <a:t>28/04/2025</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BE75A82-2417-455C-BF49-8BC77D49FA9D}"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D200EF-774B-45AF-86B5-56E128616D26}" type="datetime1">
              <a:rPr lang="en-GB" smtClean="0"/>
              <a:t>28/04/2025</a:t>
            </a:fld>
            <a:endParaRPr lang="en-GB"/>
          </a:p>
        </p:txBody>
      </p:sp>
      <p:sp>
        <p:nvSpPr>
          <p:cNvPr id="8" name="Footer Placeholder 7"/>
          <p:cNvSpPr>
            <a:spLocks noGrp="1"/>
          </p:cNvSpPr>
          <p:nvPr>
            <p:ph type="ftr" sz="quarter" idx="11"/>
          </p:nvPr>
        </p:nvSpPr>
        <p:spPr/>
        <p:txBody>
          <a:bodyPr/>
          <a:lstStyle/>
          <a:p>
            <a:endParaRPr lang="en-GB"/>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BE75A82-2417-455C-BF49-8BC77D49FA9D}"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1AF8E9-7970-4433-A1F5-BC2DA61645FB}" type="datetime1">
              <a:rPr lang="en-GB" smtClean="0"/>
              <a:t>28/04/2025</a:t>
            </a:fld>
            <a:endParaRPr lang="en-GB"/>
          </a:p>
        </p:txBody>
      </p:sp>
      <p:sp>
        <p:nvSpPr>
          <p:cNvPr id="4" name="Footer Placeholder 3"/>
          <p:cNvSpPr>
            <a:spLocks noGrp="1"/>
          </p:cNvSpPr>
          <p:nvPr>
            <p:ph type="ftr" sz="quarter" idx="11"/>
          </p:nvPr>
        </p:nvSpPr>
        <p:spPr/>
        <p:txBody>
          <a:bodyPr/>
          <a:lstStyle/>
          <a:p>
            <a:endParaRPr lang="en-GB"/>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BE75A82-2417-455C-BF49-8BC77D49FA9D}"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456501-28AB-474F-B348-D04254D40A16}" type="datetime1">
              <a:rPr lang="en-GB" smtClean="0"/>
              <a:t>28/04/2025</a:t>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BE75A82-2417-455C-BF49-8BC77D49FA9D}"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7D35D68-FAEA-4665-BA4B-8B336C7888C6}" type="datetime1">
              <a:rPr lang="en-GB" smtClean="0"/>
              <a:t>28/04/2025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BE75A82-2417-455C-BF49-8BC77D49FA9D}"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C14EF0C-7ED6-4CA6-B5C7-3625BFC78BA0}" type="datetime1">
              <a:rPr lang="en-GB" smtClean="0"/>
              <a:t>28/04/2025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E2D3BF3-B4BD-4BC1-8C80-6D2783FE851C}" type="datetime1">
              <a:rPr lang="en-GB" smtClean="0"/>
              <a:t>28/04/2025</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E75A82-2417-455C-BF49-8BC77D49FA9D}"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B1ED4FD-4423-4F7B-A547-0B060E347A74}" type="datetime1">
              <a:rPr lang="en-GB" smtClean="0"/>
              <a:t>28/04/2025</a:t>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E75A82-2417-455C-BF49-8BC77D49FA9D}" type="slidenum">
              <a:rPr lang="en-GB" smtClean="0"/>
              <a:t>‹#›</a:t>
            </a:fld>
            <a:endParaRPr lang="en-GB"/>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CA9F0F62-C0E9-4ECB-A7FE-2E078C0CE7A9}" type="datetime1">
              <a:rPr lang="en-GB" smtClean="0"/>
              <a:t>28/04/2025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030CD46-7C61-4FD6-9F0C-6EF8C611CAF2}" type="datetime1">
              <a:rPr lang="en-GB" smtClean="0"/>
              <a:t>28/04/2025</a:t>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t>‹#›</a:t>
            </a:fld>
            <a:endParaRPr lang="en-GB"/>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970A744E-318E-4E1D-A7DB-5BBAAF3151F5}" type="datetime1">
              <a:rPr lang="en-GB" smtClean="0"/>
              <a:t>28/04/2025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t>‹#›</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FCD25-4487-40A8-A98F-1EADDA3CA2F8}" type="datetime1">
              <a:rPr lang="en-GB" smtClean="0"/>
              <a:t>28/04/2025</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E75A82-2417-455C-BF49-8BC77D49FA9D}" type="slidenum">
              <a:rPr lang="en-GB" smtClean="0"/>
              <a:t>‹#›</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158AC4-9216-489C-AD1B-F4EFDD367D86}" type="datetime1">
              <a:rPr lang="en-GB" smtClean="0"/>
              <a:t>28/04/2025</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E75A82-2417-455C-BF49-8BC77D49FA9D}" type="slidenum">
              <a:rPr lang="en-GB" smtClean="0"/>
              <a:t>‹#›</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7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533400"/>
          </a:xfrm>
        </p:spPr>
        <p:txBody>
          <a:bodyPr/>
          <a:lstStyle>
            <a:lvl1pPr algn="l">
              <a:defRPr sz="1600" b="1" i="0">
                <a:solidFill>
                  <a:srgbClr val="D95900"/>
                </a:solidFill>
                <a:latin typeface="Arial" panose="020B0604020202020204"/>
                <a:cs typeface="Arial" panose="020B0604020202020204"/>
              </a:defRPr>
            </a:lvl1pPr>
          </a:lstStyle>
          <a:p>
            <a:r>
              <a:rPr lang="en-US"/>
              <a:t>Click to edit Master title style</a:t>
            </a:r>
          </a:p>
        </p:txBody>
      </p:sp>
      <p:sp>
        <p:nvSpPr>
          <p:cNvPr id="7" name="Text Placeholder 5"/>
          <p:cNvSpPr>
            <a:spLocks noGrp="1"/>
          </p:cNvSpPr>
          <p:nvPr>
            <p:ph type="body" sz="quarter" idx="10"/>
          </p:nvPr>
        </p:nvSpPr>
        <p:spPr>
          <a:xfrm>
            <a:off x="609600" y="1189038"/>
            <a:ext cx="10972800" cy="4079875"/>
          </a:xfrm>
        </p:spPr>
        <p:txBody>
          <a:bodyPr/>
          <a:lstStyle>
            <a:lvl1pPr>
              <a:buFontTx/>
              <a:buNone/>
              <a:defRPr/>
            </a:lvl1pPr>
            <a:lvl2pPr>
              <a:buFontTx/>
              <a:buNone/>
              <a:defRPr/>
            </a:lvl2pPr>
            <a:lvl3pPr>
              <a:buFontTx/>
              <a:buNone/>
              <a:defRPr/>
            </a:lvl3pPr>
            <a:lvl4pPr>
              <a:buFontTx/>
              <a:buNone/>
              <a:defRPr/>
            </a:lvl4pPr>
            <a:lvl5pPr>
              <a:buFontTx/>
              <a:buNone/>
              <a:defRPr/>
            </a:lvl5pPr>
          </a:lstStyle>
          <a:p>
            <a:pPr lvl="0"/>
            <a:r>
              <a:rPr lang="en-US"/>
              <a:t>Click to edit Master text styles</a:t>
            </a:r>
          </a:p>
        </p:txBody>
      </p:sp>
      <p:sp>
        <p:nvSpPr>
          <p:cNvPr id="4" name="Footer Placeholder 8"/>
          <p:cNvSpPr>
            <a:spLocks noGrp="1"/>
          </p:cNvSpPr>
          <p:nvPr>
            <p:ph type="ftr" sz="quarter" idx="11"/>
          </p:nvPr>
        </p:nvSpPr>
        <p:spPr>
          <a:xfrm>
            <a:off x="609600" y="6248400"/>
            <a:ext cx="7112000" cy="228600"/>
          </a:xfrm>
        </p:spPr>
        <p:txBody>
          <a:bodyPr/>
          <a:lstStyle>
            <a:lvl1pPr algn="l" defTabSz="914400">
              <a:defRPr sz="1000">
                <a:solidFill>
                  <a:srgbClr val="D95900"/>
                </a:solidFill>
                <a:latin typeface="Arial" panose="020B0604020202020204" pitchFamily="34" charset="0"/>
                <a:cs typeface="Arial" panose="020B0604020202020204" pitchFamily="34" charset="0"/>
              </a:defRPr>
            </a:lvl1pPr>
          </a:lstStyle>
          <a:p>
            <a:pPr>
              <a:defRPr/>
            </a:pP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1"/>
            <a:ext cx="10972800" cy="4530725"/>
          </a:xfrm>
        </p:spPr>
        <p:txBody>
          <a:bodyPr/>
          <a:lstStyle/>
          <a:p>
            <a:pPr lvl="0"/>
            <a:endParaRPr lang="en-US" noProof="0"/>
          </a:p>
        </p:txBody>
      </p:sp>
      <p:sp>
        <p:nvSpPr>
          <p:cNvPr id="4" name="Rectangle 4"/>
          <p:cNvSpPr>
            <a:spLocks noGrp="1" noChangeArrowheads="1"/>
          </p:cNvSpPr>
          <p:nvPr>
            <p:ph type="dt" sz="half" idx="10"/>
          </p:nvPr>
        </p:nvSpPr>
        <p:spPr/>
        <p:txBody>
          <a:bodyPr/>
          <a:lstStyle>
            <a:lvl1pPr>
              <a:defRPr/>
            </a:lvl1pPr>
          </a:lstStyle>
          <a:p>
            <a:pPr>
              <a:defRPr/>
            </a:pPr>
            <a:endParaRPr lang="en-GB" altLang="en-US"/>
          </a:p>
        </p:txBody>
      </p:sp>
      <p:sp>
        <p:nvSpPr>
          <p:cNvPr id="5" name="Rectangle 5"/>
          <p:cNvSpPr>
            <a:spLocks noGrp="1" noChangeArrowheads="1"/>
          </p:cNvSpPr>
          <p:nvPr>
            <p:ph type="ftr" sz="quarter" idx="11"/>
          </p:nvPr>
        </p:nvSpPr>
        <p:spPr/>
        <p:txBody>
          <a:bodyPr/>
          <a:lstStyle>
            <a:lvl1pPr>
              <a:defRPr/>
            </a:lvl1pPr>
          </a:lstStyle>
          <a:p>
            <a:pPr>
              <a:defRPr/>
            </a:pPr>
            <a:endParaRPr lang="en-GB" altLang="en-US"/>
          </a:p>
        </p:txBody>
      </p:sp>
      <p:sp>
        <p:nvSpPr>
          <p:cNvPr id="6" name="Rectangle 6"/>
          <p:cNvSpPr>
            <a:spLocks noGrp="1" noChangeArrowheads="1"/>
          </p:cNvSpPr>
          <p:nvPr>
            <p:ph type="sldNum" sz="quarter" idx="12"/>
          </p:nvPr>
        </p:nvSpPr>
        <p:spPr/>
        <p:txBody>
          <a:bodyPr/>
          <a:lstStyle>
            <a:lvl1pPr>
              <a:defRPr/>
            </a:lvl1pPr>
          </a:lstStyle>
          <a:p>
            <a:pPr>
              <a:defRPr/>
            </a:pPr>
            <a:fld id="{E0010FD5-74FD-4C02-9C90-BC3F7B79E2E4}" type="slidenum">
              <a:rPr lang="en-GB" altLang="en-US"/>
              <a:t>‹#›</a:t>
            </a:fld>
            <a:endParaRPr lang="en-GB"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624417" y="1628776"/>
            <a:ext cx="5384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2417" y="1628776"/>
            <a:ext cx="5384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reeform 11"/>
          <p:cNvSpPr/>
          <p:nvPr userDrawn="1"/>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787782"/>
            <a:ext cx="779767" cy="365125"/>
          </a:xfrm>
        </p:spPr>
        <p:txBody>
          <a:bodyPr/>
          <a:lstStyle/>
          <a:p>
            <a:fld id="{7BE75A82-2417-455C-BF49-8BC77D49FA9D}" type="slidenum">
              <a:rPr lang="en-GB" smtClean="0"/>
              <a:t>‹#›</a:t>
            </a:fld>
            <a:endParaRPr lang="en-GB"/>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1"/>
          <p:cNvSpPr>
            <a:spLocks noGrp="1" noChangeArrowheads="1"/>
          </p:cNvSpPr>
          <p:nvPr>
            <p:ph type="dt" sz="half" idx="10"/>
          </p:nvPr>
        </p:nvSpPr>
        <p:spPr/>
        <p:txBody>
          <a:bodyPr/>
          <a:lstStyle>
            <a:lvl1pPr>
              <a:defRPr/>
            </a:lvl1pPr>
          </a:lstStyle>
          <a:p>
            <a:pPr>
              <a:defRPr/>
            </a:pPr>
            <a:endParaRPr lang="en-GB"/>
          </a:p>
        </p:txBody>
      </p:sp>
      <p:sp>
        <p:nvSpPr>
          <p:cNvPr id="7" name="Rectangle 12"/>
          <p:cNvSpPr>
            <a:spLocks noGrp="1" noChangeArrowheads="1"/>
          </p:cNvSpPr>
          <p:nvPr>
            <p:ph type="ftr" sz="quarter" idx="11"/>
          </p:nvPr>
        </p:nvSpPr>
        <p:spPr/>
        <p:txBody>
          <a:bodyPr/>
          <a:lstStyle>
            <a:lvl1pPr>
              <a:defRPr/>
            </a:lvl1pPr>
          </a:lstStyle>
          <a:p>
            <a:pPr>
              <a:defRPr/>
            </a:pPr>
            <a:endParaRPr lang="en-GB"/>
          </a:p>
        </p:txBody>
      </p:sp>
      <p:sp>
        <p:nvSpPr>
          <p:cNvPr id="9" name="Slide Number Placeholder 3"/>
          <p:cNvSpPr txBox="1"/>
          <p:nvPr userDrawn="1"/>
        </p:nvSpPr>
        <p:spPr>
          <a:xfrm>
            <a:off x="684212" y="940182"/>
            <a:ext cx="779767"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rgbClr val="FE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4417" y="1628776"/>
            <a:ext cx="5384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12417" y="1628776"/>
            <a:ext cx="5384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49AE223-18DC-4218-A1FD-999B1D0A8C0C}" type="datetime1">
              <a:rPr lang="en-GB" smtClean="0"/>
              <a:t>28/04/2025</a:t>
            </a:fld>
            <a:endParaRPr lang="en-GB"/>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BE75A82-2417-455C-BF49-8BC77D49FA9D}"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uthomi@uonbi.ac.k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4.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3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image" Target="../media/image38.jpeg"/><Relationship Id="rId4" Type="http://schemas.openxmlformats.org/officeDocument/2006/relationships/image" Target="../media/image37.jpeg"/></Relationships>
</file>

<file path=ppt/slides/_rels/slide6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4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4575" y="1400175"/>
            <a:ext cx="10767060" cy="2262505"/>
          </a:xfrm>
        </p:spPr>
        <p:txBody>
          <a:bodyPr>
            <a:normAutofit fontScale="90000"/>
          </a:bodyPr>
          <a:lstStyle/>
          <a:p>
            <a:pPr algn="ctr"/>
            <a:r>
              <a:rPr lang="en-GB" sz="4000" b="1" dirty="0"/>
              <a:t>FCC3 246: CONCRETE MATERIALS</a:t>
            </a:r>
            <a:br>
              <a:rPr lang="en-GB" sz="4000" b="1" dirty="0"/>
            </a:br>
            <a:br>
              <a:rPr lang="en-GB" sz="4000" b="1" dirty="0"/>
            </a:br>
            <a:r>
              <a:rPr lang="en-US" altLang="en-GB" sz="4000" b="1" dirty="0"/>
              <a:t>Lecture 11: PROPERTIES OF AND TESTS ON - HARD CONCRETE</a:t>
            </a:r>
          </a:p>
        </p:txBody>
      </p:sp>
      <p:sp>
        <p:nvSpPr>
          <p:cNvPr id="3" name="Subtitle 2"/>
          <p:cNvSpPr>
            <a:spLocks noGrp="1"/>
          </p:cNvSpPr>
          <p:nvPr>
            <p:ph type="subTitle" idx="1"/>
          </p:nvPr>
        </p:nvSpPr>
        <p:spPr/>
        <p:txBody>
          <a:bodyPr>
            <a:normAutofit lnSpcReduction="10000"/>
          </a:bodyPr>
          <a:lstStyle/>
          <a:p>
            <a:r>
              <a:rPr lang="en-GB"/>
              <a:t>Department of Civil &amp; Construction Engineering</a:t>
            </a:r>
          </a:p>
          <a:p>
            <a:r>
              <a:rPr lang="en-GB"/>
              <a:t>University of Nairobi</a:t>
            </a:r>
          </a:p>
          <a:p>
            <a:r>
              <a:rPr lang="en-GB" i="1">
                <a:solidFill>
                  <a:srgbClr val="0070C0"/>
                </a:solidFill>
                <a:hlinkClick r:id="rId2"/>
              </a:rPr>
              <a:t>m</a:t>
            </a:r>
            <a:r>
              <a:rPr lang="en-US" altLang="en-GB" i="1">
                <a:solidFill>
                  <a:srgbClr val="0070C0"/>
                </a:solidFill>
                <a:hlinkClick r:id="rId2"/>
              </a:rPr>
              <a:t>wauras</a:t>
            </a:r>
            <a:r>
              <a:rPr lang="en-GB" i="1">
                <a:solidFill>
                  <a:srgbClr val="0070C0"/>
                </a:solidFill>
                <a:hlinkClick r:id="rId2"/>
              </a:rPr>
              <a:t>@uonbi.ac.ke</a:t>
            </a:r>
            <a:r>
              <a:rPr lang="en-GB" i="1">
                <a:solidFill>
                  <a:srgbClr val="0070C0"/>
                </a:solidFill>
              </a:rPr>
              <a:t> </a:t>
            </a:r>
            <a:endParaRPr lang="en-GB"/>
          </a:p>
          <a:p>
            <a:endParaRPr lang="en-GB"/>
          </a:p>
        </p:txBody>
      </p:sp>
      <p:sp>
        <p:nvSpPr>
          <p:cNvPr id="4" name="Slide Number Placeholder 3"/>
          <p:cNvSpPr>
            <a:spLocks noGrp="1"/>
          </p:cNvSpPr>
          <p:nvPr>
            <p:ph type="sldNum" sz="quarter" idx="12"/>
          </p:nvPr>
        </p:nvSpPr>
        <p:spPr>
          <a:xfrm>
            <a:off x="160752" y="4412254"/>
            <a:ext cx="952431" cy="597068"/>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4000" b="0" i="0" u="none" strike="noStrike" kern="1200" cap="none" spc="0" normalizeH="0" baseline="0" noProof="0" smtClean="0">
                <a:ln>
                  <a:noFill/>
                </a:ln>
                <a:solidFill>
                  <a:srgbClr val="FEFFFF"/>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4000" b="0" i="0" u="none" strike="noStrike" kern="1200" cap="none" spc="0" normalizeH="0" baseline="0" noProof="0">
              <a:ln>
                <a:noFill/>
              </a:ln>
              <a:solidFill>
                <a:srgbClr val="FEFFFF"/>
              </a:solidFill>
              <a:effectLst/>
              <a:uLnTx/>
              <a:uFillTx/>
              <a:latin typeface="Century Gothic"/>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981200" y="-171450"/>
            <a:ext cx="8229600" cy="1132840"/>
          </a:xfrm>
          <a:noFill/>
        </p:spPr>
        <p:txBody>
          <a:bodyPr vert="horz" lIns="90488" tIns="44450" rIns="90488" bIns="44450" rtlCol="0" anchor="b">
            <a:normAutofit/>
          </a:bodyPr>
          <a:lstStyle/>
          <a:p>
            <a:pPr algn="ctr"/>
            <a:r>
              <a:rPr lang="en-US" altLang="en-ZA" sz="4000" b="1"/>
              <a:t>Properties of Plain Concrete</a:t>
            </a:r>
          </a:p>
        </p:txBody>
      </p:sp>
      <p:sp>
        <p:nvSpPr>
          <p:cNvPr id="5123" name="Rectangle 3"/>
          <p:cNvSpPr>
            <a:spLocks noGrp="1" noChangeArrowheads="1"/>
          </p:cNvSpPr>
          <p:nvPr>
            <p:ph type="body" sz="quarter" idx="10"/>
          </p:nvPr>
        </p:nvSpPr>
        <p:spPr>
          <a:xfrm>
            <a:off x="1991360" y="1196975"/>
            <a:ext cx="10010775" cy="1380490"/>
          </a:xfrm>
          <a:noFill/>
        </p:spPr>
        <p:txBody>
          <a:bodyPr vert="horz" lIns="90488" tIns="44450" rIns="90488" bIns="44450" rtlCol="0">
            <a:normAutofit/>
          </a:bodyPr>
          <a:lstStyle/>
          <a:p>
            <a:pPr>
              <a:buFont typeface="Arial" panose="020B0604020202020204" pitchFamily="34" charset="0"/>
              <a:buChar char="•"/>
            </a:pPr>
            <a:r>
              <a:rPr lang="en-US" sz="2800" b="1" dirty="0"/>
              <a:t>Properties of concrete may be those in plastic (fresh, wet or green) stage, and also in the hardened state</a:t>
            </a:r>
          </a:p>
          <a:p>
            <a:pPr>
              <a:buFont typeface="Arial" panose="020B0604020202020204" pitchFamily="34" charset="0"/>
              <a:buChar char="•"/>
            </a:pPr>
            <a:endParaRPr lang="en-US" sz="2800" b="1" dirty="0"/>
          </a:p>
          <a:p>
            <a:pPr>
              <a:buFont typeface="Arial" panose="020B0604020202020204" pitchFamily="34" charset="0"/>
              <a:buChar char="•"/>
            </a:pPr>
            <a:endParaRPr lang="en-US" sz="2800" b="1" dirty="0"/>
          </a:p>
        </p:txBody>
      </p:sp>
      <p:pic>
        <p:nvPicPr>
          <p:cNvPr id="3" name="Picture 2"/>
          <p:cNvPicPr/>
          <p:nvPr/>
        </p:nvPicPr>
        <p:blipFill>
          <a:blip r:embed="rId3"/>
          <a:stretch>
            <a:fillRect/>
          </a:stretch>
        </p:blipFill>
        <p:spPr>
          <a:xfrm>
            <a:off x="7542530" y="3023235"/>
            <a:ext cx="3464560" cy="2588895"/>
          </a:xfrm>
          <a:prstGeom prst="rect">
            <a:avLst/>
          </a:prstGeom>
        </p:spPr>
      </p:pic>
      <p:pic>
        <p:nvPicPr>
          <p:cNvPr id="4" name="Picture 3"/>
          <p:cNvPicPr/>
          <p:nvPr/>
        </p:nvPicPr>
        <p:blipFill>
          <a:blip r:embed="rId4"/>
          <a:stretch>
            <a:fillRect/>
          </a:stretch>
        </p:blipFill>
        <p:spPr>
          <a:xfrm>
            <a:off x="2311400" y="3023235"/>
            <a:ext cx="3284855" cy="25133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bwMode="auto">
          <a:xfrm>
            <a:off x="2209800" y="404814"/>
            <a:ext cx="7773988" cy="858837"/>
          </a:xfrm>
          <a:noFill/>
          <a:ln>
            <a:miter lim="800000"/>
          </a:ln>
        </p:spPr>
        <p:txBody>
          <a:bodyPr vert="horz" wrap="square" lIns="90488" tIns="44450" rIns="90488" bIns="44450" numCol="1" rtlCol="0" anchor="t" anchorCtr="0" compatLnSpc="1">
            <a:normAutofit fontScale="90000"/>
          </a:bodyPr>
          <a:lstStyle/>
          <a:p>
            <a:pPr algn="ctr" eaLnBrk="1" hangingPunct="1"/>
            <a:r>
              <a:rPr lang="en-US" sz="4000" b="1" dirty="0"/>
              <a:t>Compaction </a:t>
            </a:r>
            <a:br>
              <a:rPr lang="en-US" b="1" dirty="0"/>
            </a:br>
            <a:endParaRPr lang="en-US" b="1" dirty="0"/>
          </a:p>
        </p:txBody>
      </p:sp>
      <p:sp>
        <p:nvSpPr>
          <p:cNvPr id="204803" name="Rectangle 3"/>
          <p:cNvSpPr>
            <a:spLocks noGrp="1" noChangeArrowheads="1"/>
          </p:cNvSpPr>
          <p:nvPr>
            <p:ph type="body" sz="quarter" idx="10"/>
          </p:nvPr>
        </p:nvSpPr>
        <p:spPr bwMode="auto">
          <a:xfrm>
            <a:off x="1703388" y="1341438"/>
            <a:ext cx="5759450" cy="4876800"/>
          </a:xfrm>
          <a:noFill/>
          <a:ln>
            <a:miter lim="800000"/>
          </a:ln>
        </p:spPr>
        <p:txBody>
          <a:bodyPr vert="horz" wrap="square" lIns="90488" tIns="44450" rIns="90488" bIns="44450" numCol="1" rtlCol="0" anchor="t" anchorCtr="0" compatLnSpc="1">
            <a:normAutofit/>
          </a:bodyPr>
          <a:lstStyle/>
          <a:p>
            <a:pPr eaLnBrk="1" hangingPunct="1">
              <a:buFont typeface="Arial" panose="020B0604020202020204" pitchFamily="34" charset="0"/>
              <a:buChar char="•"/>
            </a:pPr>
            <a:r>
              <a:rPr lang="en-US" sz="2800"/>
              <a:t>Entrapped air in the concrete</a:t>
            </a:r>
          </a:p>
          <a:p>
            <a:pPr lvl="1" eaLnBrk="1" hangingPunct="1">
              <a:buFont typeface="Arial" panose="020B0604020202020204" pitchFamily="34" charset="0"/>
              <a:buChar char="•"/>
            </a:pPr>
            <a:r>
              <a:rPr lang="en-US" sz="2400">
                <a:solidFill>
                  <a:schemeClr val="accent6">
                    <a:lumMod val="75000"/>
                  </a:schemeClr>
                </a:solidFill>
              </a:rPr>
              <a:t>1% air reduces concrete strength by 5% to 6%</a:t>
            </a:r>
          </a:p>
          <a:p>
            <a:pPr lvl="1" eaLnBrk="1" hangingPunct="1">
              <a:buFont typeface="Arial" panose="020B0604020202020204" pitchFamily="34" charset="0"/>
              <a:buChar char="•"/>
            </a:pPr>
            <a:r>
              <a:rPr lang="en-US" sz="2400">
                <a:solidFill>
                  <a:schemeClr val="accent6">
                    <a:lumMod val="75000"/>
                  </a:schemeClr>
                </a:solidFill>
              </a:rPr>
              <a:t>It increases permeability</a:t>
            </a:r>
          </a:p>
          <a:p>
            <a:pPr lvl="1" eaLnBrk="1" hangingPunct="1">
              <a:buFont typeface="Arial" panose="020B0604020202020204" pitchFamily="34" charset="0"/>
              <a:buChar char="•"/>
            </a:pPr>
            <a:r>
              <a:rPr lang="en-US" sz="2400">
                <a:solidFill>
                  <a:schemeClr val="accent6">
                    <a:lumMod val="75000"/>
                  </a:schemeClr>
                </a:solidFill>
              </a:rPr>
              <a:t>Reduces bond to steel</a:t>
            </a:r>
          </a:p>
          <a:p>
            <a:pPr lvl="1" eaLnBrk="1" hangingPunct="1">
              <a:buFont typeface="Arial" panose="020B0604020202020204" pitchFamily="34" charset="0"/>
              <a:buChar char="•"/>
            </a:pPr>
            <a:r>
              <a:rPr lang="en-US" sz="2400">
                <a:solidFill>
                  <a:schemeClr val="accent6">
                    <a:lumMod val="75000"/>
                  </a:schemeClr>
                </a:solidFill>
              </a:rPr>
              <a:t>Voids are aesthetically displeasing</a:t>
            </a:r>
          </a:p>
          <a:p>
            <a:pPr eaLnBrk="1" hangingPunct="1">
              <a:buFont typeface="Arial" panose="020B0604020202020204" pitchFamily="34" charset="0"/>
              <a:buChar char="•"/>
            </a:pPr>
            <a:r>
              <a:rPr lang="en-US" sz="2800"/>
              <a:t>Protect steel reinforcement</a:t>
            </a:r>
          </a:p>
          <a:p>
            <a:pPr eaLnBrk="1" hangingPunct="1">
              <a:buFont typeface="Arial" panose="020B0604020202020204" pitchFamily="34" charset="0"/>
              <a:buChar char="•"/>
            </a:pPr>
            <a:r>
              <a:rPr lang="en-US" sz="2800"/>
              <a:t>Off shutter finish</a:t>
            </a:r>
          </a:p>
        </p:txBody>
      </p:sp>
      <p:pic>
        <p:nvPicPr>
          <p:cNvPr id="79876" name="Picture 3" descr="Str v air"/>
          <p:cNvPicPr>
            <a:picLocks noChangeAspect="1" noChangeArrowheads="1"/>
          </p:cNvPicPr>
          <p:nvPr/>
        </p:nvPicPr>
        <p:blipFill>
          <a:blip r:embed="rId3" cstate="print"/>
          <a:srcRect/>
          <a:stretch>
            <a:fillRect/>
          </a:stretch>
        </p:blipFill>
        <p:spPr bwMode="auto">
          <a:xfrm>
            <a:off x="8105139" y="1341438"/>
            <a:ext cx="3347864" cy="2767416"/>
          </a:xfrm>
          <a:prstGeom prst="rect">
            <a:avLst/>
          </a:prstGeom>
          <a:noFill/>
          <a:ln w="3175">
            <a:solidFill>
              <a:schemeClr val="tx1"/>
            </a:solidFill>
            <a:miter lim="800000"/>
            <a:headEnd/>
            <a:tailEnd/>
          </a:ln>
        </p:spPr>
      </p:pic>
    </p:spTree>
    <p:extLst>
      <p:ext uri="{BB962C8B-B14F-4D97-AF65-F5344CB8AC3E}">
        <p14:creationId xmlns:p14="http://schemas.microsoft.com/office/powerpoint/2010/main" val="4189708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bwMode="auto">
          <a:xfrm>
            <a:off x="2209800" y="-26988"/>
            <a:ext cx="7772400" cy="1143001"/>
          </a:xfrm>
          <a:noFill/>
          <a:ln>
            <a:miter lim="800000"/>
          </a:ln>
        </p:spPr>
        <p:txBody>
          <a:bodyPr vert="horz" wrap="square" lIns="90488" tIns="44450" rIns="90488" bIns="44450" numCol="1" rtlCol="0" anchor="b" anchorCtr="0" compatLnSpc="1">
            <a:normAutofit/>
          </a:bodyPr>
          <a:lstStyle/>
          <a:p>
            <a:pPr eaLnBrk="1" hangingPunct="1"/>
            <a:r>
              <a:rPr lang="en-US" sz="4000" b="1" dirty="0"/>
              <a:t>Curing</a:t>
            </a:r>
          </a:p>
        </p:txBody>
      </p:sp>
      <p:sp>
        <p:nvSpPr>
          <p:cNvPr id="36867" name="Rectangle 3"/>
          <p:cNvSpPr>
            <a:spLocks noGrp="1" noChangeArrowheads="1"/>
          </p:cNvSpPr>
          <p:nvPr>
            <p:ph type="body" sz="quarter" idx="10"/>
          </p:nvPr>
        </p:nvSpPr>
        <p:spPr bwMode="auto">
          <a:xfrm>
            <a:off x="1775520" y="3149617"/>
            <a:ext cx="5402262" cy="3096344"/>
          </a:xfrm>
          <a:noFill/>
          <a:ln>
            <a:miter lim="800000"/>
          </a:ln>
        </p:spPr>
        <p:txBody>
          <a:bodyPr vert="horz" wrap="square" lIns="90488" tIns="44450" rIns="90488" bIns="44450" numCol="1" rtlCol="0" anchor="t" anchorCtr="0" compatLnSpc="1">
            <a:normAutofit/>
          </a:bodyPr>
          <a:lstStyle/>
          <a:p>
            <a:pPr eaLnBrk="1" hangingPunct="1">
              <a:buFont typeface="Arial" panose="020B0604020202020204" pitchFamily="34" charset="0"/>
              <a:buChar char="•"/>
            </a:pPr>
            <a:r>
              <a:rPr lang="en-US" sz="2800" dirty="0"/>
              <a:t>Description</a:t>
            </a:r>
          </a:p>
          <a:p>
            <a:pPr lvl="1" eaLnBrk="1" hangingPunct="1">
              <a:buFont typeface="Arial" panose="020B0604020202020204" pitchFamily="34" charset="0"/>
              <a:buChar char="•"/>
            </a:pPr>
            <a:r>
              <a:rPr lang="en-US" sz="2400" dirty="0">
                <a:solidFill>
                  <a:schemeClr val="accent6">
                    <a:lumMod val="75000"/>
                  </a:schemeClr>
                </a:solidFill>
              </a:rPr>
              <a:t>Promotion of hydration </a:t>
            </a:r>
          </a:p>
          <a:p>
            <a:pPr marL="1200150" lvl="2" indent="-285750">
              <a:buFont typeface="Arial" panose="020B0604020202020204" pitchFamily="34" charset="0"/>
              <a:buChar char="•"/>
            </a:pPr>
            <a:r>
              <a:rPr lang="en-US" sz="2000" dirty="0">
                <a:solidFill>
                  <a:schemeClr val="accent6">
                    <a:lumMod val="75000"/>
                  </a:schemeClr>
                </a:solidFill>
              </a:rPr>
              <a:t>Control moisture</a:t>
            </a:r>
          </a:p>
          <a:p>
            <a:pPr marL="1200150" lvl="2" indent="-285750">
              <a:buFont typeface="Arial" panose="020B0604020202020204" pitchFamily="34" charset="0"/>
              <a:buChar char="•"/>
            </a:pPr>
            <a:r>
              <a:rPr lang="en-US" sz="2000" dirty="0">
                <a:solidFill>
                  <a:schemeClr val="accent6">
                    <a:lumMod val="75000"/>
                  </a:schemeClr>
                </a:solidFill>
              </a:rPr>
              <a:t>Control temperature</a:t>
            </a:r>
          </a:p>
          <a:p>
            <a:pPr lvl="1" eaLnBrk="1" hangingPunct="1">
              <a:buFont typeface="Arial" panose="020B0604020202020204" pitchFamily="34" charset="0"/>
              <a:buChar char="•"/>
            </a:pPr>
            <a:r>
              <a:rPr lang="en-US" sz="2400" dirty="0">
                <a:solidFill>
                  <a:schemeClr val="accent6">
                    <a:lumMod val="75000"/>
                  </a:schemeClr>
                </a:solidFill>
              </a:rPr>
              <a:t>Need 80% humidity in pores for hydration</a:t>
            </a:r>
          </a:p>
          <a:p>
            <a:pPr lvl="1" eaLnBrk="1" hangingPunct="1"/>
            <a:endParaRPr lang="en-US" dirty="0"/>
          </a:p>
        </p:txBody>
      </p:sp>
      <p:pic>
        <p:nvPicPr>
          <p:cNvPr id="80900" name="Picture 3" descr="Str vs curing"/>
          <p:cNvPicPr>
            <a:picLocks noChangeAspect="1" noChangeArrowheads="1"/>
          </p:cNvPicPr>
          <p:nvPr/>
        </p:nvPicPr>
        <p:blipFill>
          <a:blip r:embed="rId3" cstate="print"/>
          <a:srcRect/>
          <a:stretch>
            <a:fillRect/>
          </a:stretch>
        </p:blipFill>
        <p:spPr bwMode="auto">
          <a:xfrm>
            <a:off x="7858795" y="544512"/>
            <a:ext cx="4246810" cy="3347183"/>
          </a:xfrm>
          <a:prstGeom prst="rect">
            <a:avLst/>
          </a:prstGeom>
          <a:noFill/>
          <a:ln w="3175">
            <a:solidFill>
              <a:schemeClr val="tx1"/>
            </a:solidFill>
            <a:miter lim="800000"/>
            <a:headEnd/>
            <a:tailEnd/>
          </a:ln>
        </p:spPr>
      </p:pic>
    </p:spTree>
    <p:extLst>
      <p:ext uri="{BB962C8B-B14F-4D97-AF65-F5344CB8AC3E}">
        <p14:creationId xmlns:p14="http://schemas.microsoft.com/office/powerpoint/2010/main" val="1165705720"/>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209800" y="116632"/>
            <a:ext cx="7772400" cy="792088"/>
          </a:xfrm>
        </p:spPr>
        <p:txBody>
          <a:bodyPr/>
          <a:lstStyle/>
          <a:p>
            <a:pPr eaLnBrk="1" hangingPunct="1"/>
            <a:r>
              <a:rPr lang="en-US" sz="4000" dirty="0"/>
              <a:t>Hardening of Concrete</a:t>
            </a:r>
          </a:p>
        </p:txBody>
      </p:sp>
      <p:sp>
        <p:nvSpPr>
          <p:cNvPr id="13315" name="Rectangle 3"/>
          <p:cNvSpPr>
            <a:spLocks noGrp="1" noChangeArrowheads="1"/>
          </p:cNvSpPr>
          <p:nvPr>
            <p:ph type="body" sz="half" idx="1"/>
          </p:nvPr>
        </p:nvSpPr>
        <p:spPr>
          <a:xfrm>
            <a:off x="1525440" y="980728"/>
            <a:ext cx="4572000" cy="4114800"/>
          </a:xfrm>
        </p:spPr>
        <p:txBody>
          <a:bodyPr>
            <a:normAutofit fontScale="92500" lnSpcReduction="10000"/>
          </a:bodyPr>
          <a:lstStyle/>
          <a:p>
            <a:pPr eaLnBrk="1" hangingPunct="1">
              <a:buFontTx/>
              <a:buNone/>
            </a:pPr>
            <a:r>
              <a:rPr lang="en-US" sz="2000"/>
              <a:t>	</a:t>
            </a:r>
            <a:r>
              <a:rPr lang="en-US" sz="2800"/>
              <a:t>Unlike mud which becomes hard as a consequence of drying, concrete sets and gains strength because of a chemical reaction between grains of cement and water.  This chemical reaction is called hydration and is exothermic.  </a:t>
            </a:r>
          </a:p>
        </p:txBody>
      </p:sp>
      <p:pic>
        <p:nvPicPr>
          <p:cNvPr id="13317" name="Picture 8" descr="DSC00378"/>
          <p:cNvPicPr>
            <a:picLocks noGrp="1" noChangeAspect="1" noChangeArrowheads="1"/>
          </p:cNvPicPr>
          <p:nvPr>
            <p:ph sz="quarter" idx="2"/>
          </p:nvPr>
        </p:nvPicPr>
        <p:blipFill>
          <a:blip r:embed="rId3" cstate="print"/>
          <a:srcRect l="14062" t="2083" r="9375" b="2083"/>
          <a:stretch>
            <a:fillRect/>
          </a:stretch>
        </p:blipFill>
        <p:spPr>
          <a:xfrm>
            <a:off x="6456041" y="1268760"/>
            <a:ext cx="3988617" cy="3744416"/>
          </a:xfrm>
          <a:noFill/>
          <a:ln w="38100">
            <a:solidFill>
              <a:srgbClr val="000000"/>
            </a:solidFill>
          </a:ln>
        </p:spPr>
      </p:pic>
      <p:sp>
        <p:nvSpPr>
          <p:cNvPr id="13316" name="Rectangle 6"/>
          <p:cNvSpPr>
            <a:spLocks noChangeArrowheads="1"/>
          </p:cNvSpPr>
          <p:nvPr/>
        </p:nvSpPr>
        <p:spPr bwMode="auto">
          <a:xfrm>
            <a:off x="1363980" y="5842635"/>
            <a:ext cx="10028555" cy="1015365"/>
          </a:xfrm>
          <a:prstGeom prst="rect">
            <a:avLst/>
          </a:prstGeom>
          <a:solidFill>
            <a:schemeClr val="accent6">
              <a:lumMod val="75000"/>
            </a:schemeClr>
          </a:solidFill>
          <a:ln w="9525">
            <a:solidFill>
              <a:schemeClr val="tx1"/>
            </a:solidFill>
            <a:miter lim="800000"/>
          </a:ln>
        </p:spPr>
        <p:txBody>
          <a:bodyPr wrap="none" anchor="ctr"/>
          <a:lstStyle/>
          <a:p>
            <a:pPr algn="ctr">
              <a:spcBef>
                <a:spcPct val="20000"/>
              </a:spcBef>
            </a:pPr>
            <a:endParaRPr lang="en-US" sz="2400"/>
          </a:p>
          <a:p>
            <a:pPr algn="ctr">
              <a:spcBef>
                <a:spcPct val="20000"/>
              </a:spcBef>
            </a:pPr>
            <a:r>
              <a:rPr lang="en-US" sz="2200"/>
              <a:t>Hydration (and its associated strength gain) will stop if the concrete</a:t>
            </a:r>
          </a:p>
          <a:p>
            <a:pPr algn="ctr">
              <a:spcBef>
                <a:spcPct val="20000"/>
              </a:spcBef>
            </a:pPr>
            <a:r>
              <a:rPr lang="en-US" sz="2200"/>
              <a:t> dries out.  Freshly placed concrete must therefore be kept wet (cured).</a:t>
            </a:r>
          </a:p>
          <a:p>
            <a:pPr algn="ctr"/>
            <a:endParaRPr lang="en-US" sz="2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5"/>
          <p:cNvSpPr>
            <a:spLocks noGrp="1" noChangeArrowheads="1"/>
          </p:cNvSpPr>
          <p:nvPr>
            <p:ph type="title"/>
          </p:nvPr>
        </p:nvSpPr>
        <p:spPr bwMode="auto">
          <a:xfrm>
            <a:off x="2133600" y="0"/>
            <a:ext cx="7772400" cy="876300"/>
          </a:xfrm>
          <a:noFill/>
          <a:ln>
            <a:miter lim="800000"/>
          </a:ln>
        </p:spPr>
        <p:txBody>
          <a:bodyPr vert="horz" wrap="square" lIns="91440" tIns="45720" rIns="91440" bIns="45720" numCol="1" rtlCol="0" anchor="t" anchorCtr="0" compatLnSpc="1">
            <a:normAutofit/>
          </a:bodyPr>
          <a:lstStyle/>
          <a:p>
            <a:pPr eaLnBrk="1" hangingPunct="1"/>
            <a:r>
              <a:rPr lang="en-US" sz="2800"/>
              <a:t>The hardening and strengthening process</a:t>
            </a:r>
          </a:p>
        </p:txBody>
      </p:sp>
      <p:graphicFrame>
        <p:nvGraphicFramePr>
          <p:cNvPr id="8194" name="Object 2"/>
          <p:cNvGraphicFramePr>
            <a:graphicFrameLocks noGrp="1" noChangeAspect="1"/>
          </p:cNvGraphicFramePr>
          <p:nvPr>
            <p:ph idx="4294967295"/>
          </p:nvPr>
        </p:nvGraphicFramePr>
        <p:xfrm>
          <a:off x="1524000" y="762000"/>
          <a:ext cx="9144000" cy="4572000"/>
        </p:xfrm>
        <a:graphic>
          <a:graphicData uri="http://schemas.openxmlformats.org/presentationml/2006/ole">
            <mc:AlternateContent xmlns:mc="http://schemas.openxmlformats.org/markup-compatibility/2006">
              <mc:Choice xmlns:v="urn:schemas-microsoft-com:vml" Requires="v">
                <p:oleObj name="Image File" r:id="rId3" imgW="7048500" imgH="4508500" progId="">
                  <p:embed/>
                </p:oleObj>
              </mc:Choice>
              <mc:Fallback>
                <p:oleObj name="Image File" r:id="rId3" imgW="7048500" imgH="4508500" progId="">
                  <p:embed/>
                  <p:pic>
                    <p:nvPicPr>
                      <p:cNvPr id="819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762000"/>
                        <a:ext cx="91440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6" name="Rectangle 7"/>
          <p:cNvSpPr>
            <a:spLocks noChangeArrowheads="1"/>
          </p:cNvSpPr>
          <p:nvPr/>
        </p:nvSpPr>
        <p:spPr bwMode="auto">
          <a:xfrm>
            <a:off x="1524000" y="5334000"/>
            <a:ext cx="9144000" cy="1524000"/>
          </a:xfrm>
          <a:prstGeom prst="rect">
            <a:avLst/>
          </a:prstGeom>
          <a:solidFill>
            <a:srgbClr val="FFFF00"/>
          </a:solidFill>
          <a:ln w="9525">
            <a:solidFill>
              <a:schemeClr val="tx1"/>
            </a:solidFill>
            <a:miter lim="800000"/>
          </a:ln>
        </p:spPr>
        <p:txBody>
          <a:bodyPr wrap="none" anchor="ctr"/>
          <a:lstStyle/>
          <a:p>
            <a:pPr algn="ctr"/>
            <a:endParaRPr lang="en-US" sz="2400">
              <a:latin typeface="Calibri" panose="020F0502020204030204" pitchFamily="34" charset="0"/>
            </a:endParaRPr>
          </a:p>
        </p:txBody>
      </p:sp>
      <p:sp>
        <p:nvSpPr>
          <p:cNvPr id="8197" name="Text Box 9"/>
          <p:cNvSpPr txBox="1">
            <a:spLocks noChangeArrowheads="1"/>
          </p:cNvSpPr>
          <p:nvPr/>
        </p:nvSpPr>
        <p:spPr bwMode="auto">
          <a:xfrm>
            <a:off x="1524000" y="5334000"/>
            <a:ext cx="9144000" cy="1785104"/>
          </a:xfrm>
          <a:prstGeom prst="rect">
            <a:avLst/>
          </a:prstGeom>
          <a:solidFill>
            <a:schemeClr val="accent6">
              <a:lumMod val="75000"/>
            </a:schemeClr>
          </a:solidFill>
          <a:ln w="9525">
            <a:noFill/>
            <a:miter lim="800000"/>
          </a:ln>
        </p:spPr>
        <p:txBody>
          <a:bodyPr>
            <a:spAutoFit/>
          </a:bodyPr>
          <a:lstStyle/>
          <a:p>
            <a:r>
              <a:rPr lang="en-US" sz="2200">
                <a:latin typeface="Calibri" panose="020F0502020204030204" pitchFamily="34" charset="0"/>
              </a:rPr>
              <a:t>This graph illustrates the typical rate at which normal </a:t>
            </a:r>
            <a:r>
              <a:rPr lang="en-US" sz="2200" err="1">
                <a:latin typeface="Calibri" panose="020F0502020204030204" pitchFamily="34" charset="0"/>
              </a:rPr>
              <a:t>portland</a:t>
            </a:r>
            <a:r>
              <a:rPr lang="en-US" sz="2200">
                <a:latin typeface="Calibri" panose="020F0502020204030204" pitchFamily="34" charset="0"/>
              </a:rPr>
              <a:t> cement concrete gains strength at an ambient temperature of about 20</a:t>
            </a:r>
            <a:r>
              <a:rPr lang="en-US" sz="2200" baseline="30000">
                <a:latin typeface="Calibri" panose="020F0502020204030204" pitchFamily="34" charset="0"/>
              </a:rPr>
              <a:t>0</a:t>
            </a:r>
            <a:r>
              <a:rPr lang="en-US" sz="2200">
                <a:latin typeface="Calibri" panose="020F0502020204030204" pitchFamily="34" charset="0"/>
              </a:rPr>
              <a:t>C.  Alteration of the type of cement and temperature would change the exact shape of the curve.  The curve is an inverse log function.</a:t>
            </a:r>
          </a:p>
          <a:p>
            <a:endParaRPr lang="en-US" sz="2200">
              <a:latin typeface="Calibri" panose="020F0502020204030204" pitchFamily="34" charset="0"/>
            </a:endParaRPr>
          </a:p>
        </p:txBody>
      </p:sp>
    </p:spTree>
    <p:extLst>
      <p:ext uri="{BB962C8B-B14F-4D97-AF65-F5344CB8AC3E}">
        <p14:creationId xmlns:p14="http://schemas.microsoft.com/office/powerpoint/2010/main" val="652921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1524000" y="0"/>
            <a:ext cx="9144000" cy="838200"/>
          </a:xfrm>
        </p:spPr>
        <p:txBody>
          <a:bodyPr/>
          <a:lstStyle/>
          <a:p>
            <a:pPr eaLnBrk="1" hangingPunct="1"/>
            <a:r>
              <a:rPr lang="en-US" sz="2800"/>
              <a:t>When does concrete reach its full strength?</a:t>
            </a:r>
          </a:p>
        </p:txBody>
      </p:sp>
      <p:graphicFrame>
        <p:nvGraphicFramePr>
          <p:cNvPr id="5122" name="Object 2"/>
          <p:cNvGraphicFramePr>
            <a:graphicFrameLocks noGrp="1" noChangeAspect="1"/>
          </p:cNvGraphicFramePr>
          <p:nvPr>
            <p:ph idx="4294967295"/>
          </p:nvPr>
        </p:nvGraphicFramePr>
        <p:xfrm>
          <a:off x="1524001" y="685800"/>
          <a:ext cx="7605713" cy="3886200"/>
        </p:xfrm>
        <a:graphic>
          <a:graphicData uri="http://schemas.openxmlformats.org/presentationml/2006/ole">
            <mc:AlternateContent xmlns:mc="http://schemas.openxmlformats.org/markup-compatibility/2006">
              <mc:Choice xmlns:v="urn:schemas-microsoft-com:vml" Requires="v">
                <p:oleObj name="Image File" r:id="rId3" imgW="12700000" imgH="6737350" progId="">
                  <p:embed/>
                </p:oleObj>
              </mc:Choice>
              <mc:Fallback>
                <p:oleObj name="Image File" r:id="rId3" imgW="12700000" imgH="6737350" progId="">
                  <p:embed/>
                  <p:pic>
                    <p:nvPicPr>
                      <p:cNvPr id="51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1" y="685800"/>
                        <a:ext cx="7605713"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4" name="Rectangle 6"/>
          <p:cNvSpPr>
            <a:spLocks noChangeArrowheads="1"/>
          </p:cNvSpPr>
          <p:nvPr/>
        </p:nvSpPr>
        <p:spPr bwMode="auto">
          <a:xfrm>
            <a:off x="1524000" y="4572000"/>
            <a:ext cx="9144000" cy="2286000"/>
          </a:xfrm>
          <a:prstGeom prst="rect">
            <a:avLst/>
          </a:prstGeom>
          <a:solidFill>
            <a:schemeClr val="accent6">
              <a:lumMod val="75000"/>
            </a:schemeClr>
          </a:solidFill>
          <a:ln w="9525">
            <a:solidFill>
              <a:schemeClr val="tx1"/>
            </a:solidFill>
            <a:miter lim="800000"/>
          </a:ln>
        </p:spPr>
        <p:txBody>
          <a:bodyPr wrap="none" anchor="ctr"/>
          <a:lstStyle/>
          <a:p>
            <a:pPr algn="ctr"/>
            <a:endParaRPr lang="en-US" sz="2400"/>
          </a:p>
        </p:txBody>
      </p:sp>
      <p:sp>
        <p:nvSpPr>
          <p:cNvPr id="5125" name="Text Box 7"/>
          <p:cNvSpPr txBox="1">
            <a:spLocks noChangeArrowheads="1"/>
          </p:cNvSpPr>
          <p:nvPr/>
        </p:nvSpPr>
        <p:spPr bwMode="auto">
          <a:xfrm>
            <a:off x="1524000" y="4572001"/>
            <a:ext cx="9144000" cy="2031325"/>
          </a:xfrm>
          <a:prstGeom prst="rect">
            <a:avLst/>
          </a:prstGeom>
          <a:solidFill>
            <a:schemeClr val="accent6">
              <a:lumMod val="75000"/>
            </a:schemeClr>
          </a:solidFill>
          <a:ln w="9525">
            <a:noFill/>
            <a:miter lim="800000"/>
          </a:ln>
        </p:spPr>
        <p:txBody>
          <a:bodyPr>
            <a:spAutoFit/>
          </a:bodyPr>
          <a:lstStyle/>
          <a:p>
            <a:r>
              <a:rPr lang="en-US" dirty="0"/>
              <a:t>For convenience, engineers often specify concrete strength at 28 days.  This should not be taken to imply that at 28 days the concrete stops gaining strength.  As long as there is both un-hydrated cement and water present, concrete has </a:t>
            </a:r>
            <a:r>
              <a:rPr lang="en-US" sz="1600" dirty="0"/>
              <a:t>the</a:t>
            </a:r>
            <a:r>
              <a:rPr lang="en-US" dirty="0"/>
              <a:t> potential to gain strength.  If fact, measurable strength gains have been recorded after six years and in theory, concrete made in Roman times is becoming stronger day by day.  In large dams, it is not uncommon for engineers to specify strengths at 56 or 90 days.</a:t>
            </a:r>
          </a:p>
        </p:txBody>
      </p:sp>
    </p:spTree>
    <p:extLst>
      <p:ext uri="{BB962C8B-B14F-4D97-AF65-F5344CB8AC3E}">
        <p14:creationId xmlns:p14="http://schemas.microsoft.com/office/powerpoint/2010/main" val="3001084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063552" y="404664"/>
            <a:ext cx="7791450" cy="731168"/>
          </a:xfrm>
          <a:noFill/>
          <a:effectLst>
            <a:outerShdw dist="35921" dir="2700000" algn="ctr" rotWithShape="0">
              <a:schemeClr val="bg2"/>
            </a:outerShdw>
          </a:effectLst>
        </p:spPr>
        <p:txBody>
          <a:bodyPr vert="horz" lIns="90488" tIns="44450" rIns="90488" bIns="44450" rtlCol="0" anchor="b">
            <a:normAutofit/>
          </a:bodyPr>
          <a:lstStyle/>
          <a:p>
            <a:r>
              <a:rPr lang="en-US" sz="4000" b="1" dirty="0"/>
              <a:t>Hardening Process</a:t>
            </a:r>
          </a:p>
        </p:txBody>
      </p:sp>
      <p:sp>
        <p:nvSpPr>
          <p:cNvPr id="7171" name="Rectangle 3"/>
          <p:cNvSpPr>
            <a:spLocks noGrp="1" noChangeArrowheads="1"/>
          </p:cNvSpPr>
          <p:nvPr>
            <p:ph type="body" sz="quarter" idx="10"/>
          </p:nvPr>
        </p:nvSpPr>
        <p:spPr>
          <a:xfrm>
            <a:off x="2063551" y="1856630"/>
            <a:ext cx="9891025" cy="4068763"/>
          </a:xfrm>
          <a:noFill/>
        </p:spPr>
        <p:txBody>
          <a:bodyPr vert="horz" lIns="90488" tIns="44450" rIns="90488" bIns="44450" rtlCol="0">
            <a:normAutofit/>
          </a:bodyPr>
          <a:lstStyle/>
          <a:p>
            <a:pPr marL="457200" indent="-457200" algn="l">
              <a:buFont typeface="Arial" panose="020B0604020202020204" pitchFamily="34" charset="0"/>
              <a:buChar char="•"/>
            </a:pPr>
            <a:r>
              <a:rPr lang="en-US" sz="2800" dirty="0">
                <a:solidFill>
                  <a:schemeClr val="tx1"/>
                </a:solidFill>
              </a:rPr>
              <a:t>Hydration reaction commences. Cementing reactions change concrete from plastic to semi solid</a:t>
            </a:r>
          </a:p>
          <a:p>
            <a:pPr marL="457200" indent="-457200" algn="l">
              <a:buFont typeface="Arial" panose="020B0604020202020204" pitchFamily="34" charset="0"/>
              <a:buChar char="•"/>
            </a:pPr>
            <a:r>
              <a:rPr lang="en-US" sz="2800" dirty="0">
                <a:solidFill>
                  <a:schemeClr val="tx1"/>
                </a:solidFill>
              </a:rPr>
              <a:t>6 - 12 hours after mixing - Weak solid</a:t>
            </a:r>
          </a:p>
          <a:p>
            <a:pPr marL="457200" indent="-457200" algn="l">
              <a:buFont typeface="Arial" panose="020B0604020202020204" pitchFamily="34" charset="0"/>
              <a:buChar char="•"/>
            </a:pPr>
            <a:r>
              <a:rPr lang="en-US" sz="2800" dirty="0">
                <a:solidFill>
                  <a:schemeClr val="tx1"/>
                </a:solidFill>
              </a:rPr>
              <a:t>Temperature rises</a:t>
            </a:r>
          </a:p>
          <a:p>
            <a:pPr marL="457200" indent="-457200" algn="l">
              <a:buFont typeface="Arial" panose="020B0604020202020204" pitchFamily="34" charset="0"/>
              <a:buChar char="•"/>
            </a:pPr>
            <a:r>
              <a:rPr lang="en-US" sz="2800" dirty="0">
                <a:solidFill>
                  <a:schemeClr val="tx1"/>
                </a:solidFill>
              </a:rPr>
              <a:t>Expansion takes place</a:t>
            </a:r>
          </a:p>
          <a:p>
            <a:pPr marL="457200" indent="-457200" algn="l">
              <a:buFont typeface="Arial" panose="020B0604020202020204" pitchFamily="34" charset="0"/>
              <a:buChar char="•"/>
            </a:pPr>
            <a:r>
              <a:rPr lang="en-US" sz="2800" dirty="0">
                <a:solidFill>
                  <a:schemeClr val="tx1"/>
                </a:solidFill>
              </a:rPr>
              <a:t>Cooling, contraction &amp; internal cracking</a:t>
            </a:r>
          </a:p>
          <a:p>
            <a:pPr marL="457200" indent="-457200" algn="l">
              <a:buFont typeface="Arial" panose="020B0604020202020204" pitchFamily="34" charset="0"/>
              <a:buChar char="•"/>
            </a:pPr>
            <a:r>
              <a:rPr lang="en-US" sz="2800" dirty="0">
                <a:solidFill>
                  <a:schemeClr val="tx1"/>
                </a:solidFill>
              </a:rPr>
              <a:t>Strong enough to support workers</a:t>
            </a:r>
          </a:p>
          <a:p>
            <a:pPr marL="457200" indent="-457200" algn="l">
              <a:buFont typeface="Arial" panose="020B0604020202020204" pitchFamily="34" charset="0"/>
              <a:buChar char="•"/>
            </a:pPr>
            <a:r>
              <a:rPr lang="en-US" sz="2800" dirty="0">
                <a:solidFill>
                  <a:schemeClr val="tx1"/>
                </a:solidFill>
              </a:rPr>
              <a:t>Surface can still be </a:t>
            </a:r>
            <a:r>
              <a:rPr lang="en-ZA" sz="2800" dirty="0">
                <a:solidFill>
                  <a:schemeClr val="tx1"/>
                </a:solidFill>
              </a:rPr>
              <a:t>trowelled or brushed</a:t>
            </a:r>
          </a:p>
          <a:p>
            <a:pPr marL="457200" indent="-457200" algn="l">
              <a:buFont typeface="Arial" panose="020B0604020202020204" pitchFamily="34" charset="0"/>
              <a:buChar char="•"/>
            </a:pPr>
            <a:r>
              <a:rPr lang="en-US" sz="2800" dirty="0">
                <a:solidFill>
                  <a:schemeClr val="tx1"/>
                </a:solidFill>
              </a:rPr>
              <a:t>P</a:t>
            </a:r>
            <a:r>
              <a:rPr lang="en-ZA" sz="2800" dirty="0" err="1">
                <a:solidFill>
                  <a:schemeClr val="tx1"/>
                </a:solidFill>
              </a:rPr>
              <a:t>rotect</a:t>
            </a:r>
            <a:r>
              <a:rPr lang="en-ZA" sz="2800" dirty="0">
                <a:solidFill>
                  <a:schemeClr val="tx1"/>
                </a:solidFill>
              </a:rPr>
              <a:t> from damage</a:t>
            </a:r>
          </a:p>
          <a:p>
            <a:pPr marL="457200" indent="-457200" algn="l">
              <a:buFont typeface="Arial" panose="020B0604020202020204" pitchFamily="34" charset="0"/>
              <a:buChar char="•"/>
            </a:pPr>
            <a:endParaRPr lang="en-US" sz="2800"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057400" y="609600"/>
            <a:ext cx="8172450" cy="1104900"/>
          </a:xfrm>
          <a:noFill/>
          <a:effectLst>
            <a:outerShdw dist="35921" dir="2700000" algn="ctr" rotWithShape="0">
              <a:schemeClr val="bg2"/>
            </a:outerShdw>
          </a:effectLst>
        </p:spPr>
        <p:txBody>
          <a:bodyPr vert="horz" lIns="90488" tIns="44450" rIns="90488" bIns="44450" rtlCol="0" anchor="b">
            <a:normAutofit fontScale="90000"/>
          </a:bodyPr>
          <a:lstStyle/>
          <a:p>
            <a:r>
              <a:rPr lang="en-US" sz="4000" b="1" dirty="0"/>
              <a:t>Factors Affecting Temperature Rise</a:t>
            </a:r>
          </a:p>
        </p:txBody>
      </p:sp>
      <p:sp>
        <p:nvSpPr>
          <p:cNvPr id="8196" name="Rectangle 4"/>
          <p:cNvSpPr>
            <a:spLocks noGrp="1" noChangeArrowheads="1"/>
          </p:cNvSpPr>
          <p:nvPr>
            <p:ph type="body" sz="half" idx="2"/>
          </p:nvPr>
        </p:nvSpPr>
        <p:spPr>
          <a:xfrm>
            <a:off x="3309486" y="1941013"/>
            <a:ext cx="9463238" cy="3671887"/>
          </a:xfrm>
          <a:noFill/>
        </p:spPr>
        <p:txBody>
          <a:bodyPr vert="horz" lIns="90488" tIns="44450" rIns="90488" bIns="44450" rtlCol="0">
            <a:normAutofit/>
          </a:bodyPr>
          <a:lstStyle/>
          <a:p>
            <a:r>
              <a:rPr lang="en-US" sz="2800" dirty="0"/>
              <a:t>Cement type &amp; content</a:t>
            </a:r>
          </a:p>
          <a:p>
            <a:r>
              <a:rPr lang="en-US" sz="2800" dirty="0"/>
              <a:t>Concrete temperature when mixed</a:t>
            </a:r>
          </a:p>
          <a:p>
            <a:r>
              <a:rPr lang="en-US" sz="2800" dirty="0"/>
              <a:t>Mix proportions</a:t>
            </a:r>
          </a:p>
          <a:p>
            <a:r>
              <a:rPr lang="en-US" sz="2800" dirty="0"/>
              <a:t>Aggregate type</a:t>
            </a:r>
          </a:p>
          <a:p>
            <a:r>
              <a:rPr lang="en-US" sz="2800" dirty="0"/>
              <a:t>Concrete thickness &amp; formwork type</a:t>
            </a:r>
          </a:p>
          <a:p>
            <a:r>
              <a:rPr lang="en-US" sz="2800" dirty="0"/>
              <a:t>Ambient Temperature, wind &amp; relative humidity</a:t>
            </a:r>
          </a:p>
          <a:p>
            <a:endParaRPr lang="en-US" sz="28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1026"/>
          <p:cNvSpPr>
            <a:spLocks noGrp="1" noChangeArrowheads="1"/>
          </p:cNvSpPr>
          <p:nvPr>
            <p:ph type="title"/>
          </p:nvPr>
        </p:nvSpPr>
        <p:spPr>
          <a:xfrm>
            <a:off x="1631504" y="260648"/>
            <a:ext cx="8604448" cy="1162050"/>
          </a:xfrm>
        </p:spPr>
        <p:txBody>
          <a:bodyPr/>
          <a:lstStyle/>
          <a:p>
            <a:r>
              <a:rPr lang="en-US" sz="4000" b="1" dirty="0"/>
              <a:t>Properties of Hardened Concrete</a:t>
            </a:r>
          </a:p>
        </p:txBody>
      </p:sp>
      <p:sp>
        <p:nvSpPr>
          <p:cNvPr id="33795" name="Rectangle 1027"/>
          <p:cNvSpPr>
            <a:spLocks noGrp="1" noChangeArrowheads="1"/>
          </p:cNvSpPr>
          <p:nvPr>
            <p:ph type="body" sz="quarter" idx="10"/>
          </p:nvPr>
        </p:nvSpPr>
        <p:spPr>
          <a:xfrm>
            <a:off x="866273" y="1422698"/>
            <a:ext cx="11223057" cy="4114800"/>
          </a:xfrm>
        </p:spPr>
        <p:txBody>
          <a:bodyPr/>
          <a:lstStyle/>
          <a:p>
            <a:pPr marL="571500" indent="-571500" algn="l">
              <a:buFont typeface="+mj-lt"/>
              <a:buAutoNum type="romanLcPeriod"/>
            </a:pPr>
            <a:r>
              <a:rPr lang="en-US" sz="2800" b="1" dirty="0">
                <a:solidFill>
                  <a:schemeClr val="tx1"/>
                </a:solidFill>
              </a:rPr>
              <a:t>Strength – Compressive; Tensile; Bond Strengths</a:t>
            </a:r>
          </a:p>
          <a:p>
            <a:pPr marL="571500" indent="-571500" algn="l">
              <a:buFont typeface="+mj-lt"/>
              <a:buAutoNum type="romanLcPeriod"/>
            </a:pPr>
            <a:r>
              <a:rPr lang="en-US" sz="2800" dirty="0">
                <a:solidFill>
                  <a:schemeClr val="tx1"/>
                </a:solidFill>
              </a:rPr>
              <a:t>Impermeability</a:t>
            </a:r>
          </a:p>
          <a:p>
            <a:pPr marL="571500" indent="-571500" algn="l">
              <a:buFont typeface="+mj-lt"/>
              <a:buAutoNum type="romanLcPeriod"/>
            </a:pPr>
            <a:r>
              <a:rPr lang="en-US" sz="2800" dirty="0">
                <a:solidFill>
                  <a:schemeClr val="tx1"/>
                </a:solidFill>
              </a:rPr>
              <a:t>Abrasion - Resistance to Wear, Weather and Chemical Attacks</a:t>
            </a:r>
          </a:p>
          <a:p>
            <a:pPr marL="571500" indent="-571500" algn="l">
              <a:buFont typeface="+mj-lt"/>
              <a:buAutoNum type="romanLcPeriod"/>
            </a:pPr>
            <a:r>
              <a:rPr lang="en-US" sz="2800" b="1" dirty="0">
                <a:solidFill>
                  <a:schemeClr val="tx1"/>
                </a:solidFill>
              </a:rPr>
              <a:t>Shrinkage</a:t>
            </a:r>
          </a:p>
          <a:p>
            <a:pPr marL="571500" indent="-571500" algn="l">
              <a:buFont typeface="+mj-lt"/>
              <a:buAutoNum type="romanLcPeriod"/>
            </a:pPr>
            <a:r>
              <a:rPr lang="en-US" sz="2800" b="1" dirty="0">
                <a:solidFill>
                  <a:schemeClr val="tx1"/>
                </a:solidFill>
              </a:rPr>
              <a:t>Creep</a:t>
            </a:r>
          </a:p>
          <a:p>
            <a:pPr marL="571500" indent="-571500" algn="l">
              <a:buFont typeface="+mj-lt"/>
              <a:buAutoNum type="romanLcPeriod"/>
            </a:pPr>
            <a:r>
              <a:rPr lang="en-US" sz="2800" dirty="0">
                <a:solidFill>
                  <a:schemeClr val="tx1"/>
                </a:solidFill>
              </a:rPr>
              <a:t>Durability</a:t>
            </a:r>
          </a:p>
          <a:p>
            <a:pPr marL="571500" indent="-571500" algn="l">
              <a:buFont typeface="+mj-lt"/>
              <a:buAutoNum type="romanLcPeriod"/>
            </a:pPr>
            <a:r>
              <a:rPr lang="en-US" sz="2800" dirty="0">
                <a:solidFill>
                  <a:schemeClr val="tx1"/>
                </a:solidFill>
              </a:rPr>
              <a:t>Dimensional stability</a:t>
            </a:r>
          </a:p>
          <a:p>
            <a:pPr marL="571500" indent="-571500" algn="l">
              <a:buFont typeface="+mj-lt"/>
              <a:buAutoNum type="romanLcPeriod"/>
            </a:pPr>
            <a:r>
              <a:rPr lang="en-US" sz="2800" b="1" dirty="0">
                <a:solidFill>
                  <a:schemeClr val="tx1"/>
                </a:solidFill>
              </a:rPr>
              <a:t>Density</a:t>
            </a:r>
          </a:p>
          <a:p>
            <a:pPr marL="571500" indent="-571500" algn="l">
              <a:buFont typeface="+mj-lt"/>
              <a:buAutoNum type="romanLcPeriod"/>
            </a:pPr>
            <a:r>
              <a:rPr lang="en-US" sz="2800" dirty="0">
                <a:solidFill>
                  <a:schemeClr val="tx1"/>
                </a:solidFill>
              </a:rPr>
              <a:t>Fire Resistance</a:t>
            </a:r>
          </a:p>
          <a:p>
            <a:pPr algn="l"/>
            <a:endParaRPr lang="en-US" b="1"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1026"/>
          <p:cNvSpPr>
            <a:spLocks noGrp="1" noChangeArrowheads="1"/>
          </p:cNvSpPr>
          <p:nvPr>
            <p:ph type="title"/>
          </p:nvPr>
        </p:nvSpPr>
        <p:spPr>
          <a:xfrm>
            <a:off x="1524000" y="260648"/>
            <a:ext cx="9144000" cy="1162050"/>
          </a:xfrm>
        </p:spPr>
        <p:txBody>
          <a:bodyPr>
            <a:normAutofit fontScale="90000"/>
          </a:bodyPr>
          <a:lstStyle/>
          <a:p>
            <a:pPr algn="ctr"/>
            <a:r>
              <a:rPr lang="en-US" sz="4000" b="1" dirty="0"/>
              <a:t>Factors influencing properties of Hardened Concrete</a:t>
            </a:r>
          </a:p>
        </p:txBody>
      </p:sp>
      <p:sp>
        <p:nvSpPr>
          <p:cNvPr id="33795" name="Rectangle 1027"/>
          <p:cNvSpPr>
            <a:spLocks noGrp="1" noChangeArrowheads="1"/>
          </p:cNvSpPr>
          <p:nvPr>
            <p:ph type="body" sz="quarter" idx="10"/>
          </p:nvPr>
        </p:nvSpPr>
        <p:spPr>
          <a:xfrm>
            <a:off x="2783632" y="1700808"/>
            <a:ext cx="7467600" cy="4114800"/>
          </a:xfrm>
        </p:spPr>
        <p:txBody>
          <a:bodyPr>
            <a:normAutofit/>
          </a:bodyPr>
          <a:lstStyle/>
          <a:p>
            <a:pPr>
              <a:buFont typeface="Arial" panose="020B0604020202020204" pitchFamily="34" charset="0"/>
              <a:buChar char="•"/>
            </a:pPr>
            <a:r>
              <a:rPr lang="en-US" sz="2800" dirty="0">
                <a:solidFill>
                  <a:schemeClr val="tx1"/>
                </a:solidFill>
              </a:rPr>
              <a:t>Water-Cement ratio</a:t>
            </a:r>
          </a:p>
          <a:p>
            <a:pPr>
              <a:buFont typeface="Arial" panose="020B0604020202020204" pitchFamily="34" charset="0"/>
              <a:buChar char="•"/>
            </a:pPr>
            <a:r>
              <a:rPr lang="en-US" sz="2800" dirty="0">
                <a:solidFill>
                  <a:schemeClr val="tx1"/>
                </a:solidFill>
              </a:rPr>
              <a:t>Constituent material</a:t>
            </a:r>
          </a:p>
          <a:p>
            <a:pPr>
              <a:buFont typeface="Arial" panose="020B0604020202020204" pitchFamily="34" charset="0"/>
              <a:buChar char="•"/>
            </a:pPr>
            <a:r>
              <a:rPr lang="en-US" sz="2800" dirty="0">
                <a:solidFill>
                  <a:schemeClr val="tx1"/>
                </a:solidFill>
              </a:rPr>
              <a:t>Cement type and content</a:t>
            </a:r>
          </a:p>
          <a:p>
            <a:pPr>
              <a:buFont typeface="Arial" panose="020B0604020202020204" pitchFamily="34" charset="0"/>
              <a:buChar char="•"/>
            </a:pPr>
            <a:r>
              <a:rPr lang="en-US" sz="2800" dirty="0">
                <a:solidFill>
                  <a:schemeClr val="tx1"/>
                </a:solidFill>
              </a:rPr>
              <a:t>Water content</a:t>
            </a:r>
          </a:p>
          <a:p>
            <a:pPr>
              <a:buFont typeface="Arial" panose="020B0604020202020204" pitchFamily="34" charset="0"/>
              <a:buChar char="•"/>
            </a:pPr>
            <a:r>
              <a:rPr lang="en-US" sz="2800" dirty="0">
                <a:solidFill>
                  <a:schemeClr val="tx1"/>
                </a:solidFill>
              </a:rPr>
              <a:t>Compaction and air content</a:t>
            </a:r>
          </a:p>
          <a:p>
            <a:pPr>
              <a:buFont typeface="Arial" panose="020B0604020202020204" pitchFamily="34" charset="0"/>
              <a:buChar char="•"/>
            </a:pPr>
            <a:r>
              <a:rPr lang="en-US" sz="2800" dirty="0">
                <a:solidFill>
                  <a:schemeClr val="tx1"/>
                </a:solidFill>
              </a:rPr>
              <a:t>Curing</a:t>
            </a:r>
          </a:p>
          <a:p>
            <a:pPr>
              <a:buFont typeface="Arial" panose="020B0604020202020204" pitchFamily="34" charset="0"/>
              <a:buChar char="•"/>
            </a:pPr>
            <a:r>
              <a:rPr lang="en-US" sz="2800" dirty="0">
                <a:solidFill>
                  <a:schemeClr val="tx1"/>
                </a:solidFill>
              </a:rPr>
              <a:t>Temperature</a:t>
            </a:r>
          </a:p>
          <a:p>
            <a:endParaRPr lang="en-US"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bwMode="auto">
          <a:xfrm>
            <a:off x="2209800" y="-100013"/>
            <a:ext cx="7772400" cy="1143001"/>
          </a:xfrm>
          <a:noFill/>
          <a:ln>
            <a:miter lim="800000"/>
          </a:ln>
        </p:spPr>
        <p:txBody>
          <a:bodyPr vert="horz" wrap="square" lIns="90488" tIns="44450" rIns="90488" bIns="44450" numCol="1" rtlCol="0" anchor="b" anchorCtr="0" compatLnSpc="1">
            <a:normAutofit/>
          </a:bodyPr>
          <a:lstStyle/>
          <a:p>
            <a:pPr algn="ctr" eaLnBrk="1" hangingPunct="1"/>
            <a:r>
              <a:rPr lang="en-US" sz="4000" b="1" dirty="0"/>
              <a:t>Temperature</a:t>
            </a:r>
          </a:p>
        </p:txBody>
      </p:sp>
      <p:sp>
        <p:nvSpPr>
          <p:cNvPr id="38915" name="Rectangle 3"/>
          <p:cNvSpPr>
            <a:spLocks noGrp="1" noChangeArrowheads="1"/>
          </p:cNvSpPr>
          <p:nvPr>
            <p:ph type="body" sz="quarter" idx="10"/>
          </p:nvPr>
        </p:nvSpPr>
        <p:spPr bwMode="auto">
          <a:xfrm>
            <a:off x="2208213" y="1052513"/>
            <a:ext cx="9302934" cy="4114800"/>
          </a:xfrm>
          <a:noFill/>
          <a:ln>
            <a:miter lim="800000"/>
          </a:ln>
        </p:spPr>
        <p:txBody>
          <a:bodyPr vert="horz" wrap="square" lIns="90488" tIns="44450" rIns="90488" bIns="44450" numCol="1" rtlCol="0" anchor="t" anchorCtr="0" compatLnSpc="1">
            <a:normAutofit/>
          </a:bodyPr>
          <a:lstStyle/>
          <a:p>
            <a:pPr lvl="1" eaLnBrk="1" hangingPunct="1">
              <a:buFont typeface="Arial" panose="020B0604020202020204" pitchFamily="34" charset="0"/>
              <a:buChar char="•"/>
            </a:pPr>
            <a:r>
              <a:rPr lang="en-US" sz="2800" dirty="0"/>
              <a:t>Higher temperature causes faster hydration</a:t>
            </a:r>
          </a:p>
          <a:p>
            <a:pPr lvl="1" eaLnBrk="1" hangingPunct="1">
              <a:buFont typeface="Arial" panose="020B0604020202020204" pitchFamily="34" charset="0"/>
              <a:buChar char="•"/>
            </a:pPr>
            <a:r>
              <a:rPr lang="en-US" sz="2800" dirty="0"/>
              <a:t>Lower temp at casting may eventually give higher strengths</a:t>
            </a:r>
          </a:p>
          <a:p>
            <a:pPr lvl="1" eaLnBrk="1" hangingPunct="1">
              <a:buFont typeface="Arial" panose="020B0604020202020204" pitchFamily="34" charset="0"/>
              <a:buChar char="•"/>
            </a:pPr>
            <a:r>
              <a:rPr lang="en-US" sz="2800" dirty="0"/>
              <a:t>In summer concrete achieves higher early strengths</a:t>
            </a:r>
          </a:p>
          <a:p>
            <a:pPr lvl="1" eaLnBrk="1" hangingPunct="1">
              <a:buFont typeface="Arial" panose="020B0604020202020204" pitchFamily="34" charset="0"/>
              <a:buChar char="•"/>
            </a:pPr>
            <a:r>
              <a:rPr lang="en-US" sz="2800" dirty="0"/>
              <a:t>Low ambient temperatures will result in slower strength growth</a:t>
            </a:r>
          </a:p>
        </p:txBody>
      </p:sp>
      <p:pic>
        <p:nvPicPr>
          <p:cNvPr id="5" name="Picture 5" descr="0,1020,232634,00"/>
          <p:cNvPicPr>
            <a:picLocks noChangeAspect="1" noChangeArrowheads="1"/>
          </p:cNvPicPr>
          <p:nvPr/>
        </p:nvPicPr>
        <p:blipFill>
          <a:blip r:embed="rId3" cstate="print"/>
          <a:srcRect/>
          <a:stretch>
            <a:fillRect/>
          </a:stretch>
        </p:blipFill>
        <p:spPr bwMode="auto">
          <a:xfrm>
            <a:off x="680853" y="4843120"/>
            <a:ext cx="2549235" cy="1924733"/>
          </a:xfrm>
          <a:prstGeom prst="rect">
            <a:avLst/>
          </a:prstGeom>
          <a:noFill/>
          <a:ln w="9525">
            <a:noFill/>
            <a:miter lim="800000"/>
            <a:headEnd/>
            <a:tailEnd/>
          </a:ln>
        </p:spPr>
      </p:pic>
      <p:pic>
        <p:nvPicPr>
          <p:cNvPr id="6" name="Picture 4" descr="dn12520-1_600"/>
          <p:cNvPicPr>
            <a:picLocks noChangeAspect="1" noChangeArrowheads="1"/>
          </p:cNvPicPr>
          <p:nvPr/>
        </p:nvPicPr>
        <p:blipFill>
          <a:blip r:embed="rId4" cstate="print"/>
          <a:srcRect/>
          <a:stretch>
            <a:fillRect/>
          </a:stretch>
        </p:blipFill>
        <p:spPr bwMode="auto">
          <a:xfrm>
            <a:off x="7454900" y="3975100"/>
            <a:ext cx="3213100" cy="2882900"/>
          </a:xfrm>
          <a:prstGeom prst="rect">
            <a:avLst/>
          </a:prstGeom>
          <a:noFill/>
          <a:ln w="9525">
            <a:noFill/>
            <a:miter lim="800000"/>
            <a:headEnd/>
            <a:tailEnd/>
          </a:ln>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981200" y="620714"/>
            <a:ext cx="8229600" cy="796925"/>
          </a:xfrm>
        </p:spPr>
        <p:txBody>
          <a:bodyPr/>
          <a:lstStyle/>
          <a:p>
            <a:r>
              <a:rPr lang="en-ZA" sz="4000" b="1" dirty="0" err="1"/>
              <a:t>i</a:t>
            </a:r>
            <a:r>
              <a:rPr lang="en-ZA" sz="4000" b="1" dirty="0"/>
              <a:t>.	Strength</a:t>
            </a:r>
            <a:endParaRPr lang="en-US" sz="4000" b="1" dirty="0"/>
          </a:p>
        </p:txBody>
      </p:sp>
      <p:sp>
        <p:nvSpPr>
          <p:cNvPr id="18435" name="Rectangle 3"/>
          <p:cNvSpPr>
            <a:spLocks noGrp="1" noChangeArrowheads="1"/>
          </p:cNvSpPr>
          <p:nvPr>
            <p:ph type="body" sz="quarter" idx="10"/>
          </p:nvPr>
        </p:nvSpPr>
        <p:spPr>
          <a:xfrm>
            <a:off x="635267" y="1730047"/>
            <a:ext cx="11328935" cy="3970338"/>
          </a:xfrm>
        </p:spPr>
        <p:txBody>
          <a:bodyPr>
            <a:normAutofit fontScale="85000" lnSpcReduction="20000"/>
          </a:bodyPr>
          <a:lstStyle/>
          <a:p>
            <a:pPr>
              <a:buFont typeface="Arial" panose="020B0604020202020204" pitchFamily="34" charset="0"/>
              <a:buChar char="•"/>
            </a:pPr>
            <a:r>
              <a:rPr lang="en-ZA" sz="2800" dirty="0">
                <a:solidFill>
                  <a:schemeClr val="tx1"/>
                </a:solidFill>
              </a:rPr>
              <a:t>Strength is a generic term for the ability of a material to resist strain or rupture induced by external forces.</a:t>
            </a:r>
          </a:p>
          <a:p>
            <a:pPr>
              <a:buFont typeface="Arial" panose="020B0604020202020204" pitchFamily="34" charset="0"/>
              <a:buChar char="•"/>
            </a:pPr>
            <a:r>
              <a:rPr lang="en-ZA" sz="2800" dirty="0">
                <a:solidFill>
                  <a:schemeClr val="tx1"/>
                </a:solidFill>
              </a:rPr>
              <a:t>Strength / Stress = Load </a:t>
            </a:r>
            <a:r>
              <a:rPr lang="en-US" sz="2800" dirty="0">
                <a:solidFill>
                  <a:schemeClr val="tx1"/>
                </a:solidFill>
              </a:rPr>
              <a:t>÷ Area</a:t>
            </a:r>
          </a:p>
          <a:p>
            <a:pPr>
              <a:buFont typeface="Arial" panose="020B0604020202020204" pitchFamily="34" charset="0"/>
              <a:buChar char="•"/>
            </a:pPr>
            <a:r>
              <a:rPr lang="en-ZA" sz="2800" dirty="0">
                <a:solidFill>
                  <a:schemeClr val="tx1"/>
                </a:solidFill>
              </a:rPr>
              <a:t>Pascal = 1N/m</a:t>
            </a:r>
            <a:r>
              <a:rPr lang="en-ZA" sz="2800" baseline="30000" dirty="0">
                <a:solidFill>
                  <a:schemeClr val="tx1"/>
                </a:solidFill>
              </a:rPr>
              <a:t>2</a:t>
            </a:r>
            <a:r>
              <a:rPr lang="en-ZA" sz="2800" dirty="0">
                <a:solidFill>
                  <a:schemeClr val="tx1"/>
                </a:solidFill>
              </a:rPr>
              <a:t> = 1 N </a:t>
            </a:r>
            <a:r>
              <a:rPr lang="en-US" sz="2800" dirty="0">
                <a:solidFill>
                  <a:schemeClr val="tx1"/>
                </a:solidFill>
              </a:rPr>
              <a:t>÷ 1 m</a:t>
            </a:r>
            <a:r>
              <a:rPr lang="en-US" sz="2800" baseline="30000" dirty="0">
                <a:solidFill>
                  <a:schemeClr val="tx1"/>
                </a:solidFill>
              </a:rPr>
              <a:t>2 </a:t>
            </a:r>
          </a:p>
          <a:p>
            <a:pPr>
              <a:buFont typeface="Arial" panose="020B0604020202020204" pitchFamily="34" charset="0"/>
              <a:buChar char="•"/>
            </a:pPr>
            <a:r>
              <a:rPr lang="en-US" sz="2800" dirty="0">
                <a:solidFill>
                  <a:schemeClr val="tx1"/>
                </a:solidFill>
              </a:rPr>
              <a:t>1 000 Pa = 1 kPa</a:t>
            </a:r>
          </a:p>
          <a:p>
            <a:pPr>
              <a:buFont typeface="Arial" panose="020B0604020202020204" pitchFamily="34" charset="0"/>
              <a:buChar char="•"/>
            </a:pPr>
            <a:r>
              <a:rPr lang="en-ZA" sz="2800" dirty="0">
                <a:solidFill>
                  <a:schemeClr val="tx1"/>
                </a:solidFill>
              </a:rPr>
              <a:t>1 MPa = 1 000 000 Pa</a:t>
            </a:r>
          </a:p>
          <a:p>
            <a:pPr>
              <a:buFont typeface="Arial" panose="020B0604020202020204" pitchFamily="34" charset="0"/>
              <a:buChar char="•"/>
            </a:pPr>
            <a:r>
              <a:rPr lang="en-ZA" sz="2800" dirty="0">
                <a:solidFill>
                  <a:schemeClr val="tx1"/>
                </a:solidFill>
              </a:rPr>
              <a:t>1MPa=1 000 000Pa = 1 000 000 N </a:t>
            </a:r>
            <a:r>
              <a:rPr lang="en-US" sz="2800" dirty="0">
                <a:solidFill>
                  <a:schemeClr val="tx1"/>
                </a:solidFill>
              </a:rPr>
              <a:t>÷ 1 m</a:t>
            </a:r>
            <a:r>
              <a:rPr lang="en-US" sz="2800" baseline="30000" dirty="0">
                <a:solidFill>
                  <a:schemeClr val="tx1"/>
                </a:solidFill>
              </a:rPr>
              <a:t>2</a:t>
            </a:r>
            <a:r>
              <a:rPr lang="en-US" sz="2800" dirty="0">
                <a:solidFill>
                  <a:schemeClr val="tx1"/>
                </a:solidFill>
              </a:rPr>
              <a:t> </a:t>
            </a:r>
          </a:p>
          <a:p>
            <a:pPr>
              <a:buFont typeface="Arial" panose="020B0604020202020204" pitchFamily="34" charset="0"/>
              <a:buChar char="•"/>
            </a:pPr>
            <a:r>
              <a:rPr lang="en-US" sz="2800" dirty="0">
                <a:solidFill>
                  <a:schemeClr val="tx1"/>
                </a:solidFill>
              </a:rPr>
              <a:t>1 000 000 N/m</a:t>
            </a:r>
            <a:r>
              <a:rPr lang="en-US" sz="2800" baseline="30000" dirty="0">
                <a:solidFill>
                  <a:schemeClr val="tx1"/>
                </a:solidFill>
              </a:rPr>
              <a:t>2</a:t>
            </a:r>
            <a:r>
              <a:rPr lang="en-US" sz="2800" dirty="0">
                <a:solidFill>
                  <a:schemeClr val="tx1"/>
                </a:solidFill>
              </a:rPr>
              <a:t> = 1 000 000 N / 1 000 000 mm</a:t>
            </a:r>
            <a:r>
              <a:rPr lang="en-US" sz="2800" baseline="30000" dirty="0">
                <a:solidFill>
                  <a:schemeClr val="tx1"/>
                </a:solidFill>
              </a:rPr>
              <a:t>2</a:t>
            </a:r>
            <a:r>
              <a:rPr lang="en-US" sz="2800" dirty="0">
                <a:solidFill>
                  <a:schemeClr val="tx1"/>
                </a:solidFill>
              </a:rPr>
              <a:t> = 1 N/mm</a:t>
            </a:r>
            <a:r>
              <a:rPr lang="en-US" sz="2800" baseline="30000" dirty="0">
                <a:solidFill>
                  <a:schemeClr val="tx1"/>
                </a:solidFill>
              </a:rPr>
              <a:t>2</a:t>
            </a:r>
          </a:p>
          <a:p>
            <a:pPr>
              <a:buFont typeface="Arial" panose="020B0604020202020204" pitchFamily="34" charset="0"/>
              <a:buChar char="•"/>
            </a:pPr>
            <a:r>
              <a:rPr lang="en-US" sz="2800" baseline="30000" dirty="0">
                <a:solidFill>
                  <a:schemeClr val="tx1"/>
                </a:solidFill>
              </a:rPr>
              <a:t> </a:t>
            </a:r>
            <a:r>
              <a:rPr lang="en-US" sz="2800" dirty="0">
                <a:solidFill>
                  <a:schemeClr val="tx1"/>
                </a:solidFill>
              </a:rPr>
              <a:t>Therefore  1MPa = 1N/mm</a:t>
            </a:r>
            <a:r>
              <a:rPr lang="en-US" sz="2800" baseline="30000" dirty="0">
                <a:solidFill>
                  <a:schemeClr val="tx1"/>
                </a:solidFill>
              </a:rPr>
              <a:t>2</a:t>
            </a:r>
          </a:p>
          <a:p>
            <a:pPr>
              <a:buFont typeface="Arial" panose="020B0604020202020204" pitchFamily="34" charset="0"/>
              <a:buChar char="•"/>
            </a:pPr>
            <a:endParaRPr lang="en-US" sz="2800" b="1" dirty="0">
              <a:solidFill>
                <a:schemeClr val="tx1"/>
              </a:solidFill>
            </a:endParaRPr>
          </a:p>
          <a:p>
            <a:endParaRPr lang="en-US" sz="2800" b="1" dirty="0">
              <a:solidFill>
                <a:schemeClr val="tx1"/>
              </a:solidFill>
            </a:endParaRPr>
          </a:p>
          <a:p>
            <a:endParaRPr lang="en-US" sz="2800" b="1" dirty="0">
              <a:solidFill>
                <a:schemeClr val="tx1"/>
              </a:solidFill>
            </a:endParaRPr>
          </a:p>
          <a:p>
            <a:r>
              <a:rPr lang="en-US" sz="2800" b="1" dirty="0">
                <a:solidFill>
                  <a:schemeClr val="tx1"/>
                </a:solidFill>
              </a:rPr>
              <a:t>This means class 20 concrete = 20N/mm</a:t>
            </a:r>
            <a:r>
              <a:rPr lang="en-US" sz="2800" b="1" baseline="30000" dirty="0">
                <a:solidFill>
                  <a:schemeClr val="tx1"/>
                </a:solidFill>
              </a:rPr>
              <a:t>2</a:t>
            </a:r>
            <a:r>
              <a:rPr lang="en-US" sz="2800" b="1" dirty="0">
                <a:solidFill>
                  <a:schemeClr val="tx1"/>
                </a:solidFill>
              </a:rPr>
              <a:t> = 20MPa</a:t>
            </a:r>
          </a:p>
          <a:p>
            <a:pPr>
              <a:buFont typeface="Arial" panose="020B0604020202020204" pitchFamily="34" charset="0"/>
              <a:buChar char="•"/>
            </a:pPr>
            <a:endParaRPr lang="en-US" sz="2800" baseline="30000" dirty="0">
              <a:solidFill>
                <a:schemeClr val="tx1"/>
              </a:solidFill>
            </a:endParaRPr>
          </a:p>
          <a:p>
            <a:endParaRPr lang="en-US"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ChangeArrowheads="1"/>
          </p:cNvSpPr>
          <p:nvPr/>
        </p:nvSpPr>
        <p:spPr bwMode="auto">
          <a:xfrm>
            <a:off x="2109378" y="261684"/>
            <a:ext cx="8305800" cy="907504"/>
          </a:xfrm>
          <a:prstGeom prst="rect">
            <a:avLst/>
          </a:prstGeom>
          <a:noFill/>
          <a:ln w="12700">
            <a:noFill/>
            <a:miter lim="800000"/>
          </a:ln>
          <a:effectLst/>
        </p:spPr>
        <p:txBody>
          <a:bodyPr lIns="90488" tIns="44450" rIns="90488" bIns="44450" anchor="b"/>
          <a:lstStyle/>
          <a:p>
            <a:pPr algn="ctr"/>
            <a:r>
              <a:rPr lang="en-US" sz="4000" b="1">
                <a:solidFill>
                  <a:schemeClr val="accent6">
                    <a:lumMod val="75000"/>
                  </a:schemeClr>
                </a:solidFill>
              </a:rPr>
              <a:t>Typical Strengths  at 28 days</a:t>
            </a:r>
            <a:endParaRPr lang="en-US" sz="4000" b="1" i="1">
              <a:solidFill>
                <a:schemeClr val="accent6">
                  <a:lumMod val="75000"/>
                </a:schemeClr>
              </a:solidFill>
            </a:endParaRPr>
          </a:p>
        </p:txBody>
      </p:sp>
      <p:sp>
        <p:nvSpPr>
          <p:cNvPr id="78851" name="Rectangle 3"/>
          <p:cNvSpPr>
            <a:spLocks noChangeArrowheads="1"/>
          </p:cNvSpPr>
          <p:nvPr/>
        </p:nvSpPr>
        <p:spPr bwMode="auto">
          <a:xfrm>
            <a:off x="2286000" y="1828800"/>
            <a:ext cx="8153400" cy="4114800"/>
          </a:xfrm>
          <a:prstGeom prst="rect">
            <a:avLst/>
          </a:prstGeom>
          <a:noFill/>
          <a:ln w="12700">
            <a:noFill/>
            <a:miter lim="800000"/>
          </a:ln>
          <a:effectLst/>
        </p:spPr>
        <p:txBody>
          <a:bodyPr lIns="90488" tIns="44450" rIns="90488" bIns="44450"/>
          <a:lstStyle/>
          <a:p>
            <a:pPr marL="342900" indent="-342900">
              <a:spcBef>
                <a:spcPct val="20000"/>
              </a:spcBef>
              <a:buFontTx/>
              <a:buChar char="•"/>
            </a:pPr>
            <a:r>
              <a:rPr lang="en-US" sz="3200">
                <a:solidFill>
                  <a:srgbClr val="000000"/>
                </a:solidFill>
              </a:rPr>
              <a:t>Mass filling - 10 </a:t>
            </a:r>
            <a:r>
              <a:rPr lang="en-US" sz="3200" err="1">
                <a:solidFill>
                  <a:srgbClr val="000000"/>
                </a:solidFill>
              </a:rPr>
              <a:t>MPa</a:t>
            </a:r>
            <a:endParaRPr lang="en-US" sz="3200">
              <a:solidFill>
                <a:srgbClr val="000000"/>
              </a:solidFill>
            </a:endParaRPr>
          </a:p>
          <a:p>
            <a:pPr marL="342900" indent="-342900">
              <a:spcBef>
                <a:spcPct val="20000"/>
              </a:spcBef>
              <a:buFontTx/>
              <a:buChar char="•"/>
            </a:pPr>
            <a:r>
              <a:rPr lang="en-US" sz="3200">
                <a:solidFill>
                  <a:srgbClr val="000000"/>
                </a:solidFill>
              </a:rPr>
              <a:t>Foundations for houses - 15 </a:t>
            </a:r>
            <a:r>
              <a:rPr lang="en-US" sz="3200" err="1">
                <a:solidFill>
                  <a:srgbClr val="000000"/>
                </a:solidFill>
              </a:rPr>
              <a:t>MPa</a:t>
            </a:r>
            <a:endParaRPr lang="en-US" sz="3200">
              <a:solidFill>
                <a:srgbClr val="000000"/>
              </a:solidFill>
            </a:endParaRPr>
          </a:p>
          <a:p>
            <a:pPr marL="342900" indent="-342900">
              <a:spcBef>
                <a:spcPct val="20000"/>
              </a:spcBef>
              <a:buFontTx/>
              <a:buChar char="•"/>
            </a:pPr>
            <a:r>
              <a:rPr lang="en-US" sz="3200">
                <a:solidFill>
                  <a:srgbClr val="000000"/>
                </a:solidFill>
              </a:rPr>
              <a:t>Floors and surface beds - 20 </a:t>
            </a:r>
            <a:r>
              <a:rPr lang="en-US" sz="3200" err="1">
                <a:solidFill>
                  <a:srgbClr val="000000"/>
                </a:solidFill>
              </a:rPr>
              <a:t>MPa</a:t>
            </a:r>
            <a:endParaRPr lang="en-US" sz="3200">
              <a:solidFill>
                <a:srgbClr val="000000"/>
              </a:solidFill>
            </a:endParaRPr>
          </a:p>
          <a:p>
            <a:pPr marL="342900" indent="-342900">
              <a:spcBef>
                <a:spcPct val="20000"/>
              </a:spcBef>
              <a:buFontTx/>
              <a:buChar char="•"/>
            </a:pPr>
            <a:r>
              <a:rPr lang="en-US" sz="3200">
                <a:solidFill>
                  <a:srgbClr val="000000"/>
                </a:solidFill>
              </a:rPr>
              <a:t>Home driveways reinforced - 25 </a:t>
            </a:r>
            <a:r>
              <a:rPr lang="en-US" sz="3200" err="1">
                <a:solidFill>
                  <a:srgbClr val="000000"/>
                </a:solidFill>
              </a:rPr>
              <a:t>MPa</a:t>
            </a:r>
            <a:endParaRPr lang="en-US" sz="3200">
              <a:solidFill>
                <a:srgbClr val="000000"/>
              </a:solidFill>
            </a:endParaRPr>
          </a:p>
          <a:p>
            <a:pPr marL="342900" indent="-342900">
              <a:spcBef>
                <a:spcPct val="20000"/>
              </a:spcBef>
              <a:buFontTx/>
              <a:buChar char="•"/>
            </a:pPr>
            <a:r>
              <a:rPr lang="en-US" sz="3200">
                <a:solidFill>
                  <a:srgbClr val="000000"/>
                </a:solidFill>
              </a:rPr>
              <a:t>Factory floors, farm roads - 30 </a:t>
            </a:r>
            <a:r>
              <a:rPr lang="en-US" sz="3200" err="1">
                <a:solidFill>
                  <a:srgbClr val="000000"/>
                </a:solidFill>
              </a:rPr>
              <a:t>MPa</a:t>
            </a:r>
            <a:endParaRPr lang="en-US" sz="3200">
              <a:solidFill>
                <a:srgbClr val="000000"/>
              </a:solidFill>
            </a:endParaRPr>
          </a:p>
          <a:p>
            <a:pPr marL="342900" indent="-342900">
              <a:spcBef>
                <a:spcPct val="20000"/>
              </a:spcBef>
              <a:buFontTx/>
              <a:buChar char="•"/>
            </a:pPr>
            <a:r>
              <a:rPr lang="en-US" sz="3200">
                <a:solidFill>
                  <a:srgbClr val="000000"/>
                </a:solidFill>
              </a:rPr>
              <a:t>Precast concrete - 35 </a:t>
            </a:r>
            <a:r>
              <a:rPr lang="en-US" sz="3200" err="1">
                <a:solidFill>
                  <a:srgbClr val="000000"/>
                </a:solidFill>
              </a:rPr>
              <a:t>MPa</a:t>
            </a:r>
            <a:endParaRPr lang="en-US" sz="320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p:cNvSpPr>
            <a:spLocks noGrp="1" noChangeArrowheads="1"/>
          </p:cNvSpPr>
          <p:nvPr>
            <p:ph type="title"/>
          </p:nvPr>
        </p:nvSpPr>
        <p:spPr>
          <a:xfrm>
            <a:off x="1992313" y="0"/>
            <a:ext cx="8229600" cy="1143000"/>
          </a:xfrm>
        </p:spPr>
        <p:txBody>
          <a:bodyPr/>
          <a:lstStyle/>
          <a:p>
            <a:r>
              <a:rPr lang="en-GB" sz="4000" b="1" dirty="0"/>
              <a:t>Concrete strengths</a:t>
            </a:r>
          </a:p>
        </p:txBody>
      </p:sp>
      <p:sp>
        <p:nvSpPr>
          <p:cNvPr id="7171" name="Rectangle 1027"/>
          <p:cNvSpPr>
            <a:spLocks noGrp="1" noChangeArrowheads="1"/>
          </p:cNvSpPr>
          <p:nvPr>
            <p:ph type="body" sz="quarter" idx="10"/>
          </p:nvPr>
        </p:nvSpPr>
        <p:spPr>
          <a:xfrm>
            <a:off x="2063751" y="1052513"/>
            <a:ext cx="9765697" cy="4895850"/>
          </a:xfrm>
        </p:spPr>
        <p:txBody>
          <a:bodyPr/>
          <a:lstStyle/>
          <a:p>
            <a:pPr>
              <a:buFont typeface="Arial" panose="020B0604020202020204" pitchFamily="34" charset="0"/>
              <a:buChar char="•"/>
            </a:pPr>
            <a:r>
              <a:rPr lang="en-GB" sz="2800" b="1" dirty="0">
                <a:solidFill>
                  <a:schemeClr val="tx1"/>
                </a:solidFill>
              </a:rPr>
              <a:t>Low strength (15 MPa)</a:t>
            </a:r>
          </a:p>
          <a:p>
            <a:pPr lvl="1">
              <a:buFont typeface="Arial" panose="020B0604020202020204" pitchFamily="34" charset="0"/>
              <a:buChar char="•"/>
            </a:pPr>
            <a:r>
              <a:rPr lang="en-GB" sz="2400" dirty="0">
                <a:solidFill>
                  <a:schemeClr val="accent6">
                    <a:lumMod val="75000"/>
                  </a:schemeClr>
                </a:solidFill>
              </a:rPr>
              <a:t>Suitable for unreinforced foundations (single storey, mass fill, infill in masonry</a:t>
            </a:r>
          </a:p>
          <a:p>
            <a:pPr>
              <a:buFont typeface="Arial" panose="020B0604020202020204" pitchFamily="34" charset="0"/>
              <a:buChar char="•"/>
            </a:pPr>
            <a:r>
              <a:rPr lang="en-GB" sz="2800" b="1" dirty="0">
                <a:solidFill>
                  <a:schemeClr val="tx1"/>
                </a:solidFill>
              </a:rPr>
              <a:t>Medium strength (25 MPa)</a:t>
            </a:r>
          </a:p>
          <a:p>
            <a:pPr lvl="1">
              <a:buFont typeface="Arial" panose="020B0604020202020204" pitchFamily="34" charset="0"/>
              <a:buChar char="•"/>
            </a:pPr>
            <a:r>
              <a:rPr lang="en-GB" sz="2400" dirty="0">
                <a:solidFill>
                  <a:schemeClr val="accent6">
                    <a:lumMod val="75000"/>
                  </a:schemeClr>
                </a:solidFill>
              </a:rPr>
              <a:t>Suitable for unreinforced slabs, reinforced slabs and foundations, footpaths and domestic driveways</a:t>
            </a:r>
          </a:p>
          <a:p>
            <a:pPr>
              <a:buFont typeface="Arial" panose="020B0604020202020204" pitchFamily="34" charset="0"/>
              <a:buChar char="•"/>
            </a:pPr>
            <a:r>
              <a:rPr lang="en-GB" sz="2800" b="1" dirty="0">
                <a:solidFill>
                  <a:schemeClr val="tx1"/>
                </a:solidFill>
              </a:rPr>
              <a:t>High strength (30 MPa)</a:t>
            </a:r>
          </a:p>
          <a:p>
            <a:pPr lvl="1">
              <a:buFont typeface="Arial" panose="020B0604020202020204" pitchFamily="34" charset="0"/>
              <a:buChar char="•"/>
            </a:pPr>
            <a:r>
              <a:rPr lang="en-GB" sz="2400" dirty="0">
                <a:solidFill>
                  <a:schemeClr val="accent6">
                    <a:lumMod val="75000"/>
                  </a:schemeClr>
                </a:solidFill>
              </a:rPr>
              <a:t>Suitable for reinforced concrete members, heavy duty floors and precast items like flagstones.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Rectangle 3"/>
          <p:cNvSpPr>
            <a:spLocks noGrp="1" noChangeArrowheads="1"/>
          </p:cNvSpPr>
          <p:nvPr>
            <p:ph type="body" sz="quarter" idx="10"/>
          </p:nvPr>
        </p:nvSpPr>
        <p:spPr>
          <a:xfrm>
            <a:off x="858186" y="2435191"/>
            <a:ext cx="6886575" cy="2216785"/>
          </a:xfrm>
          <a:noFill/>
        </p:spPr>
        <p:txBody>
          <a:bodyPr vert="horz" lIns="90488" tIns="44450" rIns="90488" bIns="44450" rtlCol="0">
            <a:noAutofit/>
          </a:bodyPr>
          <a:lstStyle/>
          <a:p>
            <a:pPr lvl="1" algn="just"/>
            <a:endParaRPr lang="en-US" sz="2800" b="1" dirty="0">
              <a:solidFill>
                <a:schemeClr val="tx1"/>
              </a:solidFill>
            </a:endParaRPr>
          </a:p>
          <a:p>
            <a:pPr marL="457200" lvl="1" indent="0" algn="just">
              <a:buFont typeface="+mj-lt"/>
              <a:buNone/>
            </a:pPr>
            <a:r>
              <a:rPr lang="en-US" sz="2000" dirty="0">
                <a:solidFill>
                  <a:schemeClr val="tx1"/>
                </a:solidFill>
              </a:rPr>
              <a:t>Good concrete has good strength in compression compared to most building materials. Tensile strengths and bond strengths of concrete are generally 10% of the compressive strength of concrete. In compression, concrete has a wide range of strengths and stress-strain</a:t>
            </a:r>
            <a:r>
              <a:rPr lang="en-US" sz="2000" dirty="0"/>
              <a:t> relation</a:t>
            </a:r>
            <a:r>
              <a:rPr lang="en-US" sz="2000" dirty="0">
                <a:solidFill>
                  <a:schemeClr val="tx1"/>
                </a:solidFill>
              </a:rPr>
              <a:t>.</a:t>
            </a:r>
          </a:p>
          <a:p>
            <a:pPr marL="457200" lvl="1" indent="0" algn="just">
              <a:buFont typeface="+mj-lt"/>
              <a:buNone/>
            </a:pPr>
            <a:endParaRPr lang="en-US" sz="2000" dirty="0"/>
          </a:p>
          <a:p>
            <a:pPr marL="457200" lvl="1" indent="0" algn="just">
              <a:buFont typeface="+mj-lt"/>
              <a:buNone/>
            </a:pPr>
            <a:r>
              <a:rPr lang="en-US" sz="2000" b="1" dirty="0">
                <a:solidFill>
                  <a:schemeClr val="tx1"/>
                </a:solidFill>
              </a:rPr>
              <a:t>Stress,</a:t>
            </a:r>
            <a:r>
              <a:rPr lang="el-GR" sz="2000" b="1" dirty="0"/>
              <a:t> (σ)</a:t>
            </a:r>
            <a:r>
              <a:rPr lang="en-US" sz="2000" b="1" dirty="0">
                <a:solidFill>
                  <a:schemeClr val="tx1"/>
                </a:solidFill>
              </a:rPr>
              <a:t>  </a:t>
            </a:r>
            <a:r>
              <a:rPr lang="en-US" sz="2000" dirty="0">
                <a:solidFill>
                  <a:schemeClr val="tx1"/>
                </a:solidFill>
              </a:rPr>
              <a:t>= Force / Area (N/mm</a:t>
            </a:r>
            <a:r>
              <a:rPr lang="en-US" sz="2000" baseline="30000" dirty="0">
                <a:solidFill>
                  <a:schemeClr val="tx1"/>
                </a:solidFill>
              </a:rPr>
              <a:t>2</a:t>
            </a:r>
            <a:r>
              <a:rPr lang="en-US" sz="2000" dirty="0">
                <a:solidFill>
                  <a:schemeClr val="tx1"/>
                </a:solidFill>
              </a:rPr>
              <a:t>)</a:t>
            </a:r>
          </a:p>
          <a:p>
            <a:pPr marL="457200" lvl="1" indent="0" algn="just">
              <a:buFont typeface="+mj-lt"/>
              <a:buNone/>
            </a:pPr>
            <a:endParaRPr lang="en-US" sz="2000" dirty="0"/>
          </a:p>
          <a:p>
            <a:pPr marL="457200" lvl="1" indent="0" algn="just">
              <a:buFont typeface="+mj-lt"/>
              <a:buNone/>
            </a:pPr>
            <a:endParaRPr lang="en-US" sz="2000" dirty="0"/>
          </a:p>
          <a:p>
            <a:pPr marL="457200" lvl="1" indent="0" algn="just">
              <a:buFont typeface="+mj-lt"/>
              <a:buNone/>
            </a:pPr>
            <a:r>
              <a:rPr lang="en-US" sz="2000" b="1" dirty="0">
                <a:solidFill>
                  <a:schemeClr val="tx1"/>
                </a:solidFill>
              </a:rPr>
              <a:t>Strain, </a:t>
            </a:r>
            <a:r>
              <a:rPr lang="en-US" sz="2400" b="1" dirty="0">
                <a:solidFill>
                  <a:schemeClr val="tx1"/>
                </a:solidFill>
              </a:rPr>
              <a:t>(</a:t>
            </a:r>
            <a:r>
              <a:rPr lang="el-GR" sz="2400" b="1" i="0" dirty="0">
                <a:solidFill>
                  <a:srgbClr val="001D35"/>
                </a:solidFill>
                <a:effectLst/>
                <a:latin typeface="Google Sans"/>
              </a:rPr>
              <a:t>ε</a:t>
            </a:r>
            <a:r>
              <a:rPr lang="en-US" sz="2400" b="1" i="0" dirty="0">
                <a:solidFill>
                  <a:srgbClr val="001D35"/>
                </a:solidFill>
                <a:effectLst/>
                <a:latin typeface="Google Sans"/>
              </a:rPr>
              <a:t>)</a:t>
            </a:r>
            <a:r>
              <a:rPr lang="en-US" sz="2400" b="1" dirty="0">
                <a:solidFill>
                  <a:schemeClr val="tx1"/>
                </a:solidFill>
              </a:rPr>
              <a:t> </a:t>
            </a:r>
            <a:r>
              <a:rPr lang="en-US" sz="2000" dirty="0">
                <a:solidFill>
                  <a:schemeClr val="tx1"/>
                </a:solidFill>
              </a:rPr>
              <a:t>= Change in dimensions / Original dimensions (Dimensionless / Ratio)</a:t>
            </a:r>
          </a:p>
          <a:p>
            <a:pPr marL="457200" lvl="1" indent="0" algn="just">
              <a:buFont typeface="+mj-lt"/>
              <a:buNone/>
            </a:pPr>
            <a:endParaRPr lang="en-US" sz="2000" dirty="0">
              <a:solidFill>
                <a:schemeClr val="tx1"/>
              </a:solidFill>
            </a:endParaRPr>
          </a:p>
          <a:p>
            <a:pPr marL="457200" lvl="1" indent="0" algn="just">
              <a:buFont typeface="+mj-lt"/>
              <a:buNone/>
            </a:pPr>
            <a:r>
              <a:rPr lang="en-US" sz="2000" b="1" dirty="0">
                <a:solidFill>
                  <a:schemeClr val="tx1"/>
                </a:solidFill>
              </a:rPr>
              <a:t>Modulus of Elasticity</a:t>
            </a:r>
            <a:r>
              <a:rPr lang="en-US" sz="2000" dirty="0">
                <a:solidFill>
                  <a:schemeClr val="tx1"/>
                </a:solidFill>
              </a:rPr>
              <a:t>, </a:t>
            </a:r>
            <a:r>
              <a:rPr lang="en-US" sz="2000" b="1" dirty="0">
                <a:solidFill>
                  <a:schemeClr val="tx1"/>
                </a:solidFill>
              </a:rPr>
              <a:t>(E</a:t>
            </a:r>
            <a:r>
              <a:rPr lang="en-US" sz="2000" b="1" baseline="-25000" dirty="0">
                <a:solidFill>
                  <a:schemeClr val="tx1"/>
                </a:solidFill>
              </a:rPr>
              <a:t>c</a:t>
            </a:r>
            <a:r>
              <a:rPr lang="en-US" sz="2000" b="1" dirty="0">
                <a:solidFill>
                  <a:schemeClr val="tx1"/>
                </a:solidFill>
              </a:rPr>
              <a:t>) </a:t>
            </a:r>
            <a:r>
              <a:rPr lang="en-US" sz="2000" dirty="0">
                <a:solidFill>
                  <a:schemeClr val="tx1"/>
                </a:solidFill>
              </a:rPr>
              <a:t>= Stress / Strain (N/mm</a:t>
            </a:r>
            <a:r>
              <a:rPr lang="en-US" sz="2000" baseline="30000" dirty="0">
                <a:solidFill>
                  <a:schemeClr val="tx1"/>
                </a:solidFill>
              </a:rPr>
              <a:t>2</a:t>
            </a:r>
            <a:r>
              <a:rPr lang="en-US" sz="2000" dirty="0">
                <a:solidFill>
                  <a:schemeClr val="tx1"/>
                </a:solidFill>
              </a:rPr>
              <a:t>)</a:t>
            </a:r>
          </a:p>
        </p:txBody>
      </p:sp>
      <p:sp>
        <p:nvSpPr>
          <p:cNvPr id="3" name="Rectangle 2">
            <a:extLst>
              <a:ext uri="{FF2B5EF4-FFF2-40B4-BE49-F238E27FC236}">
                <a16:creationId xmlns:a16="http://schemas.microsoft.com/office/drawing/2014/main" id="{66A9BD36-ACAF-ED4D-6BDC-8DB2970BB116}"/>
              </a:ext>
            </a:extLst>
          </p:cNvPr>
          <p:cNvSpPr txBox="1">
            <a:spLocks noChangeArrowheads="1"/>
          </p:cNvSpPr>
          <p:nvPr/>
        </p:nvSpPr>
        <p:spPr>
          <a:xfrm>
            <a:off x="1233571" y="234633"/>
            <a:ext cx="10331116" cy="796925"/>
          </a:xfr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ZA" sz="2800" b="1" dirty="0" err="1"/>
              <a:t>i</a:t>
            </a:r>
            <a:r>
              <a:rPr lang="en-ZA" sz="2800" b="1" dirty="0"/>
              <a:t>.	Strength – Compressive, Tensile and Bond Strengths</a:t>
            </a:r>
            <a:endParaRPr lang="en-US" sz="2800" b="1" dirty="0"/>
          </a:p>
        </p:txBody>
      </p:sp>
      <p:pic>
        <p:nvPicPr>
          <p:cNvPr id="1026" name="Picture 2">
            <a:extLst>
              <a:ext uri="{FF2B5EF4-FFF2-40B4-BE49-F238E27FC236}">
                <a16:creationId xmlns:a16="http://schemas.microsoft.com/office/drawing/2014/main" id="{343558DF-2D38-0A85-601A-8614931212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7064" y="1713298"/>
            <a:ext cx="3620568" cy="36605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CB069E7-C2D8-7471-13C8-9B1171A0E16E}"/>
            </a:ext>
          </a:extLst>
        </p:cNvPr>
        <p:cNvGrpSpPr/>
        <p:nvPr/>
      </p:nvGrpSpPr>
      <p:grpSpPr>
        <a:xfrm>
          <a:off x="0" y="0"/>
          <a:ext cx="0" cy="0"/>
          <a:chOff x="0" y="0"/>
          <a:chExt cx="0" cy="0"/>
        </a:xfrm>
      </p:grpSpPr>
      <p:sp>
        <p:nvSpPr>
          <p:cNvPr id="5123" name="Rectangle 3">
            <a:extLst>
              <a:ext uri="{FF2B5EF4-FFF2-40B4-BE49-F238E27FC236}">
                <a16:creationId xmlns:a16="http://schemas.microsoft.com/office/drawing/2014/main" id="{0B5D3E8C-F042-89FD-2813-232E582F8473}"/>
              </a:ext>
            </a:extLst>
          </p:cNvPr>
          <p:cNvSpPr>
            <a:spLocks noGrp="1" noChangeArrowheads="1"/>
          </p:cNvSpPr>
          <p:nvPr>
            <p:ph type="body" sz="quarter" idx="10"/>
          </p:nvPr>
        </p:nvSpPr>
        <p:spPr>
          <a:xfrm>
            <a:off x="5083677" y="2531444"/>
            <a:ext cx="6886575" cy="2216785"/>
          </a:xfrm>
          <a:noFill/>
        </p:spPr>
        <p:txBody>
          <a:bodyPr vert="horz" lIns="90488" tIns="44450" rIns="90488" bIns="44450" rtlCol="0">
            <a:noAutofit/>
          </a:bodyPr>
          <a:lstStyle/>
          <a:p>
            <a:pPr lvl="1" algn="just"/>
            <a:endParaRPr lang="en-US" sz="2800" b="1" dirty="0">
              <a:solidFill>
                <a:schemeClr val="tx1"/>
              </a:solidFill>
            </a:endParaRPr>
          </a:p>
          <a:p>
            <a:pPr marL="457200" lvl="1" indent="0" algn="just">
              <a:buFont typeface="+mj-lt"/>
              <a:buNone/>
            </a:pPr>
            <a:r>
              <a:rPr lang="en-US" sz="2000" dirty="0">
                <a:solidFill>
                  <a:schemeClr val="tx1"/>
                </a:solidFill>
              </a:rPr>
              <a:t>As the load is applied, the ratio between the stresses and strains is approximately linear at first and the concrete almost behaves as an elastic material with virtually full recovery of displacement if the load is removed. Eventually, the curve is no longer linear and the concrete behaves more and more as a plastic material. If the load were removed during the plastic stage, the recovery would no longer be complete and a permanent deformation would remain. The ultimate strain for most structural concretes tends to be a constant value of approximately 0.0035, irrespective of the strength of the concrete. The modulus of elasticity, </a:t>
            </a:r>
            <a:r>
              <a:rPr kumimoji="0" lang="en-US" sz="2000" b="1" i="0" u="none" strike="noStrike" kern="1200" cap="none" spc="0" normalizeH="0" baseline="0" noProof="0" dirty="0">
                <a:ln>
                  <a:noFill/>
                </a:ln>
                <a:solidFill>
                  <a:prstClr val="black"/>
                </a:solidFill>
                <a:effectLst/>
                <a:uLnTx/>
                <a:uFillTx/>
                <a:latin typeface="Century Gothic"/>
                <a:ea typeface="+mn-ea"/>
                <a:cs typeface="+mn-cs"/>
              </a:rPr>
              <a:t>(E</a:t>
            </a:r>
            <a:r>
              <a:rPr kumimoji="0" lang="en-US" sz="2000" b="1" i="0" u="none" strike="noStrike" kern="1200" cap="none" spc="0" normalizeH="0" baseline="-25000" noProof="0" dirty="0">
                <a:ln>
                  <a:noFill/>
                </a:ln>
                <a:solidFill>
                  <a:prstClr val="black"/>
                </a:solidFill>
                <a:effectLst/>
                <a:uLnTx/>
                <a:uFillTx/>
                <a:latin typeface="Century Gothic"/>
                <a:ea typeface="+mn-ea"/>
                <a:cs typeface="+mn-cs"/>
              </a:rPr>
              <a:t>c</a:t>
            </a:r>
            <a:r>
              <a:rPr kumimoji="0" lang="en-US" sz="2000" b="1" i="0" u="none" strike="noStrike" kern="1200" cap="none" spc="0" normalizeH="0" baseline="0" noProof="0" dirty="0">
                <a:ln>
                  <a:noFill/>
                </a:ln>
                <a:solidFill>
                  <a:prstClr val="black"/>
                </a:solidFill>
                <a:effectLst/>
                <a:uLnTx/>
                <a:uFillTx/>
                <a:latin typeface="Century Gothic"/>
                <a:ea typeface="+mn-ea"/>
                <a:cs typeface="+mn-cs"/>
              </a:rPr>
              <a:t>) </a:t>
            </a:r>
            <a:r>
              <a:rPr kumimoji="0" lang="en-US" sz="2000" i="0" u="none" strike="noStrike" kern="1200" cap="none" spc="0" normalizeH="0" baseline="0" noProof="0" dirty="0">
                <a:ln>
                  <a:noFill/>
                </a:ln>
                <a:solidFill>
                  <a:prstClr val="black"/>
                </a:solidFill>
                <a:effectLst/>
                <a:uLnTx/>
                <a:uFillTx/>
                <a:latin typeface="Century Gothic"/>
                <a:ea typeface="+mn-ea"/>
                <a:cs typeface="+mn-cs"/>
              </a:rPr>
              <a:t>of concrete may be defined as the ratio of stress to corresponding strain in concrete. It is a measure of the stiffness of the concrete structure and its values varies from 1.4 to 3.0 </a:t>
            </a:r>
            <a:r>
              <a:rPr kumimoji="0" lang="en-US" sz="2000" i="0" u="none" strike="noStrike" kern="1200" cap="none" spc="0" normalizeH="0" baseline="0" noProof="0" dirty="0" err="1">
                <a:ln>
                  <a:noFill/>
                </a:ln>
                <a:solidFill>
                  <a:prstClr val="black"/>
                </a:solidFill>
                <a:effectLst/>
                <a:uLnTx/>
                <a:uFillTx/>
                <a:latin typeface="Century Gothic"/>
                <a:ea typeface="+mn-ea"/>
                <a:cs typeface="+mn-cs"/>
              </a:rPr>
              <a:t>kN</a:t>
            </a:r>
            <a:r>
              <a:rPr kumimoji="0" lang="en-US" sz="2000" i="0" u="none" strike="noStrike" kern="1200" cap="none" spc="0" normalizeH="0" baseline="0" noProof="0" dirty="0">
                <a:ln>
                  <a:noFill/>
                </a:ln>
                <a:solidFill>
                  <a:prstClr val="black"/>
                </a:solidFill>
                <a:effectLst/>
                <a:uLnTx/>
                <a:uFillTx/>
                <a:latin typeface="Century Gothic"/>
                <a:ea typeface="+mn-ea"/>
                <a:cs typeface="+mn-cs"/>
              </a:rPr>
              <a:t>/mm</a:t>
            </a:r>
            <a:r>
              <a:rPr kumimoji="0" lang="en-US" sz="2000" i="0" u="none" strike="noStrike" kern="1200" cap="none" spc="0" normalizeH="0" baseline="30000" noProof="0" dirty="0">
                <a:ln>
                  <a:noFill/>
                </a:ln>
                <a:solidFill>
                  <a:prstClr val="black"/>
                </a:solidFill>
                <a:effectLst/>
                <a:uLnTx/>
                <a:uFillTx/>
                <a:latin typeface="Century Gothic"/>
                <a:ea typeface="+mn-ea"/>
                <a:cs typeface="+mn-cs"/>
              </a:rPr>
              <a:t>2</a:t>
            </a:r>
            <a:r>
              <a:rPr kumimoji="0" lang="en-US" sz="2000" i="0" u="none" strike="noStrike" kern="1200" cap="none" spc="0" normalizeH="0" baseline="0" noProof="0" dirty="0">
                <a:ln>
                  <a:noFill/>
                </a:ln>
                <a:solidFill>
                  <a:prstClr val="black"/>
                </a:solidFill>
                <a:effectLst/>
                <a:uLnTx/>
                <a:uFillTx/>
                <a:latin typeface="Century Gothic"/>
                <a:ea typeface="+mn-ea"/>
                <a:cs typeface="+mn-cs"/>
              </a:rPr>
              <a:t>.</a:t>
            </a:r>
            <a:endParaRPr lang="en-US" sz="2000" dirty="0">
              <a:solidFill>
                <a:schemeClr val="tx1"/>
              </a:solidFill>
            </a:endParaRPr>
          </a:p>
        </p:txBody>
      </p:sp>
      <p:sp>
        <p:nvSpPr>
          <p:cNvPr id="3" name="Rectangle 2">
            <a:extLst>
              <a:ext uri="{FF2B5EF4-FFF2-40B4-BE49-F238E27FC236}">
                <a16:creationId xmlns:a16="http://schemas.microsoft.com/office/drawing/2014/main" id="{92F02CD6-C1AD-1EDC-A55E-BD4C3D6B9E4E}"/>
              </a:ext>
            </a:extLst>
          </p:cNvPr>
          <p:cNvSpPr txBox="1">
            <a:spLocks noChangeArrowheads="1"/>
          </p:cNvSpPr>
          <p:nvPr/>
        </p:nvSpPr>
        <p:spPr>
          <a:xfrm>
            <a:off x="997685" y="234633"/>
            <a:ext cx="10802888" cy="796925"/>
          </a:xfr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ZA" sz="2800" b="1" dirty="0" err="1"/>
              <a:t>i</a:t>
            </a:r>
            <a:r>
              <a:rPr lang="en-ZA" sz="2800" b="1" dirty="0"/>
              <a:t>.	Strength – Stress-Strain Curve for Concrete in Compression</a:t>
            </a:r>
            <a:endParaRPr lang="en-US" sz="2800" b="1" dirty="0"/>
          </a:p>
        </p:txBody>
      </p:sp>
      <p:pic>
        <p:nvPicPr>
          <p:cNvPr id="4" name="Picture 3">
            <a:extLst>
              <a:ext uri="{FF2B5EF4-FFF2-40B4-BE49-F238E27FC236}">
                <a16:creationId xmlns:a16="http://schemas.microsoft.com/office/drawing/2014/main" id="{B392846D-31B6-77D0-9B56-EB1E98247793}"/>
              </a:ext>
            </a:extLst>
          </p:cNvPr>
          <p:cNvPicPr>
            <a:picLocks noChangeAspect="1"/>
          </p:cNvPicPr>
          <p:nvPr/>
        </p:nvPicPr>
        <p:blipFill>
          <a:blip r:embed="rId3"/>
          <a:stretch>
            <a:fillRect/>
          </a:stretch>
        </p:blipFill>
        <p:spPr>
          <a:xfrm>
            <a:off x="858010" y="1198464"/>
            <a:ext cx="4695766" cy="3249768"/>
          </a:xfrm>
          <a:prstGeom prst="rect">
            <a:avLst/>
          </a:prstGeom>
        </p:spPr>
      </p:pic>
    </p:spTree>
    <p:extLst>
      <p:ext uri="{BB962C8B-B14F-4D97-AF65-F5344CB8AC3E}">
        <p14:creationId xmlns:p14="http://schemas.microsoft.com/office/powerpoint/2010/main" val="312344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1981200" y="-27384"/>
            <a:ext cx="8229600" cy="1143000"/>
          </a:xfrm>
          <a:noFill/>
        </p:spPr>
        <p:txBody>
          <a:bodyPr vert="horz" lIns="90488" tIns="44450" rIns="90488" bIns="44450" rtlCol="0" anchor="b">
            <a:normAutofit/>
          </a:bodyPr>
          <a:lstStyle/>
          <a:p>
            <a:pPr eaLnBrk="1" hangingPunct="1"/>
            <a:r>
              <a:rPr lang="en-US" sz="4000" dirty="0"/>
              <a:t>Accelerated Strength Testing</a:t>
            </a:r>
          </a:p>
        </p:txBody>
      </p:sp>
      <p:sp>
        <p:nvSpPr>
          <p:cNvPr id="270339" name="Rectangle 3"/>
          <p:cNvSpPr>
            <a:spLocks noGrp="1" noChangeArrowheads="1"/>
          </p:cNvSpPr>
          <p:nvPr>
            <p:ph type="body" sz="quarter" idx="10"/>
          </p:nvPr>
        </p:nvSpPr>
        <p:spPr>
          <a:xfrm>
            <a:off x="1991544" y="1196753"/>
            <a:ext cx="8229600" cy="4525963"/>
          </a:xfrm>
        </p:spPr>
        <p:txBody>
          <a:bodyPr>
            <a:normAutofit/>
          </a:bodyPr>
          <a:lstStyle/>
          <a:p>
            <a:pPr>
              <a:buFont typeface="Arial" panose="020B0604020202020204" pitchFamily="34" charset="0"/>
              <a:buChar char="•"/>
            </a:pPr>
            <a:r>
              <a:rPr lang="en-US" sz="2800"/>
              <a:t>To allow early predictions</a:t>
            </a:r>
          </a:p>
          <a:p>
            <a:pPr>
              <a:buFont typeface="Arial" panose="020B0604020202020204" pitchFamily="34" charset="0"/>
              <a:buChar char="•"/>
            </a:pPr>
            <a:r>
              <a:rPr lang="en-US" sz="2800"/>
              <a:t>Changes in concrete properties may be detected early</a:t>
            </a:r>
          </a:p>
          <a:p>
            <a:pPr>
              <a:buFont typeface="Arial" panose="020B0604020202020204" pitchFamily="34" charset="0"/>
              <a:buChar char="•"/>
            </a:pPr>
            <a:r>
              <a:rPr lang="en-US" sz="2800"/>
              <a:t>Corrective action can be taken to improve quality</a:t>
            </a:r>
          </a:p>
          <a:p>
            <a:pPr>
              <a:buFont typeface="Arial" panose="020B0604020202020204" pitchFamily="34" charset="0"/>
              <a:buChar char="•"/>
            </a:pPr>
            <a:r>
              <a:rPr lang="en-US" sz="2800"/>
              <a:t>Cost of investigation, assessment and remedial work can be minimized</a:t>
            </a:r>
          </a:p>
          <a:p>
            <a:pPr>
              <a:buFont typeface="Arial" panose="020B0604020202020204" pitchFamily="34" charset="0"/>
              <a:buChar char="•"/>
            </a:pPr>
            <a:r>
              <a:rPr lang="en-US" sz="2800"/>
              <a:t>Minimize delays</a:t>
            </a:r>
          </a:p>
          <a:p>
            <a:pPr>
              <a:buFont typeface="Arial" panose="020B0604020202020204" pitchFamily="34" charset="0"/>
              <a:buChar char="•"/>
            </a:pPr>
            <a:r>
              <a:rPr lang="en-US" sz="2800"/>
              <a:t>Can replace 28-day testing.</a:t>
            </a:r>
          </a:p>
        </p:txBody>
      </p:sp>
    </p:spTree>
    <p:extLst>
      <p:ext uri="{BB962C8B-B14F-4D97-AF65-F5344CB8AC3E}">
        <p14:creationId xmlns:p14="http://schemas.microsoft.com/office/powerpoint/2010/main" val="1007192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1517F7D-96DA-77A4-52A7-876528634063}"/>
            </a:ext>
          </a:extLst>
        </p:cNvPr>
        <p:cNvGrpSpPr/>
        <p:nvPr/>
      </p:nvGrpSpPr>
      <p:grpSpPr>
        <a:xfrm>
          <a:off x="0" y="0"/>
          <a:ext cx="0" cy="0"/>
          <a:chOff x="0" y="0"/>
          <a:chExt cx="0" cy="0"/>
        </a:xfrm>
      </p:grpSpPr>
      <p:sp>
        <p:nvSpPr>
          <p:cNvPr id="5123" name="Rectangle 3">
            <a:extLst>
              <a:ext uri="{FF2B5EF4-FFF2-40B4-BE49-F238E27FC236}">
                <a16:creationId xmlns:a16="http://schemas.microsoft.com/office/drawing/2014/main" id="{9126ADB8-355C-3984-13EC-19840CF893B8}"/>
              </a:ext>
            </a:extLst>
          </p:cNvPr>
          <p:cNvSpPr>
            <a:spLocks noGrp="1" noChangeArrowheads="1"/>
          </p:cNvSpPr>
          <p:nvPr>
            <p:ph type="body" sz="quarter" idx="10"/>
          </p:nvPr>
        </p:nvSpPr>
        <p:spPr>
          <a:xfrm>
            <a:off x="1531955" y="1762342"/>
            <a:ext cx="6886575" cy="2216785"/>
          </a:xfrm>
          <a:noFill/>
        </p:spPr>
        <p:txBody>
          <a:bodyPr vert="horz" lIns="90488" tIns="44450" rIns="90488" bIns="44450" rtlCol="0">
            <a:noAutofit/>
          </a:bodyPr>
          <a:lstStyle/>
          <a:p>
            <a:pPr lvl="1" algn="just"/>
            <a:endParaRPr lang="en-US" sz="2800" b="1" dirty="0">
              <a:solidFill>
                <a:schemeClr val="tx1"/>
              </a:solidFill>
            </a:endParaRPr>
          </a:p>
          <a:p>
            <a:pPr marL="457200" lvl="1" indent="0" algn="just">
              <a:buFont typeface="+mj-lt"/>
              <a:buNone/>
            </a:pPr>
            <a:r>
              <a:rPr lang="en-US" sz="2000" dirty="0">
                <a:solidFill>
                  <a:schemeClr val="tx1"/>
                </a:solidFill>
              </a:rPr>
              <a:t>As concrete hardens, there is reduction in volume. This is called </a:t>
            </a:r>
            <a:r>
              <a:rPr lang="en-US" sz="2000" b="1" dirty="0">
                <a:solidFill>
                  <a:schemeClr val="tx1"/>
                </a:solidFill>
              </a:rPr>
              <a:t>shrinkage</a:t>
            </a:r>
            <a:r>
              <a:rPr lang="en-US" sz="2000" dirty="0">
                <a:solidFill>
                  <a:schemeClr val="tx1"/>
                </a:solidFill>
              </a:rPr>
              <a:t>, and is liable to cause cracking of the concrete. Shrinkage begins to take place as soon as the concrete is mixed, and is caused initially by the absorption of the water by the cement and the aggregates. Further shrinkage is caused by evaporation of the water which rises to the concrete surface. During the setting process, the hydration of the cement causes a great deal of heat to be generated, and as the concrete cools, further shrinkage occurs due to thermal contraction.</a:t>
            </a:r>
          </a:p>
        </p:txBody>
      </p:sp>
      <p:sp>
        <p:nvSpPr>
          <p:cNvPr id="3" name="Rectangle 2">
            <a:extLst>
              <a:ext uri="{FF2B5EF4-FFF2-40B4-BE49-F238E27FC236}">
                <a16:creationId xmlns:a16="http://schemas.microsoft.com/office/drawing/2014/main" id="{28D9AD87-D8DA-CFF9-19F3-1601FFBED9B9}"/>
              </a:ext>
            </a:extLst>
          </p:cNvPr>
          <p:cNvSpPr txBox="1">
            <a:spLocks noChangeArrowheads="1"/>
          </p:cNvSpPr>
          <p:nvPr/>
        </p:nvSpPr>
        <p:spPr>
          <a:xfrm>
            <a:off x="1940961" y="273134"/>
            <a:ext cx="10802888" cy="796925"/>
          </a:xfr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ZA" sz="2800" b="1" dirty="0"/>
              <a:t>iv.	Shrinkage</a:t>
            </a:r>
            <a:endParaRPr lang="en-US" sz="2800" b="1" dirty="0"/>
          </a:p>
        </p:txBody>
      </p:sp>
      <p:pic>
        <p:nvPicPr>
          <p:cNvPr id="2050" name="Picture 2" descr="Cracks Shrinkage Image &amp; Photo (Free Trial) | Bigstock">
            <a:extLst>
              <a:ext uri="{FF2B5EF4-FFF2-40B4-BE49-F238E27FC236}">
                <a16:creationId xmlns:a16="http://schemas.microsoft.com/office/drawing/2014/main" id="{FDD17798-EEB3-99AF-0B7D-B02BEC67B2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0579" y="1358817"/>
            <a:ext cx="2889082" cy="2719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833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61CB24B-649E-985E-8E5C-81FDA223DBDA}"/>
            </a:ext>
          </a:extLst>
        </p:cNvPr>
        <p:cNvGrpSpPr/>
        <p:nvPr/>
      </p:nvGrpSpPr>
      <p:grpSpPr>
        <a:xfrm>
          <a:off x="0" y="0"/>
          <a:ext cx="0" cy="0"/>
          <a:chOff x="0" y="0"/>
          <a:chExt cx="0" cy="0"/>
        </a:xfrm>
      </p:grpSpPr>
      <p:sp>
        <p:nvSpPr>
          <p:cNvPr id="5123" name="Rectangle 3">
            <a:extLst>
              <a:ext uri="{FF2B5EF4-FFF2-40B4-BE49-F238E27FC236}">
                <a16:creationId xmlns:a16="http://schemas.microsoft.com/office/drawing/2014/main" id="{02102A45-F833-39C7-5175-68BB52253D04}"/>
              </a:ext>
            </a:extLst>
          </p:cNvPr>
          <p:cNvSpPr>
            <a:spLocks noGrp="1" noChangeArrowheads="1"/>
          </p:cNvSpPr>
          <p:nvPr>
            <p:ph type="body" sz="quarter" idx="10"/>
          </p:nvPr>
        </p:nvSpPr>
        <p:spPr>
          <a:xfrm>
            <a:off x="1531955" y="1762342"/>
            <a:ext cx="6886575" cy="2216785"/>
          </a:xfrm>
          <a:noFill/>
        </p:spPr>
        <p:txBody>
          <a:bodyPr vert="horz" lIns="90488" tIns="44450" rIns="90488" bIns="44450" rtlCol="0">
            <a:noAutofit/>
          </a:bodyPr>
          <a:lstStyle/>
          <a:p>
            <a:pPr lvl="1" algn="just"/>
            <a:endParaRPr lang="en-US" sz="2800" b="1" dirty="0">
              <a:solidFill>
                <a:schemeClr val="tx1"/>
              </a:solidFill>
            </a:endParaRPr>
          </a:p>
          <a:p>
            <a:pPr marL="457200" lvl="1" indent="0" algn="just">
              <a:buFont typeface="+mj-lt"/>
              <a:buNone/>
            </a:pPr>
            <a:r>
              <a:rPr lang="en-US" sz="2000" dirty="0">
                <a:solidFill>
                  <a:schemeClr val="tx1"/>
                </a:solidFill>
              </a:rPr>
              <a:t>Continued sustained loads applied to concrete cause long-term permanent deformation which is called creep. It can also be defined as the gradual increase in strain with time in a member subjected to prolonged stress. Creep does not disappear completely on the removal of sustained load. Creep is desirable in in concrete structures as it causes better distribution of stresses. Creep causing excessive deformation and deflection is undesirable.</a:t>
            </a:r>
          </a:p>
        </p:txBody>
      </p:sp>
      <p:sp>
        <p:nvSpPr>
          <p:cNvPr id="3" name="Rectangle 2">
            <a:extLst>
              <a:ext uri="{FF2B5EF4-FFF2-40B4-BE49-F238E27FC236}">
                <a16:creationId xmlns:a16="http://schemas.microsoft.com/office/drawing/2014/main" id="{4A69EB24-A453-80E4-5798-C3E89B400176}"/>
              </a:ext>
            </a:extLst>
          </p:cNvPr>
          <p:cNvSpPr txBox="1">
            <a:spLocks noChangeArrowheads="1"/>
          </p:cNvSpPr>
          <p:nvPr/>
        </p:nvSpPr>
        <p:spPr>
          <a:xfrm>
            <a:off x="1940961" y="273134"/>
            <a:ext cx="10802888" cy="796925"/>
          </a:xfr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ZA" sz="2800" b="1" dirty="0"/>
              <a:t>v.	Creep</a:t>
            </a:r>
            <a:endParaRPr lang="en-US" sz="2800" b="1" dirty="0"/>
          </a:p>
        </p:txBody>
      </p:sp>
      <p:pic>
        <p:nvPicPr>
          <p:cNvPr id="2052" name="Picture 4" descr="Know everything about Concrete Creeping">
            <a:extLst>
              <a:ext uri="{FF2B5EF4-FFF2-40B4-BE49-F238E27FC236}">
                <a16:creationId xmlns:a16="http://schemas.microsoft.com/office/drawing/2014/main" id="{4DBD916F-AFC1-9C4E-A9C7-56768C7AD4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0893" y="1357562"/>
            <a:ext cx="3581428" cy="1963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4694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ChangeArrowheads="1"/>
          </p:cNvSpPr>
          <p:nvPr/>
        </p:nvSpPr>
        <p:spPr bwMode="auto">
          <a:xfrm>
            <a:off x="2208213" y="-27384"/>
            <a:ext cx="7772400" cy="1143000"/>
          </a:xfrm>
          <a:prstGeom prst="rect">
            <a:avLst/>
          </a:prstGeom>
          <a:noFill/>
          <a:ln w="12700">
            <a:noFill/>
            <a:miter lim="800000"/>
          </a:ln>
          <a:effectLst/>
        </p:spPr>
        <p:txBody>
          <a:bodyPr lIns="90488" tIns="44450" rIns="90488" bIns="44450" anchor="b"/>
          <a:lstStyle/>
          <a:p>
            <a:r>
              <a:rPr lang="en-US" sz="4000" b="1" dirty="0"/>
              <a:t>viii. Density</a:t>
            </a:r>
            <a:endParaRPr lang="en-US" sz="4000" b="1" i="1" dirty="0"/>
          </a:p>
        </p:txBody>
      </p:sp>
      <p:sp>
        <p:nvSpPr>
          <p:cNvPr id="86019" name="Rectangle 3"/>
          <p:cNvSpPr>
            <a:spLocks noChangeArrowheads="1"/>
          </p:cNvSpPr>
          <p:nvPr/>
        </p:nvSpPr>
        <p:spPr bwMode="auto">
          <a:xfrm>
            <a:off x="2057401" y="1346126"/>
            <a:ext cx="9944145" cy="5105400"/>
          </a:xfrm>
          <a:prstGeom prst="rect">
            <a:avLst/>
          </a:prstGeom>
          <a:noFill/>
          <a:ln w="12700">
            <a:noFill/>
            <a:miter lim="800000"/>
          </a:ln>
          <a:effectLst/>
        </p:spPr>
        <p:txBody>
          <a:bodyPr lIns="90488" tIns="44450" rIns="90488" bIns="44450"/>
          <a:lstStyle/>
          <a:p>
            <a:pPr marL="342900" indent="-342900">
              <a:spcBef>
                <a:spcPct val="20000"/>
              </a:spcBef>
              <a:buFontTx/>
              <a:buChar char="•"/>
            </a:pPr>
            <a:r>
              <a:rPr lang="en-US" sz="3200" dirty="0">
                <a:solidFill>
                  <a:srgbClr val="000000"/>
                </a:solidFill>
              </a:rPr>
              <a:t>Depends on: density of aggregates, cement content and water content</a:t>
            </a:r>
          </a:p>
          <a:p>
            <a:pPr marL="742950" lvl="1" indent="-285750">
              <a:spcBef>
                <a:spcPct val="20000"/>
              </a:spcBef>
              <a:buFontTx/>
              <a:buChar char="–"/>
            </a:pPr>
            <a:endParaRPr lang="en-US" sz="2800" dirty="0">
              <a:solidFill>
                <a:srgbClr val="000000"/>
              </a:solidFill>
            </a:endParaRPr>
          </a:p>
        </p:txBody>
      </p:sp>
      <p:graphicFrame>
        <p:nvGraphicFramePr>
          <p:cNvPr id="86020" name="Object 4"/>
          <p:cNvGraphicFramePr>
            <a:graphicFrameLocks noChangeAspect="1"/>
          </p:cNvGraphicFramePr>
          <p:nvPr>
            <p:extLst>
              <p:ext uri="{D42A27DB-BD31-4B8C-83A1-F6EECF244321}">
                <p14:modId xmlns:p14="http://schemas.microsoft.com/office/powerpoint/2010/main" val="1437637987"/>
              </p:ext>
            </p:extLst>
          </p:nvPr>
        </p:nvGraphicFramePr>
        <p:xfrm>
          <a:off x="2057401" y="2422526"/>
          <a:ext cx="8819146" cy="4710113"/>
        </p:xfrm>
        <a:graphic>
          <a:graphicData uri="http://schemas.openxmlformats.org/presentationml/2006/ole">
            <mc:AlternateContent xmlns:mc="http://schemas.openxmlformats.org/markup-compatibility/2006">
              <mc:Choice xmlns:v="urn:schemas-microsoft-com:vml" Requires="v">
                <p:oleObj name="Document" r:id="rId3" imgW="6667500" imgH="3938270" progId="Word.Document.8">
                  <p:embed/>
                </p:oleObj>
              </mc:Choice>
              <mc:Fallback>
                <p:oleObj name="Document" r:id="rId3" imgW="6667500" imgH="3938270" progId="Word.Document.8">
                  <p:embed/>
                  <p:pic>
                    <p:nvPicPr>
                      <p:cNvPr id="8602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1" y="2422526"/>
                        <a:ext cx="8819146" cy="4710113"/>
                      </a:xfrm>
                      <a:prstGeom prst="rect">
                        <a:avLst/>
                      </a:prstGeom>
                      <a:noFill/>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992313" y="0"/>
            <a:ext cx="8229600" cy="1143000"/>
          </a:xfrm>
        </p:spPr>
        <p:txBody>
          <a:bodyPr/>
          <a:lstStyle/>
          <a:p>
            <a:r>
              <a:rPr lang="en-ZA" sz="4000" b="1" dirty="0"/>
              <a:t>viii. Density</a:t>
            </a:r>
            <a:endParaRPr lang="en-US" sz="4000" b="1" dirty="0"/>
          </a:p>
        </p:txBody>
      </p:sp>
      <p:sp>
        <p:nvSpPr>
          <p:cNvPr id="14339" name="Rectangle 3"/>
          <p:cNvSpPr>
            <a:spLocks noGrp="1" noChangeArrowheads="1"/>
          </p:cNvSpPr>
          <p:nvPr>
            <p:ph type="body" sz="quarter" idx="10"/>
          </p:nvPr>
        </p:nvSpPr>
        <p:spPr>
          <a:xfrm>
            <a:off x="1779789" y="152506"/>
            <a:ext cx="9760901" cy="4525963"/>
          </a:xfrm>
        </p:spPr>
        <p:txBody>
          <a:bodyPr/>
          <a:lstStyle/>
          <a:p>
            <a:pPr algn="l">
              <a:buFont typeface="Arial" panose="020B0604020202020204" pitchFamily="34" charset="0"/>
              <a:buChar char="•"/>
            </a:pPr>
            <a:r>
              <a:rPr lang="en-ZA" sz="2800" dirty="0">
                <a:solidFill>
                  <a:schemeClr val="tx1"/>
                </a:solidFill>
              </a:rPr>
              <a:t>Density is the mass of a material per unit volume</a:t>
            </a:r>
          </a:p>
          <a:p>
            <a:pPr algn="l">
              <a:buFont typeface="Arial" panose="020B0604020202020204" pitchFamily="34" charset="0"/>
              <a:buChar char="•"/>
            </a:pPr>
            <a:r>
              <a:rPr lang="en-ZA" sz="2800" dirty="0">
                <a:solidFill>
                  <a:schemeClr val="tx1"/>
                </a:solidFill>
              </a:rPr>
              <a:t>Density of water is 1000 kg/m</a:t>
            </a:r>
            <a:r>
              <a:rPr lang="en-ZA" sz="2800" baseline="30000" dirty="0">
                <a:solidFill>
                  <a:schemeClr val="tx1"/>
                </a:solidFill>
              </a:rPr>
              <a:t>3</a:t>
            </a:r>
          </a:p>
          <a:p>
            <a:pPr algn="l">
              <a:buFont typeface="Arial" panose="020B0604020202020204" pitchFamily="34" charset="0"/>
              <a:buChar char="•"/>
            </a:pPr>
            <a:r>
              <a:rPr lang="en-ZA" sz="2800" dirty="0">
                <a:solidFill>
                  <a:schemeClr val="tx1"/>
                </a:solidFill>
              </a:rPr>
              <a:t>Relative density is the density of a material relative to the density of water</a:t>
            </a:r>
          </a:p>
        </p:txBody>
      </p:sp>
      <p:graphicFrame>
        <p:nvGraphicFramePr>
          <p:cNvPr id="4" name="Table 3"/>
          <p:cNvGraphicFramePr>
            <a:graphicFrameLocks noGrp="1"/>
          </p:cNvGraphicFramePr>
          <p:nvPr>
            <p:extLst>
              <p:ext uri="{D42A27DB-BD31-4B8C-83A1-F6EECF244321}">
                <p14:modId xmlns:p14="http://schemas.microsoft.com/office/powerpoint/2010/main" val="738056259"/>
              </p:ext>
            </p:extLst>
          </p:nvPr>
        </p:nvGraphicFramePr>
        <p:xfrm>
          <a:off x="2406199" y="3535575"/>
          <a:ext cx="7815714" cy="2590800"/>
        </p:xfrm>
        <a:graphic>
          <a:graphicData uri="http://schemas.openxmlformats.org/drawingml/2006/table">
            <a:tbl>
              <a:tblPr firstRow="1" bandRow="1">
                <a:tableStyleId>{073A0DAA-6AF3-43AB-8588-CEC1D06C72B9}</a:tableStyleId>
              </a:tblPr>
              <a:tblGrid>
                <a:gridCol w="3907857">
                  <a:extLst>
                    <a:ext uri="{9D8B030D-6E8A-4147-A177-3AD203B41FA5}">
                      <a16:colId xmlns:a16="http://schemas.microsoft.com/office/drawing/2014/main" val="20000"/>
                    </a:ext>
                  </a:extLst>
                </a:gridCol>
                <a:gridCol w="3907857">
                  <a:extLst>
                    <a:ext uri="{9D8B030D-6E8A-4147-A177-3AD203B41FA5}">
                      <a16:colId xmlns:a16="http://schemas.microsoft.com/office/drawing/2014/main" val="20001"/>
                    </a:ext>
                  </a:extLst>
                </a:gridCol>
              </a:tblGrid>
              <a:tr h="370840">
                <a:tc>
                  <a:txBody>
                    <a:bodyPr/>
                    <a:lstStyle/>
                    <a:p>
                      <a:r>
                        <a:rPr lang="en-US" sz="2800">
                          <a:solidFill>
                            <a:schemeClr val="tx1"/>
                          </a:solidFill>
                        </a:rPr>
                        <a:t>Material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800">
                          <a:solidFill>
                            <a:schemeClr val="tx1"/>
                          </a:solidFill>
                        </a:rPr>
                        <a:t>Relative Density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r>
                        <a:rPr lang="en-US" sz="2800">
                          <a:solidFill>
                            <a:schemeClr val="tx1"/>
                          </a:solidFill>
                        </a:rPr>
                        <a:t>Cement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800">
                          <a:solidFill>
                            <a:schemeClr val="tx1"/>
                          </a:solidFill>
                        </a:rPr>
                        <a:t>3.14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r>
                        <a:rPr lang="en-US" sz="2800">
                          <a:solidFill>
                            <a:schemeClr val="tx1"/>
                          </a:solidFill>
                        </a:rPr>
                        <a:t>Natural Aggregate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800">
                          <a:solidFill>
                            <a:schemeClr val="tx1"/>
                          </a:solidFill>
                        </a:rPr>
                        <a:t>2.5 – 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r>
                        <a:rPr lang="en-US" sz="2800">
                          <a:solidFill>
                            <a:schemeClr val="tx1"/>
                          </a:solidFill>
                        </a:rPr>
                        <a:t>Fly</a:t>
                      </a:r>
                      <a:r>
                        <a:rPr lang="en-US" sz="2800" baseline="0">
                          <a:solidFill>
                            <a:schemeClr val="tx1"/>
                          </a:solidFill>
                        </a:rPr>
                        <a:t> ash</a:t>
                      </a:r>
                      <a:endParaRPr lang="en-US" sz="28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800">
                          <a:solidFill>
                            <a:schemeClr val="tx1"/>
                          </a:solidFill>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r>
                        <a:rPr lang="en-US" sz="2800" dirty="0">
                          <a:solidFill>
                            <a:schemeClr val="tx1"/>
                          </a:solidFill>
                        </a:rPr>
                        <a:t>GGBS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800" dirty="0">
                          <a:solidFill>
                            <a:schemeClr val="tx1"/>
                          </a:solidFill>
                        </a:rPr>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981200" y="-171400"/>
            <a:ext cx="8229600" cy="1143000"/>
          </a:xfrm>
          <a:noFill/>
        </p:spPr>
        <p:txBody>
          <a:bodyPr vert="horz" lIns="90488" tIns="44450" rIns="90488" bIns="44450" rtlCol="0" anchor="b">
            <a:normAutofit/>
          </a:bodyPr>
          <a:lstStyle/>
          <a:p>
            <a:r>
              <a:rPr lang="en-ZA" sz="4000" b="1" dirty="0"/>
              <a:t>viii. Density</a:t>
            </a:r>
            <a:endParaRPr lang="en-US" sz="4000" b="1" dirty="0"/>
          </a:p>
        </p:txBody>
      </p:sp>
      <p:sp>
        <p:nvSpPr>
          <p:cNvPr id="5123" name="Rectangle 3"/>
          <p:cNvSpPr>
            <a:spLocks noGrp="1" noChangeArrowheads="1"/>
          </p:cNvSpPr>
          <p:nvPr>
            <p:ph type="body" sz="quarter" idx="10"/>
          </p:nvPr>
        </p:nvSpPr>
        <p:spPr>
          <a:xfrm>
            <a:off x="1991359" y="1186815"/>
            <a:ext cx="10069095" cy="4351655"/>
          </a:xfrm>
          <a:noFill/>
        </p:spPr>
        <p:txBody>
          <a:bodyPr vert="horz" lIns="90488" tIns="44450" rIns="90488" bIns="44450" rtlCol="0">
            <a:normAutofit/>
          </a:bodyPr>
          <a:lstStyle/>
          <a:p>
            <a:pPr algn="just">
              <a:buFont typeface="Arial" panose="020B0604020202020204" pitchFamily="34" charset="0"/>
              <a:buChar char="•"/>
            </a:pPr>
            <a:r>
              <a:rPr lang="en-GB" sz="2800" dirty="0">
                <a:solidFill>
                  <a:schemeClr val="tx1"/>
                </a:solidFill>
              </a:rPr>
              <a:t>One cubic metre of typical structural concrete contains approximately 2400 kg of materials.  Therefore the density of most concrete is between 2300 kg/m</a:t>
            </a:r>
            <a:r>
              <a:rPr lang="en-GB" sz="2800" baseline="30000" dirty="0">
                <a:solidFill>
                  <a:schemeClr val="tx1"/>
                </a:solidFill>
              </a:rPr>
              <a:t>3</a:t>
            </a:r>
            <a:r>
              <a:rPr lang="en-GB" sz="2800" dirty="0">
                <a:solidFill>
                  <a:schemeClr val="tx1"/>
                </a:solidFill>
              </a:rPr>
              <a:t> and 2500 kg/m</a:t>
            </a:r>
            <a:r>
              <a:rPr lang="en-GB" sz="2800" baseline="30000" dirty="0">
                <a:solidFill>
                  <a:schemeClr val="tx1"/>
                </a:solidFill>
              </a:rPr>
              <a:t>3</a:t>
            </a:r>
            <a:r>
              <a:rPr lang="en-GB" sz="2800" dirty="0">
                <a:solidFill>
                  <a:schemeClr val="tx1"/>
                </a:solidFill>
              </a:rPr>
              <a:t> whilst the density of water is only 1000 kg/m</a:t>
            </a:r>
            <a:r>
              <a:rPr lang="en-GB" sz="2800" baseline="30000" dirty="0">
                <a:solidFill>
                  <a:schemeClr val="tx1"/>
                </a:solidFill>
              </a:rPr>
              <a:t>3</a:t>
            </a:r>
          </a:p>
          <a:p>
            <a:pPr algn="just">
              <a:buFont typeface="Arial" panose="020B0604020202020204" pitchFamily="34" charset="0"/>
              <a:buChar char="•"/>
            </a:pPr>
            <a:endParaRPr lang="en-GB" sz="2800" baseline="30000" dirty="0">
              <a:solidFill>
                <a:schemeClr val="tx1"/>
              </a:solidFill>
            </a:endParaRPr>
          </a:p>
          <a:p>
            <a:pPr algn="just">
              <a:buFont typeface="Arial" panose="020B0604020202020204" pitchFamily="34" charset="0"/>
              <a:buChar char="•"/>
            </a:pPr>
            <a:r>
              <a:rPr lang="en-GB" sz="2800" dirty="0">
                <a:solidFill>
                  <a:schemeClr val="tx1"/>
                </a:solidFill>
              </a:rPr>
              <a:t>Precise density depends on the weight of the aggregate, cement content and the water content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4575" y="1400175"/>
            <a:ext cx="10767060" cy="2262505"/>
          </a:xfrm>
        </p:spPr>
        <p:txBody>
          <a:bodyPr>
            <a:normAutofit/>
          </a:bodyPr>
          <a:lstStyle/>
          <a:p>
            <a:pPr algn="ctr"/>
            <a:r>
              <a:rPr lang="en-US" altLang="en-GB" sz="4000" b="1" dirty="0"/>
              <a:t>TESTS ON HARD CONCRETE</a:t>
            </a:r>
          </a:p>
        </p:txBody>
      </p:sp>
      <p:sp>
        <p:nvSpPr>
          <p:cNvPr id="4" name="Slide Number Placeholder 3"/>
          <p:cNvSpPr>
            <a:spLocks noGrp="1"/>
          </p:cNvSpPr>
          <p:nvPr>
            <p:ph type="sldNum" sz="quarter" idx="12"/>
          </p:nvPr>
        </p:nvSpPr>
        <p:spPr>
          <a:xfrm>
            <a:off x="160752" y="4412254"/>
            <a:ext cx="952431" cy="597068"/>
          </a:xfrm>
        </p:spPr>
        <p:txBody>
          <a:bodyPr/>
          <a:lstStyle/>
          <a:p>
            <a:fld id="{D57F1E4F-1CFF-5643-939E-217C01CDF565}" type="slidenum">
              <a:rPr lang="en-US" sz="4000" smtClean="0"/>
              <a:t>24</a:t>
            </a:fld>
            <a:endParaRPr lang="en-US" sz="4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ZA" sz="4000" b="1" dirty="0">
                <a:solidFill>
                  <a:schemeClr val="tx1"/>
                </a:solidFill>
                <a:latin typeface="Times New Roman" panose="02020603050405020304" pitchFamily="18" charset="0"/>
                <a:cs typeface="Times New Roman" panose="02020603050405020304" pitchFamily="18" charset="0"/>
              </a:rPr>
              <a:t>TESTS</a:t>
            </a:r>
          </a:p>
        </p:txBody>
      </p:sp>
      <p:sp>
        <p:nvSpPr>
          <p:cNvPr id="3" name="Content Placeholder 2"/>
          <p:cNvSpPr>
            <a:spLocks noGrp="1"/>
          </p:cNvSpPr>
          <p:nvPr>
            <p:ph idx="4294967295"/>
          </p:nvPr>
        </p:nvSpPr>
        <p:spPr>
          <a:xfrm>
            <a:off x="1981200" y="1600201"/>
            <a:ext cx="8229600" cy="4525963"/>
          </a:xfrm>
          <a:prstGeom prst="rect">
            <a:avLst/>
          </a:prstGeom>
        </p:spPr>
        <p:txBody>
          <a:bodyPr/>
          <a:lstStyle/>
          <a:p>
            <a:r>
              <a:rPr lang="en-ZA" sz="2800" dirty="0">
                <a:latin typeface="Times New Roman" panose="02020603050405020304" pitchFamily="18" charset="0"/>
                <a:cs typeface="Times New Roman" panose="02020603050405020304" pitchFamily="18" charset="0"/>
              </a:rPr>
              <a:t>Cubes according to BS EN 12390</a:t>
            </a:r>
          </a:p>
          <a:p>
            <a:endParaRPr lang="en-ZA" sz="2800" dirty="0">
              <a:latin typeface="Times New Roman" panose="02020603050405020304" pitchFamily="18" charset="0"/>
              <a:cs typeface="Times New Roman" panose="02020603050405020304" pitchFamily="18" charset="0"/>
            </a:endParaRPr>
          </a:p>
          <a:p>
            <a:r>
              <a:rPr lang="en-ZA" sz="2800" dirty="0">
                <a:latin typeface="Times New Roman" panose="02020603050405020304" pitchFamily="18" charset="0"/>
                <a:cs typeface="Times New Roman" panose="02020603050405020304" pitchFamily="18" charset="0"/>
              </a:rPr>
              <a:t>Cylinder tests to BS EN 12390</a:t>
            </a:r>
          </a:p>
          <a:p>
            <a:endParaRPr lang="en-ZA" sz="2800" dirty="0">
              <a:latin typeface="Times New Roman" panose="02020603050405020304" pitchFamily="18" charset="0"/>
              <a:cs typeface="Times New Roman" panose="02020603050405020304" pitchFamily="18" charset="0"/>
            </a:endParaRPr>
          </a:p>
          <a:p>
            <a:r>
              <a:rPr lang="en-ZA" sz="2800" dirty="0">
                <a:latin typeface="Times New Roman" panose="02020603050405020304" pitchFamily="18" charset="0"/>
                <a:cs typeface="Times New Roman" panose="02020603050405020304" pitchFamily="18" charset="0"/>
              </a:rPr>
              <a:t>Non-Destructive Tests (</a:t>
            </a:r>
            <a:r>
              <a:rPr lang="en-ZA" sz="2800" i="1" dirty="0">
                <a:latin typeface="Times New Roman" panose="02020603050405020304" pitchFamily="18" charset="0"/>
                <a:cs typeface="Times New Roman" panose="02020603050405020304" pitchFamily="18" charset="0"/>
              </a:rPr>
              <a:t>In-Situ</a:t>
            </a:r>
            <a:r>
              <a:rPr lang="en-ZA" sz="2800" dirty="0">
                <a:latin typeface="Times New Roman" panose="02020603050405020304" pitchFamily="18" charset="0"/>
                <a:cs typeface="Times New Roman" panose="02020603050405020304" pitchFamily="18" charset="0"/>
              </a:rPr>
              <a:t> Hardened Concrete) – BS 1881 and BS 6089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ZA" sz="4000" b="1">
                <a:latin typeface="Times New Roman" panose="02020603050405020304" pitchFamily="18" charset="0"/>
                <a:cs typeface="Times New Roman" panose="02020603050405020304" pitchFamily="18" charset="0"/>
              </a:rPr>
              <a:t>RELEVANT CODES</a:t>
            </a:r>
          </a:p>
        </p:txBody>
      </p:sp>
      <p:sp>
        <p:nvSpPr>
          <p:cNvPr id="3" name="Content Placeholder 2"/>
          <p:cNvSpPr>
            <a:spLocks noGrp="1"/>
          </p:cNvSpPr>
          <p:nvPr>
            <p:ph idx="4294967295"/>
          </p:nvPr>
        </p:nvSpPr>
        <p:spPr>
          <a:xfrm>
            <a:off x="1981200" y="1600200"/>
            <a:ext cx="9805670" cy="4526280"/>
          </a:xfrm>
          <a:prstGeom prst="rect">
            <a:avLst/>
          </a:prstGeom>
        </p:spPr>
        <p:txBody>
          <a:bodyPr>
            <a:normAutofit/>
          </a:bodyPr>
          <a:lstStyle/>
          <a:p>
            <a:pPr algn="just"/>
            <a:r>
              <a:rPr lang="en-US" altLang="en-ZA" sz="2800" b="1" dirty="0">
                <a:latin typeface="Times New Roman" panose="02020603050405020304" pitchFamily="18" charset="0"/>
                <a:cs typeface="Times New Roman" panose="02020603050405020304" pitchFamily="18" charset="0"/>
                <a:sym typeface="+mn-ea"/>
              </a:rPr>
              <a:t>BS </a:t>
            </a:r>
            <a:r>
              <a:rPr lang="en-ZA" sz="2800" b="1" dirty="0">
                <a:latin typeface="Times New Roman" panose="02020603050405020304" pitchFamily="18" charset="0"/>
                <a:cs typeface="Times New Roman" panose="02020603050405020304" pitchFamily="18" charset="0"/>
                <a:sym typeface="+mn-ea"/>
              </a:rPr>
              <a:t>EN 206</a:t>
            </a:r>
            <a:r>
              <a:rPr lang="en-ZA" sz="2800" dirty="0">
                <a:latin typeface="Times New Roman" panose="02020603050405020304" pitchFamily="18" charset="0"/>
                <a:cs typeface="Times New Roman" panose="02020603050405020304" pitchFamily="18" charset="0"/>
                <a:sym typeface="+mn-ea"/>
              </a:rPr>
              <a:t> Concrete</a:t>
            </a:r>
            <a:r>
              <a:rPr lang="en-US" altLang="en-ZA" sz="2800" dirty="0">
                <a:latin typeface="Times New Roman" panose="02020603050405020304" pitchFamily="18" charset="0"/>
                <a:cs typeface="Times New Roman" panose="02020603050405020304" pitchFamily="18" charset="0"/>
                <a:sym typeface="+mn-ea"/>
              </a:rPr>
              <a:t> - </a:t>
            </a:r>
            <a:r>
              <a:rPr lang="en-US" altLang="en-US" sz="2800" dirty="0">
                <a:latin typeface="Times New Roman" panose="02020603050405020304" pitchFamily="18" charset="0"/>
                <a:cs typeface="Times New Roman" panose="02020603050405020304" pitchFamily="18" charset="0"/>
                <a:sym typeface="+mn-ea"/>
              </a:rPr>
              <a:t>This standard specifies requirements for: constituent materials of concrete, properties of fresh and hardened concrete and their verification, limitations for concrete composition, specification of concrete, delivery of fresh concrete, production control procedures, conformity criteria and evaluation of conformity.</a:t>
            </a:r>
          </a:p>
          <a:p>
            <a:pPr algn="just"/>
            <a:r>
              <a:rPr lang="en-US" altLang="en-US" sz="2800" b="1" dirty="0">
                <a:latin typeface="Times New Roman" panose="02020603050405020304" pitchFamily="18" charset="0"/>
                <a:cs typeface="Times New Roman" panose="02020603050405020304" pitchFamily="18" charset="0"/>
              </a:rPr>
              <a:t>BS EN 12390</a:t>
            </a:r>
            <a:r>
              <a:rPr lang="en-US" altLang="en-US" sz="2800" dirty="0">
                <a:latin typeface="Times New Roman" panose="02020603050405020304" pitchFamily="18" charset="0"/>
                <a:cs typeface="Times New Roman" panose="02020603050405020304" pitchFamily="18" charset="0"/>
              </a:rPr>
              <a:t> for testing hardened concrete e.g. cube testing and and </a:t>
            </a:r>
            <a:r>
              <a:rPr lang="en-ZA" sz="2800" dirty="0">
                <a:latin typeface="Times New Roman" panose="02020603050405020304" pitchFamily="18" charset="0"/>
                <a:cs typeface="Times New Roman" panose="02020603050405020304" pitchFamily="18" charset="0"/>
              </a:rPr>
              <a:t>Concrete tests: Part 1: Consistence of freshly mixed concrete</a:t>
            </a:r>
          </a:p>
          <a:p>
            <a:pPr algn="just"/>
            <a:r>
              <a:rPr lang="en-US" altLang="en-US" sz="2800" b="1" dirty="0">
                <a:latin typeface="Times New Roman" panose="02020603050405020304" pitchFamily="18" charset="0"/>
                <a:cs typeface="Times New Roman" panose="02020603050405020304" pitchFamily="18" charset="0"/>
              </a:rPr>
              <a:t>BS 1881</a:t>
            </a:r>
            <a:r>
              <a:rPr lang="en-US" altLang="en-US" sz="2800" dirty="0">
                <a:latin typeface="Times New Roman" panose="02020603050405020304" pitchFamily="18" charset="0"/>
                <a:cs typeface="Times New Roman" panose="02020603050405020304" pitchFamily="18" charset="0"/>
              </a:rPr>
              <a:t> for various (hardened) concrete testing methods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4575" y="1400175"/>
            <a:ext cx="10767060" cy="2262505"/>
          </a:xfrm>
        </p:spPr>
        <p:txBody>
          <a:bodyPr>
            <a:normAutofit/>
          </a:bodyPr>
          <a:lstStyle/>
          <a:p>
            <a:pPr algn="ctr"/>
            <a:r>
              <a:rPr lang="en-US" altLang="en-GB" sz="4000" b="1" dirty="0"/>
              <a:t>TESTS ON HARD CONCRETE - CUBE TEST</a:t>
            </a:r>
            <a:br>
              <a:rPr lang="en-US" altLang="en-GB" sz="4000" b="1" dirty="0"/>
            </a:br>
            <a:endParaRPr lang="en-US" altLang="en-US" sz="4000" b="1" dirty="0"/>
          </a:p>
        </p:txBody>
      </p:sp>
      <p:sp>
        <p:nvSpPr>
          <p:cNvPr id="4" name="Slide Number Placeholder 3"/>
          <p:cNvSpPr>
            <a:spLocks noGrp="1"/>
          </p:cNvSpPr>
          <p:nvPr>
            <p:ph type="sldNum" sz="quarter" idx="12"/>
          </p:nvPr>
        </p:nvSpPr>
        <p:spPr>
          <a:xfrm>
            <a:off x="160752" y="4412254"/>
            <a:ext cx="952431" cy="597068"/>
          </a:xfrm>
        </p:spPr>
        <p:txBody>
          <a:bodyPr/>
          <a:lstStyle/>
          <a:p>
            <a:fld id="{D57F1E4F-1CFF-5643-939E-217C01CDF565}" type="slidenum">
              <a:rPr lang="en-US" sz="4000" smtClean="0"/>
              <a:t>27</a:t>
            </a:fld>
            <a:endParaRPr lang="en-US" sz="4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08213" y="260350"/>
            <a:ext cx="7772400" cy="1162050"/>
          </a:xfrm>
          <a:noFill/>
        </p:spPr>
        <p:txBody>
          <a:bodyPr vert="horz" lIns="90488" tIns="44450" rIns="90488" bIns="44450" rtlCol="0" anchor="b">
            <a:normAutofit/>
          </a:bodyPr>
          <a:lstStyle/>
          <a:p>
            <a:r>
              <a:rPr lang="en-US" sz="4000" b="1" dirty="0"/>
              <a:t>The Cube Test - Making Cubes</a:t>
            </a:r>
          </a:p>
        </p:txBody>
      </p:sp>
      <p:sp>
        <p:nvSpPr>
          <p:cNvPr id="8195" name="Rectangle 3"/>
          <p:cNvSpPr>
            <a:spLocks noGrp="1" noChangeArrowheads="1"/>
          </p:cNvSpPr>
          <p:nvPr>
            <p:ph type="body" sz="quarter" idx="10"/>
          </p:nvPr>
        </p:nvSpPr>
        <p:spPr>
          <a:xfrm>
            <a:off x="2351583" y="1557338"/>
            <a:ext cx="9189107" cy="4724400"/>
          </a:xfrm>
          <a:noFill/>
        </p:spPr>
        <p:txBody>
          <a:bodyPr vert="horz" lIns="90488" tIns="44450" rIns="90488" bIns="44450" rtlCol="0">
            <a:normAutofit/>
          </a:bodyPr>
          <a:lstStyle/>
          <a:p>
            <a:pPr algn="l">
              <a:buFont typeface="Arial" panose="020B0604020202020204" pitchFamily="34" charset="0"/>
              <a:buChar char="•"/>
            </a:pPr>
            <a:r>
              <a:rPr lang="en-US" sz="2800" dirty="0"/>
              <a:t>Sample mix</a:t>
            </a:r>
          </a:p>
          <a:p>
            <a:pPr algn="l">
              <a:buFont typeface="Arial" panose="020B0604020202020204" pitchFamily="34" charset="0"/>
              <a:buChar char="•"/>
            </a:pPr>
            <a:r>
              <a:rPr lang="en-US" sz="2800" dirty="0"/>
              <a:t>Assemble </a:t>
            </a:r>
            <a:r>
              <a:rPr lang="en-US" sz="2800" dirty="0" err="1"/>
              <a:t>moulds</a:t>
            </a:r>
            <a:r>
              <a:rPr lang="en-US" sz="2800" dirty="0"/>
              <a:t>, release agents</a:t>
            </a:r>
          </a:p>
          <a:p>
            <a:pPr algn="l">
              <a:buFont typeface="Arial" panose="020B0604020202020204" pitchFamily="34" charset="0"/>
              <a:buChar char="•"/>
            </a:pPr>
            <a:r>
              <a:rPr lang="en-US" sz="2800" dirty="0"/>
              <a:t>Fill </a:t>
            </a:r>
            <a:r>
              <a:rPr lang="en-US" sz="2800" dirty="0" err="1"/>
              <a:t>moulds</a:t>
            </a:r>
            <a:r>
              <a:rPr lang="en-US" sz="2800" dirty="0"/>
              <a:t> (2 or 3 layers)</a:t>
            </a:r>
          </a:p>
          <a:p>
            <a:pPr algn="l">
              <a:buFont typeface="Arial" panose="020B0604020202020204" pitchFamily="34" charset="0"/>
              <a:buChar char="•"/>
            </a:pPr>
            <a:r>
              <a:rPr lang="en-US" sz="2800" dirty="0"/>
              <a:t>Fully compact each layer</a:t>
            </a:r>
          </a:p>
          <a:p>
            <a:pPr algn="l">
              <a:buFont typeface="Arial" panose="020B0604020202020204" pitchFamily="34" charset="0"/>
              <a:buChar char="•"/>
            </a:pPr>
            <a:r>
              <a:rPr lang="en-US" sz="2800" dirty="0"/>
              <a:t>Level off</a:t>
            </a:r>
          </a:p>
          <a:p>
            <a:pPr algn="l">
              <a:buFont typeface="Arial" panose="020B0604020202020204" pitchFamily="34" charset="0"/>
              <a:buChar char="•"/>
            </a:pPr>
            <a:r>
              <a:rPr lang="en-US" sz="2800" dirty="0"/>
              <a:t>Label</a:t>
            </a:r>
          </a:p>
          <a:p>
            <a:pPr algn="l">
              <a:buFont typeface="Arial" panose="020B0604020202020204" pitchFamily="34" charset="0"/>
              <a:buChar char="•"/>
            </a:pPr>
            <a:r>
              <a:rPr lang="en-US" sz="2800" dirty="0"/>
              <a:t>Protect against drying out</a:t>
            </a:r>
          </a:p>
          <a:p>
            <a:pPr algn="l">
              <a:buFont typeface="Arial" panose="020B0604020202020204" pitchFamily="34" charset="0"/>
              <a:buChar char="•"/>
            </a:pPr>
            <a:r>
              <a:rPr lang="en-US" sz="2800" dirty="0"/>
              <a:t>Remove from </a:t>
            </a:r>
            <a:r>
              <a:rPr lang="en-US" sz="2800" dirty="0" err="1"/>
              <a:t>moulds</a:t>
            </a:r>
            <a:r>
              <a:rPr lang="en-US" sz="2800" dirty="0"/>
              <a:t> after 16 to 28 hours</a:t>
            </a:r>
          </a:p>
        </p:txBody>
      </p:sp>
      <p:sp>
        <p:nvSpPr>
          <p:cNvPr id="8196" name="Rectangle 4"/>
          <p:cNvSpPr>
            <a:spLocks noChangeArrowheads="1"/>
          </p:cNvSpPr>
          <p:nvPr/>
        </p:nvSpPr>
        <p:spPr bwMode="auto">
          <a:xfrm>
            <a:off x="4098926" y="5089525"/>
            <a:ext cx="3216275" cy="457200"/>
          </a:xfrm>
          <a:prstGeom prst="rect">
            <a:avLst/>
          </a:prstGeom>
          <a:noFill/>
          <a:ln w="12700">
            <a:noFill/>
            <a:miter lim="800000"/>
          </a:ln>
          <a:effectLst/>
        </p:spPr>
        <p:txBody>
          <a:bodyPr wrap="none" anchor="ctr"/>
          <a:lstStyle/>
          <a:p>
            <a:endParaRPr lang="en-US"/>
          </a:p>
        </p:txBody>
      </p:sp>
      <p:sp>
        <p:nvSpPr>
          <p:cNvPr id="8198" name="Rectangle 6"/>
          <p:cNvSpPr>
            <a:spLocks noChangeArrowheads="1"/>
          </p:cNvSpPr>
          <p:nvPr/>
        </p:nvSpPr>
        <p:spPr bwMode="auto">
          <a:xfrm>
            <a:off x="5775326" y="5775325"/>
            <a:ext cx="252413" cy="457200"/>
          </a:xfrm>
          <a:prstGeom prst="rect">
            <a:avLst/>
          </a:prstGeom>
          <a:noFill/>
          <a:ln w="12700">
            <a:noFill/>
            <a:miter lim="800000"/>
          </a:ln>
          <a:effectLst/>
        </p:spPr>
        <p:txBody>
          <a:bodyPr wrap="none" anchor="ct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08213" y="260350"/>
            <a:ext cx="7772400" cy="1162050"/>
          </a:xfrm>
          <a:noFill/>
        </p:spPr>
        <p:txBody>
          <a:bodyPr vert="horz" lIns="90488" tIns="44450" rIns="90488" bIns="44450" rtlCol="0" anchor="b">
            <a:normAutofit/>
          </a:bodyPr>
          <a:lstStyle/>
          <a:p>
            <a:r>
              <a:rPr lang="en-US" sz="4000"/>
              <a:t>The Cube Test - Curing</a:t>
            </a:r>
          </a:p>
        </p:txBody>
      </p:sp>
      <p:sp>
        <p:nvSpPr>
          <p:cNvPr id="8195" name="Rectangle 3"/>
          <p:cNvSpPr>
            <a:spLocks noGrp="1" noChangeArrowheads="1"/>
          </p:cNvSpPr>
          <p:nvPr>
            <p:ph type="body" sz="quarter" idx="10"/>
          </p:nvPr>
        </p:nvSpPr>
        <p:spPr>
          <a:xfrm>
            <a:off x="2351584" y="1412776"/>
            <a:ext cx="7162800" cy="4724400"/>
          </a:xfrm>
          <a:noFill/>
        </p:spPr>
        <p:txBody>
          <a:bodyPr vert="horz" lIns="90488" tIns="44450" rIns="90488" bIns="44450" rtlCol="0">
            <a:normAutofit/>
          </a:bodyPr>
          <a:lstStyle/>
          <a:p>
            <a:pPr>
              <a:buFont typeface="Arial" panose="020B0604020202020204" pitchFamily="34" charset="0"/>
              <a:buChar char="•"/>
            </a:pPr>
            <a:r>
              <a:rPr lang="en-US" sz="2800"/>
              <a:t>Stored under water until time of test</a:t>
            </a:r>
          </a:p>
          <a:p>
            <a:pPr>
              <a:buFont typeface="Arial" panose="020B0604020202020204" pitchFamily="34" charset="0"/>
              <a:buChar char="•"/>
            </a:pPr>
            <a:r>
              <a:rPr lang="en-US" sz="2800"/>
              <a:t>Water level must always cover tops of specimens</a:t>
            </a:r>
          </a:p>
          <a:p>
            <a:pPr>
              <a:buFont typeface="Arial" panose="020B0604020202020204" pitchFamily="34" charset="0"/>
              <a:buChar char="•"/>
            </a:pPr>
            <a:r>
              <a:rPr lang="en-US" sz="2800"/>
              <a:t>Maintain 25mm space around each specimen</a:t>
            </a:r>
          </a:p>
          <a:p>
            <a:pPr>
              <a:buFont typeface="Arial" panose="020B0604020202020204" pitchFamily="34" charset="0"/>
              <a:buChar char="•"/>
            </a:pPr>
            <a:r>
              <a:rPr lang="en-US" sz="2800"/>
              <a:t>Permissible to stack on top of each other</a:t>
            </a:r>
          </a:p>
          <a:p>
            <a:pPr>
              <a:buFont typeface="Arial" panose="020B0604020202020204" pitchFamily="34" charset="0"/>
              <a:buChar char="•"/>
            </a:pPr>
            <a:r>
              <a:rPr lang="en-US" sz="2800"/>
              <a:t>Constant temperature in curing tanks 20°C ± 2°C</a:t>
            </a:r>
          </a:p>
          <a:p>
            <a:pPr>
              <a:buFont typeface="Arial" panose="020B0604020202020204" pitchFamily="34" charset="0"/>
              <a:buChar char="•"/>
            </a:pPr>
            <a:r>
              <a:rPr lang="en-US" sz="2800"/>
              <a:t>Water to be kept clean and circulated.</a:t>
            </a:r>
          </a:p>
        </p:txBody>
      </p:sp>
      <p:sp>
        <p:nvSpPr>
          <p:cNvPr id="8196" name="Rectangle 4"/>
          <p:cNvSpPr>
            <a:spLocks noChangeArrowheads="1"/>
          </p:cNvSpPr>
          <p:nvPr/>
        </p:nvSpPr>
        <p:spPr bwMode="auto">
          <a:xfrm>
            <a:off x="4098926" y="5089525"/>
            <a:ext cx="3216275" cy="457200"/>
          </a:xfrm>
          <a:prstGeom prst="rect">
            <a:avLst/>
          </a:prstGeom>
          <a:noFill/>
          <a:ln w="12700">
            <a:noFill/>
            <a:miter lim="800000"/>
          </a:ln>
          <a:effectLst/>
        </p:spPr>
        <p:txBody>
          <a:bodyPr wrap="none" anchor="ctr"/>
          <a:lstStyle/>
          <a:p>
            <a:endParaRPr lang="en-US"/>
          </a:p>
        </p:txBody>
      </p:sp>
      <p:sp>
        <p:nvSpPr>
          <p:cNvPr id="8198" name="Rectangle 6"/>
          <p:cNvSpPr>
            <a:spLocks noChangeArrowheads="1"/>
          </p:cNvSpPr>
          <p:nvPr/>
        </p:nvSpPr>
        <p:spPr bwMode="auto">
          <a:xfrm>
            <a:off x="5775326" y="5775325"/>
            <a:ext cx="252413" cy="457200"/>
          </a:xfrm>
          <a:prstGeom prst="rect">
            <a:avLst/>
          </a:prstGeom>
          <a:noFill/>
          <a:ln w="12700">
            <a:noFill/>
            <a:miter lim="800000"/>
          </a:ln>
          <a:effectLst/>
        </p:spPr>
        <p:txBody>
          <a:bodyPr wrap="none" anchor="ct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1981200" y="-27384"/>
            <a:ext cx="8229600" cy="1143000"/>
          </a:xfrm>
          <a:noFill/>
        </p:spPr>
        <p:txBody>
          <a:bodyPr vert="horz" lIns="90488" tIns="44450" rIns="90488" bIns="44450" rtlCol="0" anchor="b">
            <a:normAutofit/>
          </a:bodyPr>
          <a:lstStyle/>
          <a:p>
            <a:pPr algn="ctr" eaLnBrk="1" hangingPunct="1"/>
            <a:r>
              <a:rPr lang="en-US" sz="4000" b="1" dirty="0"/>
              <a:t>Accelerated Curing</a:t>
            </a:r>
          </a:p>
        </p:txBody>
      </p:sp>
      <p:sp>
        <p:nvSpPr>
          <p:cNvPr id="270339" name="Rectangle 3"/>
          <p:cNvSpPr>
            <a:spLocks noGrp="1" noChangeArrowheads="1"/>
          </p:cNvSpPr>
          <p:nvPr>
            <p:ph type="body" sz="quarter" idx="10"/>
          </p:nvPr>
        </p:nvSpPr>
        <p:spPr>
          <a:xfrm>
            <a:off x="1991544" y="1196753"/>
            <a:ext cx="8229600" cy="4525963"/>
          </a:xfrm>
        </p:spPr>
        <p:txBody>
          <a:bodyPr>
            <a:normAutofit/>
          </a:bodyPr>
          <a:lstStyle/>
          <a:p>
            <a:pPr algn="l">
              <a:buFont typeface="Arial" panose="020B0604020202020204" pitchFamily="34" charset="0"/>
              <a:buChar char="•"/>
            </a:pPr>
            <a:r>
              <a:rPr lang="en-US" sz="2800" dirty="0">
                <a:solidFill>
                  <a:schemeClr val="tx1"/>
                </a:solidFill>
              </a:rPr>
              <a:t>Test cubes are cast as normal</a:t>
            </a:r>
          </a:p>
          <a:p>
            <a:pPr algn="l">
              <a:buFont typeface="Arial" panose="020B0604020202020204" pitchFamily="34" charset="0"/>
              <a:buChar char="•"/>
            </a:pPr>
            <a:r>
              <a:rPr lang="en-US" sz="2800" dirty="0">
                <a:solidFill>
                  <a:schemeClr val="tx1"/>
                </a:solidFill>
              </a:rPr>
              <a:t>Cover plate is fitted to top of </a:t>
            </a:r>
            <a:r>
              <a:rPr lang="en-US" sz="2800" dirty="0" err="1">
                <a:solidFill>
                  <a:schemeClr val="tx1"/>
                </a:solidFill>
              </a:rPr>
              <a:t>mould</a:t>
            </a:r>
            <a:r>
              <a:rPr lang="en-US" sz="2800" dirty="0">
                <a:solidFill>
                  <a:schemeClr val="tx1"/>
                </a:solidFill>
              </a:rPr>
              <a:t> to isolate concrete from water in curing tank</a:t>
            </a:r>
          </a:p>
          <a:p>
            <a:pPr algn="l">
              <a:buFont typeface="Arial" panose="020B0604020202020204" pitchFamily="34" charset="0"/>
              <a:buChar char="•"/>
            </a:pPr>
            <a:r>
              <a:rPr lang="en-US" sz="2800" dirty="0">
                <a:solidFill>
                  <a:schemeClr val="tx1"/>
                </a:solidFill>
              </a:rPr>
              <a:t>Cubes are placed in curing tank  immediately after casting</a:t>
            </a:r>
          </a:p>
          <a:p>
            <a:pPr algn="l">
              <a:buFont typeface="Arial" panose="020B0604020202020204" pitchFamily="34" charset="0"/>
              <a:buChar char="•"/>
            </a:pPr>
            <a:r>
              <a:rPr lang="en-US" sz="2800" dirty="0">
                <a:solidFill>
                  <a:schemeClr val="tx1"/>
                </a:solidFill>
              </a:rPr>
              <a:t>Immersed in water in insulated curing tank</a:t>
            </a:r>
          </a:p>
          <a:p>
            <a:pPr algn="l">
              <a:buFont typeface="Arial" panose="020B0604020202020204" pitchFamily="34" charset="0"/>
              <a:buChar char="•"/>
            </a:pPr>
            <a:r>
              <a:rPr lang="en-US" sz="2800" dirty="0">
                <a:solidFill>
                  <a:schemeClr val="tx1"/>
                </a:solidFill>
              </a:rPr>
              <a:t>Three alternative methods based on different curing regimes: 35°C, 55°C and 82°C</a:t>
            </a:r>
          </a:p>
          <a:p>
            <a:pPr algn="l">
              <a:buFont typeface="Arial" panose="020B0604020202020204" pitchFamily="34" charset="0"/>
              <a:buChar char="•"/>
            </a:pPr>
            <a:r>
              <a:rPr lang="en-US" sz="2800" dirty="0">
                <a:solidFill>
                  <a:schemeClr val="tx1"/>
                </a:solidFill>
              </a:rPr>
              <a:t>Cubes tested just after </a:t>
            </a:r>
            <a:r>
              <a:rPr lang="en-US" sz="2800" dirty="0" err="1">
                <a:solidFill>
                  <a:schemeClr val="tx1"/>
                </a:solidFill>
              </a:rPr>
              <a:t>demoulded</a:t>
            </a:r>
            <a:r>
              <a:rPr lang="en-US" sz="2800" dirty="0">
                <a:solidFill>
                  <a:schemeClr val="tx1"/>
                </a:solidFill>
              </a:rPr>
              <a:t>.</a:t>
            </a:r>
          </a:p>
        </p:txBody>
      </p:sp>
    </p:spTree>
    <p:extLst>
      <p:ext uri="{BB962C8B-B14F-4D97-AF65-F5344CB8AC3E}">
        <p14:creationId xmlns:p14="http://schemas.microsoft.com/office/powerpoint/2010/main" val="38255119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fontScale="90000"/>
          </a:bodyPr>
          <a:lstStyle/>
          <a:p>
            <a:r>
              <a:rPr lang="en-ZA" sz="4000" dirty="0"/>
              <a:t>                         </a:t>
            </a:r>
            <a:r>
              <a:rPr lang="en-ZA" sz="4000" b="1" dirty="0"/>
              <a:t> Cube testing (BS EN 12390-2)</a:t>
            </a:r>
            <a:endParaRPr lang="en-US" sz="4000" b="1" dirty="0"/>
          </a:p>
        </p:txBody>
      </p:sp>
      <p:sp>
        <p:nvSpPr>
          <p:cNvPr id="26627" name="Rectangle 3"/>
          <p:cNvSpPr>
            <a:spLocks noGrp="1" noChangeArrowheads="1"/>
          </p:cNvSpPr>
          <p:nvPr>
            <p:ph type="body" sz="quarter" idx="10"/>
          </p:nvPr>
        </p:nvSpPr>
        <p:spPr>
          <a:xfrm>
            <a:off x="1847528" y="1052737"/>
            <a:ext cx="8820472" cy="4525963"/>
          </a:xfrm>
        </p:spPr>
        <p:txBody>
          <a:bodyPr>
            <a:normAutofit/>
          </a:bodyPr>
          <a:lstStyle/>
          <a:p>
            <a:pPr>
              <a:buFont typeface="Arial" panose="020B0604020202020204" pitchFamily="34" charset="0"/>
              <a:buChar char="•"/>
            </a:pPr>
            <a:r>
              <a:rPr lang="en-ZA" sz="2800" dirty="0"/>
              <a:t>Cube testing is done for control and compressive strength prediction</a:t>
            </a:r>
          </a:p>
          <a:p>
            <a:pPr>
              <a:buFont typeface="Arial" panose="020B0604020202020204" pitchFamily="34" charset="0"/>
              <a:buChar char="•"/>
            </a:pPr>
            <a:r>
              <a:rPr lang="en-ZA" sz="2800" dirty="0"/>
              <a:t>Common faults</a:t>
            </a:r>
          </a:p>
          <a:p>
            <a:pPr lvl="1">
              <a:buFont typeface="Arial" panose="020B0604020202020204" pitchFamily="34" charset="0"/>
              <a:buChar char="•"/>
            </a:pPr>
            <a:r>
              <a:rPr lang="en-ZA" sz="2400" dirty="0">
                <a:solidFill>
                  <a:schemeClr val="accent6">
                    <a:lumMod val="75000"/>
                  </a:schemeClr>
                </a:solidFill>
              </a:rPr>
              <a:t>Placing cubes off-centre</a:t>
            </a:r>
          </a:p>
          <a:p>
            <a:pPr lvl="1">
              <a:buFont typeface="Arial" panose="020B0604020202020204" pitchFamily="34" charset="0"/>
              <a:buChar char="•"/>
            </a:pPr>
            <a:r>
              <a:rPr lang="en-ZA" sz="2400" dirty="0">
                <a:solidFill>
                  <a:schemeClr val="accent6">
                    <a:lumMod val="75000"/>
                  </a:schemeClr>
                </a:solidFill>
              </a:rPr>
              <a:t>Shape and size of cube not accurate</a:t>
            </a:r>
          </a:p>
          <a:p>
            <a:pPr lvl="1">
              <a:buFont typeface="Arial" panose="020B0604020202020204" pitchFamily="34" charset="0"/>
              <a:buChar char="•"/>
            </a:pPr>
            <a:r>
              <a:rPr lang="en-ZA" sz="2400" dirty="0">
                <a:solidFill>
                  <a:schemeClr val="accent6">
                    <a:lumMod val="75000"/>
                  </a:schemeClr>
                </a:solidFill>
              </a:rPr>
              <a:t>Faults in testing machine</a:t>
            </a:r>
          </a:p>
          <a:p>
            <a:pPr>
              <a:buFont typeface="Arial" panose="020B0604020202020204" pitchFamily="34" charset="0"/>
              <a:buChar char="•"/>
            </a:pPr>
            <a:r>
              <a:rPr lang="en-ZA" sz="2800" dirty="0"/>
              <a:t>Moulds must be square, inner faces plane, parallel and hard</a:t>
            </a:r>
          </a:p>
          <a:p>
            <a:pPr>
              <a:buFont typeface="Arial" panose="020B0604020202020204" pitchFamily="34" charset="0"/>
              <a:buChar char="•"/>
            </a:pPr>
            <a:r>
              <a:rPr lang="en-ZA" sz="2800" dirty="0"/>
              <a:t>100mm moulds used for </a:t>
            </a:r>
            <a:r>
              <a:rPr lang="en-ZA" sz="2800" dirty="0" err="1"/>
              <a:t>conc</a:t>
            </a:r>
            <a:r>
              <a:rPr lang="en-ZA" sz="2800" dirty="0"/>
              <a:t> with stone ≤ 20mm</a:t>
            </a:r>
          </a:p>
          <a:p>
            <a:pPr>
              <a:buFont typeface="Arial" panose="020B0604020202020204" pitchFamily="34" charset="0"/>
              <a:buChar char="•"/>
            </a:pPr>
            <a:r>
              <a:rPr lang="en-ZA" sz="2800" dirty="0"/>
              <a:t>150mm moulds used for </a:t>
            </a:r>
            <a:r>
              <a:rPr lang="en-ZA" sz="2800" dirty="0" err="1"/>
              <a:t>conc</a:t>
            </a:r>
            <a:r>
              <a:rPr lang="en-ZA" sz="2800" dirty="0"/>
              <a:t> with stone ≥ 20mm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bwMode="auto">
          <a:xfrm>
            <a:off x="1904207" y="260648"/>
            <a:ext cx="8283575" cy="1143000"/>
          </a:xfrm>
          <a:noFill/>
          <a:ln>
            <a:miter lim="800000"/>
          </a:ln>
        </p:spPr>
        <p:txBody>
          <a:bodyPr vert="horz" wrap="square" lIns="91440" tIns="45720" rIns="91440" bIns="45720" numCol="1" rtlCol="0" anchor="t" anchorCtr="0" compatLnSpc="1">
            <a:normAutofit fontScale="90000"/>
          </a:bodyPr>
          <a:lstStyle/>
          <a:p>
            <a:pPr algn="ctr" eaLnBrk="1" hangingPunct="1"/>
            <a:r>
              <a:rPr lang="en-US" sz="4000" b="1" dirty="0">
                <a:solidFill>
                  <a:schemeClr val="tx1"/>
                </a:solidFill>
              </a:rPr>
              <a:t>Moisture Condition at Time of Test</a:t>
            </a:r>
          </a:p>
        </p:txBody>
      </p:sp>
      <p:sp>
        <p:nvSpPr>
          <p:cNvPr id="63491" name="Rectangle 3"/>
          <p:cNvSpPr>
            <a:spLocks noGrp="1" noChangeArrowheads="1"/>
          </p:cNvSpPr>
          <p:nvPr>
            <p:ph type="body" sz="quarter" idx="10"/>
          </p:nvPr>
        </p:nvSpPr>
        <p:spPr bwMode="auto">
          <a:xfrm>
            <a:off x="2133600" y="1700213"/>
            <a:ext cx="7848600" cy="4114800"/>
          </a:xfrm>
          <a:noFill/>
          <a:ln>
            <a:miter lim="800000"/>
          </a:ln>
        </p:spPr>
        <p:txBody>
          <a:bodyPr vert="horz" wrap="square" lIns="91440" tIns="45720" rIns="91440" bIns="45720" numCol="1" rtlCol="0" anchor="t" anchorCtr="0" compatLnSpc="1">
            <a:normAutofit/>
          </a:bodyPr>
          <a:lstStyle/>
          <a:p>
            <a:pPr eaLnBrk="1" hangingPunct="1">
              <a:buFont typeface="Arial" panose="020B0604020202020204" pitchFamily="34" charset="0"/>
              <a:buChar char="•"/>
            </a:pPr>
            <a:r>
              <a:rPr lang="en-US" sz="2800"/>
              <a:t>Strength testing on concrete is always done on saturated samples as this is the weakest state</a:t>
            </a:r>
          </a:p>
          <a:p>
            <a:pPr eaLnBrk="1" hangingPunct="1">
              <a:buFont typeface="Arial" panose="020B0604020202020204" pitchFamily="34" charset="0"/>
              <a:buChar char="•"/>
            </a:pPr>
            <a:r>
              <a:rPr lang="en-US" sz="2800"/>
              <a:t>Oven-dry cubes could be up to 35% stronger than equivalent saturated cubes</a:t>
            </a:r>
          </a:p>
        </p:txBody>
      </p:sp>
      <p:pic>
        <p:nvPicPr>
          <p:cNvPr id="4" name="Picture 3" descr="Image19"/>
          <p:cNvPicPr>
            <a:picLocks noChangeAspect="1" noChangeArrowheads="1"/>
          </p:cNvPicPr>
          <p:nvPr/>
        </p:nvPicPr>
        <p:blipFill>
          <a:blip r:embed="rId3" cstate="print"/>
          <a:srcRect l="9837" t="9161" r="9837" b="23007"/>
          <a:stretch>
            <a:fillRect/>
          </a:stretch>
        </p:blipFill>
        <p:spPr bwMode="auto">
          <a:xfrm>
            <a:off x="3332163" y="4365626"/>
            <a:ext cx="5427662" cy="244792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Cube Tests of Hardened Concrete</a:t>
            </a:r>
          </a:p>
        </p:txBody>
      </p:sp>
      <p:pic>
        <p:nvPicPr>
          <p:cNvPr id="5" name="Content Placeholder 4"/>
          <p:cNvPicPr>
            <a:picLocks noGrp="1" noChangeAspect="1"/>
          </p:cNvPicPr>
          <p:nvPr>
            <p:ph idx="1"/>
          </p:nvPr>
        </p:nvPicPr>
        <p:blipFill rotWithShape="1">
          <a:blip r:embed="rId2">
            <a:extLst>
              <a:ext uri="{28A0092B-C50C-407E-A947-70E740481C1C}">
                <a14:useLocalDpi xmlns:a14="http://schemas.microsoft.com/office/drawing/2010/main" val="0"/>
              </a:ext>
            </a:extLst>
          </a:blip>
          <a:srcRect l="35826" t="44687" r="40688" b="39006"/>
          <a:stretch>
            <a:fillRect/>
          </a:stretch>
        </p:blipFill>
        <p:spPr>
          <a:xfrm>
            <a:off x="10305791" y="4623353"/>
            <a:ext cx="1198821" cy="1109870"/>
          </a:xfr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56261" y="2050220"/>
            <a:ext cx="2833688" cy="3778251"/>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881" y="2152647"/>
            <a:ext cx="2756867" cy="3675823"/>
          </a:xfrm>
          <a:prstGeom prst="rect">
            <a:avLst/>
          </a:prstGeom>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83552" y="2152649"/>
            <a:ext cx="2756867" cy="3675822"/>
          </a:xfrm>
          <a:prstGeom prst="rect">
            <a:avLst/>
          </a:prstGeom>
        </p:spPr>
      </p:pic>
      <p:sp>
        <p:nvSpPr>
          <p:cNvPr id="3" name="Slide Number Placeholder 2"/>
          <p:cNvSpPr>
            <a:spLocks noGrp="1"/>
          </p:cNvSpPr>
          <p:nvPr>
            <p:ph type="sldNum" sz="quarter" idx="12"/>
          </p:nvPr>
        </p:nvSpPr>
        <p:spPr/>
        <p:txBody>
          <a:bodyPr/>
          <a:lstStyle/>
          <a:p>
            <a:fld id="{7BE75A82-2417-455C-BF49-8BC77D49FA9D}" type="slidenum">
              <a:rPr lang="en-GB" smtClean="0"/>
              <a:t>33</a:t>
            </a:fld>
            <a:endParaRPr lang="en-GB"/>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524000" y="228600"/>
            <a:ext cx="9144000" cy="1162050"/>
          </a:xfrm>
        </p:spPr>
        <p:txBody>
          <a:bodyPr/>
          <a:lstStyle/>
          <a:p>
            <a:pPr algn="ctr"/>
            <a:r>
              <a:rPr lang="en-US" sz="4000" b="1" dirty="0"/>
              <a:t>Crushing of Cubes</a:t>
            </a:r>
          </a:p>
        </p:txBody>
      </p:sp>
      <p:pic>
        <p:nvPicPr>
          <p:cNvPr id="38915" name="Picture 3" descr="crusher"/>
          <p:cNvPicPr>
            <a:picLocks noChangeAspect="1" noChangeArrowheads="1"/>
          </p:cNvPicPr>
          <p:nvPr/>
        </p:nvPicPr>
        <p:blipFill>
          <a:blip r:embed="rId3" cstate="print"/>
          <a:srcRect/>
          <a:stretch>
            <a:fillRect/>
          </a:stretch>
        </p:blipFill>
        <p:spPr bwMode="auto">
          <a:xfrm>
            <a:off x="3008891" y="1124744"/>
            <a:ext cx="6300244" cy="5184576"/>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07568" y="0"/>
            <a:ext cx="7772400" cy="1162050"/>
          </a:xfrm>
          <a:noFill/>
        </p:spPr>
        <p:txBody>
          <a:bodyPr vert="horz" lIns="90488" tIns="44450" rIns="90488" bIns="44450" rtlCol="0" anchor="b">
            <a:normAutofit/>
          </a:bodyPr>
          <a:lstStyle/>
          <a:p>
            <a:pPr algn="ctr"/>
            <a:r>
              <a:rPr lang="en-US" sz="4000" b="1" dirty="0"/>
              <a:t>The Cube Test - Testing Cubes</a:t>
            </a:r>
          </a:p>
        </p:txBody>
      </p:sp>
      <p:sp>
        <p:nvSpPr>
          <p:cNvPr id="9219" name="Rectangle 3"/>
          <p:cNvSpPr>
            <a:spLocks noGrp="1" noChangeArrowheads="1"/>
          </p:cNvSpPr>
          <p:nvPr>
            <p:ph type="body" sz="quarter" idx="10"/>
          </p:nvPr>
        </p:nvSpPr>
        <p:spPr>
          <a:xfrm>
            <a:off x="2135560" y="1754088"/>
            <a:ext cx="7467600" cy="4267200"/>
          </a:xfrm>
          <a:noFill/>
        </p:spPr>
        <p:txBody>
          <a:bodyPr vert="horz" lIns="90488" tIns="44450" rIns="90488" bIns="44450" rtlCol="0">
            <a:normAutofit/>
          </a:bodyPr>
          <a:lstStyle/>
          <a:p>
            <a:pPr algn="l">
              <a:buFont typeface="Arial" panose="020B0604020202020204" pitchFamily="34" charset="0"/>
              <a:buChar char="•"/>
            </a:pPr>
            <a:r>
              <a:rPr lang="en-US" sz="2800" dirty="0"/>
              <a:t>Remove from tanks</a:t>
            </a:r>
          </a:p>
          <a:p>
            <a:pPr algn="l">
              <a:buFont typeface="Arial" panose="020B0604020202020204" pitchFamily="34" charset="0"/>
              <a:buChar char="•"/>
            </a:pPr>
            <a:r>
              <a:rPr lang="en-US" sz="2800" dirty="0"/>
              <a:t>Wipe off excess water</a:t>
            </a:r>
          </a:p>
          <a:p>
            <a:pPr algn="l">
              <a:buFont typeface="Arial" panose="020B0604020202020204" pitchFamily="34" charset="0"/>
              <a:buChar char="•"/>
            </a:pPr>
            <a:r>
              <a:rPr lang="en-US" sz="2800" dirty="0"/>
              <a:t>Place in machine correctly!</a:t>
            </a:r>
          </a:p>
          <a:p>
            <a:pPr algn="l">
              <a:buFont typeface="Arial" panose="020B0604020202020204" pitchFamily="34" charset="0"/>
              <a:buChar char="•"/>
            </a:pPr>
            <a:r>
              <a:rPr lang="en-US" sz="2800" dirty="0"/>
              <a:t>Load at a stress rate of 0,6 ± 0,2 MPa/s</a:t>
            </a:r>
          </a:p>
          <a:p>
            <a:pPr algn="l">
              <a:buFont typeface="Arial" panose="020B0604020202020204" pitchFamily="34" charset="0"/>
              <a:buChar char="•"/>
            </a:pPr>
            <a:r>
              <a:rPr lang="en-US" sz="2800" dirty="0"/>
              <a:t>Record maximum load in </a:t>
            </a:r>
            <a:r>
              <a:rPr lang="en-US" sz="2800" dirty="0" err="1"/>
              <a:t>kN</a:t>
            </a:r>
            <a:endParaRPr lang="en-US" sz="2800" dirty="0"/>
          </a:p>
          <a:p>
            <a:pPr algn="l">
              <a:buFont typeface="Arial" panose="020B0604020202020204" pitchFamily="34" charset="0"/>
              <a:buChar char="•"/>
            </a:pPr>
            <a:r>
              <a:rPr lang="en-US" sz="2800" dirty="0"/>
              <a:t>Strength in MPa = (load over area)</a:t>
            </a:r>
          </a:p>
          <a:p>
            <a:pPr algn="l">
              <a:buFont typeface="Arial" panose="020B0604020202020204" pitchFamily="34" charset="0"/>
              <a:buChar char="•"/>
            </a:pPr>
            <a:r>
              <a:rPr lang="en-US" sz="2800" dirty="0"/>
              <a:t>Record strength to nearest 0.5 N/mm²</a:t>
            </a:r>
          </a:p>
          <a:p>
            <a:pPr algn="l">
              <a:buFont typeface="Arial" panose="020B0604020202020204" pitchFamily="34" charset="0"/>
              <a:buChar char="•"/>
            </a:pPr>
            <a:r>
              <a:rPr lang="en-US" sz="2800" dirty="0"/>
              <a:t>Observe the failure mode </a:t>
            </a:r>
          </a:p>
        </p:txBody>
      </p:sp>
      <p:pic>
        <p:nvPicPr>
          <p:cNvPr id="4" name="Picture 3" descr="js00129"/>
          <p:cNvPicPr>
            <a:picLocks noChangeAspect="1" noChangeArrowheads="1"/>
          </p:cNvPicPr>
          <p:nvPr/>
        </p:nvPicPr>
        <p:blipFill>
          <a:blip r:embed="rId3" cstate="print"/>
          <a:srcRect l="15235" t="29377" r="12134" b="15575"/>
          <a:stretch>
            <a:fillRect/>
          </a:stretch>
        </p:blipFill>
        <p:spPr bwMode="auto">
          <a:xfrm>
            <a:off x="8340080" y="1394251"/>
            <a:ext cx="3851920" cy="1863832"/>
          </a:xfrm>
          <a:prstGeom prst="rect">
            <a:avLst/>
          </a:prstGeom>
          <a:noFill/>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Image28"/>
          <p:cNvPicPr>
            <a:picLocks noChangeAspect="1" noChangeArrowheads="1"/>
          </p:cNvPicPr>
          <p:nvPr/>
        </p:nvPicPr>
        <p:blipFill>
          <a:blip r:embed="rId3" cstate="print"/>
          <a:srcRect/>
          <a:stretch>
            <a:fillRect/>
          </a:stretch>
        </p:blipFill>
        <p:spPr bwMode="auto">
          <a:xfrm>
            <a:off x="1524000" y="-514350"/>
            <a:ext cx="9829800" cy="737235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be failure modes.jpg"/>
          <p:cNvPicPr>
            <a:picLocks noChangeAspect="1"/>
          </p:cNvPicPr>
          <p:nvPr/>
        </p:nvPicPr>
        <p:blipFill>
          <a:blip r:embed="rId3" cstate="print"/>
          <a:srcRect l="8553" t="16745" r="8553" b="12754"/>
          <a:stretch>
            <a:fillRect/>
          </a:stretch>
        </p:blipFill>
        <p:spPr>
          <a:xfrm>
            <a:off x="2423593" y="1124744"/>
            <a:ext cx="6608433" cy="5472608"/>
          </a:xfrm>
          <a:prstGeom prst="rect">
            <a:avLst/>
          </a:prstGeom>
        </p:spPr>
      </p:pic>
      <p:sp>
        <p:nvSpPr>
          <p:cNvPr id="2" name="Title 1"/>
          <p:cNvSpPr>
            <a:spLocks noGrp="1"/>
          </p:cNvSpPr>
          <p:nvPr>
            <p:ph type="title"/>
          </p:nvPr>
        </p:nvSpPr>
        <p:spPr/>
        <p:txBody>
          <a:bodyPr>
            <a:normAutofit fontScale="90000"/>
          </a:bodyPr>
          <a:lstStyle/>
          <a:p>
            <a:r>
              <a:rPr lang="en-US" sz="4000" dirty="0"/>
              <a:t>							</a:t>
            </a:r>
            <a:r>
              <a:rPr lang="en-US" sz="4000" b="1" dirty="0"/>
              <a:t>Unsatisfactory failures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58F99-A65B-A429-A50A-CF9CF2E628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2BD1A-EC89-2F05-D66E-4F2113769FFD}"/>
              </a:ext>
            </a:extLst>
          </p:cNvPr>
          <p:cNvSpPr>
            <a:spLocks noGrp="1"/>
          </p:cNvSpPr>
          <p:nvPr>
            <p:ph type="ctrTitle"/>
          </p:nvPr>
        </p:nvSpPr>
        <p:spPr>
          <a:xfrm>
            <a:off x="1044575" y="1400175"/>
            <a:ext cx="10767060" cy="2262505"/>
          </a:xfrm>
        </p:spPr>
        <p:txBody>
          <a:bodyPr>
            <a:normAutofit/>
          </a:bodyPr>
          <a:lstStyle/>
          <a:p>
            <a:pPr algn="ctr"/>
            <a:r>
              <a:rPr lang="en-US" altLang="en-GB" sz="4000" b="1" dirty="0"/>
              <a:t>TESTS ON HARD CONCRETE - CYLINDER TEST</a:t>
            </a:r>
            <a:br>
              <a:rPr lang="en-US" altLang="en-GB" sz="4000" b="1" dirty="0"/>
            </a:br>
            <a:endParaRPr lang="en-US" altLang="en-US" sz="4000" b="1" dirty="0"/>
          </a:p>
        </p:txBody>
      </p:sp>
      <p:sp>
        <p:nvSpPr>
          <p:cNvPr id="4" name="Slide Number Placeholder 3">
            <a:extLst>
              <a:ext uri="{FF2B5EF4-FFF2-40B4-BE49-F238E27FC236}">
                <a16:creationId xmlns:a16="http://schemas.microsoft.com/office/drawing/2014/main" id="{2C539854-F767-D1F1-B0BC-02F54B13E324}"/>
              </a:ext>
            </a:extLst>
          </p:cNvPr>
          <p:cNvSpPr>
            <a:spLocks noGrp="1"/>
          </p:cNvSpPr>
          <p:nvPr>
            <p:ph type="sldNum" sz="quarter" idx="12"/>
          </p:nvPr>
        </p:nvSpPr>
        <p:spPr>
          <a:xfrm>
            <a:off x="160752" y="4412254"/>
            <a:ext cx="952431" cy="597068"/>
          </a:xfrm>
        </p:spPr>
        <p:txBody>
          <a:bodyPr/>
          <a:lstStyle/>
          <a:p>
            <a:fld id="{D57F1E4F-1CFF-5643-939E-217C01CDF565}" type="slidenum">
              <a:rPr lang="en-US" sz="4000" smtClean="0"/>
              <a:t>38</a:t>
            </a:fld>
            <a:endParaRPr lang="en-US" sz="4000"/>
          </a:p>
        </p:txBody>
      </p:sp>
    </p:spTree>
    <p:extLst>
      <p:ext uri="{BB962C8B-B14F-4D97-AF65-F5344CB8AC3E}">
        <p14:creationId xmlns:p14="http://schemas.microsoft.com/office/powerpoint/2010/main" val="24041145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Image29"/>
          <p:cNvPicPr>
            <a:picLocks noChangeAspect="1" noChangeArrowheads="1"/>
          </p:cNvPicPr>
          <p:nvPr/>
        </p:nvPicPr>
        <p:blipFill>
          <a:blip r:embed="rId3" cstate="print"/>
          <a:srcRect/>
          <a:stretch>
            <a:fillRect/>
          </a:stretch>
        </p:blipFill>
        <p:spPr bwMode="auto">
          <a:xfrm>
            <a:off x="1524000" y="0"/>
            <a:ext cx="9144000" cy="685800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2133600" y="0"/>
            <a:ext cx="7772400" cy="1143000"/>
          </a:xfrm>
        </p:spPr>
        <p:txBody>
          <a:bodyPr/>
          <a:lstStyle/>
          <a:p>
            <a:pPr eaLnBrk="1" hangingPunct="1"/>
            <a:r>
              <a:rPr lang="en-US" sz="4000" b="1" dirty="0"/>
              <a:t>Splitting Test Platens</a:t>
            </a:r>
          </a:p>
        </p:txBody>
      </p:sp>
      <p:pic>
        <p:nvPicPr>
          <p:cNvPr id="41987" name="Picture 3" descr="tensplaten"/>
          <p:cNvPicPr>
            <a:picLocks noChangeAspect="1" noChangeArrowheads="1"/>
          </p:cNvPicPr>
          <p:nvPr/>
        </p:nvPicPr>
        <p:blipFill>
          <a:blip r:embed="rId3" cstate="print"/>
          <a:srcRect/>
          <a:stretch>
            <a:fillRect/>
          </a:stretch>
        </p:blipFill>
        <p:spPr bwMode="auto">
          <a:xfrm>
            <a:off x="3352800" y="1004888"/>
            <a:ext cx="6477000" cy="5014912"/>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209800" y="228600"/>
            <a:ext cx="7772400" cy="1143000"/>
          </a:xfrm>
          <a:noFill/>
        </p:spPr>
        <p:txBody>
          <a:bodyPr vert="horz" lIns="90488" tIns="44450" rIns="90488" bIns="44450" rtlCol="0" anchor="b">
            <a:normAutofit/>
          </a:bodyPr>
          <a:lstStyle/>
          <a:p>
            <a:pPr eaLnBrk="1" hangingPunct="1"/>
            <a:r>
              <a:rPr lang="en-US" sz="4000"/>
              <a:t>Tensile Strength</a:t>
            </a:r>
          </a:p>
        </p:txBody>
      </p:sp>
      <p:sp>
        <p:nvSpPr>
          <p:cNvPr id="39939" name="Rectangle 3"/>
          <p:cNvSpPr>
            <a:spLocks noGrp="1" noChangeArrowheads="1"/>
          </p:cNvSpPr>
          <p:nvPr>
            <p:ph type="body" sz="quarter" idx="10"/>
          </p:nvPr>
        </p:nvSpPr>
        <p:spPr>
          <a:xfrm>
            <a:off x="1270535" y="1674796"/>
            <a:ext cx="5422632" cy="2654166"/>
          </a:xfrm>
          <a:noFill/>
        </p:spPr>
        <p:txBody>
          <a:bodyPr vert="horz" lIns="90488" tIns="44450" rIns="90488" bIns="44450" rtlCol="0">
            <a:normAutofit/>
          </a:bodyPr>
          <a:lstStyle/>
          <a:p>
            <a:pPr algn="l" eaLnBrk="1" hangingPunct="1">
              <a:buFont typeface="Arial" panose="020B0604020202020204" pitchFamily="34" charset="0"/>
              <a:buChar char="•"/>
            </a:pPr>
            <a:r>
              <a:rPr lang="en-US" sz="2800" dirty="0">
                <a:solidFill>
                  <a:schemeClr val="tx1"/>
                </a:solidFill>
              </a:rPr>
              <a:t>Not easy to measure directly</a:t>
            </a:r>
          </a:p>
          <a:p>
            <a:pPr algn="l" eaLnBrk="1" hangingPunct="1">
              <a:buFont typeface="Arial" panose="020B0604020202020204" pitchFamily="34" charset="0"/>
              <a:buChar char="•"/>
            </a:pPr>
            <a:r>
              <a:rPr lang="en-US" sz="2800" dirty="0">
                <a:solidFill>
                  <a:schemeClr val="tx1"/>
                </a:solidFill>
              </a:rPr>
              <a:t>Indirect tests are:</a:t>
            </a:r>
          </a:p>
          <a:p>
            <a:pPr lvl="1" eaLnBrk="1" hangingPunct="1">
              <a:buSzPct val="75000"/>
              <a:buFont typeface="Arial" panose="020B0604020202020204" pitchFamily="34" charset="0"/>
              <a:buChar char="•"/>
            </a:pPr>
            <a:r>
              <a:rPr lang="en-US" sz="2400" dirty="0"/>
              <a:t>splitting test</a:t>
            </a:r>
          </a:p>
          <a:p>
            <a:pPr lvl="1" eaLnBrk="1" hangingPunct="1">
              <a:buSzPct val="75000"/>
              <a:buFont typeface="Arial" panose="020B0604020202020204" pitchFamily="34" charset="0"/>
              <a:buChar char="•"/>
            </a:pPr>
            <a:r>
              <a:rPr lang="en-US" sz="2400" dirty="0"/>
              <a:t>beam test (flexure)</a:t>
            </a:r>
          </a:p>
        </p:txBody>
      </p:sp>
      <p:pic>
        <p:nvPicPr>
          <p:cNvPr id="3" name="Picture 2">
            <a:extLst>
              <a:ext uri="{FF2B5EF4-FFF2-40B4-BE49-F238E27FC236}">
                <a16:creationId xmlns:a16="http://schemas.microsoft.com/office/drawing/2014/main" id="{DE0137AF-30CB-D175-2063-CBB9F24D0E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12343" y="0"/>
            <a:ext cx="5143500" cy="6858000"/>
          </a:xfrm>
          <a:prstGeom prst="rect">
            <a:avLst/>
          </a:prstGeom>
        </p:spPr>
      </p:pic>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981200" y="-27384"/>
            <a:ext cx="8229600" cy="1143000"/>
          </a:xfrm>
          <a:noFill/>
        </p:spPr>
        <p:txBody>
          <a:bodyPr vert="horz" lIns="90488" tIns="44450" rIns="90488" bIns="44450" rtlCol="0" anchor="b">
            <a:normAutofit/>
          </a:bodyPr>
          <a:lstStyle/>
          <a:p>
            <a:pPr eaLnBrk="1" hangingPunct="1"/>
            <a:r>
              <a:rPr lang="en-US" sz="4000" b="1" dirty="0"/>
              <a:t>Tensile splitting Test</a:t>
            </a:r>
          </a:p>
        </p:txBody>
      </p:sp>
      <p:sp>
        <p:nvSpPr>
          <p:cNvPr id="40963" name="Rectangle 3"/>
          <p:cNvSpPr>
            <a:spLocks noGrp="1" noChangeArrowheads="1"/>
          </p:cNvSpPr>
          <p:nvPr>
            <p:ph type="body" sz="quarter" idx="10"/>
          </p:nvPr>
        </p:nvSpPr>
        <p:spPr>
          <a:xfrm>
            <a:off x="1992314" y="1268736"/>
            <a:ext cx="9673505" cy="2304281"/>
          </a:xfrm>
          <a:noFill/>
        </p:spPr>
        <p:txBody>
          <a:bodyPr vert="horz" lIns="90488" tIns="44450" rIns="90488" bIns="44450" rtlCol="0">
            <a:normAutofit/>
          </a:bodyPr>
          <a:lstStyle/>
          <a:p>
            <a:pPr eaLnBrk="1" hangingPunct="1">
              <a:buFont typeface="Arial" panose="020B0604020202020204" pitchFamily="34" charset="0"/>
              <a:buChar char="•"/>
            </a:pPr>
            <a:r>
              <a:rPr lang="en-US" sz="2800" dirty="0">
                <a:solidFill>
                  <a:schemeClr val="tx1"/>
                </a:solidFill>
              </a:rPr>
              <a:t>On cylinders and cubes</a:t>
            </a:r>
          </a:p>
          <a:p>
            <a:pPr eaLnBrk="1" hangingPunct="1">
              <a:buFont typeface="Arial" panose="020B0604020202020204" pitchFamily="34" charset="0"/>
              <a:buChar char="•"/>
            </a:pPr>
            <a:r>
              <a:rPr lang="en-US" sz="2800" dirty="0">
                <a:solidFill>
                  <a:schemeClr val="tx1"/>
                </a:solidFill>
              </a:rPr>
              <a:t>BS EN 12390-6</a:t>
            </a:r>
          </a:p>
          <a:p>
            <a:pPr eaLnBrk="1" hangingPunct="1">
              <a:buFont typeface="Arial" panose="020B0604020202020204" pitchFamily="34" charset="0"/>
              <a:buChar char="•"/>
            </a:pPr>
            <a:r>
              <a:rPr lang="en-US" sz="2800" dirty="0">
                <a:solidFill>
                  <a:schemeClr val="tx1"/>
                </a:solidFill>
              </a:rPr>
              <a:t>Create tensile force through middle by compressive force</a:t>
            </a:r>
          </a:p>
        </p:txBody>
      </p:sp>
      <p:grpSp>
        <p:nvGrpSpPr>
          <p:cNvPr id="2" name="Group 4"/>
          <p:cNvGrpSpPr/>
          <p:nvPr/>
        </p:nvGrpSpPr>
        <p:grpSpPr bwMode="auto">
          <a:xfrm>
            <a:off x="1991544" y="4005064"/>
            <a:ext cx="3168352" cy="1728192"/>
            <a:chOff x="1776" y="2880"/>
            <a:chExt cx="2064" cy="1200"/>
          </a:xfrm>
        </p:grpSpPr>
        <p:sp>
          <p:nvSpPr>
            <p:cNvPr id="40965" name="Rectangle 5" descr="Pink tissue paper"/>
            <p:cNvSpPr>
              <a:spLocks noChangeArrowheads="1"/>
            </p:cNvSpPr>
            <p:nvPr/>
          </p:nvSpPr>
          <p:spPr bwMode="auto">
            <a:xfrm>
              <a:off x="1776" y="2880"/>
              <a:ext cx="2064" cy="1200"/>
            </a:xfrm>
            <a:prstGeom prst="rect">
              <a:avLst/>
            </a:prstGeom>
            <a:blipFill dpi="0" rotWithShape="0">
              <a:blip r:embed="rId3" cstate="print"/>
              <a:srcRect/>
              <a:tile tx="0" ty="0" sx="100000" sy="100000" flip="none" algn="tl"/>
            </a:blipFill>
            <a:ln w="76200">
              <a:solidFill>
                <a:schemeClr val="folHlink"/>
              </a:solidFill>
              <a:miter lim="800000"/>
            </a:ln>
          </p:spPr>
          <p:txBody>
            <a:bodyPr wrap="none" anchor="ctr"/>
            <a:lstStyle/>
            <a:p>
              <a:endParaRPr lang="en-GB"/>
            </a:p>
          </p:txBody>
        </p:sp>
        <p:sp>
          <p:nvSpPr>
            <p:cNvPr id="40966" name="Text Box 6"/>
            <p:cNvSpPr txBox="1">
              <a:spLocks noChangeArrowheads="1"/>
            </p:cNvSpPr>
            <p:nvPr/>
          </p:nvSpPr>
          <p:spPr bwMode="auto">
            <a:xfrm>
              <a:off x="2064" y="3254"/>
              <a:ext cx="544" cy="492"/>
            </a:xfrm>
            <a:prstGeom prst="rect">
              <a:avLst/>
            </a:prstGeom>
            <a:noFill/>
            <a:ln w="12700">
              <a:noFill/>
              <a:miter lim="800000"/>
            </a:ln>
          </p:spPr>
          <p:txBody>
            <a:bodyPr wrap="none">
              <a:spAutoFit/>
            </a:bodyPr>
            <a:lstStyle/>
            <a:p>
              <a:pPr algn="l"/>
              <a:r>
                <a:rPr lang="en-US" sz="4000" b="1">
                  <a:solidFill>
                    <a:schemeClr val="tx2">
                      <a:lumMod val="75000"/>
                    </a:schemeClr>
                  </a:solidFill>
                </a:rPr>
                <a:t>T</a:t>
              </a:r>
              <a:r>
                <a:rPr lang="en-US" sz="4000" b="1">
                  <a:solidFill>
                    <a:schemeClr val="tx2">
                      <a:lumMod val="75000"/>
                    </a:schemeClr>
                  </a:solidFill>
                  <a:latin typeface="Bauhaus 93" panose="04030905020B02020C02" pitchFamily="82" charset="0"/>
                </a:rPr>
                <a:t> </a:t>
              </a:r>
              <a:r>
                <a:rPr lang="en-US" sz="4000" b="1">
                  <a:solidFill>
                    <a:schemeClr val="tx2">
                      <a:lumMod val="75000"/>
                    </a:schemeClr>
                  </a:solidFill>
                </a:rPr>
                <a:t>=</a:t>
              </a:r>
              <a:endParaRPr lang="en-US">
                <a:solidFill>
                  <a:schemeClr val="tx2">
                    <a:lumMod val="75000"/>
                  </a:schemeClr>
                </a:solidFill>
              </a:endParaRPr>
            </a:p>
          </p:txBody>
        </p:sp>
        <p:sp>
          <p:nvSpPr>
            <p:cNvPr id="40967" name="Text Box 7"/>
            <p:cNvSpPr txBox="1">
              <a:spLocks noChangeArrowheads="1"/>
            </p:cNvSpPr>
            <p:nvPr/>
          </p:nvSpPr>
          <p:spPr bwMode="auto">
            <a:xfrm>
              <a:off x="2876" y="3052"/>
              <a:ext cx="457" cy="449"/>
            </a:xfrm>
            <a:prstGeom prst="rect">
              <a:avLst/>
            </a:prstGeom>
            <a:noFill/>
            <a:ln w="12700">
              <a:noFill/>
              <a:miter lim="800000"/>
            </a:ln>
          </p:spPr>
          <p:txBody>
            <a:bodyPr wrap="none">
              <a:spAutoFit/>
            </a:bodyPr>
            <a:lstStyle/>
            <a:p>
              <a:pPr algn="l"/>
              <a:r>
                <a:rPr lang="en-US" sz="3600" b="1">
                  <a:solidFill>
                    <a:schemeClr val="tx2">
                      <a:lumMod val="75000"/>
                    </a:schemeClr>
                  </a:solidFill>
                </a:rPr>
                <a:t>2P</a:t>
              </a:r>
              <a:endParaRPr lang="en-US">
                <a:solidFill>
                  <a:schemeClr val="tx2">
                    <a:lumMod val="75000"/>
                  </a:schemeClr>
                </a:solidFill>
              </a:endParaRPr>
            </a:p>
          </p:txBody>
        </p:sp>
        <p:sp>
          <p:nvSpPr>
            <p:cNvPr id="40968" name="Text Box 8"/>
            <p:cNvSpPr txBox="1">
              <a:spLocks noChangeArrowheads="1"/>
            </p:cNvSpPr>
            <p:nvPr/>
          </p:nvSpPr>
          <p:spPr bwMode="auto">
            <a:xfrm>
              <a:off x="2801" y="3446"/>
              <a:ext cx="605" cy="492"/>
            </a:xfrm>
            <a:prstGeom prst="rect">
              <a:avLst/>
            </a:prstGeom>
            <a:noFill/>
            <a:ln w="9525">
              <a:noFill/>
              <a:miter lim="800000"/>
            </a:ln>
          </p:spPr>
          <p:txBody>
            <a:bodyPr wrap="none">
              <a:spAutoFit/>
            </a:bodyPr>
            <a:lstStyle/>
            <a:p>
              <a:pPr algn="l"/>
              <a:r>
                <a:rPr lang="en-US" sz="4000" b="1">
                  <a:solidFill>
                    <a:schemeClr val="tx2">
                      <a:lumMod val="75000"/>
                    </a:schemeClr>
                  </a:solidFill>
                  <a:sym typeface="Symbol" panose="05050102010706020507" pitchFamily="18" charset="2"/>
                </a:rPr>
                <a:t>ld</a:t>
              </a:r>
              <a:endParaRPr lang="en-US">
                <a:solidFill>
                  <a:schemeClr val="tx2">
                    <a:lumMod val="75000"/>
                  </a:schemeClr>
                </a:solidFill>
              </a:endParaRPr>
            </a:p>
          </p:txBody>
        </p:sp>
        <p:sp>
          <p:nvSpPr>
            <p:cNvPr id="40969" name="Line 9"/>
            <p:cNvSpPr>
              <a:spLocks noChangeShapeType="1"/>
            </p:cNvSpPr>
            <p:nvPr/>
          </p:nvSpPr>
          <p:spPr bwMode="auto">
            <a:xfrm>
              <a:off x="2784" y="3456"/>
              <a:ext cx="576" cy="0"/>
            </a:xfrm>
            <a:prstGeom prst="line">
              <a:avLst/>
            </a:prstGeom>
            <a:noFill/>
            <a:ln w="57150">
              <a:solidFill>
                <a:srgbClr val="000000"/>
              </a:solidFill>
              <a:round/>
            </a:ln>
          </p:spPr>
          <p:txBody>
            <a:bodyPr wrap="none" anchor="ctr"/>
            <a:lstStyle/>
            <a:p>
              <a:endParaRPr lang="en-US"/>
            </a:p>
          </p:txBody>
        </p:sp>
      </p:grpSp>
      <p:sp>
        <p:nvSpPr>
          <p:cNvPr id="10" name="Rectangle 3"/>
          <p:cNvSpPr txBox="1">
            <a:spLocks noChangeArrowheads="1"/>
          </p:cNvSpPr>
          <p:nvPr/>
        </p:nvSpPr>
        <p:spPr>
          <a:xfrm>
            <a:off x="5447929" y="3789040"/>
            <a:ext cx="4967783" cy="2304256"/>
          </a:xfrm>
          <a:prstGeom prst="rect">
            <a:avLst/>
          </a:prstGeom>
          <a:noFill/>
        </p:spPr>
        <p:txBody>
          <a:bodyPr lIns="90488" tIns="44450" rIns="90488" bIns="44450"/>
          <a:lstStyle/>
          <a:p>
            <a:pPr marL="342900" indent="-342900">
              <a:spcBef>
                <a:spcPct val="20000"/>
              </a:spcBef>
              <a:buFont typeface="Arial" panose="020B0604020202020204" pitchFamily="34" charset="0"/>
              <a:buChar char="•"/>
              <a:defRPr/>
            </a:pPr>
            <a:r>
              <a:rPr lang="en-US" sz="2800" dirty="0"/>
              <a:t>T = tensile strength (MPa)</a:t>
            </a:r>
          </a:p>
          <a:p>
            <a:pPr marL="342900" indent="-342900">
              <a:spcBef>
                <a:spcPct val="20000"/>
              </a:spcBef>
              <a:buFont typeface="Arial" panose="020B0604020202020204" pitchFamily="34" charset="0"/>
              <a:buChar char="•"/>
              <a:defRPr/>
            </a:pPr>
            <a:r>
              <a:rPr lang="en-US" sz="2800" dirty="0"/>
              <a:t>P = failing load (N)</a:t>
            </a:r>
          </a:p>
          <a:p>
            <a:pPr marL="342900" indent="-342900">
              <a:spcBef>
                <a:spcPct val="20000"/>
              </a:spcBef>
              <a:buFont typeface="Arial" panose="020B0604020202020204" pitchFamily="34" charset="0"/>
              <a:buChar char="•"/>
              <a:defRPr/>
            </a:pPr>
            <a:r>
              <a:rPr lang="en-US" sz="2800" dirty="0"/>
              <a:t>d = diameter of specimen (mm)</a:t>
            </a:r>
          </a:p>
          <a:p>
            <a:pPr marL="342900" indent="-342900">
              <a:spcBef>
                <a:spcPct val="20000"/>
              </a:spcBef>
              <a:buFont typeface="Arial" panose="020B0604020202020204" pitchFamily="34" charset="0"/>
              <a:buChar char="•"/>
              <a:defRPr/>
            </a:pPr>
            <a:r>
              <a:rPr lang="en-US" sz="2800" dirty="0"/>
              <a:t>l = length of specimen (mm)</a:t>
            </a:r>
          </a:p>
          <a:p>
            <a:pPr marL="342900" indent="-342900">
              <a:spcBef>
                <a:spcPct val="20000"/>
              </a:spcBef>
              <a:buFont typeface="Arial" panose="020B0604020202020204" pitchFamily="34" charset="0"/>
              <a:buChar char="•"/>
              <a:defRPr/>
            </a:pPr>
            <a:endParaRPr lang="en-US" sz="3200" dirty="0"/>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BA6CD-3261-A3BC-B81F-DFB742A7CE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A91EA-7E19-A5DC-9EFD-C640B7D79C9F}"/>
              </a:ext>
            </a:extLst>
          </p:cNvPr>
          <p:cNvSpPr>
            <a:spLocks noGrp="1"/>
          </p:cNvSpPr>
          <p:nvPr>
            <p:ph type="ctrTitle"/>
          </p:nvPr>
        </p:nvSpPr>
        <p:spPr>
          <a:xfrm>
            <a:off x="1044575" y="1400175"/>
            <a:ext cx="10767060" cy="2262505"/>
          </a:xfrm>
        </p:spPr>
        <p:txBody>
          <a:bodyPr>
            <a:normAutofit/>
          </a:bodyPr>
          <a:lstStyle/>
          <a:p>
            <a:pPr algn="ctr"/>
            <a:r>
              <a:rPr lang="en-US" altLang="en-GB" sz="4000" b="1" dirty="0"/>
              <a:t>TESTS ON HARD CONCRETE - BEAM TEST</a:t>
            </a:r>
            <a:br>
              <a:rPr lang="en-US" altLang="en-GB" sz="4000" b="1" dirty="0"/>
            </a:br>
            <a:endParaRPr lang="en-US" altLang="en-US" sz="4000" b="1" dirty="0"/>
          </a:p>
        </p:txBody>
      </p:sp>
      <p:sp>
        <p:nvSpPr>
          <p:cNvPr id="4" name="Slide Number Placeholder 3">
            <a:extLst>
              <a:ext uri="{FF2B5EF4-FFF2-40B4-BE49-F238E27FC236}">
                <a16:creationId xmlns:a16="http://schemas.microsoft.com/office/drawing/2014/main" id="{A82C6E14-E70C-11D7-D905-A5E18B81D6B4}"/>
              </a:ext>
            </a:extLst>
          </p:cNvPr>
          <p:cNvSpPr>
            <a:spLocks noGrp="1"/>
          </p:cNvSpPr>
          <p:nvPr>
            <p:ph type="sldNum" sz="quarter" idx="12"/>
          </p:nvPr>
        </p:nvSpPr>
        <p:spPr>
          <a:xfrm>
            <a:off x="160752" y="4412254"/>
            <a:ext cx="952431" cy="597068"/>
          </a:xfrm>
        </p:spPr>
        <p:txBody>
          <a:bodyPr/>
          <a:lstStyle/>
          <a:p>
            <a:fld id="{D57F1E4F-1CFF-5643-939E-217C01CDF565}" type="slidenum">
              <a:rPr lang="en-US" sz="4000" smtClean="0"/>
              <a:t>43</a:t>
            </a:fld>
            <a:endParaRPr lang="en-US" sz="4000"/>
          </a:p>
        </p:txBody>
      </p:sp>
    </p:spTree>
    <p:extLst>
      <p:ext uri="{BB962C8B-B14F-4D97-AF65-F5344CB8AC3E}">
        <p14:creationId xmlns:p14="http://schemas.microsoft.com/office/powerpoint/2010/main" val="33146457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1981200" y="-27384"/>
            <a:ext cx="8229600" cy="1143000"/>
          </a:xfrm>
          <a:noFill/>
        </p:spPr>
        <p:txBody>
          <a:bodyPr vert="horz" lIns="90488" tIns="44450" rIns="90488" bIns="44450" rtlCol="0" anchor="b">
            <a:normAutofit/>
          </a:bodyPr>
          <a:lstStyle/>
          <a:p>
            <a:pPr eaLnBrk="1" hangingPunct="1"/>
            <a:r>
              <a:rPr lang="en-US" sz="4000"/>
              <a:t>Indirect tensile strength Test</a:t>
            </a:r>
          </a:p>
        </p:txBody>
      </p:sp>
      <p:sp>
        <p:nvSpPr>
          <p:cNvPr id="270339" name="Rectangle 3"/>
          <p:cNvSpPr>
            <a:spLocks noGrp="1" noChangeArrowheads="1"/>
          </p:cNvSpPr>
          <p:nvPr>
            <p:ph type="body" sz="quarter" idx="10"/>
          </p:nvPr>
        </p:nvSpPr>
        <p:spPr>
          <a:xfrm>
            <a:off x="1682650" y="1196753"/>
            <a:ext cx="8847388" cy="4525963"/>
          </a:xfrm>
        </p:spPr>
        <p:txBody>
          <a:bodyPr>
            <a:normAutofit/>
          </a:bodyPr>
          <a:lstStyle/>
          <a:p>
            <a:pPr algn="l">
              <a:buFont typeface="Arial" panose="020B0604020202020204" pitchFamily="34" charset="0"/>
              <a:buChar char="•"/>
            </a:pPr>
            <a:r>
              <a:rPr lang="en-US" sz="2800" dirty="0">
                <a:solidFill>
                  <a:schemeClr val="tx1"/>
                </a:solidFill>
              </a:rPr>
              <a:t>Often called Modulus of Rupture</a:t>
            </a:r>
          </a:p>
          <a:p>
            <a:pPr algn="l">
              <a:buFont typeface="Arial" panose="020B0604020202020204" pitchFamily="34" charset="0"/>
              <a:buChar char="•"/>
            </a:pPr>
            <a:r>
              <a:rPr lang="en-US" sz="2800" dirty="0">
                <a:solidFill>
                  <a:schemeClr val="tx1"/>
                </a:solidFill>
              </a:rPr>
              <a:t>Prismatic beam of concrete supported on steel roller bearings near each end</a:t>
            </a:r>
          </a:p>
          <a:p>
            <a:pPr algn="l">
              <a:buFont typeface="Arial" panose="020B0604020202020204" pitchFamily="34" charset="0"/>
              <a:buChar char="•"/>
            </a:pPr>
            <a:r>
              <a:rPr lang="en-US" sz="2800" dirty="0">
                <a:solidFill>
                  <a:schemeClr val="tx1"/>
                </a:solidFill>
              </a:rPr>
              <a:t>Loaded from top</a:t>
            </a:r>
          </a:p>
          <a:p>
            <a:pPr algn="l">
              <a:buFont typeface="Arial" panose="020B0604020202020204" pitchFamily="34" charset="0"/>
              <a:buChar char="•"/>
            </a:pPr>
            <a:r>
              <a:rPr lang="en-US" sz="2800" dirty="0">
                <a:solidFill>
                  <a:schemeClr val="tx1"/>
                </a:solidFill>
              </a:rPr>
              <a:t>Can be single point or two-point (third-point) loading</a:t>
            </a:r>
          </a:p>
          <a:p>
            <a:pPr algn="l">
              <a:buFont typeface="Arial" panose="020B0604020202020204" pitchFamily="34" charset="0"/>
              <a:buChar char="•"/>
            </a:pPr>
            <a:r>
              <a:rPr lang="en-US" sz="2800" dirty="0">
                <a:solidFill>
                  <a:schemeClr val="tx1"/>
                </a:solidFill>
              </a:rPr>
              <a:t>Single gives higher values and is more variable</a:t>
            </a:r>
          </a:p>
          <a:p>
            <a:pPr algn="l">
              <a:buFont typeface="Arial" panose="020B0604020202020204" pitchFamily="34" charset="0"/>
              <a:buChar char="•"/>
            </a:pPr>
            <a:r>
              <a:rPr lang="en-US" sz="2800" dirty="0">
                <a:solidFill>
                  <a:schemeClr val="tx1"/>
                </a:solidFill>
              </a:rPr>
              <a:t>Beam size normally 	150x150x750,  also 100x100x500 if aggregate not greater than 20mm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bwMode="auto">
          <a:xfrm>
            <a:off x="1905000" y="2743200"/>
            <a:ext cx="8350250" cy="3582988"/>
            <a:chOff x="292" y="1729"/>
            <a:chExt cx="5918" cy="2257"/>
          </a:xfrm>
        </p:grpSpPr>
        <p:sp>
          <p:nvSpPr>
            <p:cNvPr id="272389" name="Rectangle 5"/>
            <p:cNvSpPr>
              <a:spLocks noChangeArrowheads="1"/>
            </p:cNvSpPr>
            <p:nvPr/>
          </p:nvSpPr>
          <p:spPr bwMode="auto">
            <a:xfrm>
              <a:off x="2281" y="2225"/>
              <a:ext cx="1940" cy="428"/>
            </a:xfrm>
            <a:prstGeom prst="rect">
              <a:avLst/>
            </a:prstGeom>
            <a:noFill/>
            <a:ln w="9525">
              <a:noFill/>
              <a:miter lim="800000"/>
            </a:ln>
            <a:effectLst/>
          </p:spPr>
          <p:txBody>
            <a:bodyPr lIns="69850" tIns="34925" rIns="69850" bIns="34925">
              <a:spAutoFit/>
            </a:bodyPr>
            <a:lstStyle/>
            <a:p>
              <a:pPr algn="ctr" defTabSz="520700"/>
              <a:r>
                <a:rPr lang="en-US" sz="2000"/>
                <a:t>Head of Testing Machine</a:t>
              </a:r>
            </a:p>
          </p:txBody>
        </p:sp>
        <p:grpSp>
          <p:nvGrpSpPr>
            <p:cNvPr id="3" name="Group 6"/>
            <p:cNvGrpSpPr/>
            <p:nvPr/>
          </p:nvGrpSpPr>
          <p:grpSpPr bwMode="auto">
            <a:xfrm>
              <a:off x="850" y="3258"/>
              <a:ext cx="1688" cy="274"/>
              <a:chOff x="850" y="3258"/>
              <a:chExt cx="1688" cy="274"/>
            </a:xfrm>
          </p:grpSpPr>
          <p:grpSp>
            <p:nvGrpSpPr>
              <p:cNvPr id="4" name="Group 7"/>
              <p:cNvGrpSpPr/>
              <p:nvPr/>
            </p:nvGrpSpPr>
            <p:grpSpPr bwMode="auto">
              <a:xfrm>
                <a:off x="850" y="3258"/>
                <a:ext cx="1688" cy="109"/>
                <a:chOff x="850" y="3258"/>
                <a:chExt cx="1688" cy="109"/>
              </a:xfrm>
            </p:grpSpPr>
            <p:sp>
              <p:nvSpPr>
                <p:cNvPr id="272392" name="Line 8"/>
                <p:cNvSpPr>
                  <a:spLocks noChangeShapeType="1"/>
                </p:cNvSpPr>
                <p:nvPr/>
              </p:nvSpPr>
              <p:spPr bwMode="auto">
                <a:xfrm>
                  <a:off x="863" y="3258"/>
                  <a:ext cx="0" cy="109"/>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393" name="Line 9"/>
                <p:cNvSpPr>
                  <a:spLocks noChangeShapeType="1"/>
                </p:cNvSpPr>
                <p:nvPr/>
              </p:nvSpPr>
              <p:spPr bwMode="auto">
                <a:xfrm>
                  <a:off x="1436" y="3258"/>
                  <a:ext cx="0" cy="109"/>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394" name="Line 10"/>
                <p:cNvSpPr>
                  <a:spLocks noChangeShapeType="1"/>
                </p:cNvSpPr>
                <p:nvPr/>
              </p:nvSpPr>
              <p:spPr bwMode="auto">
                <a:xfrm>
                  <a:off x="2007" y="3258"/>
                  <a:ext cx="0" cy="109"/>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395" name="Line 11"/>
                <p:cNvSpPr>
                  <a:spLocks noChangeShapeType="1"/>
                </p:cNvSpPr>
                <p:nvPr/>
              </p:nvSpPr>
              <p:spPr bwMode="auto">
                <a:xfrm>
                  <a:off x="2538" y="3258"/>
                  <a:ext cx="0" cy="109"/>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396" name="Line 12"/>
                <p:cNvSpPr>
                  <a:spLocks noChangeShapeType="1"/>
                </p:cNvSpPr>
                <p:nvPr/>
              </p:nvSpPr>
              <p:spPr bwMode="auto">
                <a:xfrm>
                  <a:off x="850" y="3294"/>
                  <a:ext cx="586" cy="0"/>
                </a:xfrm>
                <a:prstGeom prst="line">
                  <a:avLst/>
                </a:prstGeom>
                <a:noFill/>
                <a:ln w="12700">
                  <a:solidFill>
                    <a:schemeClr val="tx1"/>
                  </a:solidFill>
                  <a:round/>
                  <a:headEnd type="stealth" w="med" len="lg"/>
                  <a:tailEnd type="stealth" w="med" len="lg"/>
                </a:ln>
                <a:effectLst/>
              </p:spPr>
              <p:txBody>
                <a:bodyPr wrap="none" anchor="ctr"/>
                <a:lstStyle/>
                <a:p>
                  <a:endParaRPr lang="en-ZA"/>
                </a:p>
              </p:txBody>
            </p:sp>
            <p:sp>
              <p:nvSpPr>
                <p:cNvPr id="272397" name="Line 13"/>
                <p:cNvSpPr>
                  <a:spLocks noChangeShapeType="1"/>
                </p:cNvSpPr>
                <p:nvPr/>
              </p:nvSpPr>
              <p:spPr bwMode="auto">
                <a:xfrm>
                  <a:off x="1436" y="3294"/>
                  <a:ext cx="571" cy="0"/>
                </a:xfrm>
                <a:prstGeom prst="line">
                  <a:avLst/>
                </a:prstGeom>
                <a:noFill/>
                <a:ln w="12700">
                  <a:solidFill>
                    <a:schemeClr val="tx1"/>
                  </a:solidFill>
                  <a:round/>
                  <a:headEnd type="stealth" w="med" len="lg"/>
                  <a:tailEnd type="stealth" w="med" len="lg"/>
                </a:ln>
                <a:effectLst/>
              </p:spPr>
              <p:txBody>
                <a:bodyPr wrap="none" anchor="ctr"/>
                <a:lstStyle/>
                <a:p>
                  <a:endParaRPr lang="en-ZA"/>
                </a:p>
              </p:txBody>
            </p:sp>
            <p:sp>
              <p:nvSpPr>
                <p:cNvPr id="272398" name="Line 14"/>
                <p:cNvSpPr>
                  <a:spLocks noChangeShapeType="1"/>
                </p:cNvSpPr>
                <p:nvPr/>
              </p:nvSpPr>
              <p:spPr bwMode="auto">
                <a:xfrm>
                  <a:off x="2007" y="3294"/>
                  <a:ext cx="531" cy="0"/>
                </a:xfrm>
                <a:prstGeom prst="line">
                  <a:avLst/>
                </a:prstGeom>
                <a:noFill/>
                <a:ln w="12700">
                  <a:solidFill>
                    <a:schemeClr val="tx1"/>
                  </a:solidFill>
                  <a:round/>
                  <a:headEnd type="stealth" w="med" len="lg"/>
                  <a:tailEnd type="stealth" w="med" len="lg"/>
                </a:ln>
                <a:effectLst/>
              </p:spPr>
              <p:txBody>
                <a:bodyPr wrap="none" anchor="ctr"/>
                <a:lstStyle/>
                <a:p>
                  <a:endParaRPr lang="en-ZA"/>
                </a:p>
              </p:txBody>
            </p:sp>
          </p:grpSp>
          <p:sp>
            <p:nvSpPr>
              <p:cNvPr id="272399" name="Rectangle 15"/>
              <p:cNvSpPr>
                <a:spLocks noChangeArrowheads="1"/>
              </p:cNvSpPr>
              <p:nvPr/>
            </p:nvSpPr>
            <p:spPr bwMode="auto">
              <a:xfrm>
                <a:off x="1024" y="3294"/>
                <a:ext cx="365" cy="238"/>
              </a:xfrm>
              <a:prstGeom prst="rect">
                <a:avLst/>
              </a:prstGeom>
              <a:noFill/>
              <a:ln w="9525">
                <a:noFill/>
                <a:miter lim="800000"/>
              </a:ln>
              <a:effectLst/>
            </p:spPr>
            <p:txBody>
              <a:bodyPr wrap="none" lIns="69850" tIns="34925" rIns="69850" bIns="34925">
                <a:spAutoFit/>
              </a:bodyPr>
              <a:lstStyle/>
              <a:p>
                <a:pPr defTabSz="520700"/>
                <a:r>
                  <a:rPr lang="en-US" sz="2000"/>
                  <a:t>L/3</a:t>
                </a:r>
              </a:p>
            </p:txBody>
          </p:sp>
        </p:grpSp>
        <p:grpSp>
          <p:nvGrpSpPr>
            <p:cNvPr id="5" name="Group 16"/>
            <p:cNvGrpSpPr/>
            <p:nvPr/>
          </p:nvGrpSpPr>
          <p:grpSpPr bwMode="auto">
            <a:xfrm>
              <a:off x="863" y="3484"/>
              <a:ext cx="1675" cy="502"/>
              <a:chOff x="863" y="3484"/>
              <a:chExt cx="1675" cy="502"/>
            </a:xfrm>
          </p:grpSpPr>
          <p:grpSp>
            <p:nvGrpSpPr>
              <p:cNvPr id="6" name="Group 17"/>
              <p:cNvGrpSpPr/>
              <p:nvPr/>
            </p:nvGrpSpPr>
            <p:grpSpPr bwMode="auto">
              <a:xfrm>
                <a:off x="863" y="3484"/>
                <a:ext cx="1675" cy="109"/>
                <a:chOff x="863" y="3484"/>
                <a:chExt cx="1675" cy="109"/>
              </a:xfrm>
            </p:grpSpPr>
            <p:sp>
              <p:nvSpPr>
                <p:cNvPr id="272402" name="Line 18"/>
                <p:cNvSpPr>
                  <a:spLocks noChangeShapeType="1"/>
                </p:cNvSpPr>
                <p:nvPr/>
              </p:nvSpPr>
              <p:spPr bwMode="auto">
                <a:xfrm>
                  <a:off x="863" y="3484"/>
                  <a:ext cx="0" cy="109"/>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403" name="Line 19"/>
                <p:cNvSpPr>
                  <a:spLocks noChangeShapeType="1"/>
                </p:cNvSpPr>
                <p:nvPr/>
              </p:nvSpPr>
              <p:spPr bwMode="auto">
                <a:xfrm>
                  <a:off x="2538" y="3484"/>
                  <a:ext cx="0" cy="109"/>
                </a:xfrm>
                <a:prstGeom prst="line">
                  <a:avLst/>
                </a:prstGeom>
                <a:noFill/>
                <a:ln w="25400">
                  <a:solidFill>
                    <a:schemeClr val="tx1"/>
                  </a:solidFill>
                  <a:round/>
                  <a:headEnd type="none" w="sm" len="sm"/>
                  <a:tailEnd type="none" w="sm" len="sm"/>
                </a:ln>
                <a:effectLst/>
              </p:spPr>
              <p:txBody>
                <a:bodyPr wrap="none" anchor="ctr"/>
                <a:lstStyle/>
                <a:p>
                  <a:endParaRPr lang="en-ZA"/>
                </a:p>
              </p:txBody>
            </p:sp>
          </p:grpSp>
          <p:sp>
            <p:nvSpPr>
              <p:cNvPr id="272404" name="Line 20"/>
              <p:cNvSpPr>
                <a:spLocks noChangeShapeType="1"/>
              </p:cNvSpPr>
              <p:nvPr/>
            </p:nvSpPr>
            <p:spPr bwMode="auto">
              <a:xfrm>
                <a:off x="863" y="3556"/>
                <a:ext cx="1675" cy="0"/>
              </a:xfrm>
              <a:prstGeom prst="line">
                <a:avLst/>
              </a:prstGeom>
              <a:noFill/>
              <a:ln w="12700">
                <a:solidFill>
                  <a:schemeClr val="tx1"/>
                </a:solidFill>
                <a:round/>
                <a:headEnd type="stealth" w="med" len="lg"/>
                <a:tailEnd type="stealth" w="med" len="lg"/>
              </a:ln>
              <a:effectLst/>
            </p:spPr>
            <p:txBody>
              <a:bodyPr wrap="none" anchor="ctr"/>
              <a:lstStyle/>
              <a:p>
                <a:endParaRPr lang="en-ZA"/>
              </a:p>
            </p:txBody>
          </p:sp>
          <p:sp>
            <p:nvSpPr>
              <p:cNvPr id="272405" name="Rectangle 21"/>
              <p:cNvSpPr>
                <a:spLocks noChangeArrowheads="1"/>
              </p:cNvSpPr>
              <p:nvPr/>
            </p:nvSpPr>
            <p:spPr bwMode="auto">
              <a:xfrm>
                <a:off x="1114" y="3558"/>
                <a:ext cx="1312" cy="428"/>
              </a:xfrm>
              <a:prstGeom prst="rect">
                <a:avLst/>
              </a:prstGeom>
              <a:noFill/>
              <a:ln w="9525">
                <a:noFill/>
                <a:miter lim="800000"/>
              </a:ln>
              <a:effectLst/>
            </p:spPr>
            <p:txBody>
              <a:bodyPr lIns="69850" tIns="34925" rIns="69850" bIns="34925">
                <a:spAutoFit/>
              </a:bodyPr>
              <a:lstStyle/>
              <a:p>
                <a:pPr defTabSz="520700"/>
                <a:r>
                  <a:rPr lang="en-US" sz="2000"/>
                  <a:t>Span Length = L</a:t>
                </a:r>
              </a:p>
            </p:txBody>
          </p:sp>
        </p:grpSp>
        <p:sp>
          <p:nvSpPr>
            <p:cNvPr id="272406" name="Rectangle 22"/>
            <p:cNvSpPr>
              <a:spLocks noChangeArrowheads="1"/>
            </p:cNvSpPr>
            <p:nvPr/>
          </p:nvSpPr>
          <p:spPr bwMode="auto">
            <a:xfrm>
              <a:off x="312" y="1898"/>
              <a:ext cx="130" cy="58"/>
            </a:xfrm>
            <a:prstGeom prst="rect">
              <a:avLst/>
            </a:prstGeom>
            <a:noFill/>
            <a:ln w="9525">
              <a:noFill/>
              <a:miter lim="800000"/>
            </a:ln>
            <a:effectLst/>
          </p:spPr>
          <p:txBody>
            <a:bodyPr wrap="none" anchor="ctr"/>
            <a:lstStyle/>
            <a:p>
              <a:endParaRPr lang="en-ZA"/>
            </a:p>
          </p:txBody>
        </p:sp>
        <p:sp>
          <p:nvSpPr>
            <p:cNvPr id="272407" name="Rectangle 23"/>
            <p:cNvSpPr>
              <a:spLocks noChangeArrowheads="1"/>
            </p:cNvSpPr>
            <p:nvPr/>
          </p:nvSpPr>
          <p:spPr bwMode="auto">
            <a:xfrm>
              <a:off x="3044" y="2728"/>
              <a:ext cx="600" cy="238"/>
            </a:xfrm>
            <a:prstGeom prst="rect">
              <a:avLst/>
            </a:prstGeom>
            <a:noFill/>
            <a:ln w="9525">
              <a:noFill/>
              <a:miter lim="800000"/>
            </a:ln>
            <a:effectLst/>
          </p:spPr>
          <p:txBody>
            <a:bodyPr wrap="none" lIns="69850" tIns="34925" rIns="69850" bIns="34925">
              <a:spAutoFit/>
            </a:bodyPr>
            <a:lstStyle/>
            <a:p>
              <a:pPr defTabSz="520700"/>
              <a:r>
                <a:rPr lang="en-US" sz="2000"/>
                <a:t>d=L/3</a:t>
              </a:r>
            </a:p>
          </p:txBody>
        </p:sp>
        <p:grpSp>
          <p:nvGrpSpPr>
            <p:cNvPr id="7" name="Group 24"/>
            <p:cNvGrpSpPr/>
            <p:nvPr/>
          </p:nvGrpSpPr>
          <p:grpSpPr bwMode="auto">
            <a:xfrm>
              <a:off x="3965" y="3446"/>
              <a:ext cx="1674" cy="507"/>
              <a:chOff x="3965" y="3446"/>
              <a:chExt cx="1674" cy="507"/>
            </a:xfrm>
          </p:grpSpPr>
          <p:grpSp>
            <p:nvGrpSpPr>
              <p:cNvPr id="8" name="Group 25"/>
              <p:cNvGrpSpPr/>
              <p:nvPr/>
            </p:nvGrpSpPr>
            <p:grpSpPr bwMode="auto">
              <a:xfrm>
                <a:off x="3965" y="3446"/>
                <a:ext cx="1674" cy="109"/>
                <a:chOff x="3965" y="3446"/>
                <a:chExt cx="1674" cy="109"/>
              </a:xfrm>
            </p:grpSpPr>
            <p:sp>
              <p:nvSpPr>
                <p:cNvPr id="272410" name="Line 26"/>
                <p:cNvSpPr>
                  <a:spLocks noChangeShapeType="1"/>
                </p:cNvSpPr>
                <p:nvPr/>
              </p:nvSpPr>
              <p:spPr bwMode="auto">
                <a:xfrm>
                  <a:off x="3965" y="3446"/>
                  <a:ext cx="0" cy="109"/>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411" name="Line 27"/>
                <p:cNvSpPr>
                  <a:spLocks noChangeShapeType="1"/>
                </p:cNvSpPr>
                <p:nvPr/>
              </p:nvSpPr>
              <p:spPr bwMode="auto">
                <a:xfrm>
                  <a:off x="5639" y="3446"/>
                  <a:ext cx="0" cy="109"/>
                </a:xfrm>
                <a:prstGeom prst="line">
                  <a:avLst/>
                </a:prstGeom>
                <a:noFill/>
                <a:ln w="25400">
                  <a:solidFill>
                    <a:schemeClr val="tx1"/>
                  </a:solidFill>
                  <a:round/>
                  <a:headEnd type="none" w="sm" len="sm"/>
                  <a:tailEnd type="none" w="sm" len="sm"/>
                </a:ln>
                <a:effectLst/>
              </p:spPr>
              <p:txBody>
                <a:bodyPr wrap="none" anchor="ctr"/>
                <a:lstStyle/>
                <a:p>
                  <a:endParaRPr lang="en-ZA"/>
                </a:p>
              </p:txBody>
            </p:sp>
          </p:grpSp>
          <p:sp>
            <p:nvSpPr>
              <p:cNvPr id="272412" name="Line 28"/>
              <p:cNvSpPr>
                <a:spLocks noChangeShapeType="1"/>
              </p:cNvSpPr>
              <p:nvPr/>
            </p:nvSpPr>
            <p:spPr bwMode="auto">
              <a:xfrm>
                <a:off x="3965" y="3518"/>
                <a:ext cx="1674" cy="0"/>
              </a:xfrm>
              <a:prstGeom prst="line">
                <a:avLst/>
              </a:prstGeom>
              <a:noFill/>
              <a:ln w="12700">
                <a:solidFill>
                  <a:schemeClr val="tx1"/>
                </a:solidFill>
                <a:round/>
                <a:headEnd type="stealth" w="med" len="lg"/>
                <a:tailEnd type="stealth" w="med" len="lg"/>
              </a:ln>
              <a:effectLst/>
            </p:spPr>
            <p:txBody>
              <a:bodyPr wrap="none" anchor="ctr"/>
              <a:lstStyle/>
              <a:p>
                <a:endParaRPr lang="en-ZA"/>
              </a:p>
            </p:txBody>
          </p:sp>
          <p:sp>
            <p:nvSpPr>
              <p:cNvPr id="272413" name="Rectangle 29"/>
              <p:cNvSpPr>
                <a:spLocks noChangeArrowheads="1"/>
              </p:cNvSpPr>
              <p:nvPr/>
            </p:nvSpPr>
            <p:spPr bwMode="auto">
              <a:xfrm>
                <a:off x="4215" y="3525"/>
                <a:ext cx="1290" cy="428"/>
              </a:xfrm>
              <a:prstGeom prst="rect">
                <a:avLst/>
              </a:prstGeom>
              <a:noFill/>
              <a:ln w="9525">
                <a:noFill/>
                <a:miter lim="800000"/>
              </a:ln>
              <a:effectLst/>
            </p:spPr>
            <p:txBody>
              <a:bodyPr lIns="69850" tIns="34925" rIns="69850" bIns="34925">
                <a:spAutoFit/>
              </a:bodyPr>
              <a:lstStyle/>
              <a:p>
                <a:pPr defTabSz="520700"/>
                <a:r>
                  <a:rPr lang="en-US" sz="2000"/>
                  <a:t>Span Length = L</a:t>
                </a:r>
              </a:p>
            </p:txBody>
          </p:sp>
        </p:grpSp>
        <p:sp>
          <p:nvSpPr>
            <p:cNvPr id="272414" name="Line 30"/>
            <p:cNvSpPr>
              <a:spLocks noChangeShapeType="1"/>
            </p:cNvSpPr>
            <p:nvPr/>
          </p:nvSpPr>
          <p:spPr bwMode="auto">
            <a:xfrm>
              <a:off x="2715" y="2644"/>
              <a:ext cx="164" cy="0"/>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415" name="Line 31"/>
            <p:cNvSpPr>
              <a:spLocks noChangeShapeType="1"/>
            </p:cNvSpPr>
            <p:nvPr/>
          </p:nvSpPr>
          <p:spPr bwMode="auto">
            <a:xfrm>
              <a:off x="2715" y="3007"/>
              <a:ext cx="164" cy="0"/>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416" name="Line 32"/>
            <p:cNvSpPr>
              <a:spLocks noChangeShapeType="1"/>
            </p:cNvSpPr>
            <p:nvPr/>
          </p:nvSpPr>
          <p:spPr bwMode="auto">
            <a:xfrm>
              <a:off x="2797" y="2644"/>
              <a:ext cx="0" cy="363"/>
            </a:xfrm>
            <a:prstGeom prst="line">
              <a:avLst/>
            </a:prstGeom>
            <a:noFill/>
            <a:ln w="12700">
              <a:solidFill>
                <a:schemeClr val="tx1"/>
              </a:solidFill>
              <a:round/>
              <a:headEnd type="stealth" w="med" len="lg"/>
              <a:tailEnd type="stealth" w="med" len="lg"/>
            </a:ln>
            <a:effectLst/>
          </p:spPr>
          <p:txBody>
            <a:bodyPr wrap="none" anchor="ctr"/>
            <a:lstStyle/>
            <a:p>
              <a:endParaRPr lang="en-ZA"/>
            </a:p>
          </p:txBody>
        </p:sp>
        <p:sp>
          <p:nvSpPr>
            <p:cNvPr id="272417" name="Rectangle 33" descr="Large confetti"/>
            <p:cNvSpPr>
              <a:spLocks noChangeArrowheads="1"/>
            </p:cNvSpPr>
            <p:nvPr/>
          </p:nvSpPr>
          <p:spPr bwMode="auto">
            <a:xfrm>
              <a:off x="786" y="2636"/>
              <a:ext cx="1870" cy="355"/>
            </a:xfrm>
            <a:prstGeom prst="rect">
              <a:avLst/>
            </a:prstGeom>
            <a:pattFill prst="lgConfetti">
              <a:fgClr>
                <a:schemeClr val="accent1"/>
              </a:fgClr>
              <a:bgClr>
                <a:schemeClr val="bg2"/>
              </a:bgClr>
            </a:pattFill>
            <a:ln w="12700">
              <a:solidFill>
                <a:schemeClr val="tx1"/>
              </a:solidFill>
              <a:miter lim="800000"/>
            </a:ln>
            <a:effectLst/>
          </p:spPr>
          <p:txBody>
            <a:bodyPr wrap="none" anchor="ctr"/>
            <a:lstStyle/>
            <a:p>
              <a:endParaRPr lang="en-ZA"/>
            </a:p>
          </p:txBody>
        </p:sp>
        <p:sp>
          <p:nvSpPr>
            <p:cNvPr id="272418" name="Oval 34"/>
            <p:cNvSpPr>
              <a:spLocks noChangeArrowheads="1"/>
            </p:cNvSpPr>
            <p:nvPr/>
          </p:nvSpPr>
          <p:spPr bwMode="auto">
            <a:xfrm>
              <a:off x="827" y="2999"/>
              <a:ext cx="73" cy="64"/>
            </a:xfrm>
            <a:prstGeom prst="ellipse">
              <a:avLst/>
            </a:prstGeom>
            <a:solidFill>
              <a:schemeClr val="accent1"/>
            </a:solidFill>
            <a:ln w="12700">
              <a:solidFill>
                <a:schemeClr val="tx1"/>
              </a:solidFill>
              <a:round/>
            </a:ln>
            <a:effectLst/>
          </p:spPr>
          <p:txBody>
            <a:bodyPr wrap="none" anchor="ctr"/>
            <a:lstStyle/>
            <a:p>
              <a:endParaRPr lang="en-ZA"/>
            </a:p>
          </p:txBody>
        </p:sp>
        <p:sp>
          <p:nvSpPr>
            <p:cNvPr id="272419" name="Oval 35"/>
            <p:cNvSpPr>
              <a:spLocks noChangeArrowheads="1"/>
            </p:cNvSpPr>
            <p:nvPr/>
          </p:nvSpPr>
          <p:spPr bwMode="auto">
            <a:xfrm>
              <a:off x="2501" y="2999"/>
              <a:ext cx="73" cy="64"/>
            </a:xfrm>
            <a:prstGeom prst="ellipse">
              <a:avLst/>
            </a:prstGeom>
            <a:solidFill>
              <a:schemeClr val="accent1"/>
            </a:solidFill>
            <a:ln w="12700">
              <a:solidFill>
                <a:schemeClr val="tx1"/>
              </a:solidFill>
              <a:round/>
            </a:ln>
            <a:effectLst/>
          </p:spPr>
          <p:txBody>
            <a:bodyPr wrap="none" anchor="ctr"/>
            <a:lstStyle/>
            <a:p>
              <a:endParaRPr lang="en-ZA"/>
            </a:p>
          </p:txBody>
        </p:sp>
        <p:sp>
          <p:nvSpPr>
            <p:cNvPr id="272420" name="Rectangle 36"/>
            <p:cNvSpPr>
              <a:spLocks noChangeArrowheads="1"/>
            </p:cNvSpPr>
            <p:nvPr/>
          </p:nvSpPr>
          <p:spPr bwMode="auto">
            <a:xfrm>
              <a:off x="460" y="3071"/>
              <a:ext cx="2482" cy="101"/>
            </a:xfrm>
            <a:prstGeom prst="rect">
              <a:avLst/>
            </a:prstGeom>
            <a:gradFill rotWithShape="0">
              <a:gsLst>
                <a:gs pos="0">
                  <a:srgbClr val="545454"/>
                </a:gs>
                <a:gs pos="50000">
                  <a:srgbClr val="545454">
                    <a:gamma/>
                    <a:tint val="60000"/>
                    <a:invGamma/>
                  </a:srgbClr>
                </a:gs>
                <a:gs pos="100000">
                  <a:srgbClr val="545454"/>
                </a:gs>
              </a:gsLst>
              <a:lin ang="5400000" scaled="1"/>
            </a:gradFill>
            <a:ln w="12700">
              <a:solidFill>
                <a:schemeClr val="tx1"/>
              </a:solidFill>
              <a:miter lim="800000"/>
            </a:ln>
            <a:effectLst/>
          </p:spPr>
          <p:txBody>
            <a:bodyPr wrap="none" anchor="ctr"/>
            <a:lstStyle/>
            <a:p>
              <a:endParaRPr lang="en-ZA"/>
            </a:p>
          </p:txBody>
        </p:sp>
        <p:sp>
          <p:nvSpPr>
            <p:cNvPr id="272421" name="Line 37"/>
            <p:cNvSpPr>
              <a:spLocks noChangeShapeType="1"/>
            </p:cNvSpPr>
            <p:nvPr/>
          </p:nvSpPr>
          <p:spPr bwMode="auto">
            <a:xfrm>
              <a:off x="292" y="3187"/>
              <a:ext cx="2817" cy="0"/>
            </a:xfrm>
            <a:prstGeom prst="line">
              <a:avLst/>
            </a:prstGeom>
            <a:noFill/>
            <a:ln w="25400">
              <a:solidFill>
                <a:schemeClr val="tx1"/>
              </a:solidFill>
              <a:round/>
              <a:headEnd type="none" w="sm" len="sm"/>
              <a:tailEnd type="none" w="sm" len="sm"/>
            </a:ln>
            <a:effectLst/>
          </p:spPr>
          <p:txBody>
            <a:bodyPr wrap="none" anchor="ctr"/>
            <a:lstStyle/>
            <a:p>
              <a:endParaRPr lang="en-ZA"/>
            </a:p>
          </p:txBody>
        </p:sp>
        <p:grpSp>
          <p:nvGrpSpPr>
            <p:cNvPr id="9" name="Group 38"/>
            <p:cNvGrpSpPr/>
            <p:nvPr/>
          </p:nvGrpSpPr>
          <p:grpSpPr bwMode="auto">
            <a:xfrm>
              <a:off x="1317" y="2124"/>
              <a:ext cx="808" cy="504"/>
              <a:chOff x="1317" y="2124"/>
              <a:chExt cx="808" cy="504"/>
            </a:xfrm>
          </p:grpSpPr>
          <p:sp>
            <p:nvSpPr>
              <p:cNvPr id="272423" name="Freeform 39"/>
              <p:cNvSpPr/>
              <p:nvPr/>
            </p:nvSpPr>
            <p:spPr bwMode="auto">
              <a:xfrm>
                <a:off x="1639" y="2124"/>
                <a:ext cx="205" cy="147"/>
              </a:xfrm>
              <a:custGeom>
                <a:avLst/>
                <a:gdLst/>
                <a:ahLst/>
                <a:cxnLst>
                  <a:cxn ang="0">
                    <a:pos x="0" y="0"/>
                  </a:cxn>
                  <a:cxn ang="0">
                    <a:pos x="204" y="0"/>
                  </a:cxn>
                  <a:cxn ang="0">
                    <a:pos x="204" y="73"/>
                  </a:cxn>
                  <a:cxn ang="0">
                    <a:pos x="0" y="146"/>
                  </a:cxn>
                  <a:cxn ang="0">
                    <a:pos x="0" y="0"/>
                  </a:cxn>
                </a:cxnLst>
                <a:rect l="0" t="0" r="r" b="b"/>
                <a:pathLst>
                  <a:path w="205" h="147">
                    <a:moveTo>
                      <a:pt x="0" y="0"/>
                    </a:moveTo>
                    <a:lnTo>
                      <a:pt x="204" y="0"/>
                    </a:lnTo>
                    <a:lnTo>
                      <a:pt x="204" y="73"/>
                    </a:lnTo>
                    <a:lnTo>
                      <a:pt x="0" y="146"/>
                    </a:lnTo>
                    <a:lnTo>
                      <a:pt x="0" y="0"/>
                    </a:lnTo>
                  </a:path>
                </a:pathLst>
              </a:custGeom>
              <a:gradFill rotWithShape="0">
                <a:gsLst>
                  <a:gs pos="0">
                    <a:srgbClr val="545454"/>
                  </a:gs>
                  <a:gs pos="50000">
                    <a:srgbClr val="545454">
                      <a:gamma/>
                      <a:tint val="60000"/>
                      <a:invGamma/>
                    </a:srgbClr>
                  </a:gs>
                  <a:gs pos="100000">
                    <a:srgbClr val="545454"/>
                  </a:gs>
                </a:gsLst>
                <a:lin ang="5400000" scaled="1"/>
              </a:gradFill>
              <a:ln w="12700" cap="rnd" cmpd="sng">
                <a:solidFill>
                  <a:schemeClr val="tx1"/>
                </a:solidFill>
                <a:prstDash val="solid"/>
                <a:round/>
              </a:ln>
              <a:effectLst/>
            </p:spPr>
            <p:txBody>
              <a:bodyPr/>
              <a:lstStyle/>
              <a:p>
                <a:endParaRPr lang="en-ZA"/>
              </a:p>
            </p:txBody>
          </p:sp>
          <p:sp>
            <p:nvSpPr>
              <p:cNvPr id="272424" name="Freeform 40"/>
              <p:cNvSpPr/>
              <p:nvPr/>
            </p:nvSpPr>
            <p:spPr bwMode="auto">
              <a:xfrm>
                <a:off x="1638" y="2234"/>
                <a:ext cx="206" cy="145"/>
              </a:xfrm>
              <a:custGeom>
                <a:avLst/>
                <a:gdLst/>
                <a:ahLst/>
                <a:cxnLst>
                  <a:cxn ang="0">
                    <a:pos x="203" y="144"/>
                  </a:cxn>
                  <a:cxn ang="0">
                    <a:pos x="0" y="142"/>
                  </a:cxn>
                  <a:cxn ang="0">
                    <a:pos x="0" y="70"/>
                  </a:cxn>
                  <a:cxn ang="0">
                    <a:pos x="205" y="0"/>
                  </a:cxn>
                  <a:cxn ang="0">
                    <a:pos x="203" y="144"/>
                  </a:cxn>
                </a:cxnLst>
                <a:rect l="0" t="0" r="r" b="b"/>
                <a:pathLst>
                  <a:path w="206" h="145">
                    <a:moveTo>
                      <a:pt x="203" y="144"/>
                    </a:moveTo>
                    <a:lnTo>
                      <a:pt x="0" y="142"/>
                    </a:lnTo>
                    <a:lnTo>
                      <a:pt x="0" y="70"/>
                    </a:lnTo>
                    <a:lnTo>
                      <a:pt x="205" y="0"/>
                    </a:lnTo>
                    <a:lnTo>
                      <a:pt x="203" y="144"/>
                    </a:lnTo>
                  </a:path>
                </a:pathLst>
              </a:custGeom>
              <a:gradFill rotWithShape="0">
                <a:gsLst>
                  <a:gs pos="0">
                    <a:srgbClr val="545454"/>
                  </a:gs>
                  <a:gs pos="50000">
                    <a:srgbClr val="545454">
                      <a:gamma/>
                      <a:tint val="60000"/>
                      <a:invGamma/>
                    </a:srgbClr>
                  </a:gs>
                  <a:gs pos="100000">
                    <a:srgbClr val="545454"/>
                  </a:gs>
                </a:gsLst>
                <a:lin ang="5400000" scaled="1"/>
              </a:gradFill>
              <a:ln w="12700" cap="rnd" cmpd="sng">
                <a:solidFill>
                  <a:schemeClr val="tx1"/>
                </a:solidFill>
                <a:prstDash val="solid"/>
                <a:round/>
              </a:ln>
              <a:effectLst/>
            </p:spPr>
            <p:txBody>
              <a:bodyPr/>
              <a:lstStyle/>
              <a:p>
                <a:endParaRPr lang="en-ZA"/>
              </a:p>
            </p:txBody>
          </p:sp>
          <p:sp>
            <p:nvSpPr>
              <p:cNvPr id="272425" name="AutoShape 41"/>
              <p:cNvSpPr>
                <a:spLocks noChangeArrowheads="1"/>
              </p:cNvSpPr>
              <p:nvPr/>
            </p:nvSpPr>
            <p:spPr bwMode="auto">
              <a:xfrm rot="-10800000" flipH="1" flipV="1">
                <a:off x="1317" y="2382"/>
                <a:ext cx="808" cy="101"/>
              </a:xfrm>
              <a:custGeom>
                <a:avLst/>
                <a:gdLst>
                  <a:gd name="G0" fmla="+- 2969 0 0"/>
                  <a:gd name="G1" fmla="+- 21600 0 2969"/>
                  <a:gd name="G2" fmla="*/ 2969 1 2"/>
                  <a:gd name="G3" fmla="+- 21600 0 G2"/>
                  <a:gd name="G4" fmla="+/ 2969 21600 2"/>
                  <a:gd name="G5" fmla="+/ G1 0 2"/>
                  <a:gd name="G6" fmla="*/ 21600 21600 2969"/>
                  <a:gd name="G7" fmla="*/ G6 1 2"/>
                  <a:gd name="G8" fmla="+- 21600 0 G7"/>
                  <a:gd name="G9" fmla="*/ 21600 1 2"/>
                  <a:gd name="G10" fmla="+- 2969 0 G9"/>
                  <a:gd name="G11" fmla="?: G10 G8 0"/>
                  <a:gd name="G12" fmla="?: G10 G7 21600"/>
                  <a:gd name="T0" fmla="*/ 20115 w 21600"/>
                  <a:gd name="T1" fmla="*/ 10800 h 21600"/>
                  <a:gd name="T2" fmla="*/ 10800 w 21600"/>
                  <a:gd name="T3" fmla="*/ 21600 h 21600"/>
                  <a:gd name="T4" fmla="*/ 1485 w 21600"/>
                  <a:gd name="T5" fmla="*/ 10800 h 21600"/>
                  <a:gd name="T6" fmla="*/ 10800 w 21600"/>
                  <a:gd name="T7" fmla="*/ 0 h 21600"/>
                  <a:gd name="T8" fmla="*/ 3285 w 21600"/>
                  <a:gd name="T9" fmla="*/ 3285 h 21600"/>
                  <a:gd name="T10" fmla="*/ 18315 w 21600"/>
                  <a:gd name="T11" fmla="*/ 18315 h 21600"/>
                </a:gdLst>
                <a:ahLst/>
                <a:cxnLst>
                  <a:cxn ang="0">
                    <a:pos x="T0" y="T1"/>
                  </a:cxn>
                  <a:cxn ang="0">
                    <a:pos x="T2" y="T3"/>
                  </a:cxn>
                  <a:cxn ang="0">
                    <a:pos x="T4" y="T5"/>
                  </a:cxn>
                  <a:cxn ang="0">
                    <a:pos x="T6" y="T7"/>
                  </a:cxn>
                </a:cxnLst>
                <a:rect l="T8" t="T9" r="T10" b="T11"/>
                <a:pathLst>
                  <a:path w="21600" h="21600">
                    <a:moveTo>
                      <a:pt x="0" y="0"/>
                    </a:moveTo>
                    <a:lnTo>
                      <a:pt x="2969" y="21600"/>
                    </a:lnTo>
                    <a:lnTo>
                      <a:pt x="18631" y="21600"/>
                    </a:lnTo>
                    <a:lnTo>
                      <a:pt x="21600" y="0"/>
                    </a:lnTo>
                    <a:close/>
                  </a:path>
                </a:pathLst>
              </a:custGeom>
              <a:gradFill rotWithShape="0">
                <a:gsLst>
                  <a:gs pos="0">
                    <a:srgbClr val="545454"/>
                  </a:gs>
                  <a:gs pos="50000">
                    <a:srgbClr val="545454">
                      <a:gamma/>
                      <a:tint val="60000"/>
                      <a:invGamma/>
                    </a:srgbClr>
                  </a:gs>
                  <a:gs pos="100000">
                    <a:srgbClr val="545454"/>
                  </a:gs>
                </a:gsLst>
                <a:lin ang="5400000" scaled="1"/>
              </a:gradFill>
              <a:ln w="12700">
                <a:solidFill>
                  <a:schemeClr val="tx1"/>
                </a:solidFill>
                <a:miter lim="800000"/>
              </a:ln>
              <a:effectLst/>
            </p:spPr>
            <p:txBody>
              <a:bodyPr wrap="none" anchor="ctr"/>
              <a:lstStyle/>
              <a:p>
                <a:endParaRPr lang="en-ZA"/>
              </a:p>
            </p:txBody>
          </p:sp>
          <p:sp>
            <p:nvSpPr>
              <p:cNvPr id="272426" name="AutoShape 42"/>
              <p:cNvSpPr>
                <a:spLocks noChangeArrowheads="1"/>
              </p:cNvSpPr>
              <p:nvPr/>
            </p:nvSpPr>
            <p:spPr bwMode="auto">
              <a:xfrm>
                <a:off x="1440" y="2491"/>
                <a:ext cx="73" cy="137"/>
              </a:xfrm>
              <a:prstGeom prst="octagon">
                <a:avLst>
                  <a:gd name="adj" fmla="val 29282"/>
                </a:avLst>
              </a:prstGeom>
              <a:gradFill rotWithShape="0">
                <a:gsLst>
                  <a:gs pos="0">
                    <a:srgbClr val="545454"/>
                  </a:gs>
                  <a:gs pos="50000">
                    <a:srgbClr val="545454">
                      <a:gamma/>
                      <a:tint val="60000"/>
                      <a:invGamma/>
                    </a:srgbClr>
                  </a:gs>
                  <a:gs pos="100000">
                    <a:srgbClr val="545454"/>
                  </a:gs>
                </a:gsLst>
                <a:lin ang="5400000" scaled="1"/>
              </a:gradFill>
              <a:ln w="12700">
                <a:solidFill>
                  <a:schemeClr val="tx1"/>
                </a:solidFill>
                <a:miter lim="800000"/>
              </a:ln>
              <a:effectLst/>
            </p:spPr>
            <p:txBody>
              <a:bodyPr wrap="none" anchor="ctr"/>
              <a:lstStyle/>
              <a:p>
                <a:endParaRPr lang="en-ZA"/>
              </a:p>
            </p:txBody>
          </p:sp>
          <p:sp>
            <p:nvSpPr>
              <p:cNvPr id="272427" name="AutoShape 43"/>
              <p:cNvSpPr>
                <a:spLocks noChangeArrowheads="1"/>
              </p:cNvSpPr>
              <p:nvPr/>
            </p:nvSpPr>
            <p:spPr bwMode="auto">
              <a:xfrm>
                <a:off x="1929" y="2491"/>
                <a:ext cx="74" cy="137"/>
              </a:xfrm>
              <a:prstGeom prst="octagon">
                <a:avLst>
                  <a:gd name="adj" fmla="val 29282"/>
                </a:avLst>
              </a:prstGeom>
              <a:gradFill rotWithShape="0">
                <a:gsLst>
                  <a:gs pos="0">
                    <a:srgbClr val="545454"/>
                  </a:gs>
                  <a:gs pos="50000">
                    <a:srgbClr val="545454">
                      <a:gamma/>
                      <a:tint val="60000"/>
                      <a:invGamma/>
                    </a:srgbClr>
                  </a:gs>
                  <a:gs pos="100000">
                    <a:srgbClr val="545454"/>
                  </a:gs>
                </a:gsLst>
                <a:lin ang="5400000" scaled="1"/>
              </a:gradFill>
              <a:ln w="12700">
                <a:solidFill>
                  <a:schemeClr val="tx1"/>
                </a:solidFill>
                <a:miter lim="800000"/>
              </a:ln>
              <a:effectLst/>
            </p:spPr>
            <p:txBody>
              <a:bodyPr wrap="none" anchor="ctr"/>
              <a:lstStyle/>
              <a:p>
                <a:endParaRPr lang="en-ZA"/>
              </a:p>
            </p:txBody>
          </p:sp>
          <p:sp>
            <p:nvSpPr>
              <p:cNvPr id="272428" name="Line 44"/>
              <p:cNvSpPr>
                <a:spLocks noChangeShapeType="1"/>
              </p:cNvSpPr>
              <p:nvPr/>
            </p:nvSpPr>
            <p:spPr bwMode="auto">
              <a:xfrm>
                <a:off x="1394" y="2559"/>
                <a:ext cx="164" cy="0"/>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429" name="Line 45"/>
              <p:cNvSpPr>
                <a:spLocks noChangeShapeType="1"/>
              </p:cNvSpPr>
              <p:nvPr/>
            </p:nvSpPr>
            <p:spPr bwMode="auto">
              <a:xfrm>
                <a:off x="1884" y="2559"/>
                <a:ext cx="164" cy="0"/>
              </a:xfrm>
              <a:prstGeom prst="line">
                <a:avLst/>
              </a:prstGeom>
              <a:noFill/>
              <a:ln w="25400">
                <a:solidFill>
                  <a:schemeClr val="tx1"/>
                </a:solidFill>
                <a:round/>
                <a:headEnd type="none" w="sm" len="sm"/>
                <a:tailEnd type="none" w="sm" len="sm"/>
              </a:ln>
              <a:effectLst/>
            </p:spPr>
            <p:txBody>
              <a:bodyPr wrap="none" anchor="ctr"/>
              <a:lstStyle/>
              <a:p>
                <a:endParaRPr lang="en-ZA"/>
              </a:p>
            </p:txBody>
          </p:sp>
        </p:grpSp>
        <p:sp>
          <p:nvSpPr>
            <p:cNvPr id="272430" name="Line 46"/>
            <p:cNvSpPr>
              <a:spLocks noChangeShapeType="1"/>
            </p:cNvSpPr>
            <p:nvPr/>
          </p:nvSpPr>
          <p:spPr bwMode="auto">
            <a:xfrm>
              <a:off x="3679" y="2644"/>
              <a:ext cx="164" cy="0"/>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431" name="Line 47"/>
            <p:cNvSpPr>
              <a:spLocks noChangeShapeType="1"/>
            </p:cNvSpPr>
            <p:nvPr/>
          </p:nvSpPr>
          <p:spPr bwMode="auto">
            <a:xfrm>
              <a:off x="3679" y="3007"/>
              <a:ext cx="164" cy="0"/>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432" name="Line 48"/>
            <p:cNvSpPr>
              <a:spLocks noChangeShapeType="1"/>
            </p:cNvSpPr>
            <p:nvPr/>
          </p:nvSpPr>
          <p:spPr bwMode="auto">
            <a:xfrm>
              <a:off x="3761" y="2644"/>
              <a:ext cx="0" cy="363"/>
            </a:xfrm>
            <a:prstGeom prst="line">
              <a:avLst/>
            </a:prstGeom>
            <a:noFill/>
            <a:ln w="12700">
              <a:solidFill>
                <a:schemeClr val="tx1"/>
              </a:solidFill>
              <a:round/>
              <a:headEnd type="stealth" w="med" len="lg"/>
              <a:tailEnd type="stealth" w="med" len="lg"/>
            </a:ln>
            <a:effectLst/>
          </p:spPr>
          <p:txBody>
            <a:bodyPr wrap="none" anchor="ctr"/>
            <a:lstStyle/>
            <a:p>
              <a:endParaRPr lang="en-ZA"/>
            </a:p>
          </p:txBody>
        </p:sp>
        <p:sp>
          <p:nvSpPr>
            <p:cNvPr id="272433" name="Rectangle 49" descr="Large confetti"/>
            <p:cNvSpPr>
              <a:spLocks noChangeArrowheads="1"/>
            </p:cNvSpPr>
            <p:nvPr/>
          </p:nvSpPr>
          <p:spPr bwMode="auto">
            <a:xfrm>
              <a:off x="3888" y="2637"/>
              <a:ext cx="1869" cy="355"/>
            </a:xfrm>
            <a:prstGeom prst="rect">
              <a:avLst/>
            </a:prstGeom>
            <a:pattFill prst="lgConfetti">
              <a:fgClr>
                <a:schemeClr val="accent1"/>
              </a:fgClr>
              <a:bgClr>
                <a:schemeClr val="bg2"/>
              </a:bgClr>
            </a:pattFill>
            <a:ln w="12700">
              <a:solidFill>
                <a:schemeClr val="tx1"/>
              </a:solidFill>
              <a:miter lim="800000"/>
            </a:ln>
            <a:effectLst/>
          </p:spPr>
          <p:txBody>
            <a:bodyPr wrap="none" anchor="ctr"/>
            <a:lstStyle/>
            <a:p>
              <a:endParaRPr lang="en-ZA"/>
            </a:p>
          </p:txBody>
        </p:sp>
        <p:sp>
          <p:nvSpPr>
            <p:cNvPr id="272434" name="Oval 50"/>
            <p:cNvSpPr>
              <a:spLocks noChangeArrowheads="1"/>
            </p:cNvSpPr>
            <p:nvPr/>
          </p:nvSpPr>
          <p:spPr bwMode="auto">
            <a:xfrm>
              <a:off x="3929" y="3000"/>
              <a:ext cx="73" cy="64"/>
            </a:xfrm>
            <a:prstGeom prst="ellipse">
              <a:avLst/>
            </a:prstGeom>
            <a:gradFill rotWithShape="0">
              <a:gsLst>
                <a:gs pos="0">
                  <a:srgbClr val="545454"/>
                </a:gs>
                <a:gs pos="50000">
                  <a:srgbClr val="545454">
                    <a:gamma/>
                    <a:tint val="50196"/>
                    <a:invGamma/>
                  </a:srgbClr>
                </a:gs>
                <a:gs pos="100000">
                  <a:srgbClr val="545454"/>
                </a:gs>
              </a:gsLst>
              <a:lin ang="5400000" scaled="1"/>
            </a:gradFill>
            <a:ln w="12700">
              <a:solidFill>
                <a:schemeClr val="tx1"/>
              </a:solidFill>
              <a:round/>
            </a:ln>
            <a:effectLst/>
          </p:spPr>
          <p:txBody>
            <a:bodyPr wrap="none" anchor="ctr"/>
            <a:lstStyle/>
            <a:p>
              <a:endParaRPr lang="en-ZA"/>
            </a:p>
          </p:txBody>
        </p:sp>
        <p:sp>
          <p:nvSpPr>
            <p:cNvPr id="272435" name="Oval 51"/>
            <p:cNvSpPr>
              <a:spLocks noChangeArrowheads="1"/>
            </p:cNvSpPr>
            <p:nvPr/>
          </p:nvSpPr>
          <p:spPr bwMode="auto">
            <a:xfrm>
              <a:off x="5603" y="3000"/>
              <a:ext cx="72" cy="64"/>
            </a:xfrm>
            <a:prstGeom prst="ellipse">
              <a:avLst/>
            </a:prstGeom>
            <a:gradFill rotWithShape="0">
              <a:gsLst>
                <a:gs pos="0">
                  <a:srgbClr val="545454"/>
                </a:gs>
                <a:gs pos="50000">
                  <a:srgbClr val="545454">
                    <a:gamma/>
                    <a:tint val="50196"/>
                    <a:invGamma/>
                  </a:srgbClr>
                </a:gs>
                <a:gs pos="100000">
                  <a:srgbClr val="545454"/>
                </a:gs>
              </a:gsLst>
              <a:lin ang="5400000" scaled="1"/>
            </a:gradFill>
            <a:ln w="12700">
              <a:solidFill>
                <a:schemeClr val="tx1"/>
              </a:solidFill>
              <a:round/>
            </a:ln>
            <a:effectLst/>
          </p:spPr>
          <p:txBody>
            <a:bodyPr wrap="none" anchor="ctr"/>
            <a:lstStyle/>
            <a:p>
              <a:endParaRPr lang="en-ZA"/>
            </a:p>
          </p:txBody>
        </p:sp>
        <p:sp>
          <p:nvSpPr>
            <p:cNvPr id="272436" name="Rectangle 52"/>
            <p:cNvSpPr>
              <a:spLocks noChangeArrowheads="1"/>
            </p:cNvSpPr>
            <p:nvPr/>
          </p:nvSpPr>
          <p:spPr bwMode="auto">
            <a:xfrm>
              <a:off x="3562" y="3072"/>
              <a:ext cx="2481" cy="101"/>
            </a:xfrm>
            <a:prstGeom prst="rect">
              <a:avLst/>
            </a:prstGeom>
            <a:gradFill rotWithShape="0">
              <a:gsLst>
                <a:gs pos="0">
                  <a:srgbClr val="545454"/>
                </a:gs>
                <a:gs pos="50000">
                  <a:srgbClr val="545454">
                    <a:gamma/>
                    <a:tint val="50196"/>
                    <a:invGamma/>
                  </a:srgbClr>
                </a:gs>
                <a:gs pos="100000">
                  <a:srgbClr val="545454"/>
                </a:gs>
              </a:gsLst>
              <a:lin ang="5400000" scaled="1"/>
            </a:gradFill>
            <a:ln w="12700">
              <a:solidFill>
                <a:schemeClr val="tx1"/>
              </a:solidFill>
              <a:miter lim="800000"/>
            </a:ln>
            <a:effectLst/>
          </p:spPr>
          <p:txBody>
            <a:bodyPr wrap="none" anchor="ctr"/>
            <a:lstStyle/>
            <a:p>
              <a:endParaRPr lang="en-ZA"/>
            </a:p>
          </p:txBody>
        </p:sp>
        <p:sp>
          <p:nvSpPr>
            <p:cNvPr id="272437" name="Line 53"/>
            <p:cNvSpPr>
              <a:spLocks noChangeShapeType="1"/>
            </p:cNvSpPr>
            <p:nvPr/>
          </p:nvSpPr>
          <p:spPr bwMode="auto">
            <a:xfrm>
              <a:off x="3394" y="3191"/>
              <a:ext cx="2816" cy="0"/>
            </a:xfrm>
            <a:prstGeom prst="line">
              <a:avLst/>
            </a:prstGeom>
            <a:noFill/>
            <a:ln w="25400">
              <a:solidFill>
                <a:schemeClr val="tx1"/>
              </a:solidFill>
              <a:round/>
              <a:headEnd type="none" w="sm" len="sm"/>
              <a:tailEnd type="none" w="sm" len="sm"/>
            </a:ln>
            <a:effectLst/>
          </p:spPr>
          <p:txBody>
            <a:bodyPr wrap="none" anchor="ctr"/>
            <a:lstStyle/>
            <a:p>
              <a:endParaRPr lang="en-ZA"/>
            </a:p>
          </p:txBody>
        </p:sp>
        <p:grpSp>
          <p:nvGrpSpPr>
            <p:cNvPr id="10" name="Group 54"/>
            <p:cNvGrpSpPr/>
            <p:nvPr/>
          </p:nvGrpSpPr>
          <p:grpSpPr bwMode="auto">
            <a:xfrm>
              <a:off x="4419" y="2124"/>
              <a:ext cx="808" cy="505"/>
              <a:chOff x="4419" y="2124"/>
              <a:chExt cx="808" cy="505"/>
            </a:xfrm>
          </p:grpSpPr>
          <p:sp>
            <p:nvSpPr>
              <p:cNvPr id="272439" name="Freeform 55"/>
              <p:cNvSpPr/>
              <p:nvPr/>
            </p:nvSpPr>
            <p:spPr bwMode="auto">
              <a:xfrm>
                <a:off x="4740" y="2124"/>
                <a:ext cx="205" cy="147"/>
              </a:xfrm>
              <a:custGeom>
                <a:avLst/>
                <a:gdLst/>
                <a:ahLst/>
                <a:cxnLst>
                  <a:cxn ang="0">
                    <a:pos x="0" y="0"/>
                  </a:cxn>
                  <a:cxn ang="0">
                    <a:pos x="204" y="0"/>
                  </a:cxn>
                  <a:cxn ang="0">
                    <a:pos x="204" y="73"/>
                  </a:cxn>
                  <a:cxn ang="0">
                    <a:pos x="0" y="146"/>
                  </a:cxn>
                  <a:cxn ang="0">
                    <a:pos x="0" y="0"/>
                  </a:cxn>
                </a:cxnLst>
                <a:rect l="0" t="0" r="r" b="b"/>
                <a:pathLst>
                  <a:path w="205" h="147">
                    <a:moveTo>
                      <a:pt x="0" y="0"/>
                    </a:moveTo>
                    <a:lnTo>
                      <a:pt x="204" y="0"/>
                    </a:lnTo>
                    <a:lnTo>
                      <a:pt x="204" y="73"/>
                    </a:lnTo>
                    <a:lnTo>
                      <a:pt x="0" y="146"/>
                    </a:lnTo>
                    <a:lnTo>
                      <a:pt x="0" y="0"/>
                    </a:lnTo>
                  </a:path>
                </a:pathLst>
              </a:custGeom>
              <a:gradFill rotWithShape="0">
                <a:gsLst>
                  <a:gs pos="0">
                    <a:srgbClr val="545454"/>
                  </a:gs>
                  <a:gs pos="50000">
                    <a:srgbClr val="545454">
                      <a:gamma/>
                      <a:tint val="50196"/>
                      <a:invGamma/>
                    </a:srgbClr>
                  </a:gs>
                  <a:gs pos="100000">
                    <a:srgbClr val="545454"/>
                  </a:gs>
                </a:gsLst>
                <a:lin ang="5400000" scaled="1"/>
              </a:gradFill>
              <a:ln w="12700" cap="rnd" cmpd="sng">
                <a:solidFill>
                  <a:schemeClr val="tx1"/>
                </a:solidFill>
                <a:prstDash val="solid"/>
                <a:round/>
              </a:ln>
              <a:effectLst/>
            </p:spPr>
            <p:txBody>
              <a:bodyPr/>
              <a:lstStyle/>
              <a:p>
                <a:endParaRPr lang="en-ZA"/>
              </a:p>
            </p:txBody>
          </p:sp>
          <p:sp>
            <p:nvSpPr>
              <p:cNvPr id="272440" name="Freeform 56"/>
              <p:cNvSpPr/>
              <p:nvPr/>
            </p:nvSpPr>
            <p:spPr bwMode="auto">
              <a:xfrm>
                <a:off x="4739" y="2235"/>
                <a:ext cx="206" cy="145"/>
              </a:xfrm>
              <a:custGeom>
                <a:avLst/>
                <a:gdLst/>
                <a:ahLst/>
                <a:cxnLst>
                  <a:cxn ang="0">
                    <a:pos x="203" y="144"/>
                  </a:cxn>
                  <a:cxn ang="0">
                    <a:pos x="0" y="142"/>
                  </a:cxn>
                  <a:cxn ang="0">
                    <a:pos x="0" y="70"/>
                  </a:cxn>
                  <a:cxn ang="0">
                    <a:pos x="205" y="0"/>
                  </a:cxn>
                  <a:cxn ang="0">
                    <a:pos x="203" y="144"/>
                  </a:cxn>
                </a:cxnLst>
                <a:rect l="0" t="0" r="r" b="b"/>
                <a:pathLst>
                  <a:path w="206" h="145">
                    <a:moveTo>
                      <a:pt x="203" y="144"/>
                    </a:moveTo>
                    <a:lnTo>
                      <a:pt x="0" y="142"/>
                    </a:lnTo>
                    <a:lnTo>
                      <a:pt x="0" y="70"/>
                    </a:lnTo>
                    <a:lnTo>
                      <a:pt x="205" y="0"/>
                    </a:lnTo>
                    <a:lnTo>
                      <a:pt x="203" y="144"/>
                    </a:lnTo>
                  </a:path>
                </a:pathLst>
              </a:custGeom>
              <a:gradFill rotWithShape="0">
                <a:gsLst>
                  <a:gs pos="0">
                    <a:srgbClr val="545454"/>
                  </a:gs>
                  <a:gs pos="50000">
                    <a:srgbClr val="545454">
                      <a:gamma/>
                      <a:tint val="50196"/>
                      <a:invGamma/>
                    </a:srgbClr>
                  </a:gs>
                  <a:gs pos="100000">
                    <a:srgbClr val="545454"/>
                  </a:gs>
                </a:gsLst>
                <a:lin ang="5400000" scaled="1"/>
              </a:gradFill>
              <a:ln w="12700" cap="rnd" cmpd="sng">
                <a:solidFill>
                  <a:schemeClr val="tx1"/>
                </a:solidFill>
                <a:prstDash val="solid"/>
                <a:round/>
              </a:ln>
              <a:effectLst/>
            </p:spPr>
            <p:txBody>
              <a:bodyPr/>
              <a:lstStyle/>
              <a:p>
                <a:endParaRPr lang="en-ZA"/>
              </a:p>
            </p:txBody>
          </p:sp>
          <p:sp>
            <p:nvSpPr>
              <p:cNvPr id="272441" name="AutoShape 57"/>
              <p:cNvSpPr>
                <a:spLocks noChangeArrowheads="1"/>
              </p:cNvSpPr>
              <p:nvPr/>
            </p:nvSpPr>
            <p:spPr bwMode="auto">
              <a:xfrm rot="-10800000" flipH="1" flipV="1">
                <a:off x="4419" y="2382"/>
                <a:ext cx="808" cy="102"/>
              </a:xfrm>
              <a:custGeom>
                <a:avLst/>
                <a:gdLst>
                  <a:gd name="G0" fmla="+- 2969 0 0"/>
                  <a:gd name="G1" fmla="+- 21600 0 2969"/>
                  <a:gd name="G2" fmla="*/ 2969 1 2"/>
                  <a:gd name="G3" fmla="+- 21600 0 G2"/>
                  <a:gd name="G4" fmla="+/ 2969 21600 2"/>
                  <a:gd name="G5" fmla="+/ G1 0 2"/>
                  <a:gd name="G6" fmla="*/ 21600 21600 2969"/>
                  <a:gd name="G7" fmla="*/ G6 1 2"/>
                  <a:gd name="G8" fmla="+- 21600 0 G7"/>
                  <a:gd name="G9" fmla="*/ 21600 1 2"/>
                  <a:gd name="G10" fmla="+- 2969 0 G9"/>
                  <a:gd name="G11" fmla="?: G10 G8 0"/>
                  <a:gd name="G12" fmla="?: G10 G7 21600"/>
                  <a:gd name="T0" fmla="*/ 20115 w 21600"/>
                  <a:gd name="T1" fmla="*/ 10800 h 21600"/>
                  <a:gd name="T2" fmla="*/ 10800 w 21600"/>
                  <a:gd name="T3" fmla="*/ 21600 h 21600"/>
                  <a:gd name="T4" fmla="*/ 1485 w 21600"/>
                  <a:gd name="T5" fmla="*/ 10800 h 21600"/>
                  <a:gd name="T6" fmla="*/ 10800 w 21600"/>
                  <a:gd name="T7" fmla="*/ 0 h 21600"/>
                  <a:gd name="T8" fmla="*/ 3285 w 21600"/>
                  <a:gd name="T9" fmla="*/ 3285 h 21600"/>
                  <a:gd name="T10" fmla="*/ 18315 w 21600"/>
                  <a:gd name="T11" fmla="*/ 18315 h 21600"/>
                </a:gdLst>
                <a:ahLst/>
                <a:cxnLst>
                  <a:cxn ang="0">
                    <a:pos x="T0" y="T1"/>
                  </a:cxn>
                  <a:cxn ang="0">
                    <a:pos x="T2" y="T3"/>
                  </a:cxn>
                  <a:cxn ang="0">
                    <a:pos x="T4" y="T5"/>
                  </a:cxn>
                  <a:cxn ang="0">
                    <a:pos x="T6" y="T7"/>
                  </a:cxn>
                </a:cxnLst>
                <a:rect l="T8" t="T9" r="T10" b="T11"/>
                <a:pathLst>
                  <a:path w="21600" h="21600">
                    <a:moveTo>
                      <a:pt x="0" y="0"/>
                    </a:moveTo>
                    <a:lnTo>
                      <a:pt x="2969" y="21600"/>
                    </a:lnTo>
                    <a:lnTo>
                      <a:pt x="18631" y="21600"/>
                    </a:lnTo>
                    <a:lnTo>
                      <a:pt x="21600" y="0"/>
                    </a:lnTo>
                    <a:close/>
                  </a:path>
                </a:pathLst>
              </a:custGeom>
              <a:gradFill rotWithShape="0">
                <a:gsLst>
                  <a:gs pos="0">
                    <a:srgbClr val="545454"/>
                  </a:gs>
                  <a:gs pos="50000">
                    <a:srgbClr val="545454">
                      <a:gamma/>
                      <a:tint val="50196"/>
                      <a:invGamma/>
                    </a:srgbClr>
                  </a:gs>
                  <a:gs pos="100000">
                    <a:srgbClr val="545454"/>
                  </a:gs>
                </a:gsLst>
                <a:lin ang="5400000" scaled="1"/>
              </a:gradFill>
              <a:ln w="12700">
                <a:solidFill>
                  <a:schemeClr val="tx1"/>
                </a:solidFill>
                <a:miter lim="800000"/>
              </a:ln>
              <a:effectLst/>
            </p:spPr>
            <p:txBody>
              <a:bodyPr wrap="none" anchor="ctr"/>
              <a:lstStyle/>
              <a:p>
                <a:endParaRPr lang="en-ZA"/>
              </a:p>
            </p:txBody>
          </p:sp>
          <p:grpSp>
            <p:nvGrpSpPr>
              <p:cNvPr id="11" name="Group 58"/>
              <p:cNvGrpSpPr/>
              <p:nvPr/>
            </p:nvGrpSpPr>
            <p:grpSpPr bwMode="auto">
              <a:xfrm>
                <a:off x="4755" y="2492"/>
                <a:ext cx="164" cy="137"/>
                <a:chOff x="4755" y="2492"/>
                <a:chExt cx="164" cy="137"/>
              </a:xfrm>
            </p:grpSpPr>
            <p:sp>
              <p:nvSpPr>
                <p:cNvPr id="272443" name="AutoShape 59"/>
                <p:cNvSpPr>
                  <a:spLocks noChangeArrowheads="1"/>
                </p:cNvSpPr>
                <p:nvPr/>
              </p:nvSpPr>
              <p:spPr bwMode="auto">
                <a:xfrm>
                  <a:off x="4800" y="2492"/>
                  <a:ext cx="74" cy="137"/>
                </a:xfrm>
                <a:prstGeom prst="octagon">
                  <a:avLst>
                    <a:gd name="adj" fmla="val 29282"/>
                  </a:avLst>
                </a:prstGeom>
                <a:gradFill rotWithShape="0">
                  <a:gsLst>
                    <a:gs pos="0">
                      <a:srgbClr val="545454"/>
                    </a:gs>
                    <a:gs pos="50000">
                      <a:srgbClr val="545454">
                        <a:gamma/>
                        <a:tint val="50196"/>
                        <a:invGamma/>
                      </a:srgbClr>
                    </a:gs>
                    <a:gs pos="100000">
                      <a:srgbClr val="545454"/>
                    </a:gs>
                  </a:gsLst>
                  <a:lin ang="5400000" scaled="1"/>
                </a:gradFill>
                <a:ln w="12700">
                  <a:solidFill>
                    <a:schemeClr val="tx1"/>
                  </a:solidFill>
                  <a:miter lim="800000"/>
                </a:ln>
                <a:effectLst/>
              </p:spPr>
              <p:txBody>
                <a:bodyPr wrap="none" anchor="ctr"/>
                <a:lstStyle/>
                <a:p>
                  <a:endParaRPr lang="en-ZA"/>
                </a:p>
              </p:txBody>
            </p:sp>
            <p:sp>
              <p:nvSpPr>
                <p:cNvPr id="272444" name="Line 60"/>
                <p:cNvSpPr>
                  <a:spLocks noChangeShapeType="1"/>
                </p:cNvSpPr>
                <p:nvPr/>
              </p:nvSpPr>
              <p:spPr bwMode="auto">
                <a:xfrm>
                  <a:off x="4755" y="2560"/>
                  <a:ext cx="164" cy="0"/>
                </a:xfrm>
                <a:prstGeom prst="line">
                  <a:avLst/>
                </a:prstGeom>
                <a:noFill/>
                <a:ln w="25400">
                  <a:solidFill>
                    <a:schemeClr val="tx1"/>
                  </a:solidFill>
                  <a:round/>
                  <a:headEnd type="none" w="sm" len="sm"/>
                  <a:tailEnd type="none" w="sm" len="sm"/>
                </a:ln>
                <a:effectLst/>
              </p:spPr>
              <p:txBody>
                <a:bodyPr wrap="none" anchor="ctr"/>
                <a:lstStyle/>
                <a:p>
                  <a:endParaRPr lang="en-ZA"/>
                </a:p>
              </p:txBody>
            </p:sp>
          </p:grpSp>
        </p:grpSp>
        <p:grpSp>
          <p:nvGrpSpPr>
            <p:cNvPr id="12" name="Group 61"/>
            <p:cNvGrpSpPr/>
            <p:nvPr/>
          </p:nvGrpSpPr>
          <p:grpSpPr bwMode="auto">
            <a:xfrm>
              <a:off x="3965" y="3213"/>
              <a:ext cx="1677" cy="294"/>
              <a:chOff x="3965" y="3213"/>
              <a:chExt cx="1677" cy="294"/>
            </a:xfrm>
          </p:grpSpPr>
          <p:sp>
            <p:nvSpPr>
              <p:cNvPr id="272446" name="Rectangle 62"/>
              <p:cNvSpPr>
                <a:spLocks noChangeArrowheads="1"/>
              </p:cNvSpPr>
              <p:nvPr/>
            </p:nvSpPr>
            <p:spPr bwMode="auto">
              <a:xfrm>
                <a:off x="4225" y="3269"/>
                <a:ext cx="365" cy="238"/>
              </a:xfrm>
              <a:prstGeom prst="rect">
                <a:avLst/>
              </a:prstGeom>
              <a:noFill/>
              <a:ln w="9525">
                <a:noFill/>
                <a:miter lim="800000"/>
              </a:ln>
              <a:effectLst/>
            </p:spPr>
            <p:txBody>
              <a:bodyPr wrap="none" lIns="69850" tIns="34925" rIns="69850" bIns="34925">
                <a:spAutoFit/>
              </a:bodyPr>
              <a:lstStyle/>
              <a:p>
                <a:pPr defTabSz="520700"/>
                <a:r>
                  <a:rPr lang="en-US" sz="2000"/>
                  <a:t>L/2</a:t>
                </a:r>
              </a:p>
            </p:txBody>
          </p:sp>
          <p:grpSp>
            <p:nvGrpSpPr>
              <p:cNvPr id="13" name="Group 63"/>
              <p:cNvGrpSpPr/>
              <p:nvPr/>
            </p:nvGrpSpPr>
            <p:grpSpPr bwMode="auto">
              <a:xfrm>
                <a:off x="3965" y="3213"/>
                <a:ext cx="1677" cy="109"/>
                <a:chOff x="3965" y="3213"/>
                <a:chExt cx="1677" cy="109"/>
              </a:xfrm>
            </p:grpSpPr>
            <p:sp>
              <p:nvSpPr>
                <p:cNvPr id="272448" name="Line 64"/>
                <p:cNvSpPr>
                  <a:spLocks noChangeShapeType="1"/>
                </p:cNvSpPr>
                <p:nvPr/>
              </p:nvSpPr>
              <p:spPr bwMode="auto">
                <a:xfrm>
                  <a:off x="3965" y="3213"/>
                  <a:ext cx="0" cy="109"/>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449" name="Line 65"/>
                <p:cNvSpPr>
                  <a:spLocks noChangeShapeType="1"/>
                </p:cNvSpPr>
                <p:nvPr/>
              </p:nvSpPr>
              <p:spPr bwMode="auto">
                <a:xfrm>
                  <a:off x="4842" y="3213"/>
                  <a:ext cx="0" cy="109"/>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450" name="Line 66"/>
                <p:cNvSpPr>
                  <a:spLocks noChangeShapeType="1"/>
                </p:cNvSpPr>
                <p:nvPr/>
              </p:nvSpPr>
              <p:spPr bwMode="auto">
                <a:xfrm>
                  <a:off x="5639" y="3213"/>
                  <a:ext cx="0" cy="109"/>
                </a:xfrm>
                <a:prstGeom prst="line">
                  <a:avLst/>
                </a:prstGeom>
                <a:noFill/>
                <a:ln w="25400">
                  <a:solidFill>
                    <a:schemeClr val="tx1"/>
                  </a:solidFill>
                  <a:round/>
                  <a:headEnd type="none" w="sm" len="sm"/>
                  <a:tailEnd type="none" w="sm" len="sm"/>
                </a:ln>
                <a:effectLst/>
              </p:spPr>
              <p:txBody>
                <a:bodyPr wrap="none" anchor="ctr"/>
                <a:lstStyle/>
                <a:p>
                  <a:endParaRPr lang="en-ZA"/>
                </a:p>
              </p:txBody>
            </p:sp>
            <p:sp>
              <p:nvSpPr>
                <p:cNvPr id="272451" name="Line 67"/>
                <p:cNvSpPr>
                  <a:spLocks noChangeShapeType="1"/>
                </p:cNvSpPr>
                <p:nvPr/>
              </p:nvSpPr>
              <p:spPr bwMode="auto">
                <a:xfrm>
                  <a:off x="4865" y="3275"/>
                  <a:ext cx="777" cy="0"/>
                </a:xfrm>
                <a:prstGeom prst="line">
                  <a:avLst/>
                </a:prstGeom>
                <a:noFill/>
                <a:ln w="12700">
                  <a:solidFill>
                    <a:schemeClr val="tx1"/>
                  </a:solidFill>
                  <a:round/>
                  <a:headEnd type="stealth" w="med" len="lg"/>
                  <a:tailEnd type="stealth" w="med" len="lg"/>
                </a:ln>
                <a:effectLst/>
              </p:spPr>
              <p:txBody>
                <a:bodyPr wrap="none" anchor="ctr"/>
                <a:lstStyle/>
                <a:p>
                  <a:endParaRPr lang="en-ZA"/>
                </a:p>
              </p:txBody>
            </p:sp>
            <p:sp>
              <p:nvSpPr>
                <p:cNvPr id="272452" name="Line 68"/>
                <p:cNvSpPr>
                  <a:spLocks noChangeShapeType="1"/>
                </p:cNvSpPr>
                <p:nvPr/>
              </p:nvSpPr>
              <p:spPr bwMode="auto">
                <a:xfrm>
                  <a:off x="3967" y="3276"/>
                  <a:ext cx="848" cy="0"/>
                </a:xfrm>
                <a:prstGeom prst="line">
                  <a:avLst/>
                </a:prstGeom>
                <a:noFill/>
                <a:ln w="12700">
                  <a:solidFill>
                    <a:schemeClr val="tx1"/>
                  </a:solidFill>
                  <a:round/>
                  <a:headEnd type="stealth" w="med" len="lg"/>
                  <a:tailEnd type="stealth" w="med" len="lg"/>
                </a:ln>
                <a:effectLst/>
              </p:spPr>
              <p:txBody>
                <a:bodyPr wrap="none" anchor="ctr"/>
                <a:lstStyle/>
                <a:p>
                  <a:endParaRPr lang="en-ZA"/>
                </a:p>
              </p:txBody>
            </p:sp>
          </p:grpSp>
        </p:grpSp>
        <p:sp>
          <p:nvSpPr>
            <p:cNvPr id="272453" name="Rectangle 69"/>
            <p:cNvSpPr>
              <a:spLocks noChangeArrowheads="1"/>
            </p:cNvSpPr>
            <p:nvPr/>
          </p:nvSpPr>
          <p:spPr bwMode="auto">
            <a:xfrm>
              <a:off x="488" y="1729"/>
              <a:ext cx="1652" cy="233"/>
            </a:xfrm>
            <a:prstGeom prst="rect">
              <a:avLst/>
            </a:prstGeom>
            <a:noFill/>
            <a:ln w="9525">
              <a:noFill/>
              <a:miter lim="800000"/>
            </a:ln>
            <a:effectLst/>
          </p:spPr>
          <p:txBody>
            <a:bodyPr wrap="none" lIns="92075" tIns="46038" rIns="92075" bIns="46038">
              <a:spAutoFit/>
            </a:bodyPr>
            <a:lstStyle/>
            <a:p>
              <a:r>
                <a:rPr lang="en-US"/>
                <a:t>Third-point Loading</a:t>
              </a:r>
            </a:p>
          </p:txBody>
        </p:sp>
        <p:sp>
          <p:nvSpPr>
            <p:cNvPr id="272454" name="Rectangle 70"/>
            <p:cNvSpPr>
              <a:spLocks noChangeArrowheads="1"/>
            </p:cNvSpPr>
            <p:nvPr/>
          </p:nvSpPr>
          <p:spPr bwMode="auto">
            <a:xfrm>
              <a:off x="3628" y="1729"/>
              <a:ext cx="1839" cy="233"/>
            </a:xfrm>
            <a:prstGeom prst="rect">
              <a:avLst/>
            </a:prstGeom>
            <a:noFill/>
            <a:ln w="9525">
              <a:noFill/>
              <a:miter lim="800000"/>
            </a:ln>
            <a:effectLst/>
          </p:spPr>
          <p:txBody>
            <a:bodyPr wrap="none" lIns="92075" tIns="46038" rIns="92075" bIns="46038">
              <a:spAutoFit/>
            </a:bodyPr>
            <a:lstStyle/>
            <a:p>
              <a:r>
                <a:rPr lang="en-US"/>
                <a:t>Center-point Loading</a:t>
              </a:r>
            </a:p>
          </p:txBody>
        </p:sp>
      </p:grpSp>
      <p:sp>
        <p:nvSpPr>
          <p:cNvPr id="74" name="Rectangle 2"/>
          <p:cNvSpPr>
            <a:spLocks noGrp="1" noChangeArrowheads="1"/>
          </p:cNvSpPr>
          <p:nvPr>
            <p:ph type="title"/>
          </p:nvPr>
        </p:nvSpPr>
        <p:spPr>
          <a:xfrm>
            <a:off x="1524000" y="-152400"/>
            <a:ext cx="9144000" cy="1143000"/>
          </a:xfrm>
          <a:noFill/>
        </p:spPr>
        <p:txBody>
          <a:bodyPr vert="horz" lIns="90488" tIns="44450" rIns="90488" bIns="44450" rtlCol="0" anchor="b">
            <a:normAutofit/>
          </a:bodyPr>
          <a:lstStyle/>
          <a:p>
            <a:pPr eaLnBrk="1" hangingPunct="1"/>
            <a:r>
              <a:rPr lang="en-US" sz="4000"/>
              <a:t>Flexural Beam Test (BS EN 12390-5)</a:t>
            </a:r>
          </a:p>
        </p:txBody>
      </p:sp>
    </p:spTree>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2209800" y="0"/>
            <a:ext cx="7772400" cy="685800"/>
          </a:xfrm>
        </p:spPr>
        <p:txBody>
          <a:bodyPr/>
          <a:lstStyle/>
          <a:p>
            <a:pPr eaLnBrk="1" hangingPunct="1"/>
            <a:r>
              <a:rPr lang="en-US" sz="3200"/>
              <a:t>Center Point flexural strength test</a:t>
            </a:r>
          </a:p>
        </p:txBody>
      </p:sp>
      <p:pic>
        <p:nvPicPr>
          <p:cNvPr id="46083" name="Picture 3" descr="Image24"/>
          <p:cNvPicPr>
            <a:picLocks noChangeAspect="1" noChangeArrowheads="1"/>
          </p:cNvPicPr>
          <p:nvPr/>
        </p:nvPicPr>
        <p:blipFill>
          <a:blip r:embed="rId3" cstate="print"/>
          <a:srcRect/>
          <a:stretch>
            <a:fillRect/>
          </a:stretch>
        </p:blipFill>
        <p:spPr bwMode="auto">
          <a:xfrm>
            <a:off x="2286000" y="609601"/>
            <a:ext cx="7958138" cy="4778375"/>
          </a:xfrm>
          <a:prstGeom prst="rect">
            <a:avLst/>
          </a:prstGeom>
          <a:noFill/>
          <a:ln w="9525">
            <a:noFill/>
            <a:miter lim="800000"/>
            <a:headEnd/>
            <a:tailEnd/>
          </a:ln>
        </p:spPr>
      </p:pic>
      <p:sp>
        <p:nvSpPr>
          <p:cNvPr id="46084" name="Text Box 4"/>
          <p:cNvSpPr txBox="1">
            <a:spLocks noChangeArrowheads="1"/>
          </p:cNvSpPr>
          <p:nvPr/>
        </p:nvSpPr>
        <p:spPr bwMode="auto">
          <a:xfrm>
            <a:off x="1524000" y="5334000"/>
            <a:ext cx="9144000" cy="1323439"/>
          </a:xfrm>
          <a:prstGeom prst="rect">
            <a:avLst/>
          </a:prstGeom>
          <a:solidFill>
            <a:schemeClr val="accent6">
              <a:lumMod val="75000"/>
            </a:schemeClr>
          </a:solidFill>
          <a:ln w="9525">
            <a:noFill/>
            <a:miter lim="800000"/>
          </a:ln>
        </p:spPr>
        <p:txBody>
          <a:bodyPr>
            <a:spAutoFit/>
          </a:bodyPr>
          <a:lstStyle/>
          <a:p>
            <a:pPr algn="l"/>
            <a:r>
              <a:rPr lang="en-US" sz="2000" dirty="0"/>
              <a:t>Because the bending moment is highest directly under the centrally applied point load, the probability of failure here is greatest even though this part of the beam might not contain its weakest link.  Therefore, this test can give overly optimistic results.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209800" y="-76200"/>
            <a:ext cx="7772400" cy="762000"/>
          </a:xfrm>
        </p:spPr>
        <p:txBody>
          <a:bodyPr/>
          <a:lstStyle/>
          <a:p>
            <a:pPr eaLnBrk="1" hangingPunct="1"/>
            <a:r>
              <a:rPr lang="en-US" sz="4000"/>
              <a:t>Two Point flexural strength test</a:t>
            </a:r>
          </a:p>
        </p:txBody>
      </p:sp>
      <p:pic>
        <p:nvPicPr>
          <p:cNvPr id="47107" name="Picture 3" descr="Image23"/>
          <p:cNvPicPr>
            <a:picLocks noChangeAspect="1" noChangeArrowheads="1"/>
          </p:cNvPicPr>
          <p:nvPr/>
        </p:nvPicPr>
        <p:blipFill>
          <a:blip r:embed="rId3" cstate="print"/>
          <a:srcRect/>
          <a:stretch>
            <a:fillRect/>
          </a:stretch>
        </p:blipFill>
        <p:spPr bwMode="auto">
          <a:xfrm>
            <a:off x="1524000" y="609600"/>
            <a:ext cx="9144000" cy="4724400"/>
          </a:xfrm>
          <a:prstGeom prst="rect">
            <a:avLst/>
          </a:prstGeom>
          <a:noFill/>
          <a:ln w="9525">
            <a:noFill/>
            <a:miter lim="800000"/>
            <a:headEnd/>
            <a:tailEnd/>
          </a:ln>
        </p:spPr>
      </p:pic>
      <p:sp>
        <p:nvSpPr>
          <p:cNvPr id="47108" name="Text Box 4"/>
          <p:cNvSpPr txBox="1">
            <a:spLocks noChangeArrowheads="1"/>
          </p:cNvSpPr>
          <p:nvPr/>
        </p:nvSpPr>
        <p:spPr bwMode="auto">
          <a:xfrm>
            <a:off x="1524000" y="5305425"/>
            <a:ext cx="9144000" cy="1938992"/>
          </a:xfrm>
          <a:prstGeom prst="rect">
            <a:avLst/>
          </a:prstGeom>
          <a:solidFill>
            <a:schemeClr val="accent6">
              <a:lumMod val="75000"/>
            </a:schemeClr>
          </a:solidFill>
          <a:ln w="9525">
            <a:noFill/>
            <a:miter lim="800000"/>
          </a:ln>
        </p:spPr>
        <p:txBody>
          <a:bodyPr>
            <a:spAutoFit/>
          </a:bodyPr>
          <a:lstStyle/>
          <a:p>
            <a:pPr algn="l"/>
            <a:r>
              <a:rPr lang="en-US" sz="2400"/>
              <a:t>Because the bending moment is constant between the top rollers, there is an equal probability of failure anywhere in the middle third of the span.  Therefore, flexural failure is more likely to be governed by a weak link in this test and the results tend to be more conservative.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524000" y="-152400"/>
            <a:ext cx="9144000" cy="1143000"/>
          </a:xfrm>
          <a:noFill/>
        </p:spPr>
        <p:txBody>
          <a:bodyPr vert="horz" lIns="90488" tIns="44450" rIns="90488" bIns="44450" rtlCol="0" anchor="b">
            <a:normAutofit/>
          </a:bodyPr>
          <a:lstStyle/>
          <a:p>
            <a:pPr eaLnBrk="1" hangingPunct="1"/>
            <a:r>
              <a:rPr lang="en-US" sz="4000"/>
              <a:t>Flexural Beam Test</a:t>
            </a:r>
          </a:p>
        </p:txBody>
      </p:sp>
      <p:sp>
        <p:nvSpPr>
          <p:cNvPr id="45059" name="Rectangle 3"/>
          <p:cNvSpPr>
            <a:spLocks noGrp="1" noChangeArrowheads="1"/>
          </p:cNvSpPr>
          <p:nvPr>
            <p:ph type="body" sz="quarter" idx="10"/>
          </p:nvPr>
        </p:nvSpPr>
        <p:spPr>
          <a:xfrm>
            <a:off x="2133600" y="3717032"/>
            <a:ext cx="8354888" cy="2808312"/>
          </a:xfrm>
          <a:noFill/>
        </p:spPr>
        <p:txBody>
          <a:bodyPr vert="horz" lIns="90488" tIns="44450" rIns="90488" bIns="44450" rtlCol="0">
            <a:normAutofit/>
          </a:bodyPr>
          <a:lstStyle/>
          <a:p>
            <a:pPr eaLnBrk="1" hangingPunct="1"/>
            <a:r>
              <a:rPr lang="en-US" sz="2800"/>
              <a:t>f = flexural strength (</a:t>
            </a:r>
            <a:r>
              <a:rPr lang="en-US" sz="2800" err="1"/>
              <a:t>Mpa</a:t>
            </a:r>
            <a:r>
              <a:rPr lang="en-US" sz="2800"/>
              <a:t>)</a:t>
            </a:r>
          </a:p>
          <a:p>
            <a:pPr eaLnBrk="1" hangingPunct="1"/>
            <a:r>
              <a:rPr lang="en-US" sz="2800"/>
              <a:t>P = breaking load (N)</a:t>
            </a:r>
          </a:p>
          <a:p>
            <a:pPr eaLnBrk="1" hangingPunct="1"/>
            <a:r>
              <a:rPr lang="en-US" sz="2800"/>
              <a:t>l = distance between supporting roller exes</a:t>
            </a:r>
          </a:p>
          <a:p>
            <a:pPr eaLnBrk="1" hangingPunct="1"/>
            <a:r>
              <a:rPr lang="en-US" sz="2800"/>
              <a:t>b = width of specimen (mm)</a:t>
            </a:r>
          </a:p>
          <a:p>
            <a:pPr eaLnBrk="1" hangingPunct="1"/>
            <a:r>
              <a:rPr lang="en-US" sz="2800"/>
              <a:t>d = depth of specimen (mm)</a:t>
            </a:r>
          </a:p>
        </p:txBody>
      </p:sp>
      <p:grpSp>
        <p:nvGrpSpPr>
          <p:cNvPr id="2" name="Group 4"/>
          <p:cNvGrpSpPr/>
          <p:nvPr/>
        </p:nvGrpSpPr>
        <p:grpSpPr bwMode="auto">
          <a:xfrm>
            <a:off x="2495600" y="1176514"/>
            <a:ext cx="7620000" cy="2324495"/>
            <a:chOff x="432" y="2544"/>
            <a:chExt cx="4800" cy="1493"/>
          </a:xfrm>
        </p:grpSpPr>
        <p:sp>
          <p:nvSpPr>
            <p:cNvPr id="45061" name="Rectangle 5" descr="Pink tissue paper"/>
            <p:cNvSpPr>
              <a:spLocks noChangeArrowheads="1"/>
            </p:cNvSpPr>
            <p:nvPr/>
          </p:nvSpPr>
          <p:spPr bwMode="auto">
            <a:xfrm>
              <a:off x="432" y="2544"/>
              <a:ext cx="4800" cy="1440"/>
            </a:xfrm>
            <a:prstGeom prst="rect">
              <a:avLst/>
            </a:prstGeom>
            <a:blipFill dpi="0" rotWithShape="0">
              <a:blip r:embed="rId3" cstate="print"/>
              <a:srcRect/>
              <a:tile tx="0" ty="0" sx="100000" sy="100000" flip="none" algn="tl"/>
            </a:blipFill>
            <a:ln w="76200">
              <a:solidFill>
                <a:schemeClr val="folHlink"/>
              </a:solidFill>
              <a:miter lim="800000"/>
            </a:ln>
          </p:spPr>
          <p:txBody>
            <a:bodyPr wrap="none" anchor="ctr"/>
            <a:lstStyle/>
            <a:p>
              <a:endParaRPr lang="en-GB"/>
            </a:p>
          </p:txBody>
        </p:sp>
        <p:sp>
          <p:nvSpPr>
            <p:cNvPr id="45062" name="Rectangle 6"/>
            <p:cNvSpPr>
              <a:spLocks noChangeArrowheads="1"/>
            </p:cNvSpPr>
            <p:nvPr/>
          </p:nvSpPr>
          <p:spPr bwMode="auto">
            <a:xfrm>
              <a:off x="822" y="2868"/>
              <a:ext cx="582" cy="453"/>
            </a:xfrm>
            <a:prstGeom prst="rect">
              <a:avLst/>
            </a:prstGeom>
            <a:noFill/>
            <a:ln w="12700">
              <a:noFill/>
              <a:miter lim="800000"/>
            </a:ln>
          </p:spPr>
          <p:txBody>
            <a:bodyPr wrap="none" lIns="90488" tIns="44450" rIns="90488" bIns="44450">
              <a:spAutoFit/>
            </a:bodyPr>
            <a:lstStyle/>
            <a:p>
              <a:pPr algn="l"/>
              <a:r>
                <a:rPr lang="en-US" sz="4000" b="1">
                  <a:solidFill>
                    <a:schemeClr val="tx2">
                      <a:lumMod val="75000"/>
                    </a:schemeClr>
                  </a:solidFill>
                </a:rPr>
                <a:t>f  =</a:t>
              </a:r>
              <a:endParaRPr lang="en-US">
                <a:solidFill>
                  <a:schemeClr val="tx2">
                    <a:lumMod val="75000"/>
                  </a:schemeClr>
                </a:solidFill>
              </a:endParaRPr>
            </a:p>
          </p:txBody>
        </p:sp>
        <p:sp>
          <p:nvSpPr>
            <p:cNvPr id="45063" name="Rectangle 7"/>
            <p:cNvSpPr>
              <a:spLocks noChangeArrowheads="1"/>
            </p:cNvSpPr>
            <p:nvPr/>
          </p:nvSpPr>
          <p:spPr bwMode="auto">
            <a:xfrm>
              <a:off x="1345" y="2713"/>
              <a:ext cx="770" cy="769"/>
            </a:xfrm>
            <a:prstGeom prst="rect">
              <a:avLst/>
            </a:prstGeom>
            <a:noFill/>
            <a:ln w="12700">
              <a:noFill/>
              <a:miter lim="800000"/>
            </a:ln>
          </p:spPr>
          <p:txBody>
            <a:bodyPr wrap="none" lIns="90488" tIns="44450" rIns="90488" bIns="44450">
              <a:spAutoFit/>
            </a:bodyPr>
            <a:lstStyle/>
            <a:p>
              <a:pPr algn="l"/>
              <a:r>
                <a:rPr lang="en-US" sz="3600" b="1">
                  <a:solidFill>
                    <a:schemeClr val="tx2">
                      <a:lumMod val="75000"/>
                    </a:schemeClr>
                  </a:solidFill>
                </a:rPr>
                <a:t>3Pl</a:t>
              </a:r>
            </a:p>
            <a:p>
              <a:pPr algn="l"/>
              <a:r>
                <a:rPr lang="en-US" sz="3600" b="1">
                  <a:solidFill>
                    <a:schemeClr val="tx2">
                      <a:lumMod val="75000"/>
                    </a:schemeClr>
                  </a:solidFill>
                </a:rPr>
                <a:t>2bd</a:t>
              </a:r>
              <a:r>
                <a:rPr lang="en-US" sz="3600" b="1" baseline="30000">
                  <a:solidFill>
                    <a:schemeClr val="tx2">
                      <a:lumMod val="75000"/>
                    </a:schemeClr>
                  </a:solidFill>
                </a:rPr>
                <a:t>2</a:t>
              </a:r>
              <a:endParaRPr lang="en-US" baseline="30000">
                <a:solidFill>
                  <a:schemeClr val="tx2">
                    <a:lumMod val="75000"/>
                  </a:schemeClr>
                </a:solidFill>
              </a:endParaRPr>
            </a:p>
          </p:txBody>
        </p:sp>
        <p:sp>
          <p:nvSpPr>
            <p:cNvPr id="45064" name="Rectangle 8"/>
            <p:cNvSpPr>
              <a:spLocks noChangeArrowheads="1"/>
            </p:cNvSpPr>
            <p:nvPr/>
          </p:nvSpPr>
          <p:spPr bwMode="auto">
            <a:xfrm>
              <a:off x="3069" y="3059"/>
              <a:ext cx="114" cy="236"/>
            </a:xfrm>
            <a:prstGeom prst="rect">
              <a:avLst/>
            </a:prstGeom>
            <a:noFill/>
            <a:ln w="12700">
              <a:noFill/>
              <a:miter lim="800000"/>
            </a:ln>
          </p:spPr>
          <p:txBody>
            <a:bodyPr lIns="90488" tIns="44450" rIns="90488" bIns="44450">
              <a:spAutoFit/>
            </a:bodyPr>
            <a:lstStyle/>
            <a:p>
              <a:pPr algn="l">
                <a:spcBef>
                  <a:spcPct val="50000"/>
                </a:spcBef>
              </a:pPr>
              <a:r>
                <a:rPr lang="en-US"/>
                <a:t> </a:t>
              </a:r>
            </a:p>
          </p:txBody>
        </p:sp>
        <p:sp>
          <p:nvSpPr>
            <p:cNvPr id="45065" name="Rectangle 9"/>
            <p:cNvSpPr>
              <a:spLocks noChangeArrowheads="1"/>
            </p:cNvSpPr>
            <p:nvPr/>
          </p:nvSpPr>
          <p:spPr bwMode="auto">
            <a:xfrm>
              <a:off x="2951" y="2889"/>
              <a:ext cx="713" cy="453"/>
            </a:xfrm>
            <a:prstGeom prst="rect">
              <a:avLst/>
            </a:prstGeom>
            <a:noFill/>
            <a:ln w="12700">
              <a:noFill/>
              <a:miter lim="800000"/>
            </a:ln>
          </p:spPr>
          <p:txBody>
            <a:bodyPr wrap="none" lIns="90488" tIns="44450" rIns="90488" bIns="44450">
              <a:spAutoFit/>
            </a:bodyPr>
            <a:lstStyle/>
            <a:p>
              <a:pPr algn="l"/>
              <a:r>
                <a:rPr lang="en-US" sz="4000" b="1">
                  <a:solidFill>
                    <a:schemeClr val="tx2">
                      <a:lumMod val="75000"/>
                    </a:schemeClr>
                  </a:solidFill>
                </a:rPr>
                <a:t>f   =</a:t>
              </a:r>
              <a:r>
                <a:rPr lang="en-US">
                  <a:solidFill>
                    <a:schemeClr val="tx2">
                      <a:lumMod val="75000"/>
                    </a:schemeClr>
                  </a:solidFill>
                </a:rPr>
                <a:t> </a:t>
              </a:r>
            </a:p>
          </p:txBody>
        </p:sp>
        <p:sp>
          <p:nvSpPr>
            <p:cNvPr id="45066" name="Rectangle 10"/>
            <p:cNvSpPr>
              <a:spLocks noChangeArrowheads="1"/>
            </p:cNvSpPr>
            <p:nvPr/>
          </p:nvSpPr>
          <p:spPr bwMode="auto">
            <a:xfrm>
              <a:off x="3600" y="2736"/>
              <a:ext cx="608" cy="769"/>
            </a:xfrm>
            <a:prstGeom prst="rect">
              <a:avLst/>
            </a:prstGeom>
            <a:noFill/>
            <a:ln w="12700">
              <a:noFill/>
              <a:miter lim="800000"/>
            </a:ln>
          </p:spPr>
          <p:txBody>
            <a:bodyPr wrap="none" lIns="90488" tIns="44450" rIns="90488" bIns="44450">
              <a:spAutoFit/>
            </a:bodyPr>
            <a:lstStyle/>
            <a:p>
              <a:pPr algn="l"/>
              <a:r>
                <a:rPr lang="en-US" sz="3600" b="1">
                  <a:solidFill>
                    <a:schemeClr val="tx2">
                      <a:lumMod val="75000"/>
                    </a:schemeClr>
                  </a:solidFill>
                </a:rPr>
                <a:t>Pl</a:t>
              </a:r>
            </a:p>
            <a:p>
              <a:pPr algn="l"/>
              <a:r>
                <a:rPr lang="en-US" sz="3600" b="1">
                  <a:solidFill>
                    <a:schemeClr val="tx2">
                      <a:lumMod val="75000"/>
                    </a:schemeClr>
                  </a:solidFill>
                </a:rPr>
                <a:t>bd</a:t>
              </a:r>
              <a:r>
                <a:rPr lang="en-US" sz="3600" b="1" baseline="30000">
                  <a:solidFill>
                    <a:schemeClr val="tx2">
                      <a:lumMod val="75000"/>
                    </a:schemeClr>
                  </a:solidFill>
                </a:rPr>
                <a:t>2</a:t>
              </a:r>
              <a:endParaRPr lang="en-US" baseline="30000">
                <a:solidFill>
                  <a:schemeClr val="tx2">
                    <a:lumMod val="75000"/>
                  </a:schemeClr>
                </a:solidFill>
              </a:endParaRPr>
            </a:p>
          </p:txBody>
        </p:sp>
        <p:sp>
          <p:nvSpPr>
            <p:cNvPr id="45067" name="Line 11"/>
            <p:cNvSpPr>
              <a:spLocks noChangeShapeType="1"/>
            </p:cNvSpPr>
            <p:nvPr/>
          </p:nvSpPr>
          <p:spPr bwMode="auto">
            <a:xfrm>
              <a:off x="1392" y="3120"/>
              <a:ext cx="458" cy="0"/>
            </a:xfrm>
            <a:prstGeom prst="line">
              <a:avLst/>
            </a:prstGeom>
            <a:noFill/>
            <a:ln w="38100">
              <a:solidFill>
                <a:srgbClr val="000000"/>
              </a:solidFill>
              <a:round/>
            </a:ln>
          </p:spPr>
          <p:txBody>
            <a:bodyPr wrap="none" anchor="ctr"/>
            <a:lstStyle/>
            <a:p>
              <a:endParaRPr lang="en-US"/>
            </a:p>
          </p:txBody>
        </p:sp>
        <p:sp>
          <p:nvSpPr>
            <p:cNvPr id="45068" name="Line 12"/>
            <p:cNvSpPr>
              <a:spLocks noChangeShapeType="1"/>
            </p:cNvSpPr>
            <p:nvPr/>
          </p:nvSpPr>
          <p:spPr bwMode="auto">
            <a:xfrm>
              <a:off x="3648" y="3120"/>
              <a:ext cx="316" cy="0"/>
            </a:xfrm>
            <a:prstGeom prst="line">
              <a:avLst/>
            </a:prstGeom>
            <a:noFill/>
            <a:ln w="38100">
              <a:solidFill>
                <a:srgbClr val="000000"/>
              </a:solidFill>
              <a:round/>
            </a:ln>
          </p:spPr>
          <p:txBody>
            <a:bodyPr wrap="none" anchor="ctr"/>
            <a:lstStyle/>
            <a:p>
              <a:endParaRPr lang="en-US"/>
            </a:p>
          </p:txBody>
        </p:sp>
        <p:sp>
          <p:nvSpPr>
            <p:cNvPr id="45069" name="Rectangle 13"/>
            <p:cNvSpPr>
              <a:spLocks noChangeArrowheads="1"/>
            </p:cNvSpPr>
            <p:nvPr/>
          </p:nvSpPr>
          <p:spPr bwMode="auto">
            <a:xfrm>
              <a:off x="680" y="3335"/>
              <a:ext cx="1669" cy="692"/>
            </a:xfrm>
            <a:prstGeom prst="rect">
              <a:avLst/>
            </a:prstGeom>
            <a:noFill/>
            <a:ln w="12700">
              <a:noFill/>
              <a:miter lim="800000"/>
            </a:ln>
          </p:spPr>
          <p:txBody>
            <a:bodyPr wrap="none">
              <a:spAutoFit/>
            </a:bodyPr>
            <a:lstStyle/>
            <a:p>
              <a:pPr algn="l"/>
              <a:r>
                <a:rPr lang="en-US" sz="3200" b="1">
                  <a:solidFill>
                    <a:srgbClr val="C00000"/>
                  </a:solidFill>
                </a:rPr>
                <a:t>Center point</a:t>
              </a:r>
            </a:p>
            <a:p>
              <a:pPr algn="l"/>
              <a:r>
                <a:rPr lang="en-US" sz="3200" b="1">
                  <a:solidFill>
                    <a:srgbClr val="C00000"/>
                  </a:solidFill>
                </a:rPr>
                <a:t> loading</a:t>
              </a:r>
            </a:p>
          </p:txBody>
        </p:sp>
        <p:sp>
          <p:nvSpPr>
            <p:cNvPr id="45070" name="Text Box 14"/>
            <p:cNvSpPr txBox="1">
              <a:spLocks noChangeArrowheads="1"/>
            </p:cNvSpPr>
            <p:nvPr/>
          </p:nvSpPr>
          <p:spPr bwMode="auto">
            <a:xfrm>
              <a:off x="3141" y="3345"/>
              <a:ext cx="1302" cy="692"/>
            </a:xfrm>
            <a:prstGeom prst="rect">
              <a:avLst/>
            </a:prstGeom>
            <a:noFill/>
            <a:ln w="12700">
              <a:noFill/>
              <a:miter lim="800000"/>
            </a:ln>
          </p:spPr>
          <p:txBody>
            <a:bodyPr wrap="none">
              <a:spAutoFit/>
            </a:bodyPr>
            <a:lstStyle/>
            <a:p>
              <a:pPr algn="l"/>
              <a:r>
                <a:rPr lang="en-US" sz="3200" b="1">
                  <a:solidFill>
                    <a:srgbClr val="C00000"/>
                  </a:solidFill>
                </a:rPr>
                <a:t>Two point</a:t>
              </a:r>
            </a:p>
            <a:p>
              <a:pPr algn="l"/>
              <a:r>
                <a:rPr lang="en-US" sz="3200" b="1">
                  <a:solidFill>
                    <a:srgbClr val="C00000"/>
                  </a:solidFill>
                </a:rPr>
                <a:t>loading</a:t>
              </a:r>
              <a:endParaRPr lang="en-US">
                <a:solidFill>
                  <a:srgbClr val="C00000"/>
                </a:solidFill>
              </a:endParaRPr>
            </a:p>
          </p:txBody>
        </p:sp>
      </p:gr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30724-CF8B-D3C5-20A5-64EB831BC1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BE31B8-A427-FDE4-B30F-B1717F0AD722}"/>
              </a:ext>
            </a:extLst>
          </p:cNvPr>
          <p:cNvSpPr>
            <a:spLocks noGrp="1"/>
          </p:cNvSpPr>
          <p:nvPr>
            <p:ph type="ctrTitle"/>
          </p:nvPr>
        </p:nvSpPr>
        <p:spPr>
          <a:xfrm>
            <a:off x="1044575" y="1400175"/>
            <a:ext cx="10767060" cy="2262505"/>
          </a:xfrm>
        </p:spPr>
        <p:txBody>
          <a:bodyPr>
            <a:normAutofit/>
          </a:bodyPr>
          <a:lstStyle/>
          <a:p>
            <a:pPr algn="ctr"/>
            <a:r>
              <a:rPr lang="en-US" altLang="en-GB" sz="4000" b="1" dirty="0"/>
              <a:t>TESTS ON HARD CONCRETE – NON-DESTRUCTIVE TESTING (NDT)</a:t>
            </a:r>
            <a:br>
              <a:rPr lang="en-US" altLang="en-GB" sz="4000" b="1" dirty="0"/>
            </a:br>
            <a:endParaRPr lang="en-US" altLang="en-US" sz="4000" b="1" dirty="0"/>
          </a:p>
        </p:txBody>
      </p:sp>
      <p:sp>
        <p:nvSpPr>
          <p:cNvPr id="4" name="Slide Number Placeholder 3">
            <a:extLst>
              <a:ext uri="{FF2B5EF4-FFF2-40B4-BE49-F238E27FC236}">
                <a16:creationId xmlns:a16="http://schemas.microsoft.com/office/drawing/2014/main" id="{969CBDED-F7FC-6353-0CD8-1E223A89CF90}"/>
              </a:ext>
            </a:extLst>
          </p:cNvPr>
          <p:cNvSpPr>
            <a:spLocks noGrp="1"/>
          </p:cNvSpPr>
          <p:nvPr>
            <p:ph type="sldNum" sz="quarter" idx="12"/>
          </p:nvPr>
        </p:nvSpPr>
        <p:spPr>
          <a:xfrm>
            <a:off x="160752" y="4412254"/>
            <a:ext cx="952431" cy="597068"/>
          </a:xfrm>
        </p:spPr>
        <p:txBody>
          <a:bodyPr/>
          <a:lstStyle/>
          <a:p>
            <a:fld id="{D57F1E4F-1CFF-5643-939E-217C01CDF565}" type="slidenum">
              <a:rPr lang="en-US" sz="4000" smtClean="0"/>
              <a:t>49</a:t>
            </a:fld>
            <a:endParaRPr lang="en-US" sz="4000"/>
          </a:p>
        </p:txBody>
      </p:sp>
    </p:spTree>
    <p:extLst>
      <p:ext uri="{BB962C8B-B14F-4D97-AF65-F5344CB8AC3E}">
        <p14:creationId xmlns:p14="http://schemas.microsoft.com/office/powerpoint/2010/main" val="1112469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82510" y="1442378"/>
            <a:ext cx="4644008" cy="2123658"/>
          </a:xfrm>
          <a:prstGeom prst="rect">
            <a:avLst/>
          </a:prstGeom>
          <a:noFill/>
        </p:spPr>
        <p:txBody>
          <a:bodyPr wrap="square">
            <a:spAutoFit/>
          </a:bodyPr>
          <a:lstStyle/>
          <a:p>
            <a:pPr algn="ctr">
              <a:defRPr/>
            </a:pPr>
            <a:r>
              <a:rPr lang="en-ZA" sz="4400" dirty="0">
                <a:latin typeface="+mj-lt"/>
              </a:rPr>
              <a:t>Non-Destructive Testing and Inspection</a:t>
            </a:r>
            <a:endParaRPr lang="en-US" sz="4400" dirty="0">
              <a:latin typeface="+mj-lt"/>
            </a:endParaRPr>
          </a:p>
        </p:txBody>
      </p:sp>
      <p:pic>
        <p:nvPicPr>
          <p:cNvPr id="11" name="Picture 10" descr="c&amp;ci-4277.jpg"/>
          <p:cNvPicPr>
            <a:picLocks noChangeAspect="1"/>
          </p:cNvPicPr>
          <p:nvPr/>
        </p:nvPicPr>
        <p:blipFill>
          <a:blip r:embed="rId3" cstate="print"/>
          <a:stretch>
            <a:fillRect/>
          </a:stretch>
        </p:blipFill>
        <p:spPr>
          <a:xfrm>
            <a:off x="5226518" y="0"/>
            <a:ext cx="5477995"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AB732-C3D7-6A5A-29F7-157E0929A832}"/>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E0C62D8C-8F62-B252-AFA7-219CEB85665C}"/>
              </a:ext>
            </a:extLst>
          </p:cNvPr>
          <p:cNvSpPr>
            <a:spLocks noGrp="1" noChangeArrowheads="1"/>
          </p:cNvSpPr>
          <p:nvPr>
            <p:ph type="title"/>
          </p:nvPr>
        </p:nvSpPr>
        <p:spPr>
          <a:xfrm>
            <a:off x="1981200" y="-412395"/>
            <a:ext cx="8229600" cy="1143000"/>
          </a:xfrm>
          <a:noFill/>
        </p:spPr>
        <p:txBody>
          <a:bodyPr vert="horz" lIns="90488" tIns="44450" rIns="90488" bIns="44450" rtlCol="0" anchor="b">
            <a:normAutofit/>
          </a:bodyPr>
          <a:lstStyle/>
          <a:p>
            <a:pPr algn="ctr" eaLnBrk="1" hangingPunct="1"/>
            <a:r>
              <a:rPr lang="en-US" sz="4000" b="1" dirty="0"/>
              <a:t>NDT</a:t>
            </a:r>
          </a:p>
        </p:txBody>
      </p:sp>
      <p:sp>
        <p:nvSpPr>
          <p:cNvPr id="270339" name="Rectangle 3">
            <a:extLst>
              <a:ext uri="{FF2B5EF4-FFF2-40B4-BE49-F238E27FC236}">
                <a16:creationId xmlns:a16="http://schemas.microsoft.com/office/drawing/2014/main" id="{1D1DE67D-7CA1-3C0E-E73B-EBEB6C08BEDF}"/>
              </a:ext>
            </a:extLst>
          </p:cNvPr>
          <p:cNvSpPr>
            <a:spLocks noGrp="1" noChangeArrowheads="1"/>
          </p:cNvSpPr>
          <p:nvPr>
            <p:ph type="body" sz="quarter" idx="10"/>
          </p:nvPr>
        </p:nvSpPr>
        <p:spPr>
          <a:xfrm>
            <a:off x="981776" y="1866386"/>
            <a:ext cx="10395285" cy="4525963"/>
          </a:xfrm>
        </p:spPr>
        <p:txBody>
          <a:bodyPr>
            <a:noAutofit/>
          </a:bodyPr>
          <a:lstStyle/>
          <a:p>
            <a:pPr marL="457200" indent="-457200" algn="just">
              <a:buFont typeface="Arial" panose="020B0604020202020204" pitchFamily="34" charset="0"/>
              <a:buChar char="•"/>
            </a:pPr>
            <a:r>
              <a:rPr lang="en-US" sz="2400" dirty="0">
                <a:solidFill>
                  <a:srgbClr val="000000"/>
                </a:solidFill>
                <a:latin typeface="+mj-lt"/>
              </a:rPr>
              <a:t>Non-destructive tests permit testing hardened concrete in an actual structure</a:t>
            </a:r>
          </a:p>
          <a:p>
            <a:pPr marL="457200" indent="-457200" algn="just">
              <a:buFont typeface="Arial" panose="020B0604020202020204" pitchFamily="34" charset="0"/>
              <a:buChar char="•"/>
            </a:pPr>
            <a:r>
              <a:rPr lang="en-US" sz="2400" b="0" i="0" dirty="0">
                <a:solidFill>
                  <a:srgbClr val="001D35"/>
                </a:solidFill>
                <a:effectLst/>
                <a:latin typeface="+mj-lt"/>
              </a:rPr>
              <a:t>Non-destructive testing (NDT) methods for hardened concrete allow evaluation of its quality, integrity, and strength properties without causing permanent damage. These techniques are crucial for assessing concrete structures in place, detecting flaws such as voids and cracks and monitoring deterioration. </a:t>
            </a:r>
            <a:endParaRPr lang="en-US" sz="2400" dirty="0">
              <a:solidFill>
                <a:srgbClr val="000000"/>
              </a:solidFill>
              <a:latin typeface="+mj-lt"/>
              <a:cs typeface="Times New Roman" panose="02020603050405020304" pitchFamily="18" charset="0"/>
            </a:endParaRPr>
          </a:p>
          <a:p>
            <a:pPr marL="457200" indent="-457200" algn="just">
              <a:buFont typeface="Arial" panose="020B0604020202020204" pitchFamily="34" charset="0"/>
              <a:buChar char="•"/>
            </a:pPr>
            <a:r>
              <a:rPr lang="en-US" sz="2400" dirty="0">
                <a:solidFill>
                  <a:srgbClr val="000000"/>
                </a:solidFill>
                <a:latin typeface="+mj-lt"/>
                <a:cs typeface="Times New Roman" panose="02020603050405020304" pitchFamily="18" charset="0"/>
              </a:rPr>
              <a:t>Types of NDT</a:t>
            </a:r>
          </a:p>
          <a:p>
            <a:pPr marL="1485900" lvl="2" indent="-571500" algn="just">
              <a:buFont typeface="+mj-lt"/>
              <a:buAutoNum type="romanLcPeriod"/>
            </a:pPr>
            <a:r>
              <a:rPr lang="en-US" sz="2400" b="1" dirty="0">
                <a:solidFill>
                  <a:srgbClr val="000000"/>
                </a:solidFill>
                <a:latin typeface="+mj-lt"/>
                <a:cs typeface="Times New Roman" panose="02020603050405020304" pitchFamily="18" charset="0"/>
              </a:rPr>
              <a:t>Rebound Hammer Test</a:t>
            </a:r>
          </a:p>
          <a:p>
            <a:pPr marL="1485900" lvl="2" indent="-571500" algn="just">
              <a:buFont typeface="+mj-lt"/>
              <a:buAutoNum type="romanLcPeriod"/>
            </a:pPr>
            <a:r>
              <a:rPr lang="en-US" sz="2400" b="1" dirty="0">
                <a:solidFill>
                  <a:srgbClr val="000000"/>
                </a:solidFill>
                <a:latin typeface="+mj-lt"/>
                <a:cs typeface="Times New Roman" panose="02020603050405020304" pitchFamily="18" charset="0"/>
              </a:rPr>
              <a:t>Ultra-sonic Pulse Velocity (UPV) Test </a:t>
            </a:r>
          </a:p>
          <a:p>
            <a:pPr marL="1485900" lvl="2" indent="-571500" algn="just">
              <a:buFont typeface="+mj-lt"/>
              <a:buAutoNum type="romanLcPeriod"/>
            </a:pPr>
            <a:r>
              <a:rPr lang="en-US" sz="2400" b="1" dirty="0">
                <a:solidFill>
                  <a:srgbClr val="000000"/>
                </a:solidFill>
                <a:latin typeface="+mj-lt"/>
                <a:cs typeface="Times New Roman" panose="02020603050405020304" pitchFamily="18" charset="0"/>
              </a:rPr>
              <a:t>Penetration Resistance Test</a:t>
            </a:r>
          </a:p>
          <a:p>
            <a:pPr marL="1485900" lvl="2" indent="-571500" algn="just">
              <a:buFont typeface="+mj-lt"/>
              <a:buAutoNum type="romanLcPeriod"/>
            </a:pPr>
            <a:r>
              <a:rPr lang="en-US" sz="2400" dirty="0">
                <a:solidFill>
                  <a:srgbClr val="000000"/>
                </a:solidFill>
                <a:latin typeface="+mj-lt"/>
                <a:cs typeface="Times New Roman" panose="02020603050405020304" pitchFamily="18" charset="0"/>
              </a:rPr>
              <a:t>Ground Penetrating Radar (GPR)</a:t>
            </a:r>
          </a:p>
          <a:p>
            <a:pPr marL="1485900" lvl="2" indent="-571500" algn="just">
              <a:buFont typeface="+mj-lt"/>
              <a:buAutoNum type="romanLcPeriod"/>
            </a:pPr>
            <a:r>
              <a:rPr lang="en-US" sz="2400" b="1" dirty="0">
                <a:solidFill>
                  <a:srgbClr val="000000"/>
                </a:solidFill>
                <a:latin typeface="+mj-lt"/>
                <a:cs typeface="Times New Roman" panose="02020603050405020304" pitchFamily="18" charset="0"/>
              </a:rPr>
              <a:t>Visual Inspection</a:t>
            </a:r>
          </a:p>
          <a:p>
            <a:pPr marL="1485900" lvl="2" indent="-571500" algn="just">
              <a:buFont typeface="+mj-lt"/>
              <a:buAutoNum type="romanLcPeriod"/>
            </a:pPr>
            <a:r>
              <a:rPr lang="en-US" sz="2400" b="1" dirty="0">
                <a:solidFill>
                  <a:srgbClr val="000000"/>
                </a:solidFill>
                <a:latin typeface="+mj-lt"/>
                <a:cs typeface="Times New Roman" panose="02020603050405020304" pitchFamily="18" charset="0"/>
              </a:rPr>
              <a:t>Pull-Out Test</a:t>
            </a:r>
          </a:p>
          <a:p>
            <a:pPr marL="1485900" lvl="2" indent="-571500" algn="just">
              <a:buFont typeface="+mj-lt"/>
              <a:buAutoNum type="romanLcPeriod"/>
            </a:pPr>
            <a:r>
              <a:rPr lang="en-US" sz="2400" b="1" dirty="0">
                <a:solidFill>
                  <a:srgbClr val="000000"/>
                </a:solidFill>
                <a:latin typeface="+mj-lt"/>
                <a:cs typeface="Times New Roman" panose="02020603050405020304" pitchFamily="18" charset="0"/>
              </a:rPr>
              <a:t>Radiographic Testing</a:t>
            </a:r>
          </a:p>
          <a:p>
            <a:pPr marL="1485900" lvl="2" indent="-571500" algn="just">
              <a:buFont typeface="+mj-lt"/>
              <a:buAutoNum type="romanLcPeriod"/>
            </a:pPr>
            <a:r>
              <a:rPr lang="en-US" sz="2400" b="1" dirty="0">
                <a:solidFill>
                  <a:srgbClr val="000000"/>
                </a:solidFill>
                <a:latin typeface="+mj-lt"/>
                <a:cs typeface="Times New Roman" panose="02020603050405020304" pitchFamily="18" charset="0"/>
              </a:rPr>
              <a:t>Coring Technique</a:t>
            </a:r>
          </a:p>
          <a:p>
            <a:pPr marL="1028700" lvl="1" indent="-571500" algn="just">
              <a:buFont typeface="+mj-lt"/>
              <a:buAutoNum type="romanLcPeriod"/>
            </a:pPr>
            <a:endParaRPr lang="en-US" sz="2400" dirty="0">
              <a:solidFill>
                <a:srgbClr val="000000"/>
              </a:solidFill>
              <a:latin typeface="+mj-lt"/>
              <a:cs typeface="Times New Roman" panose="02020603050405020304" pitchFamily="18" charset="0"/>
            </a:endParaRPr>
          </a:p>
          <a:p>
            <a:pPr marL="1485900" lvl="2" indent="-571500" algn="just">
              <a:buFont typeface="+mj-lt"/>
              <a:buAutoNum type="romanLcPeriod"/>
            </a:pPr>
            <a:endParaRPr lang="en-US" sz="2400"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6167380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FABEB-4423-C402-B8BD-51FD80087D7C}"/>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B53C1190-B4FB-C396-390C-0AE7B240FF58}"/>
              </a:ext>
            </a:extLst>
          </p:cNvPr>
          <p:cNvSpPr>
            <a:spLocks noGrp="1" noChangeArrowheads="1"/>
          </p:cNvSpPr>
          <p:nvPr>
            <p:ph type="title"/>
          </p:nvPr>
        </p:nvSpPr>
        <p:spPr>
          <a:xfrm>
            <a:off x="1981200" y="-412395"/>
            <a:ext cx="8229600" cy="1143000"/>
          </a:xfrm>
          <a:noFill/>
        </p:spPr>
        <p:txBody>
          <a:bodyPr vert="horz" lIns="90488" tIns="44450" rIns="90488" bIns="44450" rtlCol="0" anchor="b">
            <a:normAutofit/>
          </a:bodyPr>
          <a:lstStyle/>
          <a:p>
            <a:pPr algn="ctr" eaLnBrk="1" hangingPunct="1"/>
            <a:r>
              <a:rPr lang="en-US" sz="4000" b="1" dirty="0"/>
              <a:t>Rebound Hammer Test</a:t>
            </a:r>
          </a:p>
        </p:txBody>
      </p:sp>
      <p:sp>
        <p:nvSpPr>
          <p:cNvPr id="270339" name="Rectangle 3">
            <a:extLst>
              <a:ext uri="{FF2B5EF4-FFF2-40B4-BE49-F238E27FC236}">
                <a16:creationId xmlns:a16="http://schemas.microsoft.com/office/drawing/2014/main" id="{9D15B457-B350-A3CB-0A71-8C031DEC7C7E}"/>
              </a:ext>
            </a:extLst>
          </p:cNvPr>
          <p:cNvSpPr>
            <a:spLocks noGrp="1" noChangeArrowheads="1"/>
          </p:cNvSpPr>
          <p:nvPr>
            <p:ph type="body" sz="quarter" idx="10"/>
          </p:nvPr>
        </p:nvSpPr>
        <p:spPr>
          <a:xfrm>
            <a:off x="1135779" y="1577629"/>
            <a:ext cx="6535555" cy="4525963"/>
          </a:xfrm>
        </p:spPr>
        <p:txBody>
          <a:bodyPr>
            <a:noAutofit/>
          </a:bodyPr>
          <a:lstStyle/>
          <a:p>
            <a:pPr marL="457200" indent="-457200" algn="just">
              <a:buFont typeface="Arial" panose="020B0604020202020204" pitchFamily="34" charset="0"/>
              <a:buChar char="•"/>
            </a:pPr>
            <a:r>
              <a:rPr lang="en-US" sz="2600" b="1" dirty="0">
                <a:solidFill>
                  <a:srgbClr val="000000"/>
                </a:solidFill>
                <a:latin typeface="+mj-lt"/>
              </a:rPr>
              <a:t>Principle</a:t>
            </a:r>
            <a:r>
              <a:rPr lang="en-US" sz="2600" dirty="0">
                <a:solidFill>
                  <a:srgbClr val="000000"/>
                </a:solidFill>
                <a:latin typeface="+mj-lt"/>
              </a:rPr>
              <a:t>: Measures the elastic rebound of a spring-loaded mass from the concrete surface, which correlates to the concrete's surface hardness and indirectly its strength. </a:t>
            </a:r>
          </a:p>
          <a:p>
            <a:pPr marL="457200" indent="-457200" algn="just">
              <a:buFont typeface="Arial" panose="020B0604020202020204" pitchFamily="34" charset="0"/>
              <a:buChar char="•"/>
            </a:pPr>
            <a:r>
              <a:rPr lang="en-US" sz="2600" b="1" dirty="0">
                <a:solidFill>
                  <a:srgbClr val="000000"/>
                </a:solidFill>
                <a:latin typeface="+mj-lt"/>
              </a:rPr>
              <a:t>Application</a:t>
            </a:r>
            <a:r>
              <a:rPr lang="en-US" sz="2600" dirty="0">
                <a:solidFill>
                  <a:srgbClr val="000000"/>
                </a:solidFill>
                <a:latin typeface="+mj-lt"/>
              </a:rPr>
              <a:t>: Quickly assesses concrete strength and surface hardness. </a:t>
            </a:r>
          </a:p>
          <a:p>
            <a:pPr marL="457200" indent="-457200" algn="just">
              <a:buFont typeface="Arial" panose="020B0604020202020204" pitchFamily="34" charset="0"/>
              <a:buChar char="•"/>
            </a:pPr>
            <a:r>
              <a:rPr lang="en-US" sz="2600" b="1" dirty="0">
                <a:solidFill>
                  <a:srgbClr val="000000"/>
                </a:solidFill>
                <a:latin typeface="+mj-lt"/>
              </a:rPr>
              <a:t>Tool</a:t>
            </a:r>
            <a:r>
              <a:rPr lang="en-US" sz="2600" dirty="0">
                <a:solidFill>
                  <a:srgbClr val="000000"/>
                </a:solidFill>
                <a:latin typeface="+mj-lt"/>
              </a:rPr>
              <a:t>: Schmidt hammer or rebound hammer. </a:t>
            </a:r>
            <a:endParaRPr lang="en-US" sz="3500" dirty="0">
              <a:solidFill>
                <a:srgbClr val="000000"/>
              </a:solidFill>
              <a:latin typeface="+mj-lt"/>
              <a:cs typeface="Times New Roman" panose="02020603050405020304" pitchFamily="18" charset="0"/>
            </a:endParaRPr>
          </a:p>
          <a:p>
            <a:pPr marL="1485900" lvl="2" indent="-571500" algn="just">
              <a:buFont typeface="+mj-lt"/>
              <a:buAutoNum type="romanLcPeriod"/>
            </a:pPr>
            <a:endParaRPr lang="en-US" sz="2600" dirty="0">
              <a:solidFill>
                <a:schemeClr val="tx1"/>
              </a:solidFill>
              <a:latin typeface="+mj-lt"/>
              <a:cs typeface="Times New Roman" panose="02020603050405020304" pitchFamily="18" charset="0"/>
            </a:endParaRPr>
          </a:p>
        </p:txBody>
      </p:sp>
      <p:pic>
        <p:nvPicPr>
          <p:cNvPr id="5124" name="Picture 4" descr="Rebound Hammer Test: What You Need to Know - Gilson Co.">
            <a:extLst>
              <a:ext uri="{FF2B5EF4-FFF2-40B4-BE49-F238E27FC236}">
                <a16:creationId xmlns:a16="http://schemas.microsoft.com/office/drawing/2014/main" id="{6C5041B7-ECFA-4594-6DA6-74660BF4DD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4215" y="1783210"/>
            <a:ext cx="4206240" cy="2923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96098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1A70E-D76E-CC42-C464-84F7A2D1572D}"/>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CA0C30C2-AB34-0F5C-948B-6F99B0229350}"/>
              </a:ext>
            </a:extLst>
          </p:cNvPr>
          <p:cNvSpPr>
            <a:spLocks noGrp="1" noChangeArrowheads="1"/>
          </p:cNvSpPr>
          <p:nvPr>
            <p:ph type="title"/>
          </p:nvPr>
        </p:nvSpPr>
        <p:spPr>
          <a:xfrm>
            <a:off x="1981200" y="-412395"/>
            <a:ext cx="8229600" cy="1143000"/>
          </a:xfrm>
          <a:noFill/>
        </p:spPr>
        <p:txBody>
          <a:bodyPr vert="horz" lIns="90488" tIns="44450" rIns="90488" bIns="44450" rtlCol="0" anchor="b">
            <a:normAutofit fontScale="90000"/>
          </a:bodyPr>
          <a:lstStyle/>
          <a:p>
            <a:pPr algn="ctr" eaLnBrk="1" hangingPunct="1"/>
            <a:r>
              <a:rPr lang="en-US" sz="4000" b="1" dirty="0"/>
              <a:t>Ultrasonic Pulse Velocity (UPV) Test</a:t>
            </a:r>
          </a:p>
        </p:txBody>
      </p:sp>
      <p:sp>
        <p:nvSpPr>
          <p:cNvPr id="270339" name="Rectangle 3">
            <a:extLst>
              <a:ext uri="{FF2B5EF4-FFF2-40B4-BE49-F238E27FC236}">
                <a16:creationId xmlns:a16="http://schemas.microsoft.com/office/drawing/2014/main" id="{79CA9FF8-3E89-92DB-FEEC-0B9DC7C225B2}"/>
              </a:ext>
            </a:extLst>
          </p:cNvPr>
          <p:cNvSpPr>
            <a:spLocks noGrp="1" noChangeArrowheads="1"/>
          </p:cNvSpPr>
          <p:nvPr>
            <p:ph type="body" sz="quarter" idx="10"/>
          </p:nvPr>
        </p:nvSpPr>
        <p:spPr>
          <a:xfrm>
            <a:off x="1135779" y="1577629"/>
            <a:ext cx="6535555" cy="4525963"/>
          </a:xfrm>
        </p:spPr>
        <p:txBody>
          <a:bodyPr>
            <a:noAutofit/>
          </a:bodyPr>
          <a:lstStyle/>
          <a:p>
            <a:pPr marL="457200" indent="-457200" algn="just">
              <a:buFont typeface="Arial" panose="020B0604020202020204" pitchFamily="34" charset="0"/>
              <a:buChar char="•"/>
            </a:pPr>
            <a:r>
              <a:rPr lang="en-US" sz="2600" b="1" dirty="0">
                <a:solidFill>
                  <a:srgbClr val="000000"/>
                </a:solidFill>
                <a:latin typeface="+mj-lt"/>
              </a:rPr>
              <a:t>Principle</a:t>
            </a:r>
            <a:r>
              <a:rPr lang="en-US" sz="2600" dirty="0">
                <a:solidFill>
                  <a:srgbClr val="000000"/>
                </a:solidFill>
                <a:latin typeface="+mj-lt"/>
              </a:rPr>
              <a:t>: Measures the speed at which sound waves travel through the concrete, which is related to its internal quality and strength. </a:t>
            </a:r>
          </a:p>
          <a:p>
            <a:pPr marL="457200" indent="-457200" algn="just">
              <a:buFont typeface="Arial" panose="020B0604020202020204" pitchFamily="34" charset="0"/>
              <a:buChar char="•"/>
            </a:pPr>
            <a:r>
              <a:rPr lang="en-US" sz="2600" b="1" dirty="0">
                <a:solidFill>
                  <a:srgbClr val="000000"/>
                </a:solidFill>
                <a:latin typeface="+mj-lt"/>
              </a:rPr>
              <a:t>Application</a:t>
            </a:r>
            <a:r>
              <a:rPr lang="en-US" sz="2600" dirty="0">
                <a:solidFill>
                  <a:srgbClr val="000000"/>
                </a:solidFill>
                <a:latin typeface="+mj-lt"/>
              </a:rPr>
              <a:t>: Detects voids, delamination, and other defects within the concrete. </a:t>
            </a:r>
          </a:p>
          <a:p>
            <a:pPr marL="457200" indent="-457200" algn="just">
              <a:buFont typeface="Arial" panose="020B0604020202020204" pitchFamily="34" charset="0"/>
              <a:buChar char="•"/>
            </a:pPr>
            <a:r>
              <a:rPr lang="en-US" sz="2600" b="1" dirty="0">
                <a:solidFill>
                  <a:srgbClr val="000000"/>
                </a:solidFill>
                <a:latin typeface="+mj-lt"/>
              </a:rPr>
              <a:t>Standards</a:t>
            </a:r>
            <a:r>
              <a:rPr lang="en-US" sz="2600" dirty="0">
                <a:solidFill>
                  <a:srgbClr val="000000"/>
                </a:solidFill>
                <a:latin typeface="+mj-lt"/>
              </a:rPr>
              <a:t>: ASTM C597. </a:t>
            </a:r>
            <a:endParaRPr lang="en-US" sz="2600" dirty="0">
              <a:solidFill>
                <a:schemeClr val="tx1"/>
              </a:solidFill>
              <a:latin typeface="+mj-lt"/>
              <a:cs typeface="Times New Roman" panose="02020603050405020304" pitchFamily="18" charset="0"/>
            </a:endParaRPr>
          </a:p>
        </p:txBody>
      </p:sp>
      <p:pic>
        <p:nvPicPr>
          <p:cNvPr id="2" name="Picture 2" descr="Non-Destructive Tests on Concrete – Methods, Uses">
            <a:extLst>
              <a:ext uri="{FF2B5EF4-FFF2-40B4-BE49-F238E27FC236}">
                <a16:creationId xmlns:a16="http://schemas.microsoft.com/office/drawing/2014/main" id="{7F3D7D04-BA64-4E9E-6DFB-C322B53F29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4114" y="1664255"/>
            <a:ext cx="4065486" cy="3937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21109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ACA53-660C-6196-AC33-4C1B8830F54A}"/>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9E418621-2066-B3E9-EB6F-BFA997B9080F}"/>
              </a:ext>
            </a:extLst>
          </p:cNvPr>
          <p:cNvSpPr>
            <a:spLocks noGrp="1" noChangeArrowheads="1"/>
          </p:cNvSpPr>
          <p:nvPr>
            <p:ph type="title"/>
          </p:nvPr>
        </p:nvSpPr>
        <p:spPr>
          <a:xfrm>
            <a:off x="1981200" y="-412395"/>
            <a:ext cx="8229600" cy="1143000"/>
          </a:xfrm>
          <a:noFill/>
        </p:spPr>
        <p:txBody>
          <a:bodyPr vert="horz" lIns="90488" tIns="44450" rIns="90488" bIns="44450" rtlCol="0" anchor="b">
            <a:normAutofit/>
          </a:bodyPr>
          <a:lstStyle/>
          <a:p>
            <a:pPr algn="ctr" eaLnBrk="1" hangingPunct="1"/>
            <a:r>
              <a:rPr lang="en-US" sz="4000" b="1" dirty="0"/>
              <a:t>Penetration Resistance Test</a:t>
            </a:r>
          </a:p>
        </p:txBody>
      </p:sp>
      <p:sp>
        <p:nvSpPr>
          <p:cNvPr id="270339" name="Rectangle 3">
            <a:extLst>
              <a:ext uri="{FF2B5EF4-FFF2-40B4-BE49-F238E27FC236}">
                <a16:creationId xmlns:a16="http://schemas.microsoft.com/office/drawing/2014/main" id="{815527DB-5B86-9AEA-14E7-DBBAC4E6AC97}"/>
              </a:ext>
            </a:extLst>
          </p:cNvPr>
          <p:cNvSpPr>
            <a:spLocks noGrp="1" noChangeArrowheads="1"/>
          </p:cNvSpPr>
          <p:nvPr>
            <p:ph type="body" sz="quarter" idx="10"/>
          </p:nvPr>
        </p:nvSpPr>
        <p:spPr>
          <a:xfrm>
            <a:off x="1135779" y="1577629"/>
            <a:ext cx="6535555" cy="4525963"/>
          </a:xfrm>
        </p:spPr>
        <p:txBody>
          <a:bodyPr>
            <a:noAutofit/>
          </a:bodyPr>
          <a:lstStyle/>
          <a:p>
            <a:pPr marL="457200" indent="-457200" algn="just">
              <a:buFont typeface="Arial" panose="020B0604020202020204" pitchFamily="34" charset="0"/>
              <a:buChar char="•"/>
            </a:pPr>
            <a:r>
              <a:rPr lang="en-US" sz="2600" b="1" dirty="0">
                <a:solidFill>
                  <a:srgbClr val="000000"/>
                </a:solidFill>
                <a:latin typeface="+mj-lt"/>
              </a:rPr>
              <a:t>Principle: </a:t>
            </a:r>
            <a:r>
              <a:rPr lang="en-US" sz="2600" dirty="0">
                <a:solidFill>
                  <a:srgbClr val="000000"/>
                </a:solidFill>
                <a:latin typeface="+mj-lt"/>
              </a:rPr>
              <a:t>Measures the resistance of concrete to penetration by a steel needle or probe.</a:t>
            </a:r>
          </a:p>
          <a:p>
            <a:pPr marL="457200" indent="-457200" algn="just">
              <a:buFont typeface="Arial" panose="020B0604020202020204" pitchFamily="34" charset="0"/>
              <a:buChar char="•"/>
            </a:pPr>
            <a:r>
              <a:rPr lang="en-US" sz="2600" b="1" dirty="0">
                <a:solidFill>
                  <a:srgbClr val="000000"/>
                </a:solidFill>
                <a:latin typeface="+mj-lt"/>
              </a:rPr>
              <a:t>Application: </a:t>
            </a:r>
            <a:r>
              <a:rPr lang="en-US" sz="2600" dirty="0">
                <a:solidFill>
                  <a:srgbClr val="000000"/>
                </a:solidFill>
                <a:latin typeface="+mj-lt"/>
              </a:rPr>
              <a:t>Provides a measure of concrete strength and hardness.</a:t>
            </a:r>
          </a:p>
          <a:p>
            <a:pPr marL="457200" indent="-457200" algn="just">
              <a:buFont typeface="Arial" panose="020B0604020202020204" pitchFamily="34" charset="0"/>
              <a:buChar char="•"/>
            </a:pPr>
            <a:r>
              <a:rPr lang="en-US" sz="2600" b="1" dirty="0">
                <a:solidFill>
                  <a:srgbClr val="000000"/>
                </a:solidFill>
                <a:latin typeface="+mj-lt"/>
              </a:rPr>
              <a:t>Tools: </a:t>
            </a:r>
            <a:r>
              <a:rPr lang="en-US" sz="2600" dirty="0">
                <a:solidFill>
                  <a:srgbClr val="000000"/>
                </a:solidFill>
                <a:latin typeface="+mj-lt"/>
              </a:rPr>
              <a:t>Windsor probe, spud pins. </a:t>
            </a:r>
            <a:endParaRPr lang="en-US" sz="2600" dirty="0">
              <a:solidFill>
                <a:schemeClr val="tx1"/>
              </a:solidFill>
              <a:latin typeface="+mj-lt"/>
              <a:cs typeface="Times New Roman" panose="02020603050405020304" pitchFamily="18" charset="0"/>
            </a:endParaRPr>
          </a:p>
        </p:txBody>
      </p:sp>
      <p:pic>
        <p:nvPicPr>
          <p:cNvPr id="9218" name="Picture 2" descr="Penetration Resistance Test – Significance and Procedure ...">
            <a:extLst>
              <a:ext uri="{FF2B5EF4-FFF2-40B4-BE49-F238E27FC236}">
                <a16:creationId xmlns:a16="http://schemas.microsoft.com/office/drawing/2014/main" id="{75AA8450-8A57-EFC4-5A0A-335F26EDC3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7947" y="2724150"/>
            <a:ext cx="4028310" cy="2232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97839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8F9A0-0E2D-5E07-F708-F5E430175898}"/>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232D6615-2B55-5C66-F0BF-5720E800BEB3}"/>
              </a:ext>
            </a:extLst>
          </p:cNvPr>
          <p:cNvSpPr>
            <a:spLocks noGrp="1" noChangeArrowheads="1"/>
          </p:cNvSpPr>
          <p:nvPr>
            <p:ph type="title"/>
          </p:nvPr>
        </p:nvSpPr>
        <p:spPr>
          <a:xfrm>
            <a:off x="980173" y="-388592"/>
            <a:ext cx="8229600" cy="1143000"/>
          </a:xfrm>
          <a:noFill/>
        </p:spPr>
        <p:txBody>
          <a:bodyPr vert="horz" lIns="90488" tIns="44450" rIns="90488" bIns="44450" rtlCol="0" anchor="b">
            <a:normAutofit/>
          </a:bodyPr>
          <a:lstStyle/>
          <a:p>
            <a:pPr algn="ctr" eaLnBrk="1" hangingPunct="1"/>
            <a:r>
              <a:rPr lang="en-US" sz="4000" b="1" dirty="0"/>
              <a:t>Visual Inspection</a:t>
            </a:r>
          </a:p>
        </p:txBody>
      </p:sp>
      <p:sp>
        <p:nvSpPr>
          <p:cNvPr id="270339" name="Rectangle 3">
            <a:extLst>
              <a:ext uri="{FF2B5EF4-FFF2-40B4-BE49-F238E27FC236}">
                <a16:creationId xmlns:a16="http://schemas.microsoft.com/office/drawing/2014/main" id="{A4D31E7D-63E9-DA72-6A8E-8C89A96510F8}"/>
              </a:ext>
            </a:extLst>
          </p:cNvPr>
          <p:cNvSpPr>
            <a:spLocks noGrp="1" noChangeArrowheads="1"/>
          </p:cNvSpPr>
          <p:nvPr>
            <p:ph type="body" sz="quarter" idx="10"/>
          </p:nvPr>
        </p:nvSpPr>
        <p:spPr>
          <a:xfrm>
            <a:off x="1135779" y="1577629"/>
            <a:ext cx="6535555" cy="4525963"/>
          </a:xfrm>
        </p:spPr>
        <p:txBody>
          <a:bodyPr>
            <a:noAutofit/>
          </a:bodyPr>
          <a:lstStyle/>
          <a:p>
            <a:pPr marL="457200" indent="-457200" algn="just">
              <a:buFont typeface="Arial" panose="020B0604020202020204" pitchFamily="34" charset="0"/>
              <a:buChar char="•"/>
            </a:pPr>
            <a:r>
              <a:rPr lang="en-US" sz="2600" b="1" dirty="0">
                <a:solidFill>
                  <a:srgbClr val="000000"/>
                </a:solidFill>
                <a:latin typeface="+mj-lt"/>
              </a:rPr>
              <a:t>Principle: </a:t>
            </a:r>
            <a:r>
              <a:rPr lang="en-US" sz="2600" dirty="0">
                <a:solidFill>
                  <a:srgbClr val="000000"/>
                </a:solidFill>
                <a:latin typeface="+mj-lt"/>
              </a:rPr>
              <a:t>Observing concrete for cracks, delamination, and other visible signs of deterioration.</a:t>
            </a:r>
          </a:p>
          <a:p>
            <a:pPr marL="457200" indent="-457200" algn="just">
              <a:buFont typeface="Arial" panose="020B0604020202020204" pitchFamily="34" charset="0"/>
              <a:buChar char="•"/>
            </a:pPr>
            <a:r>
              <a:rPr lang="en-US" sz="2600" b="1" dirty="0">
                <a:solidFill>
                  <a:srgbClr val="000000"/>
                </a:solidFill>
                <a:latin typeface="+mj-lt"/>
              </a:rPr>
              <a:t>Application: </a:t>
            </a:r>
            <a:r>
              <a:rPr lang="en-US" sz="2600" dirty="0">
                <a:solidFill>
                  <a:srgbClr val="000000"/>
                </a:solidFill>
                <a:latin typeface="+mj-lt"/>
              </a:rPr>
              <a:t>Provides an initial assessment of the concrete's condition. </a:t>
            </a:r>
            <a:endParaRPr lang="en-US" sz="2600" dirty="0">
              <a:solidFill>
                <a:schemeClr val="tx1"/>
              </a:solidFill>
              <a:latin typeface="+mj-lt"/>
              <a:cs typeface="Times New Roman" panose="02020603050405020304" pitchFamily="18" charset="0"/>
            </a:endParaRPr>
          </a:p>
        </p:txBody>
      </p:sp>
      <p:pic>
        <p:nvPicPr>
          <p:cNvPr id="2" name="Picture 1" descr="c&amp;ci-4277.jpg">
            <a:extLst>
              <a:ext uri="{FF2B5EF4-FFF2-40B4-BE49-F238E27FC236}">
                <a16:creationId xmlns:a16="http://schemas.microsoft.com/office/drawing/2014/main" id="{DFAB843A-E87F-5E70-5682-41200EAF7D3B}"/>
              </a:ext>
            </a:extLst>
          </p:cNvPr>
          <p:cNvPicPr>
            <a:picLocks noChangeAspect="1"/>
          </p:cNvPicPr>
          <p:nvPr/>
        </p:nvPicPr>
        <p:blipFill>
          <a:blip r:embed="rId3" cstate="print"/>
          <a:stretch>
            <a:fillRect/>
          </a:stretch>
        </p:blipFill>
        <p:spPr>
          <a:xfrm>
            <a:off x="7951688" y="0"/>
            <a:ext cx="4240311" cy="6858000"/>
          </a:xfrm>
          <a:prstGeom prst="rect">
            <a:avLst/>
          </a:prstGeom>
        </p:spPr>
      </p:pic>
    </p:spTree>
    <p:extLst>
      <p:ext uri="{BB962C8B-B14F-4D97-AF65-F5344CB8AC3E}">
        <p14:creationId xmlns:p14="http://schemas.microsoft.com/office/powerpoint/2010/main" val="36700990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4A59A-C021-8F5B-BE5D-70F52EDB3570}"/>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6F511B27-555F-7A49-8617-719DA8266B9A}"/>
              </a:ext>
            </a:extLst>
          </p:cNvPr>
          <p:cNvSpPr>
            <a:spLocks noGrp="1" noChangeArrowheads="1"/>
          </p:cNvSpPr>
          <p:nvPr>
            <p:ph type="title"/>
          </p:nvPr>
        </p:nvSpPr>
        <p:spPr>
          <a:xfrm>
            <a:off x="1981200" y="-412395"/>
            <a:ext cx="8229600" cy="1143000"/>
          </a:xfrm>
          <a:noFill/>
        </p:spPr>
        <p:txBody>
          <a:bodyPr vert="horz" lIns="90488" tIns="44450" rIns="90488" bIns="44450" rtlCol="0" anchor="b">
            <a:normAutofit/>
          </a:bodyPr>
          <a:lstStyle/>
          <a:p>
            <a:pPr algn="ctr" eaLnBrk="1" hangingPunct="1"/>
            <a:r>
              <a:rPr lang="en-US" sz="4000" b="1" dirty="0"/>
              <a:t>Pull-Out Test</a:t>
            </a:r>
          </a:p>
        </p:txBody>
      </p:sp>
      <p:sp>
        <p:nvSpPr>
          <p:cNvPr id="270339" name="Rectangle 3">
            <a:extLst>
              <a:ext uri="{FF2B5EF4-FFF2-40B4-BE49-F238E27FC236}">
                <a16:creationId xmlns:a16="http://schemas.microsoft.com/office/drawing/2014/main" id="{B8C7975B-9730-9B72-CD62-EA037535263E}"/>
              </a:ext>
            </a:extLst>
          </p:cNvPr>
          <p:cNvSpPr>
            <a:spLocks noGrp="1" noChangeArrowheads="1"/>
          </p:cNvSpPr>
          <p:nvPr>
            <p:ph type="body" sz="quarter" idx="10"/>
          </p:nvPr>
        </p:nvSpPr>
        <p:spPr>
          <a:xfrm>
            <a:off x="1135779" y="1577629"/>
            <a:ext cx="6535555" cy="4525963"/>
          </a:xfrm>
        </p:spPr>
        <p:txBody>
          <a:bodyPr>
            <a:noAutofit/>
          </a:bodyPr>
          <a:lstStyle/>
          <a:p>
            <a:pPr marL="457200" indent="-457200" algn="just">
              <a:buFont typeface="Arial" panose="020B0604020202020204" pitchFamily="34" charset="0"/>
              <a:buChar char="•"/>
            </a:pPr>
            <a:r>
              <a:rPr lang="en-US" sz="2600" b="1" dirty="0">
                <a:solidFill>
                  <a:srgbClr val="000000"/>
                </a:solidFill>
                <a:latin typeface="+mj-lt"/>
              </a:rPr>
              <a:t>Principle: </a:t>
            </a:r>
            <a:r>
              <a:rPr lang="en-US" sz="2600" dirty="0">
                <a:solidFill>
                  <a:srgbClr val="000000"/>
                </a:solidFill>
                <a:latin typeface="+mj-lt"/>
              </a:rPr>
              <a:t>Measures the force required to pull a steel rod pre-cast into the concrete, indicating the bond strength between concrete and reinforcement.</a:t>
            </a:r>
          </a:p>
          <a:p>
            <a:pPr marL="457200" indent="-457200" algn="just">
              <a:buFont typeface="Arial" panose="020B0604020202020204" pitchFamily="34" charset="0"/>
              <a:buChar char="•"/>
            </a:pPr>
            <a:r>
              <a:rPr lang="en-US" sz="2600" b="1" dirty="0">
                <a:solidFill>
                  <a:srgbClr val="000000"/>
                </a:solidFill>
                <a:latin typeface="+mj-lt"/>
              </a:rPr>
              <a:t>Application</a:t>
            </a:r>
            <a:r>
              <a:rPr lang="en-US" sz="2600" dirty="0">
                <a:solidFill>
                  <a:srgbClr val="000000"/>
                </a:solidFill>
                <a:latin typeface="+mj-lt"/>
              </a:rPr>
              <a:t>: Assesses the bond strength between concrete and reinforcement. </a:t>
            </a:r>
            <a:endParaRPr lang="en-US" sz="2600" dirty="0">
              <a:solidFill>
                <a:schemeClr val="tx1"/>
              </a:solidFill>
              <a:latin typeface="+mj-lt"/>
              <a:cs typeface="Times New Roman" panose="02020603050405020304" pitchFamily="18" charset="0"/>
            </a:endParaRPr>
          </a:p>
        </p:txBody>
      </p:sp>
      <p:pic>
        <p:nvPicPr>
          <p:cNvPr id="3" name="Picture 2">
            <a:extLst>
              <a:ext uri="{FF2B5EF4-FFF2-40B4-BE49-F238E27FC236}">
                <a16:creationId xmlns:a16="http://schemas.microsoft.com/office/drawing/2014/main" id="{49F306F9-76C9-B44D-8EFC-D98DDC784069}"/>
              </a:ext>
            </a:extLst>
          </p:cNvPr>
          <p:cNvPicPr>
            <a:picLocks noChangeAspect="1"/>
          </p:cNvPicPr>
          <p:nvPr/>
        </p:nvPicPr>
        <p:blipFill>
          <a:blip r:embed="rId3"/>
          <a:stretch>
            <a:fillRect/>
          </a:stretch>
        </p:blipFill>
        <p:spPr>
          <a:xfrm>
            <a:off x="8024117" y="2296598"/>
            <a:ext cx="4167883" cy="3981655"/>
          </a:xfrm>
          <a:prstGeom prst="rect">
            <a:avLst/>
          </a:prstGeom>
        </p:spPr>
      </p:pic>
    </p:spTree>
    <p:extLst>
      <p:ext uri="{BB962C8B-B14F-4D97-AF65-F5344CB8AC3E}">
        <p14:creationId xmlns:p14="http://schemas.microsoft.com/office/powerpoint/2010/main" val="19794724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7B516-2DAF-14C7-5C66-5BAF3315A25A}"/>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4A8EAFF2-CB72-2473-3B2B-AC762737837B}"/>
              </a:ext>
            </a:extLst>
          </p:cNvPr>
          <p:cNvSpPr>
            <a:spLocks noGrp="1" noChangeArrowheads="1"/>
          </p:cNvSpPr>
          <p:nvPr>
            <p:ph type="title"/>
          </p:nvPr>
        </p:nvSpPr>
        <p:spPr>
          <a:xfrm>
            <a:off x="1981200" y="-412395"/>
            <a:ext cx="8229600" cy="1143000"/>
          </a:xfrm>
          <a:noFill/>
        </p:spPr>
        <p:txBody>
          <a:bodyPr vert="horz" lIns="90488" tIns="44450" rIns="90488" bIns="44450" rtlCol="0" anchor="b">
            <a:normAutofit/>
          </a:bodyPr>
          <a:lstStyle/>
          <a:p>
            <a:pPr algn="ctr" eaLnBrk="1" hangingPunct="1"/>
            <a:r>
              <a:rPr lang="en-US" sz="4000" b="1" dirty="0"/>
              <a:t>Radiographic Testing</a:t>
            </a:r>
          </a:p>
        </p:txBody>
      </p:sp>
      <p:sp>
        <p:nvSpPr>
          <p:cNvPr id="270339" name="Rectangle 3">
            <a:extLst>
              <a:ext uri="{FF2B5EF4-FFF2-40B4-BE49-F238E27FC236}">
                <a16:creationId xmlns:a16="http://schemas.microsoft.com/office/drawing/2014/main" id="{DBE3F73F-6726-D826-7DAE-49EE7B1A7A94}"/>
              </a:ext>
            </a:extLst>
          </p:cNvPr>
          <p:cNvSpPr>
            <a:spLocks noGrp="1" noChangeArrowheads="1"/>
          </p:cNvSpPr>
          <p:nvPr>
            <p:ph type="body" sz="quarter" idx="10"/>
          </p:nvPr>
        </p:nvSpPr>
        <p:spPr>
          <a:xfrm>
            <a:off x="1135779" y="1577629"/>
            <a:ext cx="6535555" cy="4525963"/>
          </a:xfrm>
        </p:spPr>
        <p:txBody>
          <a:bodyPr>
            <a:noAutofit/>
          </a:bodyPr>
          <a:lstStyle/>
          <a:p>
            <a:pPr marL="457200" indent="-457200" algn="just">
              <a:buFont typeface="Arial" panose="020B0604020202020204" pitchFamily="34" charset="0"/>
              <a:buChar char="•"/>
            </a:pPr>
            <a:r>
              <a:rPr lang="en-US" sz="2600" b="1" dirty="0">
                <a:solidFill>
                  <a:srgbClr val="000000"/>
                </a:solidFill>
                <a:latin typeface="+mj-lt"/>
              </a:rPr>
              <a:t>Principle</a:t>
            </a:r>
            <a:r>
              <a:rPr lang="en-US" sz="2600" dirty="0">
                <a:solidFill>
                  <a:srgbClr val="000000"/>
                </a:solidFill>
                <a:latin typeface="+mj-lt"/>
              </a:rPr>
              <a:t>: Uses X-rays to detect internal defects like voids and the position of rebar.</a:t>
            </a:r>
          </a:p>
          <a:p>
            <a:pPr marL="457200" indent="-457200" algn="just">
              <a:buFont typeface="Arial" panose="020B0604020202020204" pitchFamily="34" charset="0"/>
              <a:buChar char="•"/>
            </a:pPr>
            <a:r>
              <a:rPr lang="en-US" sz="2600" b="1" dirty="0">
                <a:solidFill>
                  <a:srgbClr val="000000"/>
                </a:solidFill>
                <a:latin typeface="+mj-lt"/>
              </a:rPr>
              <a:t>Application: </a:t>
            </a:r>
            <a:r>
              <a:rPr lang="en-US" sz="2600" dirty="0">
                <a:solidFill>
                  <a:srgbClr val="000000"/>
                </a:solidFill>
                <a:latin typeface="+mj-lt"/>
              </a:rPr>
              <a:t>Provides a detailed view of the concrete's internal structure. </a:t>
            </a:r>
            <a:endParaRPr lang="en-US" sz="2600" dirty="0">
              <a:solidFill>
                <a:schemeClr val="tx1"/>
              </a:solidFill>
              <a:latin typeface="+mj-lt"/>
              <a:cs typeface="Times New Roman" panose="02020603050405020304" pitchFamily="18" charset="0"/>
            </a:endParaRPr>
          </a:p>
        </p:txBody>
      </p:sp>
      <p:pic>
        <p:nvPicPr>
          <p:cNvPr id="7170" name="Picture 2" descr="Concrete Inspections with Digital Radiography">
            <a:extLst>
              <a:ext uri="{FF2B5EF4-FFF2-40B4-BE49-F238E27FC236}">
                <a16:creationId xmlns:a16="http://schemas.microsoft.com/office/drawing/2014/main" id="{74E3DD6C-6ED6-BF6F-006F-2DC61C1A78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532" y="2406316"/>
            <a:ext cx="4347148" cy="2391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89288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2209800" y="0"/>
            <a:ext cx="7772400" cy="914400"/>
          </a:xfrm>
          <a:noFill/>
        </p:spPr>
        <p:txBody>
          <a:bodyPr vert="horz" lIns="90488" tIns="44450" rIns="90488" bIns="44450" rtlCol="0" anchor="b">
            <a:normAutofit/>
          </a:bodyPr>
          <a:lstStyle/>
          <a:p>
            <a:pPr algn="ctr" eaLnBrk="1" hangingPunct="1"/>
            <a:r>
              <a:rPr lang="en-US" sz="4000" b="1" dirty="0"/>
              <a:t>Core testing</a:t>
            </a:r>
          </a:p>
        </p:txBody>
      </p:sp>
      <p:sp>
        <p:nvSpPr>
          <p:cNvPr id="36867" name="Rectangle 3"/>
          <p:cNvSpPr>
            <a:spLocks noGrp="1" noChangeArrowheads="1"/>
          </p:cNvSpPr>
          <p:nvPr>
            <p:ph type="body" sz="quarter" idx="10"/>
          </p:nvPr>
        </p:nvSpPr>
        <p:spPr>
          <a:xfrm>
            <a:off x="1597794" y="1219200"/>
            <a:ext cx="10594206" cy="4572000"/>
          </a:xfrm>
          <a:noFill/>
        </p:spPr>
        <p:txBody>
          <a:bodyPr vert="horz" lIns="90488" tIns="44450" rIns="90488" bIns="44450" rtlCol="0">
            <a:normAutofit/>
          </a:bodyPr>
          <a:lstStyle/>
          <a:p>
            <a:pPr marL="457200" indent="-457200" algn="l">
              <a:lnSpc>
                <a:spcPct val="90000"/>
              </a:lnSpc>
              <a:buFont typeface="Arial" panose="020B0604020202020204" pitchFamily="34" charset="0"/>
              <a:buChar char="•"/>
            </a:pPr>
            <a:r>
              <a:rPr lang="en-US" sz="2800" dirty="0">
                <a:solidFill>
                  <a:schemeClr val="tx1"/>
                </a:solidFill>
              </a:rPr>
              <a:t>When cubes fail, the best way to verify the strength of the in situ concrete is to drill cores and test their strength.</a:t>
            </a:r>
          </a:p>
          <a:p>
            <a:pPr algn="l">
              <a:lnSpc>
                <a:spcPct val="90000"/>
              </a:lnSpc>
            </a:pPr>
            <a:endParaRPr lang="en-US" sz="2800" dirty="0">
              <a:solidFill>
                <a:schemeClr val="tx1"/>
              </a:solidFill>
            </a:endParaRPr>
          </a:p>
          <a:p>
            <a:pPr marL="457200" indent="-457200" algn="l">
              <a:lnSpc>
                <a:spcPct val="90000"/>
              </a:lnSpc>
              <a:buFont typeface="Arial" panose="020B0604020202020204" pitchFamily="34" charset="0"/>
              <a:buChar char="•"/>
            </a:pPr>
            <a:r>
              <a:rPr lang="en-US" sz="2800" dirty="0">
                <a:solidFill>
                  <a:schemeClr val="tx1"/>
                </a:solidFill>
              </a:rPr>
              <a:t>Cores are also ideal when;</a:t>
            </a:r>
          </a:p>
          <a:p>
            <a:pPr marL="1143000" lvl="2" indent="-342900">
              <a:lnSpc>
                <a:spcPct val="90000"/>
              </a:lnSpc>
              <a:buFont typeface="Arial" panose="020B0604020202020204" pitchFamily="34" charset="0"/>
              <a:buChar char="•"/>
            </a:pPr>
            <a:r>
              <a:rPr lang="en-US" sz="2400" dirty="0"/>
              <a:t>cubes get lost</a:t>
            </a:r>
          </a:p>
          <a:p>
            <a:pPr marL="1143000" lvl="2" indent="-342900">
              <a:lnSpc>
                <a:spcPct val="90000"/>
              </a:lnSpc>
              <a:buFont typeface="Arial" panose="020B0604020202020204" pitchFamily="34" charset="0"/>
              <a:buChar char="•"/>
            </a:pPr>
            <a:r>
              <a:rPr lang="en-US" sz="2400" dirty="0"/>
              <a:t>their results go missing</a:t>
            </a:r>
          </a:p>
          <a:p>
            <a:pPr marL="1143000" lvl="2" indent="-342900">
              <a:lnSpc>
                <a:spcPct val="90000"/>
              </a:lnSpc>
              <a:buFont typeface="Arial" panose="020B0604020202020204" pitchFamily="34" charset="0"/>
              <a:buChar char="•"/>
            </a:pPr>
            <a:r>
              <a:rPr lang="en-US" sz="2400" dirty="0"/>
              <a:t>there is a mix up with batch numbers</a:t>
            </a:r>
          </a:p>
          <a:p>
            <a:pPr marL="1143000" lvl="2" indent="-342900">
              <a:lnSpc>
                <a:spcPct val="90000"/>
              </a:lnSpc>
              <a:buFont typeface="Arial" panose="020B0604020202020204" pitchFamily="34" charset="0"/>
              <a:buChar char="•"/>
            </a:pPr>
            <a:r>
              <a:rPr lang="en-US" sz="2400" dirty="0"/>
              <a:t>when adding onto an existing structure</a:t>
            </a:r>
          </a:p>
          <a:p>
            <a:pPr marL="1143000" lvl="2" indent="-342900">
              <a:lnSpc>
                <a:spcPct val="90000"/>
              </a:lnSpc>
              <a:buFont typeface="Arial" panose="020B0604020202020204" pitchFamily="34" charset="0"/>
              <a:buChar char="•"/>
            </a:pPr>
            <a:r>
              <a:rPr lang="en-US" sz="2400" dirty="0"/>
              <a:t>when conducting a condition survey on structural health of an old structure</a:t>
            </a:r>
          </a:p>
          <a:p>
            <a:pPr marL="1143000" lvl="2" indent="-342900">
              <a:lnSpc>
                <a:spcPct val="90000"/>
              </a:lnSpc>
              <a:buFont typeface="Arial" panose="020B0604020202020204" pitchFamily="34" charset="0"/>
              <a:buChar char="•"/>
            </a:pPr>
            <a:r>
              <a:rPr lang="en-US" sz="2400" dirty="0"/>
              <a:t>Visual inspection of concrete</a:t>
            </a:r>
          </a:p>
        </p:txBody>
      </p:sp>
    </p:spTree>
    <p:extLst>
      <p:ext uri="{BB962C8B-B14F-4D97-AF65-F5344CB8AC3E}">
        <p14:creationId xmlns:p14="http://schemas.microsoft.com/office/powerpoint/2010/main" val="4759363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Image01"/>
          <p:cNvPicPr>
            <a:picLocks noChangeAspect="1" noChangeArrowheads="1"/>
          </p:cNvPicPr>
          <p:nvPr/>
        </p:nvPicPr>
        <p:blipFill>
          <a:blip r:embed="rId3" cstate="print"/>
          <a:srcRect/>
          <a:stretch>
            <a:fillRect/>
          </a:stretch>
        </p:blipFill>
        <p:spPr bwMode="auto">
          <a:xfrm>
            <a:off x="1524000" y="1"/>
            <a:ext cx="3022600" cy="4695825"/>
          </a:xfrm>
          <a:prstGeom prst="rect">
            <a:avLst/>
          </a:prstGeom>
          <a:noFill/>
          <a:ln w="9525">
            <a:noFill/>
            <a:miter lim="800000"/>
            <a:headEnd/>
            <a:tailEnd/>
          </a:ln>
        </p:spPr>
      </p:pic>
      <p:pic>
        <p:nvPicPr>
          <p:cNvPr id="37891" name="Picture 3" descr="Image02"/>
          <p:cNvPicPr>
            <a:picLocks noChangeAspect="1" noChangeArrowheads="1"/>
          </p:cNvPicPr>
          <p:nvPr/>
        </p:nvPicPr>
        <p:blipFill>
          <a:blip r:embed="rId4" cstate="print"/>
          <a:srcRect/>
          <a:stretch>
            <a:fillRect/>
          </a:stretch>
        </p:blipFill>
        <p:spPr bwMode="auto">
          <a:xfrm>
            <a:off x="4495800" y="1"/>
            <a:ext cx="6172200" cy="4727575"/>
          </a:xfrm>
          <a:prstGeom prst="rect">
            <a:avLst/>
          </a:prstGeom>
          <a:noFill/>
          <a:ln w="9525">
            <a:noFill/>
            <a:miter lim="800000"/>
            <a:headEnd/>
            <a:tailEnd/>
          </a:ln>
        </p:spPr>
      </p:pic>
      <p:pic>
        <p:nvPicPr>
          <p:cNvPr id="37892" name="Picture 4" descr="Image05"/>
          <p:cNvPicPr>
            <a:picLocks noChangeAspect="1" noChangeArrowheads="1"/>
          </p:cNvPicPr>
          <p:nvPr/>
        </p:nvPicPr>
        <p:blipFill>
          <a:blip r:embed="rId5" cstate="print"/>
          <a:srcRect/>
          <a:stretch>
            <a:fillRect/>
          </a:stretch>
        </p:blipFill>
        <p:spPr bwMode="auto">
          <a:xfrm>
            <a:off x="7239000" y="3581400"/>
            <a:ext cx="3429000" cy="3276600"/>
          </a:xfrm>
          <a:prstGeom prst="rect">
            <a:avLst/>
          </a:prstGeom>
          <a:noFill/>
          <a:ln w="9525">
            <a:noFill/>
            <a:miter lim="800000"/>
            <a:headEnd/>
            <a:tailEnd/>
          </a:ln>
        </p:spPr>
      </p:pic>
      <p:sp>
        <p:nvSpPr>
          <p:cNvPr id="37893" name="AutoShape 5"/>
          <p:cNvSpPr>
            <a:spLocks noChangeArrowheads="1"/>
          </p:cNvSpPr>
          <p:nvPr/>
        </p:nvSpPr>
        <p:spPr bwMode="auto">
          <a:xfrm>
            <a:off x="8153400" y="3429001"/>
            <a:ext cx="1828800" cy="485775"/>
          </a:xfrm>
          <a:prstGeom prst="leftRightArrow">
            <a:avLst>
              <a:gd name="adj1" fmla="val 50000"/>
              <a:gd name="adj2" fmla="val 75294"/>
            </a:avLst>
          </a:prstGeom>
          <a:solidFill>
            <a:schemeClr val="accent6">
              <a:lumMod val="75000"/>
            </a:schemeClr>
          </a:solidFill>
          <a:ln w="9525">
            <a:solidFill>
              <a:schemeClr val="tx1"/>
            </a:solidFill>
            <a:miter lim="800000"/>
          </a:ln>
        </p:spPr>
        <p:txBody>
          <a:bodyPr wrap="none" anchor="ctr"/>
          <a:lstStyle/>
          <a:p>
            <a:r>
              <a:rPr lang="en-US" sz="2000"/>
              <a:t>d</a:t>
            </a:r>
          </a:p>
        </p:txBody>
      </p:sp>
      <p:sp>
        <p:nvSpPr>
          <p:cNvPr id="37894" name="AutoShape 6"/>
          <p:cNvSpPr>
            <a:spLocks noChangeArrowheads="1"/>
          </p:cNvSpPr>
          <p:nvPr/>
        </p:nvSpPr>
        <p:spPr bwMode="auto">
          <a:xfrm>
            <a:off x="7467601" y="4191000"/>
            <a:ext cx="485775" cy="1828800"/>
          </a:xfrm>
          <a:prstGeom prst="upDownArrow">
            <a:avLst>
              <a:gd name="adj1" fmla="val 50000"/>
              <a:gd name="adj2" fmla="val 75294"/>
            </a:avLst>
          </a:prstGeom>
          <a:solidFill>
            <a:schemeClr val="accent6">
              <a:lumMod val="75000"/>
            </a:schemeClr>
          </a:solidFill>
          <a:ln w="9525">
            <a:solidFill>
              <a:schemeClr val="tx1"/>
            </a:solidFill>
            <a:miter lim="800000"/>
          </a:ln>
        </p:spPr>
        <p:txBody>
          <a:bodyPr wrap="none" anchor="ctr"/>
          <a:lstStyle/>
          <a:p>
            <a:r>
              <a:rPr lang="en-US">
                <a:latin typeface="Arial Unicode MS" panose="020B0604020202020204" pitchFamily="34" charset="-128"/>
                <a:ea typeface="Arial Unicode MS" panose="020B0604020202020204" pitchFamily="34" charset="-128"/>
                <a:cs typeface="Arial Unicode MS" panose="020B0604020202020204" pitchFamily="34" charset="-128"/>
              </a:rPr>
              <a:t>ℓ</a:t>
            </a:r>
          </a:p>
        </p:txBody>
      </p:sp>
      <p:sp>
        <p:nvSpPr>
          <p:cNvPr id="37895" name="Text Box 7"/>
          <p:cNvSpPr txBox="1">
            <a:spLocks noChangeArrowheads="1"/>
          </p:cNvSpPr>
          <p:nvPr/>
        </p:nvSpPr>
        <p:spPr bwMode="auto">
          <a:xfrm>
            <a:off x="1524000" y="4572000"/>
            <a:ext cx="5715000" cy="1754326"/>
          </a:xfrm>
          <a:prstGeom prst="rect">
            <a:avLst/>
          </a:prstGeom>
          <a:solidFill>
            <a:schemeClr val="accent6">
              <a:lumMod val="75000"/>
            </a:schemeClr>
          </a:solidFill>
          <a:ln w="9525">
            <a:noFill/>
            <a:miter lim="800000"/>
          </a:ln>
        </p:spPr>
        <p:txBody>
          <a:bodyPr>
            <a:spAutoFit/>
          </a:bodyPr>
          <a:lstStyle/>
          <a:p>
            <a:pPr algn="l"/>
            <a:r>
              <a:rPr lang="en-US"/>
              <a:t>The extraction and testing of cores is the best way to verify the strength of in situ concrete.  As much of the cover concrete as possible is removed so that the final aspect ratio is one (</a:t>
            </a:r>
            <a:r>
              <a:rPr lang="en-US">
                <a:latin typeface="Arial Unicode MS" panose="020B0604020202020204" pitchFamily="34" charset="-128"/>
                <a:ea typeface="Arial Unicode MS" panose="020B0604020202020204" pitchFamily="34" charset="-128"/>
                <a:cs typeface="Arial Unicode MS" panose="020B0604020202020204" pitchFamily="34" charset="-128"/>
              </a:rPr>
              <a:t>ℓ/d = 1). </a:t>
            </a:r>
            <a:r>
              <a:rPr lang="en-US">
                <a:ea typeface="Arial Unicode MS" panose="020B0604020202020204" pitchFamily="34" charset="-128"/>
                <a:cs typeface="Arial Unicode MS" panose="020B0604020202020204" pitchFamily="34" charset="-128"/>
              </a:rPr>
              <a:t>The ends are capped or ground so they are square, parallel and plane.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774825" y="1484313"/>
            <a:ext cx="4249738" cy="646112"/>
          </a:xfrm>
          <a:prstGeom prst="rect">
            <a:avLst/>
          </a:prstGeom>
          <a:noFill/>
        </p:spPr>
        <p:txBody>
          <a:bodyPr>
            <a:spAutoFit/>
          </a:bodyPr>
          <a:lstStyle/>
          <a:p>
            <a:pPr algn="ctr">
              <a:defRPr/>
            </a:pPr>
            <a:r>
              <a:rPr lang="en-ZA" sz="3600">
                <a:latin typeface="+mj-lt"/>
              </a:rPr>
              <a:t>End</a:t>
            </a:r>
            <a:endParaRPr lang="en-US" sz="3600">
              <a:latin typeface="+mj-lt"/>
            </a:endParaRPr>
          </a:p>
        </p:txBody>
      </p:sp>
      <p:pic>
        <p:nvPicPr>
          <p:cNvPr id="45065" name="Picture 11" descr="IMGP2314.JPG"/>
          <p:cNvPicPr>
            <a:picLocks noChangeAspect="1"/>
          </p:cNvPicPr>
          <p:nvPr/>
        </p:nvPicPr>
        <p:blipFill>
          <a:blip r:embed="rId3" cstate="print"/>
          <a:srcRect/>
          <a:stretch>
            <a:fillRect/>
          </a:stretch>
        </p:blipFill>
        <p:spPr bwMode="auto">
          <a:xfrm>
            <a:off x="6276975" y="0"/>
            <a:ext cx="4427538" cy="6858000"/>
          </a:xfrm>
          <a:prstGeom prst="rect">
            <a:avLst/>
          </a:prstGeom>
          <a:noFill/>
          <a:ln w="9525">
            <a:noFill/>
            <a:miter lim="800000"/>
            <a:headEnd/>
            <a:tailEnd/>
          </a:ln>
        </p:spPr>
      </p:pic>
      <p:pic>
        <p:nvPicPr>
          <p:cNvPr id="45066" name="Picture 9" descr="IMGP2290.JPG"/>
          <p:cNvPicPr>
            <a:picLocks noChangeAspect="1"/>
          </p:cNvPicPr>
          <p:nvPr/>
        </p:nvPicPr>
        <p:blipFill>
          <a:blip r:embed="rId4" cstate="print"/>
          <a:srcRect/>
          <a:stretch>
            <a:fillRect/>
          </a:stretch>
        </p:blipFill>
        <p:spPr bwMode="auto">
          <a:xfrm>
            <a:off x="5060675" y="4364930"/>
            <a:ext cx="2691510" cy="2520454"/>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949</TotalTime>
  <Words>2624</Words>
  <Application>Microsoft Office PowerPoint</Application>
  <PresentationFormat>Widescreen</PresentationFormat>
  <Paragraphs>319</Paragraphs>
  <Slides>60</Slides>
  <Notes>51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60</vt:i4>
      </vt:variant>
    </vt:vector>
  </HeadingPairs>
  <TitlesOfParts>
    <vt:vector size="72" baseType="lpstr">
      <vt:lpstr>Arial Unicode MS</vt:lpstr>
      <vt:lpstr>Arial</vt:lpstr>
      <vt:lpstr>Bauhaus 93</vt:lpstr>
      <vt:lpstr>Calibri</vt:lpstr>
      <vt:lpstr>Century Gothic</vt:lpstr>
      <vt:lpstr>Google Sans</vt:lpstr>
      <vt:lpstr>Symbol</vt:lpstr>
      <vt:lpstr>Times New Roman</vt:lpstr>
      <vt:lpstr>Wingdings 3</vt:lpstr>
      <vt:lpstr>Wisp</vt:lpstr>
      <vt:lpstr>Image File</vt:lpstr>
      <vt:lpstr>Document</vt:lpstr>
      <vt:lpstr>FCC3 246: CONCRETE MATERIALS  Lecture 11: PROPERTIES OF AND TESTS ON - HARD CONCRETE</vt:lpstr>
      <vt:lpstr>Properties of Plain Concrete</vt:lpstr>
      <vt:lpstr>Compaction  </vt:lpstr>
      <vt:lpstr>Curing</vt:lpstr>
      <vt:lpstr>Hardening of Concrete</vt:lpstr>
      <vt:lpstr>The hardening and strengthening process</vt:lpstr>
      <vt:lpstr>When does concrete reach its full strength?</vt:lpstr>
      <vt:lpstr>Hardening Process</vt:lpstr>
      <vt:lpstr>Factors Affecting Temperature Rise</vt:lpstr>
      <vt:lpstr>Properties of Hardened Concrete</vt:lpstr>
      <vt:lpstr>Factors influencing properties of Hardened Concrete</vt:lpstr>
      <vt:lpstr>Temperature</vt:lpstr>
      <vt:lpstr>i. Strength</vt:lpstr>
      <vt:lpstr>PowerPoint Presentation</vt:lpstr>
      <vt:lpstr>Concrete strengths</vt:lpstr>
      <vt:lpstr>PowerPoint Presentation</vt:lpstr>
      <vt:lpstr>PowerPoint Presentation</vt:lpstr>
      <vt:lpstr>Accelerated Strength Testing</vt:lpstr>
      <vt:lpstr>PowerPoint Presentation</vt:lpstr>
      <vt:lpstr>PowerPoint Presentation</vt:lpstr>
      <vt:lpstr>PowerPoint Presentation</vt:lpstr>
      <vt:lpstr>viii. Density</vt:lpstr>
      <vt:lpstr>viii. Density</vt:lpstr>
      <vt:lpstr>TESTS ON HARD CONCRETE</vt:lpstr>
      <vt:lpstr>TESTS</vt:lpstr>
      <vt:lpstr>RELEVANT CODES</vt:lpstr>
      <vt:lpstr>TESTS ON HARD CONCRETE - CUBE TEST </vt:lpstr>
      <vt:lpstr>The Cube Test - Making Cubes</vt:lpstr>
      <vt:lpstr>The Cube Test - Curing</vt:lpstr>
      <vt:lpstr>Accelerated Curing</vt:lpstr>
      <vt:lpstr>                          Cube testing (BS EN 12390-2)</vt:lpstr>
      <vt:lpstr>Moisture Condition at Time of Test</vt:lpstr>
      <vt:lpstr>Cube Tests of Hardened Concrete</vt:lpstr>
      <vt:lpstr>Crushing of Cubes</vt:lpstr>
      <vt:lpstr>The Cube Test - Testing Cubes</vt:lpstr>
      <vt:lpstr>PowerPoint Presentation</vt:lpstr>
      <vt:lpstr>       Unsatisfactory failures</vt:lpstr>
      <vt:lpstr>TESTS ON HARD CONCRETE - CYLINDER TEST </vt:lpstr>
      <vt:lpstr>PowerPoint Presentation</vt:lpstr>
      <vt:lpstr>Splitting Test Platens</vt:lpstr>
      <vt:lpstr>Tensile Strength</vt:lpstr>
      <vt:lpstr>Tensile splitting Test</vt:lpstr>
      <vt:lpstr>TESTS ON HARD CONCRETE - BEAM TEST </vt:lpstr>
      <vt:lpstr>Indirect tensile strength Test</vt:lpstr>
      <vt:lpstr>Flexural Beam Test (BS EN 12390-5)</vt:lpstr>
      <vt:lpstr>Center Point flexural strength test</vt:lpstr>
      <vt:lpstr>Two Point flexural strength test</vt:lpstr>
      <vt:lpstr>Flexural Beam Test</vt:lpstr>
      <vt:lpstr>TESTS ON HARD CONCRETE – NON-DESTRUCTIVE TESTING (NDT) </vt:lpstr>
      <vt:lpstr>PowerPoint Presentation</vt:lpstr>
      <vt:lpstr>NDT</vt:lpstr>
      <vt:lpstr>Rebound Hammer Test</vt:lpstr>
      <vt:lpstr>Ultrasonic Pulse Velocity (UPV) Test</vt:lpstr>
      <vt:lpstr>Penetration Resistance Test</vt:lpstr>
      <vt:lpstr>Visual Inspection</vt:lpstr>
      <vt:lpstr>Pull-Out Test</vt:lpstr>
      <vt:lpstr>Radiographic Testing</vt:lpstr>
      <vt:lpstr>Core testing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303: THEORY AND DESIGN OF STRUCTURES 3</dc:title>
  <dc:creator>Muthomi</dc:creator>
  <cp:lastModifiedBy>Stephen Mwaura</cp:lastModifiedBy>
  <cp:revision>137</cp:revision>
  <cp:lastPrinted>2024-06-07T15:23:00Z</cp:lastPrinted>
  <dcterms:created xsi:type="dcterms:W3CDTF">2018-09-25T15:18:00Z</dcterms:created>
  <dcterms:modified xsi:type="dcterms:W3CDTF">2025-04-28T08:22:03Z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6D3411C3E01E4F08895D060F3AA80A1C_13</vt:lpwstr>
  </property>
  <property fmtid="{D5CDD505-2E9C-101B-9397-08002B2CF9AE}" pid="3" name="KSOProductBuildVer">
    <vt:lpwstr>1033-12.2.0.20782</vt:lpwstr>
  </property>
</Properties>
</file>