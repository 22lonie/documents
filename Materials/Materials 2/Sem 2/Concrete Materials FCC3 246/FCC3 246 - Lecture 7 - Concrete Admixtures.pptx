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9"/>
  </p:handoutMasterIdLst>
  <p:sldIdLst>
    <p:sldId id="909" r:id="rId3"/>
    <p:sldId id="351" r:id="rId5"/>
    <p:sldId id="910" r:id="rId6"/>
    <p:sldId id="911" r:id="rId7"/>
    <p:sldId id="365" r:id="rId8"/>
    <p:sldId id="366" r:id="rId9"/>
    <p:sldId id="912" r:id="rId10"/>
    <p:sldId id="913" r:id="rId11"/>
    <p:sldId id="367" r:id="rId12"/>
    <p:sldId id="368" r:id="rId13"/>
    <p:sldId id="369" r:id="rId14"/>
    <p:sldId id="370" r:id="rId15"/>
    <p:sldId id="914" r:id="rId16"/>
    <p:sldId id="408" r:id="rId17"/>
    <p:sldId id="915" r:id="rId18"/>
    <p:sldId id="916" r:id="rId19"/>
    <p:sldId id="917" r:id="rId20"/>
    <p:sldId id="918" r:id="rId21"/>
    <p:sldId id="371" r:id="rId22"/>
    <p:sldId id="374" r:id="rId23"/>
    <p:sldId id="919" r:id="rId24"/>
    <p:sldId id="920" r:id="rId25"/>
    <p:sldId id="921" r:id="rId26"/>
    <p:sldId id="922" r:id="rId27"/>
    <p:sldId id="923" r:id="rId28"/>
    <p:sldId id="924" r:id="rId29"/>
    <p:sldId id="925" r:id="rId30"/>
    <p:sldId id="926" r:id="rId31"/>
    <p:sldId id="927" r:id="rId32"/>
    <p:sldId id="928" r:id="rId33"/>
    <p:sldId id="929" r:id="rId34"/>
    <p:sldId id="930" r:id="rId35"/>
    <p:sldId id="931" r:id="rId36"/>
    <p:sldId id="932" r:id="rId37"/>
    <p:sldId id="933" r:id="rId38"/>
    <p:sldId id="934" r:id="rId39"/>
    <p:sldId id="935" r:id="rId40"/>
    <p:sldId id="936" r:id="rId41"/>
    <p:sldId id="937" r:id="rId42"/>
    <p:sldId id="938" r:id="rId43"/>
    <p:sldId id="939" r:id="rId44"/>
    <p:sldId id="940" r:id="rId45"/>
    <p:sldId id="941" r:id="rId46"/>
    <p:sldId id="942" r:id="rId47"/>
    <p:sldId id="1120" r:id="rId48"/>
  </p:sldIdLst>
  <p:sldSz cx="12192000" cy="6858000"/>
  <p:notesSz cx="7099300" cy="102342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7" id="{5CE85A2F-66AD-4B42-B143-FD644917D8DA}">
          <p14:sldIdLst>
            <p14:sldId id="909"/>
            <p14:sldId id="351"/>
            <p14:sldId id="910"/>
            <p14:sldId id="911"/>
            <p14:sldId id="365"/>
            <p14:sldId id="366"/>
            <p14:sldId id="912"/>
            <p14:sldId id="913"/>
            <p14:sldId id="367"/>
            <p14:sldId id="368"/>
            <p14:sldId id="369"/>
            <p14:sldId id="370"/>
            <p14:sldId id="914"/>
            <p14:sldId id="408"/>
            <p14:sldId id="915"/>
            <p14:sldId id="916"/>
            <p14:sldId id="917"/>
            <p14:sldId id="918"/>
            <p14:sldId id="371"/>
            <p14:sldId id="374"/>
            <p14:sldId id="919"/>
            <p14:sldId id="920"/>
            <p14:sldId id="921"/>
            <p14:sldId id="922"/>
            <p14:sldId id="923"/>
            <p14:sldId id="924"/>
            <p14:sldId id="925"/>
            <p14:sldId id="926"/>
            <p14:sldId id="927"/>
            <p14:sldId id="928"/>
            <p14:sldId id="929"/>
            <p14:sldId id="930"/>
            <p14:sldId id="931"/>
            <p14:sldId id="932"/>
            <p14:sldId id="933"/>
            <p14:sldId id="934"/>
            <p14:sldId id="935"/>
            <p14:sldId id="936"/>
            <p14:sldId id="937"/>
            <p14:sldId id="938"/>
            <p14:sldId id="939"/>
            <p14:sldId id="940"/>
            <p14:sldId id="941"/>
            <p14:sldId id="942"/>
            <p14:sldId id="1120"/>
          </p14:sldIdLst>
        </p14:section>
        <p14:section name="Default Section" id="{BCB7AB3F-7E67-4D5F-9EB6-DEC2F2BAD6F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91"/>
      </p:cViewPr>
      <p:guideLst/>
    </p:cSldViewPr>
  </p:slideViewPr>
  <p:notesTextViewPr>
    <p:cViewPr>
      <p:scale>
        <a:sx n="1" d="1"/>
        <a:sy n="1" d="1"/>
      </p:scale>
      <p:origin x="0" y="0"/>
    </p:cViewPr>
  </p:notesTextViewPr>
  <p:sorterViewPr>
    <p:cViewPr>
      <p:scale>
        <a:sx n="100" d="100"/>
        <a:sy n="100" d="100"/>
      </p:scale>
      <p:origin x="0" y="-127494"/>
    </p:cViewPr>
  </p:sorterViewPr>
  <p:notesViewPr>
    <p:cSldViewPr snapToGrid="0">
      <p:cViewPr varScale="1">
        <p:scale>
          <a:sx n="56" d="100"/>
          <a:sy n="56" d="100"/>
        </p:scale>
        <p:origin x="3312" y="53"/>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2.xml"/><Relationship Id="rId49" Type="http://schemas.openxmlformats.org/officeDocument/2006/relationships/handoutMaster" Target="handoutMasters/handoutMaster1.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r>
              <a:rPr lang="en-GB" dirty="0"/>
              <a:t>FCC3 246 – Concrete Materials 2023/2024</a:t>
            </a:r>
            <a:endParaRPr lang="en-GB" dirty="0"/>
          </a:p>
        </p:txBody>
      </p:sp>
      <p:sp>
        <p:nvSpPr>
          <p:cNvPr id="3" name="Date Placeholder 2"/>
          <p:cNvSpPr>
            <a:spLocks noGrp="1"/>
          </p:cNvSpPr>
          <p:nvPr>
            <p:ph type="dt" sz="quarter" idx="1"/>
          </p:nvPr>
        </p:nvSpPr>
        <p:spPr>
          <a:xfrm>
            <a:off x="4021138" y="1"/>
            <a:ext cx="3076575" cy="512763"/>
          </a:xfrm>
          <a:prstGeom prst="rect">
            <a:avLst/>
          </a:prstGeom>
        </p:spPr>
        <p:txBody>
          <a:bodyPr vert="horz" lIns="91440" tIns="45720" rIns="91440" bIns="45720" rtlCol="0"/>
          <a:lstStyle>
            <a:lvl1pPr algn="r">
              <a:defRPr sz="1200"/>
            </a:lvl1pPr>
          </a:lstStyle>
          <a:p>
            <a:fld id="{3E8D9978-ED5B-4A29-B35C-F452FF85B205}" type="datetime1">
              <a:rPr lang="en-GB" smtClean="0"/>
            </a:fld>
            <a:endParaRPr lang="en-GB"/>
          </a:p>
        </p:txBody>
      </p:sp>
      <p:sp>
        <p:nvSpPr>
          <p:cNvPr id="4" name="Footer Placeholder 3"/>
          <p:cNvSpPr>
            <a:spLocks noGrp="1"/>
          </p:cNvSpPr>
          <p:nvPr>
            <p:ph type="ftr" sz="quarter" idx="2"/>
          </p:nvPr>
        </p:nvSpPr>
        <p:spPr>
          <a:xfrm>
            <a:off x="1" y="9721850"/>
            <a:ext cx="3076575" cy="512763"/>
          </a:xfrm>
          <a:prstGeom prst="rect">
            <a:avLst/>
          </a:prstGeom>
        </p:spPr>
        <p:txBody>
          <a:bodyPr vert="horz" lIns="91440" tIns="45720" rIns="91440" bIns="45720" rtlCol="0" anchor="b"/>
          <a:lstStyle>
            <a:lvl1pPr algn="l">
              <a:defRPr sz="1200"/>
            </a:lvl1pPr>
          </a:lstStyle>
          <a:p>
            <a:r>
              <a:rPr lang="en-GB"/>
              <a:t>muthomi@uonbi.ac.ke </a:t>
            </a:r>
            <a:endParaRPr lang="en-GB"/>
          </a:p>
        </p:txBody>
      </p:sp>
    </p:spTree>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r>
              <a:rPr lang="en-GB"/>
              <a:t>BAR 303 - Theory &amp; Design of Structures III 2021/2022</a:t>
            </a:r>
            <a:endParaRPr lang="en-GB"/>
          </a:p>
        </p:txBody>
      </p:sp>
      <p:sp>
        <p:nvSpPr>
          <p:cNvPr id="3" name="Date Placeholder 2"/>
          <p:cNvSpPr>
            <a:spLocks noGrp="1"/>
          </p:cNvSpPr>
          <p:nvPr>
            <p:ph type="dt" idx="1"/>
          </p:nvPr>
        </p:nvSpPr>
        <p:spPr>
          <a:xfrm>
            <a:off x="4021138" y="1"/>
            <a:ext cx="3076575" cy="512763"/>
          </a:xfrm>
          <a:prstGeom prst="rect">
            <a:avLst/>
          </a:prstGeom>
        </p:spPr>
        <p:txBody>
          <a:bodyPr vert="horz" lIns="91440" tIns="45720" rIns="91440" bIns="45720" rtlCol="0"/>
          <a:lstStyle>
            <a:lvl1pPr algn="r">
              <a:defRPr sz="1200"/>
            </a:lvl1pPr>
          </a:lstStyle>
          <a:p>
            <a:fld id="{D6C46915-6F6C-46C9-BC95-22DE85ACF263}" type="datetime1">
              <a:rPr lang="en-GB" smtClean="0"/>
            </a:fld>
            <a:endParaRPr lang="en-GB"/>
          </a:p>
        </p:txBody>
      </p:sp>
      <p:sp>
        <p:nvSpPr>
          <p:cNvPr id="4" name="Slide Image Placeholder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1" y="9721850"/>
            <a:ext cx="3076575" cy="512763"/>
          </a:xfrm>
          <a:prstGeom prst="rect">
            <a:avLst/>
          </a:prstGeom>
        </p:spPr>
        <p:txBody>
          <a:bodyPr vert="horz" lIns="91440" tIns="45720" rIns="91440" bIns="45720" rtlCol="0" anchor="b"/>
          <a:lstStyle>
            <a:lvl1pPr algn="l">
              <a:defRPr sz="1200"/>
            </a:lvl1pPr>
          </a:lstStyle>
          <a:p>
            <a:r>
              <a:rPr lang="en-GB"/>
              <a:t>muthomi@uonbi.ac.ke </a:t>
            </a:r>
            <a:endParaRPr lang="en-GB"/>
          </a:p>
        </p:txBody>
      </p:sp>
      <p:sp>
        <p:nvSpPr>
          <p:cNvPr id="7" name="Slide Number Placehold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A25A6967-00BE-478A-B95F-FC0FCC7AAC7A}" type="slidenum">
              <a:rPr lang="en-GB" smtClean="0"/>
            </a:fld>
            <a:endParaRPr lang="en-GB"/>
          </a:p>
        </p:txBody>
      </p:sp>
    </p:spTree>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Date Placeholder 4"/>
          <p:cNvSpPr>
            <a:spLocks noGrp="1"/>
          </p:cNvSpPr>
          <p:nvPr>
            <p:ph type="dt" idx="1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p:sp>
      <p:sp>
        <p:nvSpPr>
          <p:cNvPr id="66563" name="Rectangle 3"/>
          <p:cNvSpPr>
            <a:spLocks noGrp="1" noChangeArrowheads="1"/>
          </p:cNvSpPr>
          <p:nvPr>
            <p:ph type="body" idx="1"/>
          </p:nvPr>
        </p:nvSpPr>
        <p:spPr/>
        <p:txBody>
          <a:bodyPr/>
          <a:lstStyle/>
          <a:p>
            <a:endParaRPr lang="en-US"/>
          </a:p>
        </p:txBody>
      </p:sp>
      <p:sp>
        <p:nvSpPr>
          <p:cNvPr id="4" name="Date Placeholder 3"/>
          <p:cNvSpPr>
            <a:spLocks noGrp="1"/>
          </p:cNvSpPr>
          <p:nvPr>
            <p:ph type="dt" idx="10"/>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p:sp>
      <p:sp>
        <p:nvSpPr>
          <p:cNvPr id="675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p:sp>
      <p:sp>
        <p:nvSpPr>
          <p:cNvPr id="675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p:sp>
      <p:sp>
        <p:nvSpPr>
          <p:cNvPr id="686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p:sp>
      <p:sp>
        <p:nvSpPr>
          <p:cNvPr id="69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7E1AD5-FD6B-4333-86C8-A4DA8C4FFE0E}" type="slidenum">
              <a:rPr lang="en-GB" smtClean="0"/>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D7E1AD5-FD6B-4333-86C8-A4DA8C4FFE0E}" type="slidenum">
              <a:rPr lang="en-GB" smtClean="0"/>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p:sp>
      <p:sp>
        <p:nvSpPr>
          <p:cNvPr id="69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p:sp>
      <p:sp>
        <p:nvSpPr>
          <p:cNvPr id="70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p:sp>
      <p:sp>
        <p:nvSpPr>
          <p:cNvPr id="716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p:sp>
      <p:sp>
        <p:nvSpPr>
          <p:cNvPr id="72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p:sp>
      <p:sp>
        <p:nvSpPr>
          <p:cNvPr id="83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301BA1C1-8CEA-4528-B9DF-86EFA7F8B539}" type="slidenum">
              <a:rPr lang="en-US" altLang="ja-JP"/>
            </a:fld>
            <a:endParaRPr lang="en-US" altLang="ja-JP"/>
          </a:p>
        </p:txBody>
      </p:sp>
      <p:sp>
        <p:nvSpPr>
          <p:cNvPr id="32771" name="Rectangle 2"/>
          <p:cNvSpPr>
            <a:spLocks noGrp="1" noRot="1" noChangeAspect="1" noChangeArrowheads="1"/>
          </p:cNvSpPr>
          <p:nvPr>
            <p:ph type="sldImg"/>
          </p:nvPr>
        </p:nvSpPr>
        <p:spPr>
          <a:xfrm>
            <a:off x="2513013" y="595313"/>
            <a:ext cx="4278312" cy="2408237"/>
          </a:xfrm>
          <a:ln w="12700" cap="flat">
            <a:solidFill>
              <a:schemeClr val="tx1"/>
            </a:solidFill>
          </a:ln>
        </p:spPr>
      </p:sp>
      <p:sp>
        <p:nvSpPr>
          <p:cNvPr id="32772" name="Rectangle 3"/>
          <p:cNvSpPr>
            <a:spLocks noGrp="1" noChangeArrowheads="1"/>
          </p:cNvSpPr>
          <p:nvPr>
            <p:ph type="body" idx="1"/>
          </p:nvPr>
        </p:nvSpPr>
        <p:spPr>
          <a:xfrm>
            <a:off x="1219343" y="3267803"/>
            <a:ext cx="6703179" cy="3101123"/>
          </a:xfrm>
          <a:noFill/>
        </p:spPr>
        <p:txBody>
          <a:bodyPr lIns="92075" tIns="46038" rIns="92075" bIns="46038"/>
          <a:lstStyle/>
          <a:p>
            <a:pPr eaLnBrk="1" hangingPunct="1"/>
            <a:endParaRPr lang="de-D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p:sp>
      <p:sp>
        <p:nvSpPr>
          <p:cNvPr id="849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p:sp>
      <p:sp>
        <p:nvSpPr>
          <p:cNvPr id="860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p:sp>
      <p:sp>
        <p:nvSpPr>
          <p:cNvPr id="870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p:sp>
      <p:sp>
        <p:nvSpPr>
          <p:cNvPr id="890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p:sp>
      <p:sp>
        <p:nvSpPr>
          <p:cNvPr id="73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p:sp>
      <p:sp>
        <p:nvSpPr>
          <p:cNvPr id="73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p:sp>
      <p:sp>
        <p:nvSpPr>
          <p:cNvPr id="73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p:sp>
      <p:sp>
        <p:nvSpPr>
          <p:cNvPr id="75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p:sp>
      <p:sp>
        <p:nvSpPr>
          <p:cNvPr id="76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p:sp>
      <p:sp>
        <p:nvSpPr>
          <p:cNvPr id="77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p:sp>
      <p:sp>
        <p:nvSpPr>
          <p:cNvPr id="78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p:sp>
      <p:sp>
        <p:nvSpPr>
          <p:cNvPr id="78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p:sp>
      <p:sp>
        <p:nvSpPr>
          <p:cNvPr id="819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p:sp>
      <p:sp>
        <p:nvSpPr>
          <p:cNvPr id="829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p:sp>
      <p:sp>
        <p:nvSpPr>
          <p:cNvPr id="901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p:sp>
      <p:sp>
        <p:nvSpPr>
          <p:cNvPr id="860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p:sp>
      <p:sp>
        <p:nvSpPr>
          <p:cNvPr id="901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p:sp>
      <p:sp>
        <p:nvSpPr>
          <p:cNvPr id="901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p:sp>
      <p:sp>
        <p:nvSpPr>
          <p:cNvPr id="911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p:sp>
      <p:sp>
        <p:nvSpPr>
          <p:cNvPr id="921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p:sp>
      <p:sp>
        <p:nvSpPr>
          <p:cNvPr id="931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p:sp>
      <p:sp>
        <p:nvSpPr>
          <p:cNvPr id="942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p:sp>
      <p:sp>
        <p:nvSpPr>
          <p:cNvPr id="1034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p:sp>
      <p:sp>
        <p:nvSpPr>
          <p:cNvPr id="1034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p:sp>
      <p:sp>
        <p:nvSpPr>
          <p:cNvPr id="96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p:sp>
      <p:sp>
        <p:nvSpPr>
          <p:cNvPr id="96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p:sp>
      <p:sp>
        <p:nvSpPr>
          <p:cNvPr id="97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p:sp>
      <p:sp>
        <p:nvSpPr>
          <p:cNvPr id="1085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Date Placeholder 4"/>
          <p:cNvSpPr>
            <a:spLocks noGrp="1"/>
          </p:cNvSpPr>
          <p:nvPr>
            <p:ph type="dt" idx="1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EA51DB-7545-4FCC-999B-9C69657BAA00}"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DE41E48D-3178-4969-9A5C-45DFDA619D70}"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A9CAA164-BD06-4DC0-8508-CE9CD3E688E3}"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BBF0981-A9DF-4D39-BCDC-792ABAE223D4}"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D200EF-774B-45AF-86B5-56E128616D26}" type="datetime1">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1AF8E9-7970-4433-A1F5-BC2DA61645FB}" type="datetime1">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456501-28AB-474F-B348-D04254D40A16}" type="datetime1">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D7D35D68-FAEA-4665-BA4B-8B336C7888C6}"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FC14EF0C-7ED6-4CA6-B5C7-3625BFC78BA0}"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7E2D3BF3-B4BD-4BC1-8C80-6D2783FE851C}"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4B1ED4FD-4423-4F7B-A547-0B060E347A74}"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BE75A82-2417-455C-BF49-8BC77D49FA9D}" type="slidenum">
              <a:rPr lang="en-GB" smtClean="0"/>
            </a:fld>
            <a:endParaRPr lang="en-GB"/>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CA9F0F62-C0E9-4ECB-A7FE-2E078C0CE7A9}"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4030CD46-7C61-4FD6-9F0C-6EF8C611CAF2}"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fld>
            <a:endParaRPr lang="en-GB"/>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970A744E-318E-4E1D-A7DB-5BBAAF3151F5}"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ED6FCD25-4487-40A8-A98F-1EADDA3CA2F8}"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6158AC4-9216-489C-AD1B-F4EFDD367D86}"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533400"/>
          </a:xfrm>
        </p:spPr>
        <p:txBody>
          <a:bodyPr/>
          <a:lstStyle>
            <a:lvl1pPr algn="l">
              <a:defRPr sz="1600" b="1" i="0">
                <a:solidFill>
                  <a:srgbClr val="D95900"/>
                </a:solidFill>
                <a:latin typeface="Arial" panose="020B0604020202020204"/>
                <a:cs typeface="Arial" panose="020B0604020202020204"/>
              </a:defRPr>
            </a:lvl1pPr>
          </a:lstStyle>
          <a:p>
            <a:r>
              <a:rPr lang="en-US"/>
              <a:t>Click to edit Master title style</a:t>
            </a:r>
            <a:endParaRPr lang="en-US"/>
          </a:p>
        </p:txBody>
      </p:sp>
      <p:sp>
        <p:nvSpPr>
          <p:cNvPr id="7" name="Text Placeholder 5"/>
          <p:cNvSpPr>
            <a:spLocks noGrp="1"/>
          </p:cNvSpPr>
          <p:nvPr>
            <p:ph type="body" sz="quarter" idx="10"/>
          </p:nvPr>
        </p:nvSpPr>
        <p:spPr>
          <a:xfrm>
            <a:off x="609600" y="1189038"/>
            <a:ext cx="10972800" cy="4079875"/>
          </a:xfrm>
        </p:spPr>
        <p:txBody>
          <a:bodyPr/>
          <a:lstStyle>
            <a:lvl1pPr>
              <a:buFontTx/>
              <a:buNone/>
              <a:defRPr/>
            </a:lvl1pPr>
            <a:lvl2pPr>
              <a:buFontTx/>
              <a:buNone/>
              <a:defRPr/>
            </a:lvl2pPr>
            <a:lvl3pPr>
              <a:buFontTx/>
              <a:buNone/>
              <a:defRPr/>
            </a:lvl3pPr>
            <a:lvl4pPr>
              <a:buFontTx/>
              <a:buNone/>
              <a:defRPr/>
            </a:lvl4pPr>
            <a:lvl5pPr>
              <a:buFontTx/>
              <a:buNone/>
              <a:defRPr/>
            </a:lvl5pPr>
          </a:lstStyle>
          <a:p>
            <a:pPr lvl="0"/>
            <a:r>
              <a:rPr lang="en-US"/>
              <a:t>Click to edit Master text styles</a:t>
            </a:r>
            <a:endParaRPr lang="en-US"/>
          </a:p>
        </p:txBody>
      </p:sp>
      <p:sp>
        <p:nvSpPr>
          <p:cNvPr id="4" name="Footer Placeholder 8"/>
          <p:cNvSpPr>
            <a:spLocks noGrp="1"/>
          </p:cNvSpPr>
          <p:nvPr>
            <p:ph type="ftr" sz="quarter" idx="11"/>
          </p:nvPr>
        </p:nvSpPr>
        <p:spPr>
          <a:xfrm>
            <a:off x="609600" y="6248400"/>
            <a:ext cx="7112000" cy="228600"/>
          </a:xfrm>
        </p:spPr>
        <p:txBody>
          <a:bodyPr/>
          <a:lstStyle>
            <a:lvl1pPr algn="l">
              <a:defRPr sz="1000">
                <a:solidFill>
                  <a:srgbClr val="D95900"/>
                </a:solidFill>
                <a:latin typeface="Arial" panose="020B0604020202020204" pitchFamily="34" charset="0"/>
                <a:cs typeface="Arial" panose="020B0604020202020204" pitchFamily="34" charset="0"/>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49AE223-18DC-4218-A1FD-999B1D0A8C0C}" type="datetime1">
              <a:rPr lang="en-GB" smtClean="0"/>
            </a:fld>
            <a:endParaRPr lang="en-GB"/>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BE75A82-2417-455C-BF49-8BC77D49FA9D}"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7.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vmlDrawing" Target="../drawings/vmlDrawing1.vml"/><Relationship Id="rId3" Type="http://schemas.openxmlformats.org/officeDocument/2006/relationships/slideLayout" Target="../slideLayouts/slideLayout17.xml"/><Relationship Id="rId2" Type="http://schemas.openxmlformats.org/officeDocument/2006/relationships/image" Target="../media/image3.png"/><Relationship Id="rId1" Type="http://schemas.openxmlformats.org/officeDocument/2006/relationships/oleObject" Target="../embeddings/oleObject1.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24000" y="1484784"/>
            <a:ext cx="4788024" cy="1322070"/>
          </a:xfrm>
          <a:prstGeom prst="rect">
            <a:avLst/>
          </a:prstGeom>
          <a:noFill/>
        </p:spPr>
        <p:txBody>
          <a:bodyPr wrap="square">
            <a:spAutoFit/>
          </a:bodyPr>
          <a:lstStyle/>
          <a:p>
            <a:pPr algn="ctr">
              <a:defRPr/>
            </a:pPr>
            <a:r>
              <a:rPr lang="en-US" altLang="en-ZA" sz="4000" b="1">
                <a:latin typeface="+mj-lt"/>
              </a:rPr>
              <a:t>Concrete </a:t>
            </a:r>
            <a:r>
              <a:rPr lang="en-ZA" sz="4000" b="1">
                <a:latin typeface="+mj-lt"/>
              </a:rPr>
              <a:t>Admixtures</a:t>
            </a:r>
            <a:endParaRPr lang="en-US" sz="4000" b="1">
              <a:latin typeface="+mj-lt"/>
            </a:endParaRPr>
          </a:p>
        </p:txBody>
      </p:sp>
      <p:pic>
        <p:nvPicPr>
          <p:cNvPr id="10" name="Picture 4"/>
          <p:cNvPicPr>
            <a:picLocks noChangeAspect="1" noChangeArrowheads="1"/>
          </p:cNvPicPr>
          <p:nvPr/>
        </p:nvPicPr>
        <p:blipFill>
          <a:blip r:embed="rId1" cstate="print">
            <a:lum bright="-10000" contrast="-48000"/>
          </a:blip>
          <a:srcRect l="26720" r="34250"/>
          <a:stretch>
            <a:fillRect/>
          </a:stretch>
        </p:blipFill>
        <p:spPr bwMode="auto">
          <a:xfrm>
            <a:off x="5987480" y="0"/>
            <a:ext cx="4680520" cy="6858000"/>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09800" y="381000"/>
            <a:ext cx="7772400" cy="1143000"/>
          </a:xfrm>
          <a:noFill/>
        </p:spPr>
        <p:txBody>
          <a:bodyPr vert="horz" lIns="90488" tIns="44450" rIns="90488" bIns="44450" rtlCol="0" anchor="t">
            <a:normAutofit/>
          </a:bodyPr>
          <a:lstStyle/>
          <a:p>
            <a:r>
              <a:rPr lang="en-US" sz="4000"/>
              <a:t>Chemical Admixtures</a:t>
            </a:r>
            <a:endParaRPr lang="en-US" sz="4000"/>
          </a:p>
        </p:txBody>
      </p:sp>
      <p:sp>
        <p:nvSpPr>
          <p:cNvPr id="9219" name="Rectangle 3"/>
          <p:cNvSpPr>
            <a:spLocks noGrp="1" noChangeArrowheads="1"/>
          </p:cNvSpPr>
          <p:nvPr>
            <p:ph type="body" sz="quarter" idx="10"/>
          </p:nvPr>
        </p:nvSpPr>
        <p:spPr>
          <a:xfrm>
            <a:off x="2423592" y="2508881"/>
            <a:ext cx="7772400" cy="2895600"/>
          </a:xfrm>
          <a:noFill/>
        </p:spPr>
        <p:txBody>
          <a:bodyPr vert="horz" lIns="90488" tIns="44450" rIns="90488" bIns="44450" rtlCol="0">
            <a:normAutofit/>
          </a:bodyPr>
          <a:lstStyle/>
          <a:p>
            <a:pPr>
              <a:buFont typeface="Arial" panose="020B0604020202020204" pitchFamily="34" charset="0"/>
              <a:buChar char="•"/>
            </a:pPr>
            <a:r>
              <a:rPr lang="en-US" sz="2400"/>
              <a:t>Less than 5% by weight of cement</a:t>
            </a:r>
            <a:endParaRPr lang="en-US" sz="2400"/>
          </a:p>
          <a:p>
            <a:pPr>
              <a:buFont typeface="Arial" panose="020B0604020202020204" pitchFamily="34" charset="0"/>
              <a:buChar char="•"/>
            </a:pPr>
            <a:r>
              <a:rPr lang="en-US" sz="2400"/>
              <a:t>Branded, formulated products</a:t>
            </a:r>
            <a:endParaRPr lang="en-US" sz="2400"/>
          </a:p>
          <a:p>
            <a:pPr>
              <a:buFont typeface="Arial" panose="020B0604020202020204" pitchFamily="34" charset="0"/>
              <a:buChar char="•"/>
            </a:pPr>
            <a:r>
              <a:rPr lang="en-US" sz="2400"/>
              <a:t>Change certain properties</a:t>
            </a:r>
            <a:endParaRPr lang="en-US" sz="2400"/>
          </a:p>
          <a:p>
            <a:pPr>
              <a:buFont typeface="Arial" panose="020B0604020202020204" pitchFamily="34" charset="0"/>
              <a:buChar char="•"/>
            </a:pPr>
            <a:r>
              <a:rPr lang="en-US" sz="2400"/>
              <a:t>Can effect one another as well</a:t>
            </a:r>
            <a:endParaRPr lang="en-US" sz="2400"/>
          </a:p>
          <a:p>
            <a:pPr>
              <a:buFont typeface="Arial" panose="020B0604020202020204" pitchFamily="34" charset="0"/>
              <a:buChar char="•"/>
            </a:pPr>
            <a:r>
              <a:rPr lang="en-US" sz="2400"/>
              <a:t>Chlorides in admixture in reinforced concrete : &lt;0,03% of cement mass</a:t>
            </a:r>
            <a:endParaRPr lang="en-US" sz="2400"/>
          </a:p>
        </p:txBody>
      </p:sp>
      <p:sp>
        <p:nvSpPr>
          <p:cNvPr id="9221" name="Rectangle 5"/>
          <p:cNvSpPr>
            <a:spLocks noChangeArrowheads="1"/>
          </p:cNvSpPr>
          <p:nvPr/>
        </p:nvSpPr>
        <p:spPr bwMode="auto">
          <a:xfrm>
            <a:off x="2279576" y="1557339"/>
            <a:ext cx="7920880" cy="951543"/>
          </a:xfrm>
          <a:prstGeom prst="rect">
            <a:avLst/>
          </a:prstGeom>
          <a:noFill/>
          <a:ln w="12700">
            <a:noFill/>
            <a:miter lim="800000"/>
          </a:ln>
          <a:effectLst/>
        </p:spPr>
        <p:txBody>
          <a:bodyPr wrap="square" lIns="90488" tIns="44450" rIns="90488" bIns="44450">
            <a:spAutoFit/>
          </a:bodyPr>
          <a:lstStyle/>
          <a:p>
            <a:r>
              <a:rPr lang="en-US" sz="2800">
                <a:latin typeface="Arial" panose="020B0604020202020204" pitchFamily="34" charset="0"/>
                <a:cs typeface="Arial" panose="020B0604020202020204" pitchFamily="34" charset="0"/>
              </a:rPr>
              <a:t>Material other than water, aggregate or cement added to concrete</a:t>
            </a:r>
            <a:endParaRPr lang="en-US" sz="280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209800" y="304800"/>
            <a:ext cx="7772400" cy="1143000"/>
          </a:xfrm>
          <a:noFill/>
        </p:spPr>
        <p:txBody>
          <a:bodyPr vert="horz" lIns="90488" tIns="44450" rIns="90488" bIns="44450" rtlCol="0" anchor="t">
            <a:normAutofit/>
          </a:bodyPr>
          <a:lstStyle/>
          <a:p>
            <a:r>
              <a:rPr lang="en-US" sz="4000"/>
              <a:t>Use of Admixtures</a:t>
            </a:r>
            <a:endParaRPr lang="en-US" sz="4000"/>
          </a:p>
        </p:txBody>
      </p:sp>
      <p:sp>
        <p:nvSpPr>
          <p:cNvPr id="10243" name="Rectangle 3"/>
          <p:cNvSpPr>
            <a:spLocks noGrp="1" noChangeArrowheads="1"/>
          </p:cNvSpPr>
          <p:nvPr>
            <p:ph type="body" sz="quarter" idx="10"/>
          </p:nvPr>
        </p:nvSpPr>
        <p:spPr>
          <a:xfrm>
            <a:off x="2209800" y="1524000"/>
            <a:ext cx="7772400" cy="4038600"/>
          </a:xfrm>
          <a:noFill/>
        </p:spPr>
        <p:txBody>
          <a:bodyPr vert="horz" lIns="90488" tIns="44450" rIns="90488" bIns="44450" rtlCol="0">
            <a:normAutofit/>
          </a:bodyPr>
          <a:lstStyle/>
          <a:p>
            <a:pPr>
              <a:buFont typeface="Arial" panose="020B0604020202020204" pitchFamily="34" charset="0"/>
              <a:buChar char="•"/>
            </a:pPr>
            <a:r>
              <a:rPr lang="en-US" sz="2800"/>
              <a:t>Only with approval of engineer </a:t>
            </a:r>
            <a:endParaRPr lang="en-US" sz="2800"/>
          </a:p>
          <a:p>
            <a:pPr lvl="1">
              <a:buFont typeface="Arial" panose="020B0604020202020204" pitchFamily="34" charset="0"/>
              <a:buChar char="•"/>
            </a:pPr>
            <a:r>
              <a:rPr lang="en-US" sz="2400">
                <a:solidFill>
                  <a:schemeClr val="accent6">
                    <a:lumMod val="75000"/>
                  </a:schemeClr>
                </a:solidFill>
              </a:rPr>
              <a:t>Information required</a:t>
            </a:r>
            <a:endParaRPr lang="en-US" sz="2400">
              <a:solidFill>
                <a:schemeClr val="accent6">
                  <a:lumMod val="75000"/>
                </a:schemeClr>
              </a:solidFill>
            </a:endParaRPr>
          </a:p>
          <a:p>
            <a:pPr marL="1200150" lvl="2" indent="-285750">
              <a:buFont typeface="Arial" panose="020B0604020202020204" pitchFamily="34" charset="0"/>
              <a:buChar char="•"/>
            </a:pPr>
            <a:r>
              <a:rPr lang="en-US" sz="2000">
                <a:solidFill>
                  <a:schemeClr val="accent6">
                    <a:lumMod val="75000"/>
                  </a:schemeClr>
                </a:solidFill>
              </a:rPr>
              <a:t>Name and source</a:t>
            </a:r>
            <a:endParaRPr lang="en-US" sz="2000">
              <a:solidFill>
                <a:schemeClr val="accent6">
                  <a:lumMod val="75000"/>
                </a:schemeClr>
              </a:solidFill>
            </a:endParaRPr>
          </a:p>
          <a:p>
            <a:pPr marL="1200150" lvl="2" indent="-285750">
              <a:buFont typeface="Arial" panose="020B0604020202020204" pitchFamily="34" charset="0"/>
              <a:buChar char="•"/>
            </a:pPr>
            <a:r>
              <a:rPr lang="en-US" sz="2000">
                <a:solidFill>
                  <a:schemeClr val="accent6">
                    <a:lumMod val="75000"/>
                  </a:schemeClr>
                </a:solidFill>
              </a:rPr>
              <a:t>Dosages &amp; dosage apparatus</a:t>
            </a:r>
            <a:endParaRPr lang="en-US" sz="2000">
              <a:solidFill>
                <a:schemeClr val="accent6">
                  <a:lumMod val="75000"/>
                </a:schemeClr>
              </a:solidFill>
            </a:endParaRPr>
          </a:p>
          <a:p>
            <a:pPr marL="1200150" lvl="2" indent="-285750">
              <a:buFont typeface="Arial" panose="020B0604020202020204" pitchFamily="34" charset="0"/>
              <a:buChar char="•"/>
            </a:pPr>
            <a:r>
              <a:rPr lang="en-US" sz="2000">
                <a:solidFill>
                  <a:schemeClr val="accent6">
                    <a:lumMod val="75000"/>
                  </a:schemeClr>
                </a:solidFill>
              </a:rPr>
              <a:t>Whether it can cause corrosion</a:t>
            </a:r>
            <a:endParaRPr lang="en-US" sz="2000">
              <a:solidFill>
                <a:schemeClr val="accent6">
                  <a:lumMod val="75000"/>
                </a:schemeClr>
              </a:solidFill>
            </a:endParaRPr>
          </a:p>
          <a:p>
            <a:pPr marL="1200150" lvl="2" indent="-285750">
              <a:buFont typeface="Arial" panose="020B0604020202020204" pitchFamily="34" charset="0"/>
              <a:buChar char="•"/>
            </a:pPr>
            <a:r>
              <a:rPr lang="en-US" sz="2000">
                <a:solidFill>
                  <a:schemeClr val="accent6">
                    <a:lumMod val="75000"/>
                  </a:schemeClr>
                </a:solidFill>
              </a:rPr>
              <a:t>Anticipated air content (for AEA) </a:t>
            </a:r>
            <a:endParaRPr lang="en-US" sz="2000">
              <a:solidFill>
                <a:schemeClr val="accent6">
                  <a:lumMod val="75000"/>
                </a:schemeClr>
              </a:solidFill>
            </a:endParaRPr>
          </a:p>
          <a:p>
            <a:pPr>
              <a:buFont typeface="Arial" panose="020B0604020202020204" pitchFamily="34" charset="0"/>
              <a:buChar char="•"/>
            </a:pPr>
            <a:r>
              <a:rPr lang="en-US" sz="2800"/>
              <a:t>If more than one, check compatibility</a:t>
            </a:r>
            <a:endParaRPr lang="en-US" sz="2800"/>
          </a:p>
          <a:p>
            <a:pPr>
              <a:buFont typeface="Arial" panose="020B0604020202020204" pitchFamily="34" charset="0"/>
              <a:buChar char="•"/>
            </a:pPr>
            <a:r>
              <a:rPr lang="en-US" sz="2800"/>
              <a:t>Make trial mixes- do trials on site as well</a:t>
            </a:r>
            <a:endParaRPr 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209800" y="304800"/>
            <a:ext cx="7772400" cy="1143000"/>
          </a:xfrm>
          <a:noFill/>
        </p:spPr>
        <p:txBody>
          <a:bodyPr vert="horz" lIns="90488" tIns="44450" rIns="90488" bIns="44450" rtlCol="0" anchor="t">
            <a:normAutofit/>
          </a:bodyPr>
          <a:lstStyle/>
          <a:p>
            <a:r>
              <a:rPr lang="en-US" sz="4000"/>
              <a:t>Use of Admixtures</a:t>
            </a:r>
            <a:endParaRPr lang="en-US" sz="4000"/>
          </a:p>
        </p:txBody>
      </p:sp>
      <p:sp>
        <p:nvSpPr>
          <p:cNvPr id="10243" name="Rectangle 3"/>
          <p:cNvSpPr>
            <a:spLocks noGrp="1" noChangeArrowheads="1"/>
          </p:cNvSpPr>
          <p:nvPr>
            <p:ph type="body" sz="quarter" idx="10"/>
          </p:nvPr>
        </p:nvSpPr>
        <p:spPr>
          <a:xfrm>
            <a:off x="2209800" y="1524000"/>
            <a:ext cx="7772400" cy="4038600"/>
          </a:xfrm>
          <a:noFill/>
        </p:spPr>
        <p:txBody>
          <a:bodyPr vert="horz" lIns="90488" tIns="44450" rIns="90488" bIns="44450" rtlCol="0">
            <a:normAutofit/>
          </a:bodyPr>
          <a:lstStyle/>
          <a:p>
            <a:pPr>
              <a:buFont typeface="Arial" panose="020B0604020202020204" pitchFamily="34" charset="0"/>
              <a:buChar char="•"/>
            </a:pPr>
            <a:r>
              <a:rPr lang="en-US" sz="2800"/>
              <a:t>A good concrete design methodology is:</a:t>
            </a:r>
            <a:endParaRPr lang="en-US" sz="2800"/>
          </a:p>
          <a:p>
            <a:pPr lvl="1">
              <a:buFont typeface="Arial" panose="020B0604020202020204" pitchFamily="34" charset="0"/>
              <a:buChar char="•"/>
            </a:pPr>
            <a:r>
              <a:rPr lang="en-US" sz="2400">
                <a:solidFill>
                  <a:schemeClr val="accent6">
                    <a:lumMod val="75000"/>
                  </a:schemeClr>
                </a:solidFill>
              </a:rPr>
              <a:t>Optimize the concrete design first without the use of admixtures and then only if necessary ‘tweak’ your mix with admixtures</a:t>
            </a:r>
            <a:endParaRPr lang="en-US" sz="2400">
              <a:solidFill>
                <a:schemeClr val="accent6">
                  <a:lumMod val="75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Types of Admixtures</a:t>
            </a:r>
            <a:endParaRPr lang="en-US" sz="4000"/>
          </a:p>
        </p:txBody>
      </p:sp>
      <p:sp>
        <p:nvSpPr>
          <p:cNvPr id="11267" name="Rectangle 3"/>
          <p:cNvSpPr>
            <a:spLocks noGrp="1" noChangeArrowheads="1"/>
          </p:cNvSpPr>
          <p:nvPr>
            <p:ph type="body" sz="quarter" idx="10"/>
          </p:nvPr>
        </p:nvSpPr>
        <p:spPr>
          <a:xfrm>
            <a:off x="2135560" y="1052736"/>
            <a:ext cx="7772400" cy="4114800"/>
          </a:xfrm>
          <a:noFill/>
        </p:spPr>
        <p:txBody>
          <a:bodyPr vert="horz" lIns="90488" tIns="44450" rIns="90488" bIns="44450" rtlCol="0">
            <a:normAutofit fontScale="92500"/>
          </a:bodyPr>
          <a:lstStyle/>
          <a:p>
            <a:r>
              <a:rPr lang="en-GB" sz="2800"/>
              <a:t>Plasticisers and </a:t>
            </a:r>
            <a:r>
              <a:rPr lang="en-GB" sz="2800" err="1"/>
              <a:t>superplasticisers</a:t>
            </a:r>
            <a:endParaRPr lang="en-GB" sz="2800"/>
          </a:p>
          <a:p>
            <a:pPr marL="800100" lvl="1" indent="-342900">
              <a:buFont typeface="Arial" panose="020B0604020202020204" pitchFamily="34" charset="0"/>
              <a:buChar char="•"/>
            </a:pPr>
            <a:r>
              <a:rPr lang="en-GB" sz="2400">
                <a:solidFill>
                  <a:schemeClr val="accent6">
                    <a:lumMod val="75000"/>
                  </a:schemeClr>
                </a:solidFill>
              </a:rPr>
              <a:t>Improve the effectiveness of the water in concrete</a:t>
            </a:r>
            <a:endParaRPr lang="en-GB" sz="2400">
              <a:solidFill>
                <a:schemeClr val="accent6">
                  <a:lumMod val="75000"/>
                </a:schemeClr>
              </a:solidFill>
            </a:endParaRPr>
          </a:p>
          <a:p>
            <a:r>
              <a:rPr lang="en-GB" sz="2800"/>
              <a:t>Retarders and accelerators</a:t>
            </a:r>
            <a:endParaRPr lang="en-GB" sz="2800"/>
          </a:p>
          <a:p>
            <a:pPr marL="800100" lvl="1" indent="-342900">
              <a:buFont typeface="Arial" panose="020B0604020202020204" pitchFamily="34" charset="0"/>
              <a:buChar char="•"/>
            </a:pPr>
            <a:r>
              <a:rPr lang="en-GB" sz="2400">
                <a:solidFill>
                  <a:schemeClr val="accent6">
                    <a:lumMod val="75000"/>
                  </a:schemeClr>
                </a:solidFill>
              </a:rPr>
              <a:t>Change the rate of the early chemical reactions and affect setting</a:t>
            </a:r>
            <a:endParaRPr lang="en-GB" sz="2400">
              <a:solidFill>
                <a:schemeClr val="accent6">
                  <a:lumMod val="75000"/>
                </a:schemeClr>
              </a:solidFill>
            </a:endParaRPr>
          </a:p>
          <a:p>
            <a:r>
              <a:rPr lang="en-GB" sz="2800"/>
              <a:t>Air </a:t>
            </a:r>
            <a:r>
              <a:rPr lang="en-GB" sz="2800" err="1"/>
              <a:t>entrainers</a:t>
            </a:r>
            <a:endParaRPr lang="en-GB" sz="2800"/>
          </a:p>
          <a:p>
            <a:pPr marL="914400" lvl="1" indent="-457200">
              <a:buFont typeface="Arial" panose="020B0604020202020204" pitchFamily="34" charset="0"/>
              <a:buChar char="•"/>
            </a:pPr>
            <a:r>
              <a:rPr lang="en-GB" sz="2400">
                <a:solidFill>
                  <a:schemeClr val="accent6">
                    <a:lumMod val="75000"/>
                  </a:schemeClr>
                </a:solidFill>
              </a:rPr>
              <a:t>Incorporate fine bubbles of air in a concrete mix</a:t>
            </a:r>
            <a:endParaRPr lang="en-GB" sz="2400">
              <a:solidFill>
                <a:schemeClr val="accent6">
                  <a:lumMod val="75000"/>
                </a:schemeClr>
              </a:solidFill>
            </a:endParaRPr>
          </a:p>
          <a:p>
            <a:r>
              <a:rPr lang="en-GB" sz="2800"/>
              <a:t>Water-resisting (waterproofing)</a:t>
            </a:r>
            <a:endParaRPr lang="en-GB" sz="2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Water Reducers or Plasticisers</a:t>
            </a:r>
            <a:endParaRPr lang="en-US" sz="4000"/>
          </a:p>
        </p:txBody>
      </p:sp>
      <p:sp>
        <p:nvSpPr>
          <p:cNvPr id="4" name="Content Placeholder 3"/>
          <p:cNvSpPr>
            <a:spLocks noGrp="1"/>
          </p:cNvSpPr>
          <p:nvPr>
            <p:ph type="body" sz="quarter" idx="10"/>
          </p:nvPr>
        </p:nvSpPr>
        <p:spPr/>
        <p:txBody>
          <a:bodyPr/>
          <a:lstStyle/>
          <a:p>
            <a:pPr>
              <a:buFont typeface="Arial" panose="020B0604020202020204" pitchFamily="34" charset="0"/>
              <a:buChar char="•"/>
            </a:pPr>
            <a:r>
              <a:rPr lang="en-US" sz="2800"/>
              <a:t>Plasticisers are described as dispersing admixtures</a:t>
            </a:r>
            <a:endParaRPr lang="en-US" sz="2800"/>
          </a:p>
          <a:p>
            <a:pPr>
              <a:buFont typeface="Arial" panose="020B0604020202020204" pitchFamily="34" charset="0"/>
              <a:buChar char="•"/>
            </a:pPr>
            <a:r>
              <a:rPr lang="en-US" sz="2800"/>
              <a:t>They work by uniformly dispersing the cement and other fine particles and hence increase the fluidity of the mix</a:t>
            </a:r>
            <a:endParaRPr lang="en-US" sz="2800"/>
          </a:p>
          <a:p>
            <a:pPr>
              <a:buFont typeface="Arial" panose="020B0604020202020204" pitchFamily="34" charset="0"/>
              <a:buChar char="•"/>
            </a:pPr>
            <a:r>
              <a:rPr lang="en-US" sz="2800"/>
              <a:t>The dispersing mechanism can be as a result of electrostatic repulsion or steric stabilisation.</a:t>
            </a:r>
            <a:endParaRPr lang="en-US"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reeform 27"/>
          <p:cNvSpPr/>
          <p:nvPr/>
        </p:nvSpPr>
        <p:spPr bwMode="auto">
          <a:xfrm>
            <a:off x="5890419" y="5561037"/>
            <a:ext cx="622300" cy="709612"/>
          </a:xfrm>
          <a:custGeom>
            <a:avLst/>
            <a:gdLst>
              <a:gd name="T0" fmla="*/ 2147483647 w 392"/>
              <a:gd name="T1" fmla="*/ 2147483647 h 447"/>
              <a:gd name="T2" fmla="*/ 2147483647 w 392"/>
              <a:gd name="T3" fmla="*/ 2147483647 h 447"/>
              <a:gd name="T4" fmla="*/ 2147483647 w 392"/>
              <a:gd name="T5" fmla="*/ 2147483647 h 447"/>
              <a:gd name="T6" fmla="*/ 2147483647 w 392"/>
              <a:gd name="T7" fmla="*/ 2147483647 h 447"/>
              <a:gd name="T8" fmla="*/ 2147483647 w 392"/>
              <a:gd name="T9" fmla="*/ 2147483647 h 447"/>
              <a:gd name="T10" fmla="*/ 2147483647 w 392"/>
              <a:gd name="T11" fmla="*/ 2147483647 h 447"/>
              <a:gd name="T12" fmla="*/ 2147483647 w 392"/>
              <a:gd name="T13" fmla="*/ 2147483647 h 447"/>
              <a:gd name="T14" fmla="*/ 2147483647 w 392"/>
              <a:gd name="T15" fmla="*/ 2147483647 h 447"/>
              <a:gd name="T16" fmla="*/ 2147483647 w 392"/>
              <a:gd name="T17" fmla="*/ 2147483647 h 447"/>
              <a:gd name="T18" fmla="*/ 2147483647 w 392"/>
              <a:gd name="T19" fmla="*/ 2147483647 h 447"/>
              <a:gd name="T20" fmla="*/ 2147483647 w 392"/>
              <a:gd name="T21" fmla="*/ 2147483647 h 447"/>
              <a:gd name="T22" fmla="*/ 2147483647 w 392"/>
              <a:gd name="T23" fmla="*/ 0 h 447"/>
              <a:gd name="T24" fmla="*/ 2147483647 w 392"/>
              <a:gd name="T25" fmla="*/ 2147483647 h 447"/>
              <a:gd name="T26" fmla="*/ 2147483647 w 392"/>
              <a:gd name="T27" fmla="*/ 2147483647 h 4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92"/>
              <a:gd name="T43" fmla="*/ 0 h 447"/>
              <a:gd name="T44" fmla="*/ 392 w 392"/>
              <a:gd name="T45" fmla="*/ 447 h 4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92" h="447">
                <a:moveTo>
                  <a:pt x="98" y="33"/>
                </a:moveTo>
                <a:cubicBezTo>
                  <a:pt x="72" y="43"/>
                  <a:pt x="62" y="32"/>
                  <a:pt x="54" y="61"/>
                </a:cubicBezTo>
                <a:cubicBezTo>
                  <a:pt x="50" y="97"/>
                  <a:pt x="46" y="114"/>
                  <a:pt x="37" y="145"/>
                </a:cubicBezTo>
                <a:cubicBezTo>
                  <a:pt x="35" y="192"/>
                  <a:pt x="38" y="239"/>
                  <a:pt x="31" y="285"/>
                </a:cubicBezTo>
                <a:cubicBezTo>
                  <a:pt x="30" y="292"/>
                  <a:pt x="15" y="289"/>
                  <a:pt x="14" y="296"/>
                </a:cubicBezTo>
                <a:cubicBezTo>
                  <a:pt x="5" y="395"/>
                  <a:pt x="0" y="406"/>
                  <a:pt x="70" y="419"/>
                </a:cubicBezTo>
                <a:cubicBezTo>
                  <a:pt x="167" y="417"/>
                  <a:pt x="270" y="447"/>
                  <a:pt x="361" y="413"/>
                </a:cubicBezTo>
                <a:cubicBezTo>
                  <a:pt x="392" y="401"/>
                  <a:pt x="360" y="346"/>
                  <a:pt x="356" y="313"/>
                </a:cubicBezTo>
                <a:cubicBezTo>
                  <a:pt x="354" y="301"/>
                  <a:pt x="344" y="279"/>
                  <a:pt x="344" y="279"/>
                </a:cubicBezTo>
                <a:cubicBezTo>
                  <a:pt x="340" y="200"/>
                  <a:pt x="343" y="177"/>
                  <a:pt x="322" y="117"/>
                </a:cubicBezTo>
                <a:cubicBezTo>
                  <a:pt x="317" y="73"/>
                  <a:pt x="322" y="61"/>
                  <a:pt x="288" y="39"/>
                </a:cubicBezTo>
                <a:cubicBezTo>
                  <a:pt x="277" y="23"/>
                  <a:pt x="244" y="0"/>
                  <a:pt x="244" y="0"/>
                </a:cubicBezTo>
                <a:cubicBezTo>
                  <a:pt x="238" y="0"/>
                  <a:pt x="114" y="9"/>
                  <a:pt x="109" y="11"/>
                </a:cubicBezTo>
                <a:cubicBezTo>
                  <a:pt x="101" y="13"/>
                  <a:pt x="104" y="28"/>
                  <a:pt x="98" y="33"/>
                </a:cubicBezTo>
                <a:close/>
              </a:path>
            </a:pathLst>
          </a:custGeom>
          <a:solidFill>
            <a:schemeClr val="accent1"/>
          </a:solidFill>
          <a:ln w="9525">
            <a:solidFill>
              <a:schemeClr val="tx1"/>
            </a:solidFill>
            <a:round/>
          </a:ln>
        </p:spPr>
        <p:txBody>
          <a:bodyPr/>
          <a:lstStyle/>
          <a:p>
            <a:endParaRPr lang="en-US"/>
          </a:p>
        </p:txBody>
      </p:sp>
      <p:sp>
        <p:nvSpPr>
          <p:cNvPr id="62467" name="Rectangle 2"/>
          <p:cNvSpPr>
            <a:spLocks noGrp="1" noChangeArrowheads="1"/>
          </p:cNvSpPr>
          <p:nvPr>
            <p:ph type="title"/>
          </p:nvPr>
        </p:nvSpPr>
        <p:spPr>
          <a:xfrm>
            <a:off x="1991544" y="260350"/>
            <a:ext cx="8229600" cy="1143000"/>
          </a:xfrm>
        </p:spPr>
        <p:txBody>
          <a:bodyPr/>
          <a:lstStyle/>
          <a:p>
            <a:pPr eaLnBrk="1" hangingPunct="1"/>
            <a:r>
              <a:rPr lang="en-GB" sz="4000"/>
              <a:t>Cement without admixture</a:t>
            </a:r>
            <a:endParaRPr lang="en-GB" sz="4000"/>
          </a:p>
        </p:txBody>
      </p:sp>
      <p:sp>
        <p:nvSpPr>
          <p:cNvPr id="62468" name="Rectangle 3"/>
          <p:cNvSpPr>
            <a:spLocks noGrp="1" noChangeArrowheads="1"/>
          </p:cNvSpPr>
          <p:nvPr>
            <p:ph type="body" sz="quarter" idx="10"/>
          </p:nvPr>
        </p:nvSpPr>
        <p:spPr>
          <a:xfrm>
            <a:off x="1847528" y="2710608"/>
            <a:ext cx="8640960" cy="2014537"/>
          </a:xfrm>
        </p:spPr>
        <p:txBody>
          <a:bodyPr/>
          <a:lstStyle/>
          <a:p>
            <a:pPr eaLnBrk="1" hangingPunct="1">
              <a:buFont typeface="Arial" panose="020B0604020202020204" pitchFamily="34" charset="0"/>
              <a:buChar char="•"/>
            </a:pPr>
            <a:r>
              <a:rPr lang="en-GB" sz="2400"/>
              <a:t>Cement naturally flocculates</a:t>
            </a:r>
            <a:endParaRPr lang="en-GB" sz="2400"/>
          </a:p>
          <a:p>
            <a:pPr eaLnBrk="1" hangingPunct="1">
              <a:buFont typeface="Arial" panose="020B0604020202020204" pitchFamily="34" charset="0"/>
              <a:buChar char="•"/>
            </a:pPr>
            <a:r>
              <a:rPr lang="en-GB" sz="2400"/>
              <a:t>Mix water is trapped within </a:t>
            </a:r>
            <a:r>
              <a:rPr lang="en-GB" sz="2400" err="1"/>
              <a:t>flocs</a:t>
            </a:r>
            <a:endParaRPr lang="en-GB" sz="2400"/>
          </a:p>
          <a:p>
            <a:pPr eaLnBrk="1" hangingPunct="1">
              <a:buFont typeface="Arial" panose="020B0604020202020204" pitchFamily="34" charset="0"/>
              <a:buChar char="•"/>
            </a:pPr>
            <a:r>
              <a:rPr lang="en-GB" sz="2400"/>
              <a:t>Trapped water is not available for workability</a:t>
            </a:r>
            <a:endParaRPr lang="en-GB" sz="2400"/>
          </a:p>
          <a:p>
            <a:pPr eaLnBrk="1" hangingPunct="1">
              <a:buFont typeface="Arial" panose="020B0604020202020204" pitchFamily="34" charset="0"/>
              <a:buChar char="•"/>
            </a:pPr>
            <a:r>
              <a:rPr lang="en-GB" sz="2400"/>
              <a:t>Workability low to minimise water / cement ratio</a:t>
            </a:r>
            <a:endParaRPr lang="en-GB" sz="2400"/>
          </a:p>
        </p:txBody>
      </p:sp>
      <p:sp>
        <p:nvSpPr>
          <p:cNvPr id="62469" name="Freeform 4"/>
          <p:cNvSpPr/>
          <p:nvPr/>
        </p:nvSpPr>
        <p:spPr bwMode="auto">
          <a:xfrm>
            <a:off x="2455863" y="1563688"/>
            <a:ext cx="366712" cy="303212"/>
          </a:xfrm>
          <a:custGeom>
            <a:avLst/>
            <a:gdLst>
              <a:gd name="T0" fmla="*/ 0 w 231"/>
              <a:gd name="T1" fmla="*/ 2147483647 h 191"/>
              <a:gd name="T2" fmla="*/ 2147483647 w 231"/>
              <a:gd name="T3" fmla="*/ 2147483647 h 191"/>
              <a:gd name="T4" fmla="*/ 2147483647 w 231"/>
              <a:gd name="T5" fmla="*/ 2147483647 h 191"/>
              <a:gd name="T6" fmla="*/ 2147483647 w 231"/>
              <a:gd name="T7" fmla="*/ 0 h 191"/>
              <a:gd name="T8" fmla="*/ 2147483647 w 231"/>
              <a:gd name="T9" fmla="*/ 2147483647 h 191"/>
              <a:gd name="T10" fmla="*/ 2147483647 w 231"/>
              <a:gd name="T11" fmla="*/ 2147483647 h 191"/>
              <a:gd name="T12" fmla="*/ 2147483647 w 231"/>
              <a:gd name="T13" fmla="*/ 2147483647 h 191"/>
              <a:gd name="T14" fmla="*/ 2147483647 w 231"/>
              <a:gd name="T15" fmla="*/ 2147483647 h 191"/>
              <a:gd name="T16" fmla="*/ 2147483647 w 231"/>
              <a:gd name="T17" fmla="*/ 2147483647 h 191"/>
              <a:gd name="T18" fmla="*/ 0 w 231"/>
              <a:gd name="T19" fmla="*/ 2147483647 h 19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1"/>
              <a:gd name="T31" fmla="*/ 0 h 191"/>
              <a:gd name="T32" fmla="*/ 231 w 231"/>
              <a:gd name="T33" fmla="*/ 191 h 19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1" h="191">
                <a:moveTo>
                  <a:pt x="0" y="190"/>
                </a:moveTo>
                <a:cubicBezTo>
                  <a:pt x="5" y="160"/>
                  <a:pt x="3" y="157"/>
                  <a:pt x="11" y="134"/>
                </a:cubicBezTo>
                <a:cubicBezTo>
                  <a:pt x="15" y="123"/>
                  <a:pt x="23" y="100"/>
                  <a:pt x="23" y="100"/>
                </a:cubicBezTo>
                <a:cubicBezTo>
                  <a:pt x="29" y="56"/>
                  <a:pt x="49" y="14"/>
                  <a:pt x="95" y="0"/>
                </a:cubicBezTo>
                <a:cubicBezTo>
                  <a:pt x="125" y="2"/>
                  <a:pt x="155" y="2"/>
                  <a:pt x="185" y="5"/>
                </a:cubicBezTo>
                <a:cubicBezTo>
                  <a:pt x="196" y="6"/>
                  <a:pt x="212" y="1"/>
                  <a:pt x="218" y="11"/>
                </a:cubicBezTo>
                <a:cubicBezTo>
                  <a:pt x="231" y="34"/>
                  <a:pt x="222" y="64"/>
                  <a:pt x="229" y="89"/>
                </a:cubicBezTo>
                <a:cubicBezTo>
                  <a:pt x="227" y="108"/>
                  <a:pt x="231" y="128"/>
                  <a:pt x="224" y="145"/>
                </a:cubicBezTo>
                <a:cubicBezTo>
                  <a:pt x="221" y="152"/>
                  <a:pt x="209" y="148"/>
                  <a:pt x="202" y="151"/>
                </a:cubicBezTo>
                <a:cubicBezTo>
                  <a:pt x="122" y="191"/>
                  <a:pt x="104" y="190"/>
                  <a:pt x="0" y="190"/>
                </a:cubicBezTo>
                <a:close/>
              </a:path>
            </a:pathLst>
          </a:custGeom>
          <a:solidFill>
            <a:schemeClr val="accent1"/>
          </a:solidFill>
          <a:ln w="9525">
            <a:solidFill>
              <a:schemeClr val="tx1"/>
            </a:solidFill>
            <a:round/>
          </a:ln>
        </p:spPr>
        <p:txBody>
          <a:bodyPr/>
          <a:lstStyle/>
          <a:p>
            <a:endParaRPr lang="en-US"/>
          </a:p>
        </p:txBody>
      </p:sp>
      <p:sp>
        <p:nvSpPr>
          <p:cNvPr id="62470" name="Freeform 5"/>
          <p:cNvSpPr/>
          <p:nvPr/>
        </p:nvSpPr>
        <p:spPr bwMode="auto">
          <a:xfrm>
            <a:off x="2797175" y="1420814"/>
            <a:ext cx="446088" cy="250825"/>
          </a:xfrm>
          <a:custGeom>
            <a:avLst/>
            <a:gdLst>
              <a:gd name="T0" fmla="*/ 2147483647 w 281"/>
              <a:gd name="T1" fmla="*/ 2147483647 h 158"/>
              <a:gd name="T2" fmla="*/ 2147483647 w 281"/>
              <a:gd name="T3" fmla="*/ 2147483647 h 158"/>
              <a:gd name="T4" fmla="*/ 2147483647 w 281"/>
              <a:gd name="T5" fmla="*/ 0 h 158"/>
              <a:gd name="T6" fmla="*/ 2147483647 w 281"/>
              <a:gd name="T7" fmla="*/ 2147483647 h 158"/>
              <a:gd name="T8" fmla="*/ 2147483647 w 281"/>
              <a:gd name="T9" fmla="*/ 2147483647 h 158"/>
              <a:gd name="T10" fmla="*/ 2147483647 w 281"/>
              <a:gd name="T11" fmla="*/ 2147483647 h 158"/>
              <a:gd name="T12" fmla="*/ 2147483647 w 281"/>
              <a:gd name="T13" fmla="*/ 2147483647 h 158"/>
              <a:gd name="T14" fmla="*/ 2147483647 w 281"/>
              <a:gd name="T15" fmla="*/ 2147483647 h 158"/>
              <a:gd name="T16" fmla="*/ 0 60000 65536"/>
              <a:gd name="T17" fmla="*/ 0 60000 65536"/>
              <a:gd name="T18" fmla="*/ 0 60000 65536"/>
              <a:gd name="T19" fmla="*/ 0 60000 65536"/>
              <a:gd name="T20" fmla="*/ 0 60000 65536"/>
              <a:gd name="T21" fmla="*/ 0 60000 65536"/>
              <a:gd name="T22" fmla="*/ 0 60000 65536"/>
              <a:gd name="T23" fmla="*/ 0 60000 65536"/>
              <a:gd name="T24" fmla="*/ 0 w 281"/>
              <a:gd name="T25" fmla="*/ 0 h 158"/>
              <a:gd name="T26" fmla="*/ 281 w 281"/>
              <a:gd name="T27" fmla="*/ 158 h 1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1" h="158">
                <a:moveTo>
                  <a:pt x="9" y="118"/>
                </a:moveTo>
                <a:cubicBezTo>
                  <a:pt x="35" y="31"/>
                  <a:pt x="0" y="48"/>
                  <a:pt x="110" y="39"/>
                </a:cubicBezTo>
                <a:cubicBezTo>
                  <a:pt x="122" y="21"/>
                  <a:pt x="131" y="12"/>
                  <a:pt x="149" y="0"/>
                </a:cubicBezTo>
                <a:cubicBezTo>
                  <a:pt x="178" y="11"/>
                  <a:pt x="209" y="13"/>
                  <a:pt x="238" y="23"/>
                </a:cubicBezTo>
                <a:cubicBezTo>
                  <a:pt x="245" y="42"/>
                  <a:pt x="258" y="64"/>
                  <a:pt x="272" y="79"/>
                </a:cubicBezTo>
                <a:cubicBezTo>
                  <a:pt x="265" y="158"/>
                  <a:pt x="281" y="139"/>
                  <a:pt x="233" y="157"/>
                </a:cubicBezTo>
                <a:cubicBezTo>
                  <a:pt x="163" y="149"/>
                  <a:pt x="117" y="138"/>
                  <a:pt x="42" y="134"/>
                </a:cubicBezTo>
                <a:cubicBezTo>
                  <a:pt x="32" y="127"/>
                  <a:pt x="18" y="107"/>
                  <a:pt x="9" y="118"/>
                </a:cubicBezTo>
                <a:close/>
              </a:path>
            </a:pathLst>
          </a:custGeom>
          <a:solidFill>
            <a:schemeClr val="accent1"/>
          </a:solidFill>
          <a:ln w="9525">
            <a:solidFill>
              <a:schemeClr val="tx1"/>
            </a:solidFill>
            <a:round/>
          </a:ln>
        </p:spPr>
        <p:txBody>
          <a:bodyPr/>
          <a:lstStyle/>
          <a:p>
            <a:endParaRPr lang="en-US"/>
          </a:p>
        </p:txBody>
      </p:sp>
      <p:sp>
        <p:nvSpPr>
          <p:cNvPr id="62471" name="Freeform 6"/>
          <p:cNvSpPr/>
          <p:nvPr/>
        </p:nvSpPr>
        <p:spPr bwMode="auto">
          <a:xfrm>
            <a:off x="3228975" y="1403350"/>
            <a:ext cx="368300" cy="560388"/>
          </a:xfrm>
          <a:custGeom>
            <a:avLst/>
            <a:gdLst>
              <a:gd name="T0" fmla="*/ 0 w 232"/>
              <a:gd name="T1" fmla="*/ 2147483647 h 353"/>
              <a:gd name="T2" fmla="*/ 2147483647 w 232"/>
              <a:gd name="T3" fmla="*/ 0 h 353"/>
              <a:gd name="T4" fmla="*/ 2147483647 w 232"/>
              <a:gd name="T5" fmla="*/ 2147483647 h 353"/>
              <a:gd name="T6" fmla="*/ 2147483647 w 232"/>
              <a:gd name="T7" fmla="*/ 2147483647 h 353"/>
              <a:gd name="T8" fmla="*/ 2147483647 w 232"/>
              <a:gd name="T9" fmla="*/ 2147483647 h 353"/>
              <a:gd name="T10" fmla="*/ 2147483647 w 232"/>
              <a:gd name="T11" fmla="*/ 2147483647 h 353"/>
              <a:gd name="T12" fmla="*/ 2147483647 w 232"/>
              <a:gd name="T13" fmla="*/ 2147483647 h 353"/>
              <a:gd name="T14" fmla="*/ 2147483647 w 232"/>
              <a:gd name="T15" fmla="*/ 2147483647 h 353"/>
              <a:gd name="T16" fmla="*/ 0 w 232"/>
              <a:gd name="T17" fmla="*/ 2147483647 h 3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2"/>
              <a:gd name="T28" fmla="*/ 0 h 353"/>
              <a:gd name="T29" fmla="*/ 232 w 232"/>
              <a:gd name="T30" fmla="*/ 353 h 3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2" h="353">
                <a:moveTo>
                  <a:pt x="0" y="106"/>
                </a:moveTo>
                <a:cubicBezTo>
                  <a:pt x="12" y="68"/>
                  <a:pt x="3" y="23"/>
                  <a:pt x="39" y="0"/>
                </a:cubicBezTo>
                <a:cubicBezTo>
                  <a:pt x="90" y="5"/>
                  <a:pt x="142" y="11"/>
                  <a:pt x="190" y="28"/>
                </a:cubicBezTo>
                <a:cubicBezTo>
                  <a:pt x="232" y="92"/>
                  <a:pt x="193" y="171"/>
                  <a:pt x="218" y="241"/>
                </a:cubicBezTo>
                <a:cubicBezTo>
                  <a:pt x="212" y="308"/>
                  <a:pt x="228" y="312"/>
                  <a:pt x="179" y="330"/>
                </a:cubicBezTo>
                <a:cubicBezTo>
                  <a:pt x="153" y="353"/>
                  <a:pt x="132" y="345"/>
                  <a:pt x="100" y="336"/>
                </a:cubicBezTo>
                <a:cubicBezTo>
                  <a:pt x="85" y="320"/>
                  <a:pt x="61" y="296"/>
                  <a:pt x="44" y="285"/>
                </a:cubicBezTo>
                <a:cubicBezTo>
                  <a:pt x="4" y="227"/>
                  <a:pt x="5" y="242"/>
                  <a:pt x="5" y="157"/>
                </a:cubicBezTo>
                <a:cubicBezTo>
                  <a:pt x="20" y="280"/>
                  <a:pt x="8" y="143"/>
                  <a:pt x="0" y="106"/>
                </a:cubicBezTo>
                <a:close/>
              </a:path>
            </a:pathLst>
          </a:custGeom>
          <a:solidFill>
            <a:schemeClr val="accent1"/>
          </a:solidFill>
          <a:ln w="9525">
            <a:solidFill>
              <a:schemeClr val="tx1"/>
            </a:solidFill>
            <a:round/>
          </a:ln>
        </p:spPr>
        <p:txBody>
          <a:bodyPr/>
          <a:lstStyle/>
          <a:p>
            <a:endParaRPr lang="en-US"/>
          </a:p>
        </p:txBody>
      </p:sp>
      <p:sp>
        <p:nvSpPr>
          <p:cNvPr id="62472" name="Freeform 7"/>
          <p:cNvSpPr/>
          <p:nvPr/>
        </p:nvSpPr>
        <p:spPr bwMode="auto">
          <a:xfrm>
            <a:off x="3079750" y="1893888"/>
            <a:ext cx="584200" cy="334962"/>
          </a:xfrm>
          <a:custGeom>
            <a:avLst/>
            <a:gdLst>
              <a:gd name="T0" fmla="*/ 2147483647 w 368"/>
              <a:gd name="T1" fmla="*/ 2147483647 h 211"/>
              <a:gd name="T2" fmla="*/ 2147483647 w 368"/>
              <a:gd name="T3" fmla="*/ 2147483647 h 211"/>
              <a:gd name="T4" fmla="*/ 2147483647 w 368"/>
              <a:gd name="T5" fmla="*/ 2147483647 h 211"/>
              <a:gd name="T6" fmla="*/ 2147483647 w 368"/>
              <a:gd name="T7" fmla="*/ 2147483647 h 211"/>
              <a:gd name="T8" fmla="*/ 2147483647 w 368"/>
              <a:gd name="T9" fmla="*/ 2147483647 h 211"/>
              <a:gd name="T10" fmla="*/ 2147483647 w 368"/>
              <a:gd name="T11" fmla="*/ 2147483647 h 211"/>
              <a:gd name="T12" fmla="*/ 2147483647 w 368"/>
              <a:gd name="T13" fmla="*/ 2147483647 h 211"/>
              <a:gd name="T14" fmla="*/ 2147483647 w 368"/>
              <a:gd name="T15" fmla="*/ 2147483647 h 211"/>
              <a:gd name="T16" fmla="*/ 2147483647 w 368"/>
              <a:gd name="T17" fmla="*/ 2147483647 h 211"/>
              <a:gd name="T18" fmla="*/ 2147483647 w 368"/>
              <a:gd name="T19" fmla="*/ 2147483647 h 211"/>
              <a:gd name="T20" fmla="*/ 2147483647 w 368"/>
              <a:gd name="T21" fmla="*/ 2147483647 h 211"/>
              <a:gd name="T22" fmla="*/ 2147483647 w 368"/>
              <a:gd name="T23" fmla="*/ 2147483647 h 2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8"/>
              <a:gd name="T37" fmla="*/ 0 h 211"/>
              <a:gd name="T38" fmla="*/ 368 w 368"/>
              <a:gd name="T39" fmla="*/ 211 h 2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8" h="211">
                <a:moveTo>
                  <a:pt x="43" y="133"/>
                </a:moveTo>
                <a:cubicBezTo>
                  <a:pt x="87" y="117"/>
                  <a:pt x="132" y="105"/>
                  <a:pt x="178" y="99"/>
                </a:cubicBezTo>
                <a:cubicBezTo>
                  <a:pt x="214" y="47"/>
                  <a:pt x="218" y="44"/>
                  <a:pt x="284" y="38"/>
                </a:cubicBezTo>
                <a:cubicBezTo>
                  <a:pt x="292" y="0"/>
                  <a:pt x="307" y="10"/>
                  <a:pt x="345" y="15"/>
                </a:cubicBezTo>
                <a:cubicBezTo>
                  <a:pt x="360" y="37"/>
                  <a:pt x="359" y="58"/>
                  <a:pt x="368" y="83"/>
                </a:cubicBezTo>
                <a:cubicBezTo>
                  <a:pt x="357" y="158"/>
                  <a:pt x="327" y="128"/>
                  <a:pt x="234" y="133"/>
                </a:cubicBezTo>
                <a:cubicBezTo>
                  <a:pt x="230" y="134"/>
                  <a:pt x="196" y="138"/>
                  <a:pt x="189" y="144"/>
                </a:cubicBezTo>
                <a:cubicBezTo>
                  <a:pt x="184" y="148"/>
                  <a:pt x="183" y="157"/>
                  <a:pt x="178" y="161"/>
                </a:cubicBezTo>
                <a:cubicBezTo>
                  <a:pt x="169" y="168"/>
                  <a:pt x="155" y="168"/>
                  <a:pt x="144" y="172"/>
                </a:cubicBezTo>
                <a:cubicBezTo>
                  <a:pt x="130" y="193"/>
                  <a:pt x="122" y="192"/>
                  <a:pt x="99" y="200"/>
                </a:cubicBezTo>
                <a:cubicBezTo>
                  <a:pt x="5" y="193"/>
                  <a:pt x="0" y="211"/>
                  <a:pt x="10" y="127"/>
                </a:cubicBezTo>
                <a:cubicBezTo>
                  <a:pt x="59" y="134"/>
                  <a:pt x="70" y="133"/>
                  <a:pt x="43" y="133"/>
                </a:cubicBezTo>
                <a:close/>
              </a:path>
            </a:pathLst>
          </a:custGeom>
          <a:solidFill>
            <a:schemeClr val="accent1"/>
          </a:solidFill>
          <a:ln w="9525">
            <a:solidFill>
              <a:schemeClr val="tx1"/>
            </a:solidFill>
            <a:round/>
          </a:ln>
        </p:spPr>
        <p:txBody>
          <a:bodyPr/>
          <a:lstStyle/>
          <a:p>
            <a:endParaRPr lang="en-US"/>
          </a:p>
        </p:txBody>
      </p:sp>
      <p:sp>
        <p:nvSpPr>
          <p:cNvPr id="62473" name="Freeform 8"/>
          <p:cNvSpPr/>
          <p:nvPr/>
        </p:nvSpPr>
        <p:spPr bwMode="auto">
          <a:xfrm>
            <a:off x="2624138" y="1795464"/>
            <a:ext cx="544512" cy="460375"/>
          </a:xfrm>
          <a:custGeom>
            <a:avLst/>
            <a:gdLst>
              <a:gd name="T0" fmla="*/ 2147483647 w 343"/>
              <a:gd name="T1" fmla="*/ 2147483647 h 290"/>
              <a:gd name="T2" fmla="*/ 2147483647 w 343"/>
              <a:gd name="T3" fmla="*/ 2147483647 h 290"/>
              <a:gd name="T4" fmla="*/ 2147483647 w 343"/>
              <a:gd name="T5" fmla="*/ 2147483647 h 290"/>
              <a:gd name="T6" fmla="*/ 2147483647 w 343"/>
              <a:gd name="T7" fmla="*/ 2147483647 h 290"/>
              <a:gd name="T8" fmla="*/ 2147483647 w 343"/>
              <a:gd name="T9" fmla="*/ 2147483647 h 290"/>
              <a:gd name="T10" fmla="*/ 2147483647 w 343"/>
              <a:gd name="T11" fmla="*/ 2147483647 h 290"/>
              <a:gd name="T12" fmla="*/ 2147483647 w 343"/>
              <a:gd name="T13" fmla="*/ 2147483647 h 290"/>
              <a:gd name="T14" fmla="*/ 2147483647 w 343"/>
              <a:gd name="T15" fmla="*/ 2147483647 h 290"/>
              <a:gd name="T16" fmla="*/ 2147483647 w 343"/>
              <a:gd name="T17" fmla="*/ 2147483647 h 290"/>
              <a:gd name="T18" fmla="*/ 2147483647 w 343"/>
              <a:gd name="T19" fmla="*/ 2147483647 h 290"/>
              <a:gd name="T20" fmla="*/ 0 w 343"/>
              <a:gd name="T21" fmla="*/ 2147483647 h 290"/>
              <a:gd name="T22" fmla="*/ 2147483647 w 343"/>
              <a:gd name="T23" fmla="*/ 2147483647 h 290"/>
              <a:gd name="T24" fmla="*/ 2147483647 w 343"/>
              <a:gd name="T25" fmla="*/ 2147483647 h 290"/>
              <a:gd name="T26" fmla="*/ 2147483647 w 343"/>
              <a:gd name="T27" fmla="*/ 2147483647 h 290"/>
              <a:gd name="T28" fmla="*/ 2147483647 w 343"/>
              <a:gd name="T29" fmla="*/ 2147483647 h 290"/>
              <a:gd name="T30" fmla="*/ 2147483647 w 343"/>
              <a:gd name="T31" fmla="*/ 2147483647 h 290"/>
              <a:gd name="T32" fmla="*/ 2147483647 w 343"/>
              <a:gd name="T33" fmla="*/ 2147483647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43"/>
              <a:gd name="T52" fmla="*/ 0 h 290"/>
              <a:gd name="T53" fmla="*/ 343 w 343"/>
              <a:gd name="T54" fmla="*/ 290 h 29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43" h="290">
                <a:moveTo>
                  <a:pt x="297" y="195"/>
                </a:moveTo>
                <a:cubicBezTo>
                  <a:pt x="337" y="155"/>
                  <a:pt x="343" y="88"/>
                  <a:pt x="291" y="55"/>
                </a:cubicBezTo>
                <a:cubicBezTo>
                  <a:pt x="287" y="49"/>
                  <a:pt x="285" y="43"/>
                  <a:pt x="280" y="38"/>
                </a:cubicBezTo>
                <a:cubicBezTo>
                  <a:pt x="275" y="33"/>
                  <a:pt x="267" y="32"/>
                  <a:pt x="263" y="27"/>
                </a:cubicBezTo>
                <a:cubicBezTo>
                  <a:pt x="242" y="0"/>
                  <a:pt x="278" y="16"/>
                  <a:pt x="241" y="5"/>
                </a:cubicBezTo>
                <a:cubicBezTo>
                  <a:pt x="205" y="16"/>
                  <a:pt x="211" y="31"/>
                  <a:pt x="163" y="38"/>
                </a:cubicBezTo>
                <a:cubicBezTo>
                  <a:pt x="153" y="66"/>
                  <a:pt x="143" y="94"/>
                  <a:pt x="135" y="122"/>
                </a:cubicBezTo>
                <a:cubicBezTo>
                  <a:pt x="135" y="123"/>
                  <a:pt x="127" y="157"/>
                  <a:pt x="123" y="161"/>
                </a:cubicBezTo>
                <a:cubicBezTo>
                  <a:pt x="104" y="180"/>
                  <a:pt x="71" y="170"/>
                  <a:pt x="45" y="173"/>
                </a:cubicBezTo>
                <a:cubicBezTo>
                  <a:pt x="43" y="174"/>
                  <a:pt x="14" y="182"/>
                  <a:pt x="12" y="184"/>
                </a:cubicBezTo>
                <a:cubicBezTo>
                  <a:pt x="5" y="194"/>
                  <a:pt x="0" y="217"/>
                  <a:pt x="0" y="217"/>
                </a:cubicBezTo>
                <a:cubicBezTo>
                  <a:pt x="2" y="234"/>
                  <a:pt x="0" y="252"/>
                  <a:pt x="6" y="268"/>
                </a:cubicBezTo>
                <a:cubicBezTo>
                  <a:pt x="12" y="285"/>
                  <a:pt x="58" y="286"/>
                  <a:pt x="73" y="290"/>
                </a:cubicBezTo>
                <a:cubicBezTo>
                  <a:pt x="121" y="286"/>
                  <a:pt x="141" y="287"/>
                  <a:pt x="179" y="273"/>
                </a:cubicBezTo>
                <a:cubicBezTo>
                  <a:pt x="192" y="237"/>
                  <a:pt x="232" y="248"/>
                  <a:pt x="269" y="245"/>
                </a:cubicBezTo>
                <a:cubicBezTo>
                  <a:pt x="275" y="223"/>
                  <a:pt x="280" y="219"/>
                  <a:pt x="302" y="212"/>
                </a:cubicBezTo>
                <a:cubicBezTo>
                  <a:pt x="309" y="192"/>
                  <a:pt x="314" y="195"/>
                  <a:pt x="297" y="195"/>
                </a:cubicBezTo>
                <a:close/>
              </a:path>
            </a:pathLst>
          </a:custGeom>
          <a:solidFill>
            <a:schemeClr val="accent1"/>
          </a:solidFill>
          <a:ln w="9525">
            <a:solidFill>
              <a:schemeClr val="tx1"/>
            </a:solidFill>
            <a:round/>
          </a:ln>
        </p:spPr>
        <p:txBody>
          <a:bodyPr/>
          <a:lstStyle/>
          <a:p>
            <a:endParaRPr lang="en-US"/>
          </a:p>
        </p:txBody>
      </p:sp>
      <p:sp>
        <p:nvSpPr>
          <p:cNvPr id="62474" name="Freeform 9"/>
          <p:cNvSpPr/>
          <p:nvPr/>
        </p:nvSpPr>
        <p:spPr bwMode="auto">
          <a:xfrm>
            <a:off x="2212975" y="1847851"/>
            <a:ext cx="642938" cy="269875"/>
          </a:xfrm>
          <a:custGeom>
            <a:avLst/>
            <a:gdLst>
              <a:gd name="T0" fmla="*/ 2147483647 w 405"/>
              <a:gd name="T1" fmla="*/ 2147483647 h 170"/>
              <a:gd name="T2" fmla="*/ 2147483647 w 405"/>
              <a:gd name="T3" fmla="*/ 0 h 170"/>
              <a:gd name="T4" fmla="*/ 2147483647 w 405"/>
              <a:gd name="T5" fmla="*/ 2147483647 h 170"/>
              <a:gd name="T6" fmla="*/ 2147483647 w 405"/>
              <a:gd name="T7" fmla="*/ 2147483647 h 170"/>
              <a:gd name="T8" fmla="*/ 2147483647 w 405"/>
              <a:gd name="T9" fmla="*/ 2147483647 h 170"/>
              <a:gd name="T10" fmla="*/ 2147483647 w 405"/>
              <a:gd name="T11" fmla="*/ 2147483647 h 170"/>
              <a:gd name="T12" fmla="*/ 2147483647 w 405"/>
              <a:gd name="T13" fmla="*/ 2147483647 h 170"/>
              <a:gd name="T14" fmla="*/ 2147483647 w 405"/>
              <a:gd name="T15" fmla="*/ 2147483647 h 170"/>
              <a:gd name="T16" fmla="*/ 2147483647 w 405"/>
              <a:gd name="T17" fmla="*/ 2147483647 h 170"/>
              <a:gd name="T18" fmla="*/ 2147483647 w 405"/>
              <a:gd name="T19" fmla="*/ 2147483647 h 1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05"/>
              <a:gd name="T31" fmla="*/ 0 h 170"/>
              <a:gd name="T32" fmla="*/ 405 w 405"/>
              <a:gd name="T33" fmla="*/ 170 h 1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05" h="170">
                <a:moveTo>
                  <a:pt x="405" y="44"/>
                </a:moveTo>
                <a:cubicBezTo>
                  <a:pt x="395" y="19"/>
                  <a:pt x="381" y="8"/>
                  <a:pt x="355" y="0"/>
                </a:cubicBezTo>
                <a:cubicBezTo>
                  <a:pt x="295" y="3"/>
                  <a:pt x="264" y="0"/>
                  <a:pt x="215" y="16"/>
                </a:cubicBezTo>
                <a:cubicBezTo>
                  <a:pt x="185" y="26"/>
                  <a:pt x="157" y="44"/>
                  <a:pt x="131" y="61"/>
                </a:cubicBezTo>
                <a:cubicBezTo>
                  <a:pt x="115" y="72"/>
                  <a:pt x="61" y="72"/>
                  <a:pt x="58" y="72"/>
                </a:cubicBezTo>
                <a:cubicBezTo>
                  <a:pt x="0" y="135"/>
                  <a:pt x="118" y="127"/>
                  <a:pt x="136" y="128"/>
                </a:cubicBezTo>
                <a:cubicBezTo>
                  <a:pt x="178" y="170"/>
                  <a:pt x="249" y="150"/>
                  <a:pt x="304" y="140"/>
                </a:cubicBezTo>
                <a:cubicBezTo>
                  <a:pt x="326" y="116"/>
                  <a:pt x="346" y="104"/>
                  <a:pt x="377" y="95"/>
                </a:cubicBezTo>
                <a:cubicBezTo>
                  <a:pt x="389" y="77"/>
                  <a:pt x="391" y="51"/>
                  <a:pt x="399" y="39"/>
                </a:cubicBezTo>
                <a:cubicBezTo>
                  <a:pt x="400" y="37"/>
                  <a:pt x="403" y="42"/>
                  <a:pt x="405" y="44"/>
                </a:cubicBezTo>
                <a:close/>
              </a:path>
            </a:pathLst>
          </a:custGeom>
          <a:solidFill>
            <a:schemeClr val="accent1"/>
          </a:solidFill>
          <a:ln w="9525">
            <a:solidFill>
              <a:schemeClr val="tx1"/>
            </a:solidFill>
            <a:round/>
          </a:ln>
        </p:spPr>
        <p:txBody>
          <a:bodyPr/>
          <a:lstStyle/>
          <a:p>
            <a:endParaRPr lang="en-US"/>
          </a:p>
        </p:txBody>
      </p:sp>
      <p:sp>
        <p:nvSpPr>
          <p:cNvPr id="62475" name="Text Box 10"/>
          <p:cNvSpPr txBox="1">
            <a:spLocks noChangeArrowheads="1"/>
          </p:cNvSpPr>
          <p:nvPr/>
        </p:nvSpPr>
        <p:spPr bwMode="auto">
          <a:xfrm>
            <a:off x="4068763" y="1412777"/>
            <a:ext cx="3746538" cy="1169551"/>
          </a:xfrm>
          <a:prstGeom prst="rect">
            <a:avLst/>
          </a:prstGeom>
          <a:noFill/>
          <a:ln w="9525">
            <a:noFill/>
            <a:miter lim="800000"/>
          </a:ln>
        </p:spPr>
        <p:txBody>
          <a:bodyPr wrap="none">
            <a:spAutoFit/>
          </a:bodyPr>
          <a:lstStyle/>
          <a:p>
            <a:r>
              <a:rPr lang="en-GB" sz="2800"/>
              <a:t>Flocculated cement</a:t>
            </a:r>
            <a:endParaRPr lang="en-GB" sz="2800"/>
          </a:p>
          <a:p>
            <a:endParaRPr lang="en-GB" sz="1400"/>
          </a:p>
          <a:p>
            <a:r>
              <a:rPr lang="en-GB" sz="2800"/>
              <a:t>Trapped water</a:t>
            </a:r>
            <a:endParaRPr lang="en-GB" sz="2800"/>
          </a:p>
        </p:txBody>
      </p:sp>
      <p:sp>
        <p:nvSpPr>
          <p:cNvPr id="62476" name="Line 12"/>
          <p:cNvSpPr>
            <a:spLocks noChangeShapeType="1"/>
          </p:cNvSpPr>
          <p:nvPr/>
        </p:nvSpPr>
        <p:spPr bwMode="auto">
          <a:xfrm flipH="1">
            <a:off x="3486150" y="1677988"/>
            <a:ext cx="585788" cy="0"/>
          </a:xfrm>
          <a:prstGeom prst="line">
            <a:avLst/>
          </a:prstGeom>
          <a:noFill/>
          <a:ln w="9525">
            <a:solidFill>
              <a:schemeClr val="tx1"/>
            </a:solidFill>
            <a:round/>
            <a:tailEnd type="triangle" w="med" len="med"/>
          </a:ln>
        </p:spPr>
        <p:txBody>
          <a:bodyPr/>
          <a:lstStyle/>
          <a:p>
            <a:endParaRPr lang="en-US"/>
          </a:p>
        </p:txBody>
      </p:sp>
      <p:sp>
        <p:nvSpPr>
          <p:cNvPr id="62477" name="Line 13"/>
          <p:cNvSpPr>
            <a:spLocks noChangeShapeType="1"/>
          </p:cNvSpPr>
          <p:nvPr/>
        </p:nvSpPr>
        <p:spPr bwMode="auto">
          <a:xfrm flipH="1" flipV="1">
            <a:off x="3219450" y="1936751"/>
            <a:ext cx="763588" cy="415925"/>
          </a:xfrm>
          <a:prstGeom prst="line">
            <a:avLst/>
          </a:prstGeom>
          <a:noFill/>
          <a:ln w="9525">
            <a:solidFill>
              <a:schemeClr val="tx1"/>
            </a:solidFill>
            <a:round/>
            <a:tailEnd type="triangle" w="med" len="med"/>
          </a:ln>
        </p:spPr>
        <p:txBody>
          <a:bodyPr/>
          <a:lstStyle/>
          <a:p>
            <a:endParaRPr lang="en-US"/>
          </a:p>
        </p:txBody>
      </p:sp>
      <p:sp>
        <p:nvSpPr>
          <p:cNvPr id="62478" name="Line 14"/>
          <p:cNvSpPr>
            <a:spLocks noChangeShapeType="1"/>
          </p:cNvSpPr>
          <p:nvPr/>
        </p:nvSpPr>
        <p:spPr bwMode="auto">
          <a:xfrm>
            <a:off x="3983038" y="2352675"/>
            <a:ext cx="133350" cy="0"/>
          </a:xfrm>
          <a:prstGeom prst="line">
            <a:avLst/>
          </a:prstGeom>
          <a:noFill/>
          <a:ln w="9525">
            <a:solidFill>
              <a:schemeClr val="tx1"/>
            </a:solidFill>
            <a:round/>
          </a:ln>
        </p:spPr>
        <p:txBody>
          <a:bodyPr/>
          <a:lstStyle/>
          <a:p>
            <a:endParaRPr lang="en-US"/>
          </a:p>
        </p:txBody>
      </p:sp>
      <p:sp>
        <p:nvSpPr>
          <p:cNvPr id="62479" name="AutoShape 17"/>
          <p:cNvSpPr>
            <a:spLocks noChangeArrowheads="1"/>
          </p:cNvSpPr>
          <p:nvPr/>
        </p:nvSpPr>
        <p:spPr bwMode="auto">
          <a:xfrm rot="-5400000">
            <a:off x="4229100" y="5471343"/>
            <a:ext cx="381000" cy="274638"/>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close/>
              </a:path>
            </a:pathLst>
          </a:custGeom>
          <a:solidFill>
            <a:srgbClr val="FFFF99"/>
          </a:solidFill>
          <a:ln w="9525">
            <a:solidFill>
              <a:schemeClr val="tx1"/>
            </a:solidFill>
            <a:miter lim="800000"/>
          </a:ln>
        </p:spPr>
        <p:txBody>
          <a:bodyPr wrap="none" anchor="ctr"/>
          <a:lstStyle/>
          <a:p>
            <a:endParaRPr lang="en-US"/>
          </a:p>
        </p:txBody>
      </p:sp>
      <p:sp>
        <p:nvSpPr>
          <p:cNvPr id="62480" name="AutoShape 18"/>
          <p:cNvSpPr>
            <a:spLocks noChangeArrowheads="1"/>
          </p:cNvSpPr>
          <p:nvPr/>
        </p:nvSpPr>
        <p:spPr bwMode="auto">
          <a:xfrm rot="5400000">
            <a:off x="4716463" y="5461819"/>
            <a:ext cx="381000" cy="274637"/>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close/>
              </a:path>
            </a:pathLst>
          </a:custGeom>
          <a:solidFill>
            <a:srgbClr val="FFFF99"/>
          </a:solidFill>
          <a:ln w="9525">
            <a:solidFill>
              <a:schemeClr val="tx1"/>
            </a:solidFill>
            <a:miter lim="800000"/>
          </a:ln>
        </p:spPr>
        <p:txBody>
          <a:bodyPr wrap="none" anchor="ctr"/>
          <a:lstStyle/>
          <a:p>
            <a:endParaRPr lang="en-US"/>
          </a:p>
        </p:txBody>
      </p:sp>
      <p:sp>
        <p:nvSpPr>
          <p:cNvPr id="62481" name="Line 15"/>
          <p:cNvSpPr>
            <a:spLocks noChangeShapeType="1"/>
          </p:cNvSpPr>
          <p:nvPr/>
        </p:nvSpPr>
        <p:spPr bwMode="auto">
          <a:xfrm>
            <a:off x="3791745" y="6237312"/>
            <a:ext cx="4251325" cy="0"/>
          </a:xfrm>
          <a:prstGeom prst="line">
            <a:avLst/>
          </a:prstGeom>
          <a:noFill/>
          <a:ln w="38100">
            <a:solidFill>
              <a:schemeClr val="tx1"/>
            </a:solidFill>
            <a:round/>
          </a:ln>
        </p:spPr>
        <p:txBody>
          <a:bodyPr/>
          <a:lstStyle/>
          <a:p>
            <a:endParaRPr lang="en-US"/>
          </a:p>
        </p:txBody>
      </p:sp>
      <p:sp>
        <p:nvSpPr>
          <p:cNvPr id="62482" name="AutoShape 16"/>
          <p:cNvSpPr>
            <a:spLocks noChangeArrowheads="1"/>
          </p:cNvSpPr>
          <p:nvPr/>
        </p:nvSpPr>
        <p:spPr bwMode="auto">
          <a:xfrm rot="10800000">
            <a:off x="4298156" y="5180038"/>
            <a:ext cx="736600" cy="1038225"/>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379 w 21600"/>
              <a:gd name="T13" fmla="*/ 4379 h 21600"/>
              <a:gd name="T14" fmla="*/ 17221 w 21600"/>
              <a:gd name="T15" fmla="*/ 17221 h 21600"/>
            </a:gdLst>
            <a:ahLst/>
            <a:cxnLst>
              <a:cxn ang="T8">
                <a:pos x="T0" y="T1"/>
              </a:cxn>
              <a:cxn ang="T9">
                <a:pos x="T2" y="T3"/>
              </a:cxn>
              <a:cxn ang="T10">
                <a:pos x="T4" y="T5"/>
              </a:cxn>
              <a:cxn ang="T11">
                <a:pos x="T6" y="T7"/>
              </a:cxn>
            </a:cxnLst>
            <a:rect l="T12" t="T13" r="T14" b="T15"/>
            <a:pathLst>
              <a:path w="21600" h="21600">
                <a:moveTo>
                  <a:pt x="0" y="0"/>
                </a:moveTo>
                <a:lnTo>
                  <a:pt x="5158" y="21600"/>
                </a:lnTo>
                <a:lnTo>
                  <a:pt x="16442" y="21600"/>
                </a:lnTo>
                <a:lnTo>
                  <a:pt x="21600" y="0"/>
                </a:lnTo>
                <a:close/>
              </a:path>
            </a:pathLst>
          </a:custGeom>
          <a:solidFill>
            <a:srgbClr val="C0C0C0"/>
          </a:solidFill>
          <a:ln w="9525">
            <a:solidFill>
              <a:schemeClr val="tx1"/>
            </a:solidFill>
            <a:miter lim="800000"/>
          </a:ln>
        </p:spPr>
        <p:txBody>
          <a:bodyPr wrap="none" anchor="ct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970856" y="341784"/>
            <a:ext cx="8229600" cy="1143000"/>
          </a:xfrm>
        </p:spPr>
        <p:txBody>
          <a:bodyPr>
            <a:normAutofit fontScale="90000"/>
          </a:bodyPr>
          <a:lstStyle/>
          <a:p>
            <a:pPr eaLnBrk="1" hangingPunct="1"/>
            <a:r>
              <a:rPr lang="en-GB" sz="4000"/>
              <a:t>Cement with plasticising admixture</a:t>
            </a:r>
            <a:endParaRPr lang="en-GB" sz="4000"/>
          </a:p>
        </p:txBody>
      </p:sp>
      <p:sp>
        <p:nvSpPr>
          <p:cNvPr id="63491" name="Rectangle 3"/>
          <p:cNvSpPr>
            <a:spLocks noGrp="1" noChangeArrowheads="1"/>
          </p:cNvSpPr>
          <p:nvPr>
            <p:ph type="body" sz="quarter" idx="10"/>
          </p:nvPr>
        </p:nvSpPr>
        <p:spPr>
          <a:xfrm>
            <a:off x="3205336" y="2564905"/>
            <a:ext cx="6275040" cy="2014537"/>
          </a:xfrm>
        </p:spPr>
        <p:txBody>
          <a:bodyPr>
            <a:normAutofit fontScale="92500" lnSpcReduction="10000"/>
          </a:bodyPr>
          <a:lstStyle/>
          <a:p>
            <a:pPr eaLnBrk="1" hangingPunct="1">
              <a:lnSpc>
                <a:spcPct val="90000"/>
              </a:lnSpc>
              <a:buFont typeface="Arial" panose="020B0604020202020204" pitchFamily="34" charset="0"/>
              <a:buChar char="•"/>
            </a:pPr>
            <a:r>
              <a:rPr lang="en-GB" sz="2400"/>
              <a:t>Cement is deflocculated</a:t>
            </a:r>
            <a:endParaRPr lang="en-GB" sz="2400"/>
          </a:p>
          <a:p>
            <a:pPr eaLnBrk="1" hangingPunct="1">
              <a:lnSpc>
                <a:spcPct val="90000"/>
              </a:lnSpc>
              <a:buFont typeface="Arial" panose="020B0604020202020204" pitchFamily="34" charset="0"/>
              <a:buChar char="•"/>
            </a:pPr>
            <a:r>
              <a:rPr lang="en-GB" sz="2400"/>
              <a:t>Entrapped water is released</a:t>
            </a:r>
            <a:endParaRPr lang="en-GB" sz="2400"/>
          </a:p>
          <a:p>
            <a:pPr eaLnBrk="1" hangingPunct="1">
              <a:lnSpc>
                <a:spcPct val="90000"/>
              </a:lnSpc>
              <a:buFont typeface="Arial" panose="020B0604020202020204" pitchFamily="34" charset="0"/>
              <a:buChar char="•"/>
            </a:pPr>
            <a:r>
              <a:rPr lang="en-GB" sz="2400"/>
              <a:t>Cement particles move freely</a:t>
            </a:r>
            <a:endParaRPr lang="en-GB" sz="2400"/>
          </a:p>
          <a:p>
            <a:pPr eaLnBrk="1" hangingPunct="1">
              <a:lnSpc>
                <a:spcPct val="90000"/>
              </a:lnSpc>
              <a:buFont typeface="Arial" panose="020B0604020202020204" pitchFamily="34" charset="0"/>
              <a:buChar char="•"/>
            </a:pPr>
            <a:r>
              <a:rPr lang="en-GB" sz="2400"/>
              <a:t>Workability increases</a:t>
            </a:r>
            <a:endParaRPr lang="en-GB" sz="2400"/>
          </a:p>
          <a:p>
            <a:pPr eaLnBrk="1" hangingPunct="1">
              <a:lnSpc>
                <a:spcPct val="90000"/>
              </a:lnSpc>
              <a:buFont typeface="Arial" panose="020B0604020202020204" pitchFamily="34" charset="0"/>
              <a:buChar char="•"/>
            </a:pPr>
            <a:r>
              <a:rPr lang="en-GB" sz="2400"/>
              <a:t>Cement hydration improved</a:t>
            </a:r>
            <a:endParaRPr lang="en-GB" sz="2400"/>
          </a:p>
        </p:txBody>
      </p:sp>
      <p:sp>
        <p:nvSpPr>
          <p:cNvPr id="63492" name="Freeform 4"/>
          <p:cNvSpPr/>
          <p:nvPr/>
        </p:nvSpPr>
        <p:spPr bwMode="auto">
          <a:xfrm>
            <a:off x="2455863" y="1649413"/>
            <a:ext cx="366712" cy="303212"/>
          </a:xfrm>
          <a:custGeom>
            <a:avLst/>
            <a:gdLst>
              <a:gd name="T0" fmla="*/ 0 w 231"/>
              <a:gd name="T1" fmla="*/ 2147483647 h 191"/>
              <a:gd name="T2" fmla="*/ 2147483647 w 231"/>
              <a:gd name="T3" fmla="*/ 2147483647 h 191"/>
              <a:gd name="T4" fmla="*/ 2147483647 w 231"/>
              <a:gd name="T5" fmla="*/ 2147483647 h 191"/>
              <a:gd name="T6" fmla="*/ 2147483647 w 231"/>
              <a:gd name="T7" fmla="*/ 0 h 191"/>
              <a:gd name="T8" fmla="*/ 2147483647 w 231"/>
              <a:gd name="T9" fmla="*/ 2147483647 h 191"/>
              <a:gd name="T10" fmla="*/ 2147483647 w 231"/>
              <a:gd name="T11" fmla="*/ 2147483647 h 191"/>
              <a:gd name="T12" fmla="*/ 2147483647 w 231"/>
              <a:gd name="T13" fmla="*/ 2147483647 h 191"/>
              <a:gd name="T14" fmla="*/ 2147483647 w 231"/>
              <a:gd name="T15" fmla="*/ 2147483647 h 191"/>
              <a:gd name="T16" fmla="*/ 2147483647 w 231"/>
              <a:gd name="T17" fmla="*/ 2147483647 h 191"/>
              <a:gd name="T18" fmla="*/ 0 w 231"/>
              <a:gd name="T19" fmla="*/ 2147483647 h 19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1"/>
              <a:gd name="T31" fmla="*/ 0 h 191"/>
              <a:gd name="T32" fmla="*/ 231 w 231"/>
              <a:gd name="T33" fmla="*/ 191 h 19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1" h="191">
                <a:moveTo>
                  <a:pt x="0" y="190"/>
                </a:moveTo>
                <a:cubicBezTo>
                  <a:pt x="5" y="160"/>
                  <a:pt x="3" y="157"/>
                  <a:pt x="11" y="134"/>
                </a:cubicBezTo>
                <a:cubicBezTo>
                  <a:pt x="15" y="123"/>
                  <a:pt x="23" y="100"/>
                  <a:pt x="23" y="100"/>
                </a:cubicBezTo>
                <a:cubicBezTo>
                  <a:pt x="29" y="56"/>
                  <a:pt x="49" y="14"/>
                  <a:pt x="95" y="0"/>
                </a:cubicBezTo>
                <a:cubicBezTo>
                  <a:pt x="125" y="2"/>
                  <a:pt x="155" y="2"/>
                  <a:pt x="185" y="5"/>
                </a:cubicBezTo>
                <a:cubicBezTo>
                  <a:pt x="196" y="6"/>
                  <a:pt x="212" y="1"/>
                  <a:pt x="218" y="11"/>
                </a:cubicBezTo>
                <a:cubicBezTo>
                  <a:pt x="231" y="34"/>
                  <a:pt x="222" y="64"/>
                  <a:pt x="229" y="89"/>
                </a:cubicBezTo>
                <a:cubicBezTo>
                  <a:pt x="227" y="108"/>
                  <a:pt x="231" y="128"/>
                  <a:pt x="224" y="145"/>
                </a:cubicBezTo>
                <a:cubicBezTo>
                  <a:pt x="221" y="152"/>
                  <a:pt x="209" y="148"/>
                  <a:pt x="202" y="151"/>
                </a:cubicBezTo>
                <a:cubicBezTo>
                  <a:pt x="122" y="191"/>
                  <a:pt x="104" y="190"/>
                  <a:pt x="0" y="190"/>
                </a:cubicBezTo>
                <a:close/>
              </a:path>
            </a:pathLst>
          </a:custGeom>
          <a:solidFill>
            <a:schemeClr val="accent1"/>
          </a:solidFill>
          <a:ln w="9525">
            <a:solidFill>
              <a:schemeClr val="tx1"/>
            </a:solidFill>
            <a:round/>
          </a:ln>
        </p:spPr>
        <p:txBody>
          <a:bodyPr/>
          <a:lstStyle/>
          <a:p>
            <a:endParaRPr lang="en-US"/>
          </a:p>
        </p:txBody>
      </p:sp>
      <p:sp>
        <p:nvSpPr>
          <p:cNvPr id="63493" name="Freeform 5"/>
          <p:cNvSpPr/>
          <p:nvPr/>
        </p:nvSpPr>
        <p:spPr bwMode="auto">
          <a:xfrm>
            <a:off x="2940050" y="1638301"/>
            <a:ext cx="446088" cy="250825"/>
          </a:xfrm>
          <a:custGeom>
            <a:avLst/>
            <a:gdLst>
              <a:gd name="T0" fmla="*/ 2147483647 w 281"/>
              <a:gd name="T1" fmla="*/ 2147483647 h 158"/>
              <a:gd name="T2" fmla="*/ 2147483647 w 281"/>
              <a:gd name="T3" fmla="*/ 2147483647 h 158"/>
              <a:gd name="T4" fmla="*/ 2147483647 w 281"/>
              <a:gd name="T5" fmla="*/ 0 h 158"/>
              <a:gd name="T6" fmla="*/ 2147483647 w 281"/>
              <a:gd name="T7" fmla="*/ 2147483647 h 158"/>
              <a:gd name="T8" fmla="*/ 2147483647 w 281"/>
              <a:gd name="T9" fmla="*/ 2147483647 h 158"/>
              <a:gd name="T10" fmla="*/ 2147483647 w 281"/>
              <a:gd name="T11" fmla="*/ 2147483647 h 158"/>
              <a:gd name="T12" fmla="*/ 2147483647 w 281"/>
              <a:gd name="T13" fmla="*/ 2147483647 h 158"/>
              <a:gd name="T14" fmla="*/ 2147483647 w 281"/>
              <a:gd name="T15" fmla="*/ 2147483647 h 158"/>
              <a:gd name="T16" fmla="*/ 0 60000 65536"/>
              <a:gd name="T17" fmla="*/ 0 60000 65536"/>
              <a:gd name="T18" fmla="*/ 0 60000 65536"/>
              <a:gd name="T19" fmla="*/ 0 60000 65536"/>
              <a:gd name="T20" fmla="*/ 0 60000 65536"/>
              <a:gd name="T21" fmla="*/ 0 60000 65536"/>
              <a:gd name="T22" fmla="*/ 0 60000 65536"/>
              <a:gd name="T23" fmla="*/ 0 60000 65536"/>
              <a:gd name="T24" fmla="*/ 0 w 281"/>
              <a:gd name="T25" fmla="*/ 0 h 158"/>
              <a:gd name="T26" fmla="*/ 281 w 281"/>
              <a:gd name="T27" fmla="*/ 158 h 1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1" h="158">
                <a:moveTo>
                  <a:pt x="9" y="118"/>
                </a:moveTo>
                <a:cubicBezTo>
                  <a:pt x="35" y="31"/>
                  <a:pt x="0" y="48"/>
                  <a:pt x="110" y="39"/>
                </a:cubicBezTo>
                <a:cubicBezTo>
                  <a:pt x="122" y="21"/>
                  <a:pt x="131" y="12"/>
                  <a:pt x="149" y="0"/>
                </a:cubicBezTo>
                <a:cubicBezTo>
                  <a:pt x="178" y="11"/>
                  <a:pt x="209" y="13"/>
                  <a:pt x="238" y="23"/>
                </a:cubicBezTo>
                <a:cubicBezTo>
                  <a:pt x="245" y="42"/>
                  <a:pt x="258" y="64"/>
                  <a:pt x="272" y="79"/>
                </a:cubicBezTo>
                <a:cubicBezTo>
                  <a:pt x="265" y="158"/>
                  <a:pt x="281" y="139"/>
                  <a:pt x="233" y="157"/>
                </a:cubicBezTo>
                <a:cubicBezTo>
                  <a:pt x="163" y="149"/>
                  <a:pt x="117" y="138"/>
                  <a:pt x="42" y="134"/>
                </a:cubicBezTo>
                <a:cubicBezTo>
                  <a:pt x="32" y="127"/>
                  <a:pt x="18" y="107"/>
                  <a:pt x="9" y="118"/>
                </a:cubicBezTo>
                <a:close/>
              </a:path>
            </a:pathLst>
          </a:custGeom>
          <a:solidFill>
            <a:schemeClr val="accent1"/>
          </a:solidFill>
          <a:ln w="9525">
            <a:solidFill>
              <a:schemeClr val="tx1"/>
            </a:solidFill>
            <a:round/>
          </a:ln>
        </p:spPr>
        <p:txBody>
          <a:bodyPr/>
          <a:lstStyle/>
          <a:p>
            <a:endParaRPr lang="en-US"/>
          </a:p>
        </p:txBody>
      </p:sp>
      <p:sp>
        <p:nvSpPr>
          <p:cNvPr id="63494" name="Freeform 6"/>
          <p:cNvSpPr/>
          <p:nvPr/>
        </p:nvSpPr>
        <p:spPr bwMode="auto">
          <a:xfrm>
            <a:off x="3513138" y="1427164"/>
            <a:ext cx="368300" cy="560387"/>
          </a:xfrm>
          <a:custGeom>
            <a:avLst/>
            <a:gdLst>
              <a:gd name="T0" fmla="*/ 0 w 232"/>
              <a:gd name="T1" fmla="*/ 2147483647 h 353"/>
              <a:gd name="T2" fmla="*/ 2147483647 w 232"/>
              <a:gd name="T3" fmla="*/ 0 h 353"/>
              <a:gd name="T4" fmla="*/ 2147483647 w 232"/>
              <a:gd name="T5" fmla="*/ 2147483647 h 353"/>
              <a:gd name="T6" fmla="*/ 2147483647 w 232"/>
              <a:gd name="T7" fmla="*/ 2147483647 h 353"/>
              <a:gd name="T8" fmla="*/ 2147483647 w 232"/>
              <a:gd name="T9" fmla="*/ 2147483647 h 353"/>
              <a:gd name="T10" fmla="*/ 2147483647 w 232"/>
              <a:gd name="T11" fmla="*/ 2147483647 h 353"/>
              <a:gd name="T12" fmla="*/ 2147483647 w 232"/>
              <a:gd name="T13" fmla="*/ 2147483647 h 353"/>
              <a:gd name="T14" fmla="*/ 2147483647 w 232"/>
              <a:gd name="T15" fmla="*/ 2147483647 h 353"/>
              <a:gd name="T16" fmla="*/ 0 w 232"/>
              <a:gd name="T17" fmla="*/ 2147483647 h 3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2"/>
              <a:gd name="T28" fmla="*/ 0 h 353"/>
              <a:gd name="T29" fmla="*/ 232 w 232"/>
              <a:gd name="T30" fmla="*/ 353 h 3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2" h="353">
                <a:moveTo>
                  <a:pt x="0" y="106"/>
                </a:moveTo>
                <a:cubicBezTo>
                  <a:pt x="12" y="68"/>
                  <a:pt x="3" y="23"/>
                  <a:pt x="39" y="0"/>
                </a:cubicBezTo>
                <a:cubicBezTo>
                  <a:pt x="90" y="5"/>
                  <a:pt x="142" y="11"/>
                  <a:pt x="190" y="28"/>
                </a:cubicBezTo>
                <a:cubicBezTo>
                  <a:pt x="232" y="92"/>
                  <a:pt x="193" y="171"/>
                  <a:pt x="218" y="241"/>
                </a:cubicBezTo>
                <a:cubicBezTo>
                  <a:pt x="212" y="308"/>
                  <a:pt x="228" y="312"/>
                  <a:pt x="179" y="330"/>
                </a:cubicBezTo>
                <a:cubicBezTo>
                  <a:pt x="153" y="353"/>
                  <a:pt x="132" y="345"/>
                  <a:pt x="100" y="336"/>
                </a:cubicBezTo>
                <a:cubicBezTo>
                  <a:pt x="85" y="320"/>
                  <a:pt x="61" y="296"/>
                  <a:pt x="44" y="285"/>
                </a:cubicBezTo>
                <a:cubicBezTo>
                  <a:pt x="4" y="227"/>
                  <a:pt x="5" y="242"/>
                  <a:pt x="5" y="157"/>
                </a:cubicBezTo>
                <a:cubicBezTo>
                  <a:pt x="20" y="280"/>
                  <a:pt x="8" y="143"/>
                  <a:pt x="0" y="106"/>
                </a:cubicBezTo>
                <a:close/>
              </a:path>
            </a:pathLst>
          </a:custGeom>
          <a:solidFill>
            <a:schemeClr val="accent1"/>
          </a:solidFill>
          <a:ln w="9525">
            <a:solidFill>
              <a:schemeClr val="tx1"/>
            </a:solidFill>
            <a:round/>
          </a:ln>
        </p:spPr>
        <p:txBody>
          <a:bodyPr/>
          <a:lstStyle/>
          <a:p>
            <a:endParaRPr lang="en-US"/>
          </a:p>
        </p:txBody>
      </p:sp>
      <p:sp>
        <p:nvSpPr>
          <p:cNvPr id="63495" name="Freeform 7"/>
          <p:cNvSpPr/>
          <p:nvPr/>
        </p:nvSpPr>
        <p:spPr bwMode="auto">
          <a:xfrm>
            <a:off x="3355975" y="2058988"/>
            <a:ext cx="584200" cy="334962"/>
          </a:xfrm>
          <a:custGeom>
            <a:avLst/>
            <a:gdLst>
              <a:gd name="T0" fmla="*/ 2147483647 w 368"/>
              <a:gd name="T1" fmla="*/ 2147483647 h 211"/>
              <a:gd name="T2" fmla="*/ 2147483647 w 368"/>
              <a:gd name="T3" fmla="*/ 2147483647 h 211"/>
              <a:gd name="T4" fmla="*/ 2147483647 w 368"/>
              <a:gd name="T5" fmla="*/ 2147483647 h 211"/>
              <a:gd name="T6" fmla="*/ 2147483647 w 368"/>
              <a:gd name="T7" fmla="*/ 2147483647 h 211"/>
              <a:gd name="T8" fmla="*/ 2147483647 w 368"/>
              <a:gd name="T9" fmla="*/ 2147483647 h 211"/>
              <a:gd name="T10" fmla="*/ 2147483647 w 368"/>
              <a:gd name="T11" fmla="*/ 2147483647 h 211"/>
              <a:gd name="T12" fmla="*/ 2147483647 w 368"/>
              <a:gd name="T13" fmla="*/ 2147483647 h 211"/>
              <a:gd name="T14" fmla="*/ 2147483647 w 368"/>
              <a:gd name="T15" fmla="*/ 2147483647 h 211"/>
              <a:gd name="T16" fmla="*/ 2147483647 w 368"/>
              <a:gd name="T17" fmla="*/ 2147483647 h 211"/>
              <a:gd name="T18" fmla="*/ 2147483647 w 368"/>
              <a:gd name="T19" fmla="*/ 2147483647 h 211"/>
              <a:gd name="T20" fmla="*/ 2147483647 w 368"/>
              <a:gd name="T21" fmla="*/ 2147483647 h 211"/>
              <a:gd name="T22" fmla="*/ 2147483647 w 368"/>
              <a:gd name="T23" fmla="*/ 2147483647 h 2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68"/>
              <a:gd name="T37" fmla="*/ 0 h 211"/>
              <a:gd name="T38" fmla="*/ 368 w 368"/>
              <a:gd name="T39" fmla="*/ 211 h 2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68" h="211">
                <a:moveTo>
                  <a:pt x="43" y="133"/>
                </a:moveTo>
                <a:cubicBezTo>
                  <a:pt x="87" y="117"/>
                  <a:pt x="132" y="105"/>
                  <a:pt x="178" y="99"/>
                </a:cubicBezTo>
                <a:cubicBezTo>
                  <a:pt x="214" y="47"/>
                  <a:pt x="218" y="44"/>
                  <a:pt x="284" y="38"/>
                </a:cubicBezTo>
                <a:cubicBezTo>
                  <a:pt x="292" y="0"/>
                  <a:pt x="307" y="10"/>
                  <a:pt x="345" y="15"/>
                </a:cubicBezTo>
                <a:cubicBezTo>
                  <a:pt x="360" y="37"/>
                  <a:pt x="359" y="58"/>
                  <a:pt x="368" y="83"/>
                </a:cubicBezTo>
                <a:cubicBezTo>
                  <a:pt x="357" y="158"/>
                  <a:pt x="327" y="128"/>
                  <a:pt x="234" y="133"/>
                </a:cubicBezTo>
                <a:cubicBezTo>
                  <a:pt x="230" y="134"/>
                  <a:pt x="196" y="138"/>
                  <a:pt x="189" y="144"/>
                </a:cubicBezTo>
                <a:cubicBezTo>
                  <a:pt x="184" y="148"/>
                  <a:pt x="183" y="157"/>
                  <a:pt x="178" y="161"/>
                </a:cubicBezTo>
                <a:cubicBezTo>
                  <a:pt x="169" y="168"/>
                  <a:pt x="155" y="168"/>
                  <a:pt x="144" y="172"/>
                </a:cubicBezTo>
                <a:cubicBezTo>
                  <a:pt x="130" y="193"/>
                  <a:pt x="122" y="192"/>
                  <a:pt x="99" y="200"/>
                </a:cubicBezTo>
                <a:cubicBezTo>
                  <a:pt x="5" y="193"/>
                  <a:pt x="0" y="211"/>
                  <a:pt x="10" y="127"/>
                </a:cubicBezTo>
                <a:cubicBezTo>
                  <a:pt x="59" y="134"/>
                  <a:pt x="70" y="133"/>
                  <a:pt x="43" y="133"/>
                </a:cubicBezTo>
                <a:close/>
              </a:path>
            </a:pathLst>
          </a:custGeom>
          <a:solidFill>
            <a:schemeClr val="accent1"/>
          </a:solidFill>
          <a:ln w="9525">
            <a:solidFill>
              <a:schemeClr val="tx1"/>
            </a:solidFill>
            <a:round/>
          </a:ln>
        </p:spPr>
        <p:txBody>
          <a:bodyPr/>
          <a:lstStyle/>
          <a:p>
            <a:endParaRPr lang="en-US"/>
          </a:p>
        </p:txBody>
      </p:sp>
      <p:sp>
        <p:nvSpPr>
          <p:cNvPr id="63496" name="Freeform 8"/>
          <p:cNvSpPr/>
          <p:nvPr/>
        </p:nvSpPr>
        <p:spPr bwMode="auto">
          <a:xfrm>
            <a:off x="2687638" y="2078039"/>
            <a:ext cx="544512" cy="433387"/>
          </a:xfrm>
          <a:custGeom>
            <a:avLst/>
            <a:gdLst>
              <a:gd name="T0" fmla="*/ 2147483647 w 343"/>
              <a:gd name="T1" fmla="*/ 2147483647 h 290"/>
              <a:gd name="T2" fmla="*/ 2147483647 w 343"/>
              <a:gd name="T3" fmla="*/ 2147483647 h 290"/>
              <a:gd name="T4" fmla="*/ 2147483647 w 343"/>
              <a:gd name="T5" fmla="*/ 2147483647 h 290"/>
              <a:gd name="T6" fmla="*/ 2147483647 w 343"/>
              <a:gd name="T7" fmla="*/ 2147483647 h 290"/>
              <a:gd name="T8" fmla="*/ 2147483647 w 343"/>
              <a:gd name="T9" fmla="*/ 2147483647 h 290"/>
              <a:gd name="T10" fmla="*/ 2147483647 w 343"/>
              <a:gd name="T11" fmla="*/ 2147483647 h 290"/>
              <a:gd name="T12" fmla="*/ 2147483647 w 343"/>
              <a:gd name="T13" fmla="*/ 2147483647 h 290"/>
              <a:gd name="T14" fmla="*/ 2147483647 w 343"/>
              <a:gd name="T15" fmla="*/ 2147483647 h 290"/>
              <a:gd name="T16" fmla="*/ 2147483647 w 343"/>
              <a:gd name="T17" fmla="*/ 2147483647 h 290"/>
              <a:gd name="T18" fmla="*/ 2147483647 w 343"/>
              <a:gd name="T19" fmla="*/ 2147483647 h 290"/>
              <a:gd name="T20" fmla="*/ 0 w 343"/>
              <a:gd name="T21" fmla="*/ 2147483647 h 290"/>
              <a:gd name="T22" fmla="*/ 2147483647 w 343"/>
              <a:gd name="T23" fmla="*/ 2147483647 h 290"/>
              <a:gd name="T24" fmla="*/ 2147483647 w 343"/>
              <a:gd name="T25" fmla="*/ 2147483647 h 290"/>
              <a:gd name="T26" fmla="*/ 2147483647 w 343"/>
              <a:gd name="T27" fmla="*/ 2147483647 h 290"/>
              <a:gd name="T28" fmla="*/ 2147483647 w 343"/>
              <a:gd name="T29" fmla="*/ 2147483647 h 290"/>
              <a:gd name="T30" fmla="*/ 2147483647 w 343"/>
              <a:gd name="T31" fmla="*/ 2147483647 h 290"/>
              <a:gd name="T32" fmla="*/ 2147483647 w 343"/>
              <a:gd name="T33" fmla="*/ 2147483647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43"/>
              <a:gd name="T52" fmla="*/ 0 h 290"/>
              <a:gd name="T53" fmla="*/ 343 w 343"/>
              <a:gd name="T54" fmla="*/ 290 h 29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43" h="290">
                <a:moveTo>
                  <a:pt x="297" y="195"/>
                </a:moveTo>
                <a:cubicBezTo>
                  <a:pt x="337" y="155"/>
                  <a:pt x="343" y="88"/>
                  <a:pt x="291" y="55"/>
                </a:cubicBezTo>
                <a:cubicBezTo>
                  <a:pt x="287" y="49"/>
                  <a:pt x="285" y="43"/>
                  <a:pt x="280" y="38"/>
                </a:cubicBezTo>
                <a:cubicBezTo>
                  <a:pt x="275" y="33"/>
                  <a:pt x="267" y="32"/>
                  <a:pt x="263" y="27"/>
                </a:cubicBezTo>
                <a:cubicBezTo>
                  <a:pt x="242" y="0"/>
                  <a:pt x="278" y="16"/>
                  <a:pt x="241" y="5"/>
                </a:cubicBezTo>
                <a:cubicBezTo>
                  <a:pt x="205" y="16"/>
                  <a:pt x="211" y="31"/>
                  <a:pt x="163" y="38"/>
                </a:cubicBezTo>
                <a:cubicBezTo>
                  <a:pt x="153" y="66"/>
                  <a:pt x="143" y="94"/>
                  <a:pt x="135" y="122"/>
                </a:cubicBezTo>
                <a:cubicBezTo>
                  <a:pt x="135" y="123"/>
                  <a:pt x="127" y="157"/>
                  <a:pt x="123" y="161"/>
                </a:cubicBezTo>
                <a:cubicBezTo>
                  <a:pt x="104" y="180"/>
                  <a:pt x="71" y="170"/>
                  <a:pt x="45" y="173"/>
                </a:cubicBezTo>
                <a:cubicBezTo>
                  <a:pt x="43" y="174"/>
                  <a:pt x="14" y="182"/>
                  <a:pt x="12" y="184"/>
                </a:cubicBezTo>
                <a:cubicBezTo>
                  <a:pt x="5" y="194"/>
                  <a:pt x="0" y="217"/>
                  <a:pt x="0" y="217"/>
                </a:cubicBezTo>
                <a:cubicBezTo>
                  <a:pt x="2" y="234"/>
                  <a:pt x="0" y="252"/>
                  <a:pt x="6" y="268"/>
                </a:cubicBezTo>
                <a:cubicBezTo>
                  <a:pt x="12" y="285"/>
                  <a:pt x="58" y="286"/>
                  <a:pt x="73" y="290"/>
                </a:cubicBezTo>
                <a:cubicBezTo>
                  <a:pt x="121" y="286"/>
                  <a:pt x="141" y="287"/>
                  <a:pt x="179" y="273"/>
                </a:cubicBezTo>
                <a:cubicBezTo>
                  <a:pt x="192" y="237"/>
                  <a:pt x="232" y="248"/>
                  <a:pt x="269" y="245"/>
                </a:cubicBezTo>
                <a:cubicBezTo>
                  <a:pt x="275" y="223"/>
                  <a:pt x="280" y="219"/>
                  <a:pt x="302" y="212"/>
                </a:cubicBezTo>
                <a:cubicBezTo>
                  <a:pt x="309" y="192"/>
                  <a:pt x="314" y="195"/>
                  <a:pt x="297" y="195"/>
                </a:cubicBezTo>
                <a:close/>
              </a:path>
            </a:pathLst>
          </a:custGeom>
          <a:solidFill>
            <a:schemeClr val="accent1"/>
          </a:solidFill>
          <a:ln w="9525">
            <a:solidFill>
              <a:schemeClr val="tx1"/>
            </a:solidFill>
            <a:round/>
          </a:ln>
        </p:spPr>
        <p:txBody>
          <a:bodyPr/>
          <a:lstStyle/>
          <a:p>
            <a:endParaRPr lang="en-US"/>
          </a:p>
        </p:txBody>
      </p:sp>
      <p:sp>
        <p:nvSpPr>
          <p:cNvPr id="63497" name="Freeform 9"/>
          <p:cNvSpPr/>
          <p:nvPr/>
        </p:nvSpPr>
        <p:spPr bwMode="auto">
          <a:xfrm>
            <a:off x="2105025" y="2032001"/>
            <a:ext cx="642938" cy="269875"/>
          </a:xfrm>
          <a:custGeom>
            <a:avLst/>
            <a:gdLst>
              <a:gd name="T0" fmla="*/ 2147483647 w 405"/>
              <a:gd name="T1" fmla="*/ 2147483647 h 170"/>
              <a:gd name="T2" fmla="*/ 2147483647 w 405"/>
              <a:gd name="T3" fmla="*/ 0 h 170"/>
              <a:gd name="T4" fmla="*/ 2147483647 w 405"/>
              <a:gd name="T5" fmla="*/ 2147483647 h 170"/>
              <a:gd name="T6" fmla="*/ 2147483647 w 405"/>
              <a:gd name="T7" fmla="*/ 2147483647 h 170"/>
              <a:gd name="T8" fmla="*/ 2147483647 w 405"/>
              <a:gd name="T9" fmla="*/ 2147483647 h 170"/>
              <a:gd name="T10" fmla="*/ 2147483647 w 405"/>
              <a:gd name="T11" fmla="*/ 2147483647 h 170"/>
              <a:gd name="T12" fmla="*/ 2147483647 w 405"/>
              <a:gd name="T13" fmla="*/ 2147483647 h 170"/>
              <a:gd name="T14" fmla="*/ 2147483647 w 405"/>
              <a:gd name="T15" fmla="*/ 2147483647 h 170"/>
              <a:gd name="T16" fmla="*/ 2147483647 w 405"/>
              <a:gd name="T17" fmla="*/ 2147483647 h 170"/>
              <a:gd name="T18" fmla="*/ 2147483647 w 405"/>
              <a:gd name="T19" fmla="*/ 2147483647 h 1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05"/>
              <a:gd name="T31" fmla="*/ 0 h 170"/>
              <a:gd name="T32" fmla="*/ 405 w 405"/>
              <a:gd name="T33" fmla="*/ 170 h 1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05" h="170">
                <a:moveTo>
                  <a:pt x="405" y="44"/>
                </a:moveTo>
                <a:cubicBezTo>
                  <a:pt x="395" y="19"/>
                  <a:pt x="381" y="8"/>
                  <a:pt x="355" y="0"/>
                </a:cubicBezTo>
                <a:cubicBezTo>
                  <a:pt x="295" y="3"/>
                  <a:pt x="264" y="0"/>
                  <a:pt x="215" y="16"/>
                </a:cubicBezTo>
                <a:cubicBezTo>
                  <a:pt x="185" y="26"/>
                  <a:pt x="157" y="44"/>
                  <a:pt x="131" y="61"/>
                </a:cubicBezTo>
                <a:cubicBezTo>
                  <a:pt x="115" y="72"/>
                  <a:pt x="61" y="72"/>
                  <a:pt x="58" y="72"/>
                </a:cubicBezTo>
                <a:cubicBezTo>
                  <a:pt x="0" y="135"/>
                  <a:pt x="118" y="127"/>
                  <a:pt x="136" y="128"/>
                </a:cubicBezTo>
                <a:cubicBezTo>
                  <a:pt x="178" y="170"/>
                  <a:pt x="249" y="150"/>
                  <a:pt x="304" y="140"/>
                </a:cubicBezTo>
                <a:cubicBezTo>
                  <a:pt x="326" y="116"/>
                  <a:pt x="346" y="104"/>
                  <a:pt x="377" y="95"/>
                </a:cubicBezTo>
                <a:cubicBezTo>
                  <a:pt x="389" y="77"/>
                  <a:pt x="391" y="51"/>
                  <a:pt x="399" y="39"/>
                </a:cubicBezTo>
                <a:cubicBezTo>
                  <a:pt x="400" y="37"/>
                  <a:pt x="403" y="42"/>
                  <a:pt x="405" y="44"/>
                </a:cubicBezTo>
                <a:close/>
              </a:path>
            </a:pathLst>
          </a:custGeom>
          <a:solidFill>
            <a:schemeClr val="accent1"/>
          </a:solidFill>
          <a:ln w="9525">
            <a:solidFill>
              <a:schemeClr val="tx1"/>
            </a:solidFill>
            <a:round/>
          </a:ln>
        </p:spPr>
        <p:txBody>
          <a:bodyPr/>
          <a:lstStyle/>
          <a:p>
            <a:endParaRPr lang="en-US"/>
          </a:p>
        </p:txBody>
      </p:sp>
      <p:grpSp>
        <p:nvGrpSpPr>
          <p:cNvPr id="2" name="Group 14"/>
          <p:cNvGrpSpPr/>
          <p:nvPr/>
        </p:nvGrpSpPr>
        <p:grpSpPr bwMode="auto">
          <a:xfrm>
            <a:off x="1897064" y="5275263"/>
            <a:ext cx="4251325" cy="1047750"/>
            <a:chOff x="291" y="3305"/>
            <a:chExt cx="2678" cy="660"/>
          </a:xfrm>
        </p:grpSpPr>
        <p:sp>
          <p:nvSpPr>
            <p:cNvPr id="63500" name="AutoShape 15"/>
            <p:cNvSpPr>
              <a:spLocks noChangeArrowheads="1"/>
            </p:cNvSpPr>
            <p:nvPr/>
          </p:nvSpPr>
          <p:spPr bwMode="auto">
            <a:xfrm rot="-5400000">
              <a:off x="567" y="3488"/>
              <a:ext cx="240" cy="17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1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close/>
                </a:path>
              </a:pathLst>
            </a:custGeom>
            <a:solidFill>
              <a:srgbClr val="FFFF99"/>
            </a:solidFill>
            <a:ln w="9525">
              <a:solidFill>
                <a:schemeClr val="tx1"/>
              </a:solidFill>
              <a:miter lim="800000"/>
            </a:ln>
          </p:spPr>
          <p:txBody>
            <a:bodyPr wrap="none" anchor="ctr"/>
            <a:lstStyle/>
            <a:p>
              <a:endParaRPr lang="en-US"/>
            </a:p>
          </p:txBody>
        </p:sp>
        <p:sp>
          <p:nvSpPr>
            <p:cNvPr id="63501" name="AutoShape 16"/>
            <p:cNvSpPr>
              <a:spLocks noChangeArrowheads="1"/>
            </p:cNvSpPr>
            <p:nvPr/>
          </p:nvSpPr>
          <p:spPr bwMode="auto">
            <a:xfrm rot="5400000">
              <a:off x="874" y="3482"/>
              <a:ext cx="240" cy="17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1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199" y="7817"/>
                    <a:pt x="16199" y="10799"/>
                  </a:cubicBezTo>
                  <a:lnTo>
                    <a:pt x="21600" y="10800"/>
                  </a:lnTo>
                  <a:cubicBezTo>
                    <a:pt x="21600" y="4835"/>
                    <a:pt x="16764" y="0"/>
                    <a:pt x="10800" y="0"/>
                  </a:cubicBezTo>
                  <a:cubicBezTo>
                    <a:pt x="4835" y="0"/>
                    <a:pt x="0" y="4835"/>
                    <a:pt x="0" y="10800"/>
                  </a:cubicBezTo>
                  <a:close/>
                </a:path>
              </a:pathLst>
            </a:custGeom>
            <a:solidFill>
              <a:srgbClr val="FFFF99"/>
            </a:solidFill>
            <a:ln w="9525">
              <a:solidFill>
                <a:schemeClr val="tx1"/>
              </a:solidFill>
              <a:miter lim="800000"/>
            </a:ln>
          </p:spPr>
          <p:txBody>
            <a:bodyPr wrap="none" anchor="ctr"/>
            <a:lstStyle/>
            <a:p>
              <a:endParaRPr lang="en-US"/>
            </a:p>
          </p:txBody>
        </p:sp>
        <p:sp>
          <p:nvSpPr>
            <p:cNvPr id="63502" name="Line 17"/>
            <p:cNvSpPr>
              <a:spLocks noChangeShapeType="1"/>
            </p:cNvSpPr>
            <p:nvPr/>
          </p:nvSpPr>
          <p:spPr bwMode="auto">
            <a:xfrm>
              <a:off x="291" y="3965"/>
              <a:ext cx="2678" cy="0"/>
            </a:xfrm>
            <a:prstGeom prst="line">
              <a:avLst/>
            </a:prstGeom>
            <a:noFill/>
            <a:ln w="38100">
              <a:solidFill>
                <a:schemeClr val="tx1"/>
              </a:solidFill>
              <a:round/>
            </a:ln>
          </p:spPr>
          <p:txBody>
            <a:bodyPr/>
            <a:lstStyle/>
            <a:p>
              <a:endParaRPr lang="en-US"/>
            </a:p>
          </p:txBody>
        </p:sp>
        <p:sp>
          <p:nvSpPr>
            <p:cNvPr id="63503" name="AutoShape 18"/>
            <p:cNvSpPr>
              <a:spLocks noChangeArrowheads="1"/>
            </p:cNvSpPr>
            <p:nvPr/>
          </p:nvSpPr>
          <p:spPr bwMode="auto">
            <a:xfrm rot="10800000">
              <a:off x="610" y="3305"/>
              <a:ext cx="464" cy="65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6 w 21600"/>
                <a:gd name="T13" fmla="*/ 4393 h 21600"/>
                <a:gd name="T14" fmla="*/ 17224 w 21600"/>
                <a:gd name="T15" fmla="*/ 17207 h 21600"/>
              </a:gdLst>
              <a:ahLst/>
              <a:cxnLst>
                <a:cxn ang="T8">
                  <a:pos x="T0" y="T1"/>
                </a:cxn>
                <a:cxn ang="T9">
                  <a:pos x="T2" y="T3"/>
                </a:cxn>
                <a:cxn ang="T10">
                  <a:pos x="T4" y="T5"/>
                </a:cxn>
                <a:cxn ang="T11">
                  <a:pos x="T6" y="T7"/>
                </a:cxn>
              </a:cxnLst>
              <a:rect l="T12" t="T13" r="T14" b="T15"/>
              <a:pathLst>
                <a:path w="21600" h="21600">
                  <a:moveTo>
                    <a:pt x="0" y="0"/>
                  </a:moveTo>
                  <a:lnTo>
                    <a:pt x="5158" y="21600"/>
                  </a:lnTo>
                  <a:lnTo>
                    <a:pt x="16442" y="21600"/>
                  </a:lnTo>
                  <a:lnTo>
                    <a:pt x="21600" y="0"/>
                  </a:lnTo>
                  <a:close/>
                </a:path>
              </a:pathLst>
            </a:custGeom>
            <a:solidFill>
              <a:srgbClr val="C0C0C0"/>
            </a:solidFill>
            <a:ln w="9525">
              <a:solidFill>
                <a:schemeClr val="tx1"/>
              </a:solidFill>
              <a:miter lim="800000"/>
            </a:ln>
          </p:spPr>
          <p:txBody>
            <a:bodyPr wrap="none" anchor="ctr"/>
            <a:lstStyle/>
            <a:p>
              <a:endParaRPr lang="en-US"/>
            </a:p>
          </p:txBody>
        </p:sp>
        <p:sp>
          <p:nvSpPr>
            <p:cNvPr id="63504" name="Arc 19"/>
            <p:cNvSpPr/>
            <p:nvPr/>
          </p:nvSpPr>
          <p:spPr bwMode="auto">
            <a:xfrm flipH="1">
              <a:off x="1482" y="3845"/>
              <a:ext cx="838" cy="106"/>
            </a:xfrm>
            <a:custGeom>
              <a:avLst/>
              <a:gdLst>
                <a:gd name="T0" fmla="*/ 0 w 43184"/>
                <a:gd name="T1" fmla="*/ 0 h 21600"/>
                <a:gd name="T2" fmla="*/ 0 w 43184"/>
                <a:gd name="T3" fmla="*/ 0 h 21600"/>
                <a:gd name="T4" fmla="*/ 0 w 43184"/>
                <a:gd name="T5" fmla="*/ 0 h 21600"/>
                <a:gd name="T6" fmla="*/ 0 60000 65536"/>
                <a:gd name="T7" fmla="*/ 0 60000 65536"/>
                <a:gd name="T8" fmla="*/ 0 60000 65536"/>
                <a:gd name="T9" fmla="*/ 0 w 43184"/>
                <a:gd name="T10" fmla="*/ 0 h 21600"/>
                <a:gd name="T11" fmla="*/ 43184 w 43184"/>
                <a:gd name="T12" fmla="*/ 21600 h 21600"/>
              </a:gdLst>
              <a:ahLst/>
              <a:cxnLst>
                <a:cxn ang="T6">
                  <a:pos x="T0" y="T1"/>
                </a:cxn>
                <a:cxn ang="T7">
                  <a:pos x="T2" y="T3"/>
                </a:cxn>
                <a:cxn ang="T8">
                  <a:pos x="T4" y="T5"/>
                </a:cxn>
              </a:cxnLst>
              <a:rect l="T9" t="T10" r="T11" b="T12"/>
              <a:pathLst>
                <a:path w="43184" h="21600" fill="none" extrusionOk="0">
                  <a:moveTo>
                    <a:pt x="-1" y="20775"/>
                  </a:moveTo>
                  <a:cubicBezTo>
                    <a:pt x="442" y="9175"/>
                    <a:pt x="9975" y="-1"/>
                    <a:pt x="21584" y="-1"/>
                  </a:cubicBezTo>
                  <a:cubicBezTo>
                    <a:pt x="33513" y="-1"/>
                    <a:pt x="43184" y="9670"/>
                    <a:pt x="43184" y="21600"/>
                  </a:cubicBezTo>
                </a:path>
                <a:path w="43184" h="21600" stroke="0" extrusionOk="0">
                  <a:moveTo>
                    <a:pt x="-1" y="20775"/>
                  </a:moveTo>
                  <a:cubicBezTo>
                    <a:pt x="442" y="9175"/>
                    <a:pt x="9975" y="-1"/>
                    <a:pt x="21584" y="-1"/>
                  </a:cubicBezTo>
                  <a:cubicBezTo>
                    <a:pt x="33513" y="-1"/>
                    <a:pt x="43184" y="9670"/>
                    <a:pt x="43184" y="21600"/>
                  </a:cubicBezTo>
                  <a:lnTo>
                    <a:pt x="21584" y="21600"/>
                  </a:lnTo>
                  <a:close/>
                </a:path>
              </a:pathLst>
            </a:custGeom>
            <a:solidFill>
              <a:schemeClr val="accent1"/>
            </a:solidFill>
            <a:ln w="9525">
              <a:solidFill>
                <a:schemeClr val="tx1"/>
              </a:solidFill>
              <a:round/>
            </a:ln>
          </p:spPr>
          <p:txBody>
            <a:bodyPr wrap="none" anchor="ctr"/>
            <a:lstStyle/>
            <a:p>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Water Reducers or Plasticisers</a:t>
            </a:r>
            <a:endParaRPr lang="en-US" sz="4000"/>
          </a:p>
        </p:txBody>
      </p:sp>
      <p:sp>
        <p:nvSpPr>
          <p:cNvPr id="4" name="Subtitle 3"/>
          <p:cNvSpPr>
            <a:spLocks noGrp="1"/>
          </p:cNvSpPr>
          <p:nvPr>
            <p:ph type="body" sz="quarter" idx="10"/>
          </p:nvPr>
        </p:nvSpPr>
        <p:spPr/>
        <p:txBody>
          <a:bodyPr/>
          <a:lstStyle/>
          <a:p>
            <a:pPr algn="l"/>
            <a:r>
              <a:rPr lang="en-US" sz="2800"/>
              <a:t>Types:-</a:t>
            </a:r>
            <a:endParaRPr lang="en-US" sz="2800"/>
          </a:p>
          <a:p>
            <a:pPr lvl="1">
              <a:buFont typeface="Arial" panose="020B0604020202020204" pitchFamily="34" charset="0"/>
              <a:buChar char="•"/>
            </a:pPr>
            <a:r>
              <a:rPr lang="en-US" sz="2400">
                <a:solidFill>
                  <a:schemeClr val="accent6">
                    <a:lumMod val="75000"/>
                  </a:schemeClr>
                </a:solidFill>
              </a:rPr>
              <a:t> Lignosulphantes (often taken from the wood processing industry)..most common type</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Polycarboxylate ethers.  Supplied as a dilute solution.  They have less secondary effects…more modern type</a:t>
            </a:r>
            <a:endParaRPr lang="en-US" sz="2400">
              <a:solidFill>
                <a:schemeClr val="accent6">
                  <a:lumMod val="75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133600" y="0"/>
            <a:ext cx="7772400" cy="1371600"/>
          </a:xfrm>
          <a:noFill/>
        </p:spPr>
        <p:txBody>
          <a:bodyPr vert="horz" lIns="90488" tIns="44450" rIns="90488" bIns="44450" rtlCol="0" anchor="t">
            <a:normAutofit/>
          </a:bodyPr>
          <a:lstStyle/>
          <a:p>
            <a:r>
              <a:rPr lang="en-US" sz="4000"/>
              <a:t>Plasticisers</a:t>
            </a:r>
            <a:endParaRPr lang="en-US" sz="4000"/>
          </a:p>
        </p:txBody>
      </p:sp>
      <p:sp>
        <p:nvSpPr>
          <p:cNvPr id="13315" name="Rectangle 3"/>
          <p:cNvSpPr>
            <a:spLocks noGrp="1" noChangeArrowheads="1"/>
          </p:cNvSpPr>
          <p:nvPr>
            <p:ph type="body" sz="quarter" idx="10"/>
          </p:nvPr>
        </p:nvSpPr>
        <p:spPr>
          <a:xfrm>
            <a:off x="1992313" y="1052513"/>
            <a:ext cx="8229600" cy="4876800"/>
          </a:xfrm>
          <a:noFill/>
        </p:spPr>
        <p:txBody>
          <a:bodyPr vert="horz" lIns="90488" tIns="44450" rIns="90488" bIns="44450" rtlCol="0">
            <a:normAutofit/>
          </a:bodyPr>
          <a:lstStyle/>
          <a:p>
            <a:pPr>
              <a:lnSpc>
                <a:spcPct val="90000"/>
              </a:lnSpc>
              <a:buFont typeface="Arial" panose="020B0604020202020204" pitchFamily="34" charset="0"/>
              <a:buChar char="•"/>
            </a:pPr>
            <a:r>
              <a:rPr lang="en-US" sz="2800"/>
              <a:t>Effectiveness</a:t>
            </a:r>
            <a:endParaRPr lang="en-US" sz="2800"/>
          </a:p>
          <a:p>
            <a:pPr lvl="1">
              <a:lnSpc>
                <a:spcPct val="90000"/>
              </a:lnSpc>
              <a:buFont typeface="Arial" panose="020B0604020202020204" pitchFamily="34" charset="0"/>
              <a:buChar char="•"/>
            </a:pPr>
            <a:r>
              <a:rPr lang="en-US" sz="2400">
                <a:solidFill>
                  <a:schemeClr val="accent6">
                    <a:lumMod val="75000"/>
                  </a:schemeClr>
                </a:solidFill>
              </a:rPr>
              <a:t>Reduces water by 10 - 15 </a:t>
            </a:r>
            <a:r>
              <a:rPr lang="en-US" sz="2400">
                <a:solidFill>
                  <a:schemeClr val="accent6">
                    <a:lumMod val="75000"/>
                  </a:schemeClr>
                </a:solidFill>
                <a:sym typeface="MT Extra" panose="05050102010205020202" pitchFamily="18" charset="2"/>
              </a:rPr>
              <a:t>ℓ</a:t>
            </a:r>
            <a:r>
              <a:rPr lang="en-US" sz="2400">
                <a:solidFill>
                  <a:schemeClr val="accent6">
                    <a:lumMod val="75000"/>
                  </a:schemeClr>
                </a:solidFill>
              </a:rPr>
              <a:t>/m</a:t>
            </a:r>
            <a:r>
              <a:rPr lang="en-US" sz="2400" baseline="30000">
                <a:solidFill>
                  <a:schemeClr val="accent6">
                    <a:lumMod val="75000"/>
                  </a:schemeClr>
                </a:solidFill>
              </a:rPr>
              <a:t>3</a:t>
            </a:r>
            <a:endParaRPr lang="en-US" sz="2400" baseline="30000">
              <a:solidFill>
                <a:schemeClr val="accent6">
                  <a:lumMod val="75000"/>
                </a:schemeClr>
              </a:solidFill>
            </a:endParaRPr>
          </a:p>
          <a:p>
            <a:pPr lvl="1">
              <a:lnSpc>
                <a:spcPct val="90000"/>
              </a:lnSpc>
              <a:buFont typeface="Arial" panose="020B0604020202020204" pitchFamily="34" charset="0"/>
              <a:buChar char="•"/>
            </a:pPr>
            <a:r>
              <a:rPr lang="en-US" sz="2400">
                <a:solidFill>
                  <a:schemeClr val="accent6">
                    <a:lumMod val="75000"/>
                  </a:schemeClr>
                </a:solidFill>
              </a:rPr>
              <a:t>Reduced effectiveness at high C</a:t>
            </a:r>
            <a:r>
              <a:rPr lang="en-US" sz="2400" baseline="-25000">
                <a:solidFill>
                  <a:schemeClr val="accent6">
                    <a:lumMod val="75000"/>
                  </a:schemeClr>
                </a:solidFill>
              </a:rPr>
              <a:t>3</a:t>
            </a:r>
            <a:r>
              <a:rPr lang="en-US" sz="2400">
                <a:solidFill>
                  <a:schemeClr val="accent6">
                    <a:lumMod val="75000"/>
                  </a:schemeClr>
                </a:solidFill>
              </a:rPr>
              <a:t>A contents</a:t>
            </a:r>
            <a:endParaRPr lang="en-US" sz="2400">
              <a:solidFill>
                <a:schemeClr val="accent6">
                  <a:lumMod val="75000"/>
                </a:schemeClr>
              </a:solidFill>
            </a:endParaRPr>
          </a:p>
          <a:p>
            <a:pPr lvl="1">
              <a:lnSpc>
                <a:spcPct val="90000"/>
              </a:lnSpc>
              <a:buFont typeface="Arial" panose="020B0604020202020204" pitchFamily="34" charset="0"/>
              <a:buChar char="•"/>
            </a:pPr>
            <a:r>
              <a:rPr lang="en-US" sz="2400">
                <a:solidFill>
                  <a:schemeClr val="accent6">
                    <a:lumMod val="75000"/>
                  </a:schemeClr>
                </a:solidFill>
              </a:rPr>
              <a:t>A:C ratio </a:t>
            </a:r>
            <a:endParaRPr lang="en-US" sz="2400">
              <a:solidFill>
                <a:schemeClr val="accent6">
                  <a:lumMod val="75000"/>
                </a:schemeClr>
              </a:solidFill>
            </a:endParaRPr>
          </a:p>
          <a:p>
            <a:pPr marL="1200150" lvl="2" indent="-285750">
              <a:lnSpc>
                <a:spcPct val="90000"/>
              </a:lnSpc>
              <a:buFont typeface="Arial" panose="020B0604020202020204" pitchFamily="34" charset="0"/>
              <a:buChar char="•"/>
            </a:pPr>
            <a:r>
              <a:rPr lang="en-US" sz="2400">
                <a:solidFill>
                  <a:schemeClr val="accent6">
                    <a:lumMod val="75000"/>
                  </a:schemeClr>
                </a:solidFill>
              </a:rPr>
              <a:t>Lignosulphonates -  used for low cement content</a:t>
            </a:r>
            <a:endParaRPr lang="en-US" sz="2400">
              <a:solidFill>
                <a:schemeClr val="accent6">
                  <a:lumMod val="75000"/>
                </a:schemeClr>
              </a:solidFill>
            </a:endParaRPr>
          </a:p>
          <a:p>
            <a:pPr marL="1200150" lvl="2" indent="-285750">
              <a:lnSpc>
                <a:spcPct val="90000"/>
              </a:lnSpc>
              <a:buFont typeface="Arial" panose="020B0604020202020204" pitchFamily="34" charset="0"/>
              <a:buChar char="•"/>
            </a:pPr>
            <a:r>
              <a:rPr lang="en-US" sz="2400">
                <a:solidFill>
                  <a:schemeClr val="accent6">
                    <a:lumMod val="75000"/>
                  </a:schemeClr>
                </a:solidFill>
              </a:rPr>
              <a:t>Polycarboxylate ethers- high cement content</a:t>
            </a:r>
            <a:endParaRPr lang="en-US" sz="2400">
              <a:solidFill>
                <a:schemeClr val="accent6">
                  <a:lumMod val="75000"/>
                </a:schemeClr>
              </a:solidFill>
            </a:endParaRPr>
          </a:p>
          <a:p>
            <a:pPr lvl="1">
              <a:lnSpc>
                <a:spcPct val="90000"/>
              </a:lnSpc>
              <a:buFont typeface="Arial" panose="020B0604020202020204" pitchFamily="34" charset="0"/>
              <a:buChar char="•"/>
            </a:pPr>
            <a:r>
              <a:rPr lang="en-US" sz="2400">
                <a:solidFill>
                  <a:schemeClr val="accent6">
                    <a:lumMod val="75000"/>
                  </a:schemeClr>
                </a:solidFill>
              </a:rPr>
              <a:t>More effective with higher slumps mixes</a:t>
            </a:r>
            <a:endParaRPr lang="en-US" sz="2400">
              <a:solidFill>
                <a:schemeClr val="accent6">
                  <a:lumMod val="75000"/>
                </a:schemeClr>
              </a:solidFill>
            </a:endParaRPr>
          </a:p>
          <a:p>
            <a:pPr lvl="1">
              <a:lnSpc>
                <a:spcPct val="90000"/>
              </a:lnSpc>
              <a:buFont typeface="Arial" panose="020B0604020202020204" pitchFamily="34" charset="0"/>
              <a:buChar char="•"/>
            </a:pPr>
            <a:r>
              <a:rPr lang="en-US" sz="2400">
                <a:solidFill>
                  <a:schemeClr val="accent6">
                    <a:lumMod val="75000"/>
                  </a:schemeClr>
                </a:solidFill>
              </a:rPr>
              <a:t>20% strength improvement at 24 to 36 hours</a:t>
            </a:r>
            <a:endParaRPr lang="en-US" sz="2400">
              <a:solidFill>
                <a:schemeClr val="accent6">
                  <a:lumMod val="75000"/>
                </a:schemeClr>
              </a:solidFill>
            </a:endParaRPr>
          </a:p>
          <a:p>
            <a:pPr lvl="1">
              <a:lnSpc>
                <a:spcPct val="90000"/>
              </a:lnSpc>
              <a:buFont typeface="Arial" panose="020B0604020202020204" pitchFamily="34" charset="0"/>
              <a:buChar char="•"/>
            </a:pPr>
            <a:r>
              <a:rPr lang="en-US" sz="2400">
                <a:solidFill>
                  <a:schemeClr val="accent6">
                    <a:lumMod val="75000"/>
                  </a:schemeClr>
                </a:solidFill>
              </a:rPr>
              <a:t>12% strength improvement at 28 days</a:t>
            </a:r>
            <a:endParaRPr lang="en-US" sz="2400">
              <a:solidFill>
                <a:schemeClr val="accent6">
                  <a:lumMod val="75000"/>
                </a:schemeClr>
              </a:solidFill>
            </a:endParaRPr>
          </a:p>
          <a:p>
            <a:pPr lvl="1">
              <a:lnSpc>
                <a:spcPct val="90000"/>
              </a:lnSpc>
            </a:pP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286000" y="228600"/>
            <a:ext cx="7772400" cy="1143000"/>
          </a:xfrm>
          <a:noFill/>
        </p:spPr>
        <p:txBody>
          <a:bodyPr vert="horz" lIns="90488" tIns="44450" rIns="90488" bIns="44450" rtlCol="0" anchor="t">
            <a:normAutofit/>
          </a:bodyPr>
          <a:lstStyle/>
          <a:p>
            <a:r>
              <a:rPr lang="en-US" sz="4000" b="1"/>
              <a:t>Applications</a:t>
            </a:r>
            <a:endParaRPr lang="en-US" sz="4000" b="1"/>
          </a:p>
        </p:txBody>
      </p:sp>
      <p:sp>
        <p:nvSpPr>
          <p:cNvPr id="14339" name="AutoShape 3"/>
          <p:cNvSpPr>
            <a:spLocks noChangeArrowheads="1"/>
          </p:cNvSpPr>
          <p:nvPr/>
        </p:nvSpPr>
        <p:spPr bwMode="auto">
          <a:xfrm>
            <a:off x="6940550" y="1606550"/>
            <a:ext cx="3263900" cy="1358900"/>
          </a:xfrm>
          <a:prstGeom prst="roundRect">
            <a:avLst>
              <a:gd name="adj" fmla="val 12495"/>
            </a:avLst>
          </a:prstGeom>
          <a:solidFill>
            <a:schemeClr val="bg1"/>
          </a:solidFill>
          <a:ln w="12700">
            <a:solidFill>
              <a:schemeClr val="tx1"/>
            </a:solidFill>
            <a:round/>
          </a:ln>
          <a:effectLst/>
        </p:spPr>
        <p:txBody>
          <a:bodyPr wrap="none" lIns="90488" tIns="44450" rIns="90488" bIns="44450" anchor="ctr"/>
          <a:lstStyle/>
          <a:p>
            <a:pPr algn="ctr"/>
            <a:r>
              <a:rPr lang="en-US" sz="3200" b="1"/>
              <a:t>Workability = A</a:t>
            </a:r>
            <a:endParaRPr lang="en-US" sz="3200" b="1"/>
          </a:p>
          <a:p>
            <a:pPr algn="ctr"/>
            <a:r>
              <a:rPr lang="en-US" sz="3200" b="1"/>
              <a:t>Strength &gt; B</a:t>
            </a:r>
            <a:endParaRPr lang="en-US" sz="3200" b="1"/>
          </a:p>
        </p:txBody>
      </p:sp>
      <p:sp>
        <p:nvSpPr>
          <p:cNvPr id="14340" name="AutoShape 4"/>
          <p:cNvSpPr>
            <a:spLocks noChangeArrowheads="1"/>
          </p:cNvSpPr>
          <p:nvPr/>
        </p:nvSpPr>
        <p:spPr bwMode="auto">
          <a:xfrm>
            <a:off x="6940550" y="3282950"/>
            <a:ext cx="3263900" cy="1358900"/>
          </a:xfrm>
          <a:prstGeom prst="roundRect">
            <a:avLst>
              <a:gd name="adj" fmla="val 12495"/>
            </a:avLst>
          </a:prstGeom>
          <a:solidFill>
            <a:schemeClr val="bg1"/>
          </a:solidFill>
          <a:ln w="12700">
            <a:solidFill>
              <a:schemeClr val="tx1"/>
            </a:solidFill>
            <a:round/>
          </a:ln>
          <a:effectLst/>
        </p:spPr>
        <p:txBody>
          <a:bodyPr wrap="none" lIns="90488" tIns="44450" rIns="90488" bIns="44450" anchor="ctr"/>
          <a:lstStyle/>
          <a:p>
            <a:pPr algn="ctr"/>
            <a:r>
              <a:rPr lang="en-US" sz="3200" b="1"/>
              <a:t>Workability = A</a:t>
            </a:r>
            <a:endParaRPr lang="en-US" sz="3200" b="1"/>
          </a:p>
          <a:p>
            <a:pPr algn="ctr"/>
            <a:r>
              <a:rPr lang="en-US" sz="3200" b="1"/>
              <a:t>Strength = B</a:t>
            </a:r>
            <a:endParaRPr lang="en-US" sz="3200" b="1"/>
          </a:p>
        </p:txBody>
      </p:sp>
      <p:sp>
        <p:nvSpPr>
          <p:cNvPr id="14341" name="AutoShape 5"/>
          <p:cNvSpPr>
            <a:spLocks noChangeArrowheads="1"/>
          </p:cNvSpPr>
          <p:nvPr/>
        </p:nvSpPr>
        <p:spPr bwMode="auto">
          <a:xfrm>
            <a:off x="6940550" y="4806950"/>
            <a:ext cx="3263900" cy="1358900"/>
          </a:xfrm>
          <a:prstGeom prst="roundRect">
            <a:avLst>
              <a:gd name="adj" fmla="val 12495"/>
            </a:avLst>
          </a:prstGeom>
          <a:solidFill>
            <a:schemeClr val="bg1"/>
          </a:solidFill>
          <a:ln w="12700">
            <a:solidFill>
              <a:schemeClr val="tx1"/>
            </a:solidFill>
            <a:round/>
          </a:ln>
          <a:effectLst/>
        </p:spPr>
        <p:txBody>
          <a:bodyPr wrap="none" lIns="90488" tIns="44450" rIns="90488" bIns="44450" anchor="ctr"/>
          <a:lstStyle/>
          <a:p>
            <a:pPr algn="ctr"/>
            <a:r>
              <a:rPr lang="en-US" sz="3200" b="1"/>
              <a:t>Workability &gt; A</a:t>
            </a:r>
            <a:endParaRPr lang="en-US" sz="3200" b="1"/>
          </a:p>
          <a:p>
            <a:pPr algn="ctr"/>
            <a:r>
              <a:rPr lang="en-US" sz="3200" b="1"/>
              <a:t>Strength = B</a:t>
            </a:r>
            <a:endParaRPr lang="en-US" sz="3200" b="1"/>
          </a:p>
        </p:txBody>
      </p:sp>
      <p:sp>
        <p:nvSpPr>
          <p:cNvPr id="14342" name="AutoShape 6"/>
          <p:cNvSpPr>
            <a:spLocks noChangeArrowheads="1"/>
          </p:cNvSpPr>
          <p:nvPr/>
        </p:nvSpPr>
        <p:spPr bwMode="auto">
          <a:xfrm>
            <a:off x="2216150" y="3282950"/>
            <a:ext cx="2959100" cy="1282700"/>
          </a:xfrm>
          <a:prstGeom prst="roundRect">
            <a:avLst>
              <a:gd name="adj" fmla="val 12495"/>
            </a:avLst>
          </a:prstGeom>
          <a:solidFill>
            <a:schemeClr val="bg1"/>
          </a:solidFill>
          <a:ln w="12700">
            <a:solidFill>
              <a:schemeClr val="tx1"/>
            </a:solidFill>
            <a:round/>
          </a:ln>
          <a:effectLst/>
        </p:spPr>
        <p:txBody>
          <a:bodyPr wrap="none" anchor="ctr"/>
          <a:lstStyle/>
          <a:p>
            <a:endParaRPr lang="en-US"/>
          </a:p>
        </p:txBody>
      </p:sp>
      <p:sp>
        <p:nvSpPr>
          <p:cNvPr id="14343" name="AutoShape 7"/>
          <p:cNvSpPr>
            <a:spLocks noChangeArrowheads="1"/>
          </p:cNvSpPr>
          <p:nvPr/>
        </p:nvSpPr>
        <p:spPr bwMode="auto">
          <a:xfrm rot="19680000">
            <a:off x="5187950" y="2673350"/>
            <a:ext cx="1663700" cy="444500"/>
          </a:xfrm>
          <a:prstGeom prst="rightArrow">
            <a:avLst>
              <a:gd name="adj1" fmla="val 50000"/>
              <a:gd name="adj2" fmla="val 187160"/>
            </a:avLst>
          </a:prstGeom>
          <a:solidFill>
            <a:srgbClr val="B50069"/>
          </a:solidFill>
          <a:ln w="12700">
            <a:solidFill>
              <a:schemeClr val="tx1"/>
            </a:solidFill>
            <a:miter lim="800000"/>
          </a:ln>
          <a:effectLst/>
        </p:spPr>
        <p:txBody>
          <a:bodyPr wrap="none" anchor="ctr"/>
          <a:lstStyle/>
          <a:p>
            <a:endParaRPr lang="en-US"/>
          </a:p>
        </p:txBody>
      </p:sp>
      <p:sp>
        <p:nvSpPr>
          <p:cNvPr id="14344" name="AutoShape 8"/>
          <p:cNvSpPr>
            <a:spLocks noChangeArrowheads="1"/>
          </p:cNvSpPr>
          <p:nvPr/>
        </p:nvSpPr>
        <p:spPr bwMode="auto">
          <a:xfrm rot="1740000">
            <a:off x="5111750" y="4806950"/>
            <a:ext cx="1663700" cy="444500"/>
          </a:xfrm>
          <a:prstGeom prst="rightArrow">
            <a:avLst>
              <a:gd name="adj1" fmla="val 50000"/>
              <a:gd name="adj2" fmla="val 187160"/>
            </a:avLst>
          </a:prstGeom>
          <a:solidFill>
            <a:srgbClr val="B50069"/>
          </a:solidFill>
          <a:ln w="12700">
            <a:solidFill>
              <a:schemeClr val="tx1"/>
            </a:solidFill>
            <a:miter lim="800000"/>
          </a:ln>
          <a:effectLst/>
        </p:spPr>
        <p:txBody>
          <a:bodyPr wrap="none" anchor="ctr"/>
          <a:lstStyle/>
          <a:p>
            <a:endParaRPr lang="en-US"/>
          </a:p>
        </p:txBody>
      </p:sp>
      <p:sp>
        <p:nvSpPr>
          <p:cNvPr id="14345" name="AutoShape 9"/>
          <p:cNvSpPr>
            <a:spLocks noChangeArrowheads="1"/>
          </p:cNvSpPr>
          <p:nvPr/>
        </p:nvSpPr>
        <p:spPr bwMode="auto">
          <a:xfrm>
            <a:off x="5416550" y="3740150"/>
            <a:ext cx="1054100" cy="444500"/>
          </a:xfrm>
          <a:prstGeom prst="rightArrow">
            <a:avLst>
              <a:gd name="adj1" fmla="val 50000"/>
              <a:gd name="adj2" fmla="val 118582"/>
            </a:avLst>
          </a:prstGeom>
          <a:solidFill>
            <a:srgbClr val="B50069"/>
          </a:solidFill>
          <a:ln w="12700">
            <a:solidFill>
              <a:schemeClr val="tx1"/>
            </a:solidFill>
            <a:miter lim="800000"/>
          </a:ln>
          <a:effectLst/>
        </p:spPr>
        <p:txBody>
          <a:bodyPr wrap="none" anchor="ctr"/>
          <a:lstStyle/>
          <a:p>
            <a:endParaRPr lang="en-US"/>
          </a:p>
        </p:txBody>
      </p:sp>
      <p:sp>
        <p:nvSpPr>
          <p:cNvPr id="14346" name="Rectangle 10"/>
          <p:cNvSpPr>
            <a:spLocks noChangeArrowheads="1"/>
          </p:cNvSpPr>
          <p:nvPr/>
        </p:nvSpPr>
        <p:spPr bwMode="auto">
          <a:xfrm>
            <a:off x="2159526" y="3438526"/>
            <a:ext cx="3162726" cy="1074653"/>
          </a:xfrm>
          <a:prstGeom prst="rect">
            <a:avLst/>
          </a:prstGeom>
          <a:noFill/>
          <a:ln w="12700">
            <a:noFill/>
            <a:miter lim="800000"/>
          </a:ln>
          <a:effectLst/>
        </p:spPr>
        <p:txBody>
          <a:bodyPr wrap="none" lIns="90488" tIns="44450" rIns="90488" bIns="44450">
            <a:spAutoFit/>
          </a:bodyPr>
          <a:lstStyle/>
          <a:p>
            <a:pPr algn="ctr"/>
            <a:r>
              <a:rPr lang="en-US" sz="3200" b="1"/>
              <a:t>Workability = A</a:t>
            </a:r>
            <a:endParaRPr lang="en-US" sz="3200" b="1"/>
          </a:p>
          <a:p>
            <a:pPr algn="ctr"/>
            <a:r>
              <a:rPr lang="en-US" sz="3200" b="1"/>
              <a:t>Strength = B</a:t>
            </a:r>
            <a:endParaRPr lang="en-US" sz="3200" b="1"/>
          </a:p>
        </p:txBody>
      </p:sp>
      <p:sp>
        <p:nvSpPr>
          <p:cNvPr id="14347" name="Rectangle 11"/>
          <p:cNvSpPr>
            <a:spLocks noChangeArrowheads="1"/>
          </p:cNvSpPr>
          <p:nvPr/>
        </p:nvSpPr>
        <p:spPr bwMode="auto">
          <a:xfrm>
            <a:off x="5160964" y="1884364"/>
            <a:ext cx="1239123" cy="951543"/>
          </a:xfrm>
          <a:prstGeom prst="rect">
            <a:avLst/>
          </a:prstGeom>
          <a:noFill/>
          <a:ln w="12700">
            <a:noFill/>
            <a:miter lim="800000"/>
          </a:ln>
          <a:effectLst/>
        </p:spPr>
        <p:txBody>
          <a:bodyPr wrap="none" lIns="90488" tIns="44450" rIns="90488" bIns="44450">
            <a:spAutoFit/>
          </a:bodyPr>
          <a:lstStyle/>
          <a:p>
            <a:r>
              <a:rPr lang="en-US" sz="2800" b="1"/>
              <a:t>+Adm</a:t>
            </a:r>
            <a:endParaRPr lang="en-US" sz="2800" b="1"/>
          </a:p>
          <a:p>
            <a:r>
              <a:rPr lang="en-US" sz="2800" b="1"/>
              <a:t>-W</a:t>
            </a:r>
            <a:endParaRPr lang="en-US" sz="2800" b="1"/>
          </a:p>
        </p:txBody>
      </p:sp>
      <p:sp>
        <p:nvSpPr>
          <p:cNvPr id="14348" name="Rectangle 12"/>
          <p:cNvSpPr>
            <a:spLocks noChangeArrowheads="1"/>
          </p:cNvSpPr>
          <p:nvPr/>
        </p:nvSpPr>
        <p:spPr bwMode="auto">
          <a:xfrm>
            <a:off x="5541964" y="3332164"/>
            <a:ext cx="1239123" cy="520655"/>
          </a:xfrm>
          <a:prstGeom prst="rect">
            <a:avLst/>
          </a:prstGeom>
          <a:noFill/>
          <a:ln w="12700">
            <a:noFill/>
            <a:miter lim="800000"/>
          </a:ln>
          <a:effectLst/>
        </p:spPr>
        <p:txBody>
          <a:bodyPr wrap="none" lIns="90488" tIns="44450" rIns="90488" bIns="44450">
            <a:spAutoFit/>
          </a:bodyPr>
          <a:lstStyle/>
          <a:p>
            <a:r>
              <a:rPr lang="en-US" sz="2800" b="1"/>
              <a:t>+Adm</a:t>
            </a:r>
            <a:endParaRPr lang="en-US" sz="2800" b="1"/>
          </a:p>
        </p:txBody>
      </p:sp>
      <p:sp>
        <p:nvSpPr>
          <p:cNvPr id="14349" name="Rectangle 13"/>
          <p:cNvSpPr>
            <a:spLocks noChangeArrowheads="1"/>
          </p:cNvSpPr>
          <p:nvPr/>
        </p:nvSpPr>
        <p:spPr bwMode="auto">
          <a:xfrm>
            <a:off x="5638801" y="4191001"/>
            <a:ext cx="1189429" cy="520655"/>
          </a:xfrm>
          <a:prstGeom prst="rect">
            <a:avLst/>
          </a:prstGeom>
          <a:noFill/>
          <a:ln w="12700">
            <a:noFill/>
            <a:miter lim="800000"/>
          </a:ln>
          <a:effectLst/>
        </p:spPr>
        <p:txBody>
          <a:bodyPr wrap="none" lIns="90488" tIns="44450" rIns="90488" bIns="44450">
            <a:spAutoFit/>
          </a:bodyPr>
          <a:lstStyle/>
          <a:p>
            <a:r>
              <a:rPr lang="en-US" sz="2800" b="1"/>
              <a:t>-W -C</a:t>
            </a:r>
            <a:endParaRPr lang="en-US" sz="2800" b="1"/>
          </a:p>
        </p:txBody>
      </p:sp>
      <p:sp>
        <p:nvSpPr>
          <p:cNvPr id="14350" name="Rectangle 14"/>
          <p:cNvSpPr>
            <a:spLocks noChangeArrowheads="1"/>
          </p:cNvSpPr>
          <p:nvPr/>
        </p:nvSpPr>
        <p:spPr bwMode="auto">
          <a:xfrm>
            <a:off x="5160964" y="5313364"/>
            <a:ext cx="1239123" cy="520655"/>
          </a:xfrm>
          <a:prstGeom prst="rect">
            <a:avLst/>
          </a:prstGeom>
          <a:noFill/>
          <a:ln w="12700">
            <a:noFill/>
            <a:miter lim="800000"/>
          </a:ln>
          <a:effectLst/>
        </p:spPr>
        <p:txBody>
          <a:bodyPr wrap="none" lIns="90488" tIns="44450" rIns="90488" bIns="44450">
            <a:spAutoFit/>
          </a:bodyPr>
          <a:lstStyle/>
          <a:p>
            <a:r>
              <a:rPr lang="en-US" sz="2800" b="1"/>
              <a:t>+Adm</a:t>
            </a:r>
            <a:endParaRPr lang="en-US" sz="28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Plasticisers</a:t>
            </a:r>
            <a:endParaRPr lang="en-US" sz="4000"/>
          </a:p>
        </p:txBody>
      </p:sp>
      <p:sp>
        <p:nvSpPr>
          <p:cNvPr id="15363" name="Rectangle 3"/>
          <p:cNvSpPr>
            <a:spLocks noGrp="1" noChangeArrowheads="1"/>
          </p:cNvSpPr>
          <p:nvPr>
            <p:ph type="body" sz="quarter" idx="10"/>
          </p:nvPr>
        </p:nvSpPr>
        <p:spPr>
          <a:noFill/>
        </p:spPr>
        <p:txBody>
          <a:bodyPr vert="horz" lIns="90488" tIns="44450" rIns="90488" bIns="44450" rtlCol="0">
            <a:normAutofit/>
          </a:bodyPr>
          <a:lstStyle/>
          <a:p>
            <a:r>
              <a:rPr lang="en-US" sz="2800"/>
              <a:t>Precautions</a:t>
            </a:r>
            <a:endParaRPr lang="en-US" sz="2800"/>
          </a:p>
          <a:p>
            <a:pPr lvl="1">
              <a:buFont typeface="Arial" panose="020B0604020202020204" pitchFamily="34" charset="0"/>
              <a:buChar char="•"/>
            </a:pPr>
            <a:r>
              <a:rPr lang="en-US" sz="2400">
                <a:solidFill>
                  <a:schemeClr val="accent6">
                    <a:lumMod val="75000"/>
                  </a:schemeClr>
                </a:solidFill>
              </a:rPr>
              <a:t>Most plasticisers have a slight retarding action and so overdosing can cause severe retardation</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Lignosulphonates  </a:t>
            </a:r>
            <a:endParaRPr lang="en-US" sz="2400">
              <a:solidFill>
                <a:schemeClr val="accent6">
                  <a:lumMod val="75000"/>
                </a:schemeClr>
              </a:solidFill>
            </a:endParaRPr>
          </a:p>
          <a:p>
            <a:pPr marL="1200150" lvl="2" indent="-285750">
              <a:buFont typeface="Arial" panose="020B0604020202020204" pitchFamily="34" charset="0"/>
              <a:buChar char="•"/>
            </a:pPr>
            <a:r>
              <a:rPr lang="en-US" sz="2400">
                <a:solidFill>
                  <a:schemeClr val="accent6">
                    <a:lumMod val="75000"/>
                  </a:schemeClr>
                </a:solidFill>
              </a:rPr>
              <a:t>Increase air entrainment </a:t>
            </a:r>
            <a:endParaRPr lang="en-US" sz="2400">
              <a:solidFill>
                <a:schemeClr val="accent6">
                  <a:lumMod val="75000"/>
                </a:schemeClr>
              </a:solidFill>
            </a:endParaRPr>
          </a:p>
          <a:p>
            <a:pPr marL="1200150" lvl="2" indent="-285750">
              <a:buFont typeface="Arial" panose="020B0604020202020204" pitchFamily="34" charset="0"/>
              <a:buChar char="•"/>
            </a:pPr>
            <a:r>
              <a:rPr lang="en-US" sz="2400">
                <a:solidFill>
                  <a:schemeClr val="accent6">
                    <a:lumMod val="75000"/>
                  </a:schemeClr>
                </a:solidFill>
              </a:rPr>
              <a:t>Decrease bleeding</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Polycarboxylate ethers may increase bleeding</a:t>
            </a:r>
            <a:endParaRPr lang="en-US" sz="2400">
              <a:solidFill>
                <a:schemeClr val="accent6">
                  <a:lumMod val="75000"/>
                </a:schemeClr>
              </a:solidFill>
            </a:endParaRPr>
          </a:p>
          <a:p>
            <a:pPr lvl="1"/>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Superplasticisers</a:t>
            </a:r>
            <a:endParaRPr lang="en-US" sz="4000"/>
          </a:p>
        </p:txBody>
      </p:sp>
      <p:sp>
        <p:nvSpPr>
          <p:cNvPr id="3" name="Content Placeholder 2"/>
          <p:cNvSpPr>
            <a:spLocks noGrp="1"/>
          </p:cNvSpPr>
          <p:nvPr>
            <p:ph type="body" sz="quarter" idx="10"/>
          </p:nvPr>
        </p:nvSpPr>
        <p:spPr/>
        <p:txBody>
          <a:bodyPr/>
          <a:lstStyle/>
          <a:p>
            <a:pPr>
              <a:buFont typeface="Arial" panose="020B0604020202020204" pitchFamily="34" charset="0"/>
              <a:buChar char="•"/>
            </a:pPr>
            <a:r>
              <a:rPr lang="en-US" sz="2800"/>
              <a:t>Also known as ‘High Range Water Reducers’</a:t>
            </a:r>
            <a:endParaRPr lang="en-US" sz="2800"/>
          </a:p>
          <a:p>
            <a:pPr>
              <a:buFont typeface="Arial" panose="020B0604020202020204" pitchFamily="34" charset="0"/>
              <a:buChar char="•"/>
            </a:pPr>
            <a:r>
              <a:rPr lang="en-US" sz="2800"/>
              <a:t>Typically give a 12% to 30% reduction in water</a:t>
            </a:r>
            <a:endParaRPr lang="en-US" sz="2800"/>
          </a:p>
          <a:p>
            <a:pPr>
              <a:buFont typeface="Arial" panose="020B0604020202020204" pitchFamily="34" charset="0"/>
              <a:buChar char="•"/>
            </a:pPr>
            <a:r>
              <a:rPr lang="en-US" sz="2800"/>
              <a:t>Used in SCC (Self-Compacting Concrete)and high strength concrete</a:t>
            </a:r>
            <a:endParaRPr lang="en-US" sz="2800"/>
          </a:p>
          <a:p>
            <a:pPr>
              <a:buFont typeface="Arial" panose="020B0604020202020204" pitchFamily="34" charset="0"/>
              <a:buChar char="•"/>
            </a:pPr>
            <a:r>
              <a:rPr lang="en-US" sz="2800"/>
              <a:t>Very sensitive to surrounding conditions with a high variance in performance</a:t>
            </a:r>
            <a:endParaRPr lang="en-US" sz="2800"/>
          </a:p>
          <a:p>
            <a:endParaRPr lang="en-US"/>
          </a:p>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4572000" y="1447800"/>
            <a:ext cx="3200400" cy="5181600"/>
          </a:xfrm>
          <a:prstGeom prst="roundRect">
            <a:avLst>
              <a:gd name="adj" fmla="val 16667"/>
            </a:avLst>
          </a:prstGeom>
          <a:solidFill>
            <a:srgbClr val="FFFF99"/>
          </a:solidFill>
          <a:ln w="25400">
            <a:solidFill>
              <a:srgbClr val="FF0000"/>
            </a:solidFill>
            <a:round/>
          </a:ln>
        </p:spPr>
        <p:txBody>
          <a:bodyPr wrap="none" anchor="ctr"/>
          <a:lstStyle/>
          <a:p>
            <a:endParaRPr lang="en-US"/>
          </a:p>
        </p:txBody>
      </p:sp>
      <p:sp>
        <p:nvSpPr>
          <p:cNvPr id="27651" name="Rectangle 3"/>
          <p:cNvSpPr>
            <a:spLocks noChangeArrowheads="1"/>
          </p:cNvSpPr>
          <p:nvPr/>
        </p:nvSpPr>
        <p:spPr bwMode="auto">
          <a:xfrm>
            <a:off x="8534401" y="1905000"/>
            <a:ext cx="1954061" cy="523862"/>
          </a:xfrm>
          <a:prstGeom prst="rect">
            <a:avLst/>
          </a:prstGeom>
          <a:solidFill>
            <a:srgbClr val="8CF4EA"/>
          </a:solidFill>
          <a:ln w="12700">
            <a:solidFill>
              <a:schemeClr val="tx1"/>
            </a:solidFill>
            <a:miter lim="800000"/>
          </a:ln>
          <a:effectLst/>
        </p:spPr>
        <p:txBody>
          <a:bodyPr wrap="none" lIns="92075" tIns="46038" rIns="92075" bIns="46038">
            <a:spAutoFit/>
          </a:bodyPr>
          <a:lstStyle/>
          <a:p>
            <a:pPr>
              <a:defRPr/>
            </a:pPr>
            <a:r>
              <a:rPr lang="en-US" altLang="ja-JP" sz="2800" b="1">
                <a:effectLst>
                  <a:outerShdw blurRad="38100" dist="38100" dir="2700000" algn="tl">
                    <a:srgbClr val="FFFFFF"/>
                  </a:outerShdw>
                </a:effectLst>
                <a:ea typeface="MS Gothic" panose="020B0609070205080204" charset="-128"/>
                <a:cs typeface="MS Gothic" panose="020B0609070205080204" charset="-128"/>
              </a:rPr>
              <a:t>Dispersion</a:t>
            </a:r>
            <a:endParaRPr lang="en-US" altLang="ja-JP" sz="2800" b="1">
              <a:effectLst>
                <a:outerShdw blurRad="38100" dist="38100" dir="2700000" algn="tl">
                  <a:srgbClr val="FFFFFF"/>
                </a:outerShdw>
              </a:effectLst>
              <a:ea typeface="MS Gothic" panose="020B0609070205080204" charset="-128"/>
              <a:cs typeface="MS Gothic" panose="020B0609070205080204" charset="-128"/>
            </a:endParaRPr>
          </a:p>
        </p:txBody>
      </p:sp>
      <p:sp>
        <p:nvSpPr>
          <p:cNvPr id="31748" name="AutoShape 4"/>
          <p:cNvSpPr>
            <a:spLocks noChangeArrowheads="1"/>
          </p:cNvSpPr>
          <p:nvPr/>
        </p:nvSpPr>
        <p:spPr bwMode="auto">
          <a:xfrm>
            <a:off x="7696200" y="2063750"/>
            <a:ext cx="673100" cy="215900"/>
          </a:xfrm>
          <a:prstGeom prst="rightArrow">
            <a:avLst>
              <a:gd name="adj1" fmla="val 50000"/>
              <a:gd name="adj2" fmla="val 155897"/>
            </a:avLst>
          </a:prstGeom>
          <a:solidFill>
            <a:schemeClr val="bg1"/>
          </a:solidFill>
          <a:ln w="12700">
            <a:solidFill>
              <a:schemeClr val="tx1"/>
            </a:solidFill>
            <a:miter lim="800000"/>
          </a:ln>
        </p:spPr>
        <p:txBody>
          <a:bodyPr wrap="none" anchor="ctr"/>
          <a:lstStyle/>
          <a:p>
            <a:endParaRPr lang="en-US"/>
          </a:p>
        </p:txBody>
      </p:sp>
      <p:grpSp>
        <p:nvGrpSpPr>
          <p:cNvPr id="2" name="Group 5"/>
          <p:cNvGrpSpPr/>
          <p:nvPr/>
        </p:nvGrpSpPr>
        <p:grpSpPr bwMode="auto">
          <a:xfrm>
            <a:off x="7937500" y="3071813"/>
            <a:ext cx="2578100" cy="2260600"/>
            <a:chOff x="3896" y="1151"/>
            <a:chExt cx="1624" cy="1424"/>
          </a:xfrm>
        </p:grpSpPr>
        <p:sp>
          <p:nvSpPr>
            <p:cNvPr id="27654" name="Rectangle 6"/>
            <p:cNvSpPr>
              <a:spLocks noChangeArrowheads="1"/>
            </p:cNvSpPr>
            <p:nvPr/>
          </p:nvSpPr>
          <p:spPr bwMode="auto">
            <a:xfrm>
              <a:off x="3896" y="1151"/>
              <a:ext cx="1624" cy="1424"/>
            </a:xfrm>
            <a:prstGeom prst="rect">
              <a:avLst/>
            </a:prstGeom>
            <a:gradFill rotWithShape="0">
              <a:gsLst>
                <a:gs pos="0">
                  <a:srgbClr val="66CCFF"/>
                </a:gs>
                <a:gs pos="50000">
                  <a:srgbClr val="66CCFF">
                    <a:gamma/>
                    <a:tint val="0"/>
                    <a:invGamma/>
                  </a:srgbClr>
                </a:gs>
                <a:gs pos="100000">
                  <a:srgbClr val="66CCFF"/>
                </a:gs>
              </a:gsLst>
              <a:lin ang="2700000" scaled="1"/>
            </a:gradFill>
            <a:ln w="12700">
              <a:solidFill>
                <a:schemeClr val="tx1"/>
              </a:solidFill>
              <a:miter lim="800000"/>
            </a:ln>
            <a:effectLst>
              <a:outerShdw blurRad="63500" dist="107763" dir="2700000" algn="ctr" rotWithShape="0">
                <a:schemeClr val="bg2">
                  <a:alpha val="74998"/>
                </a:schemeClr>
              </a:outerShdw>
            </a:effectLst>
          </p:spPr>
          <p:txBody>
            <a:bodyPr wrap="none" anchor="ctr"/>
            <a:lstStyle/>
            <a:p>
              <a:pPr>
                <a:defRPr/>
              </a:pPr>
              <a:endParaRPr lang="en-US"/>
            </a:p>
          </p:txBody>
        </p:sp>
        <p:sp>
          <p:nvSpPr>
            <p:cNvPr id="31858" name="Freeform 7"/>
            <p:cNvSpPr/>
            <p:nvPr/>
          </p:nvSpPr>
          <p:spPr bwMode="auto">
            <a:xfrm>
              <a:off x="4132" y="1640"/>
              <a:ext cx="74" cy="117"/>
            </a:xfrm>
            <a:custGeom>
              <a:avLst/>
              <a:gdLst>
                <a:gd name="T0" fmla="*/ 0 w 200"/>
                <a:gd name="T1" fmla="*/ 0 h 130"/>
                <a:gd name="T2" fmla="*/ 0 w 200"/>
                <a:gd name="T3" fmla="*/ 15 h 130"/>
                <a:gd name="T4" fmla="*/ 0 w 200"/>
                <a:gd name="T5" fmla="*/ 27 h 130"/>
                <a:gd name="T6" fmla="*/ 0 w 200"/>
                <a:gd name="T7" fmla="*/ 35 h 130"/>
                <a:gd name="T8" fmla="*/ 0 w 200"/>
                <a:gd name="T9" fmla="*/ 30 h 130"/>
                <a:gd name="T10" fmla="*/ 0 w 200"/>
                <a:gd name="T11" fmla="*/ 30 h 130"/>
                <a:gd name="T12" fmla="*/ 0 w 200"/>
                <a:gd name="T13" fmla="*/ 39 h 130"/>
                <a:gd name="T14" fmla="*/ 0 w 200"/>
                <a:gd name="T15" fmla="*/ 54 h 130"/>
                <a:gd name="T16" fmla="*/ 0 w 200"/>
                <a:gd name="T17" fmla="*/ 69 h 130"/>
                <a:gd name="T18" fmla="*/ 0 w 200"/>
                <a:gd name="T19" fmla="*/ 69 h 1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0"/>
                <a:gd name="T31" fmla="*/ 0 h 130"/>
                <a:gd name="T32" fmla="*/ 200 w 200"/>
                <a:gd name="T33" fmla="*/ 130 h 1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0" h="130">
                  <a:moveTo>
                    <a:pt x="0" y="0"/>
                  </a:moveTo>
                  <a:lnTo>
                    <a:pt x="19" y="29"/>
                  </a:lnTo>
                  <a:lnTo>
                    <a:pt x="41" y="50"/>
                  </a:lnTo>
                  <a:lnTo>
                    <a:pt x="63" y="65"/>
                  </a:lnTo>
                  <a:lnTo>
                    <a:pt x="91" y="57"/>
                  </a:lnTo>
                  <a:lnTo>
                    <a:pt x="113" y="57"/>
                  </a:lnTo>
                  <a:lnTo>
                    <a:pt x="135" y="72"/>
                  </a:lnTo>
                  <a:lnTo>
                    <a:pt x="149" y="101"/>
                  </a:lnTo>
                  <a:lnTo>
                    <a:pt x="171" y="129"/>
                  </a:lnTo>
                  <a:lnTo>
                    <a:pt x="199" y="129"/>
                  </a:lnTo>
                </a:path>
              </a:pathLst>
            </a:custGeom>
            <a:noFill/>
            <a:ln w="25400" cap="rnd">
              <a:solidFill>
                <a:srgbClr val="FC0128"/>
              </a:solidFill>
              <a:round/>
              <a:headEnd type="none" w="sm" len="sm"/>
              <a:tailEnd type="none" w="sm" len="sm"/>
            </a:ln>
          </p:spPr>
          <p:txBody>
            <a:bodyPr/>
            <a:lstStyle/>
            <a:p>
              <a:endParaRPr lang="en-US"/>
            </a:p>
          </p:txBody>
        </p:sp>
        <p:sp>
          <p:nvSpPr>
            <p:cNvPr id="31859" name="Freeform 8"/>
            <p:cNvSpPr/>
            <p:nvPr/>
          </p:nvSpPr>
          <p:spPr bwMode="auto">
            <a:xfrm>
              <a:off x="4688" y="1628"/>
              <a:ext cx="47" cy="117"/>
            </a:xfrm>
            <a:custGeom>
              <a:avLst/>
              <a:gdLst>
                <a:gd name="T0" fmla="*/ 0 w 107"/>
                <a:gd name="T1" fmla="*/ 0 h 210"/>
                <a:gd name="T2" fmla="*/ 0 w 107"/>
                <a:gd name="T3" fmla="*/ 1 h 210"/>
                <a:gd name="T4" fmla="*/ 0 w 107"/>
                <a:gd name="T5" fmla="*/ 1 h 210"/>
                <a:gd name="T6" fmla="*/ 0 w 107"/>
                <a:gd name="T7" fmla="*/ 2 h 210"/>
                <a:gd name="T8" fmla="*/ 0 w 107"/>
                <a:gd name="T9" fmla="*/ 3 h 210"/>
                <a:gd name="T10" fmla="*/ 0 w 107"/>
                <a:gd name="T11" fmla="*/ 3 h 210"/>
                <a:gd name="T12" fmla="*/ 0 w 107"/>
                <a:gd name="T13" fmla="*/ 4 h 210"/>
                <a:gd name="T14" fmla="*/ 1 w 107"/>
                <a:gd name="T15" fmla="*/ 5 h 210"/>
                <a:gd name="T16" fmla="*/ 1 w 107"/>
                <a:gd name="T17" fmla="*/ 6 h 210"/>
                <a:gd name="T18" fmla="*/ 1 w 107"/>
                <a:gd name="T19" fmla="*/ 6 h 2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7"/>
                <a:gd name="T31" fmla="*/ 0 h 210"/>
                <a:gd name="T32" fmla="*/ 107 w 107"/>
                <a:gd name="T33" fmla="*/ 210 h 2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7" h="210">
                  <a:moveTo>
                    <a:pt x="0" y="0"/>
                  </a:moveTo>
                  <a:lnTo>
                    <a:pt x="27" y="14"/>
                  </a:lnTo>
                  <a:lnTo>
                    <a:pt x="41" y="43"/>
                  </a:lnTo>
                  <a:lnTo>
                    <a:pt x="41" y="65"/>
                  </a:lnTo>
                  <a:lnTo>
                    <a:pt x="55" y="93"/>
                  </a:lnTo>
                  <a:lnTo>
                    <a:pt x="63" y="115"/>
                  </a:lnTo>
                  <a:lnTo>
                    <a:pt x="70" y="144"/>
                  </a:lnTo>
                  <a:lnTo>
                    <a:pt x="99" y="165"/>
                  </a:lnTo>
                  <a:lnTo>
                    <a:pt x="99" y="187"/>
                  </a:lnTo>
                  <a:lnTo>
                    <a:pt x="106" y="209"/>
                  </a:lnTo>
                </a:path>
              </a:pathLst>
            </a:custGeom>
            <a:noFill/>
            <a:ln w="25400" cap="rnd">
              <a:solidFill>
                <a:srgbClr val="FC0128"/>
              </a:solidFill>
              <a:round/>
              <a:headEnd type="none" w="sm" len="sm"/>
              <a:tailEnd type="none" w="sm" len="sm"/>
            </a:ln>
          </p:spPr>
          <p:txBody>
            <a:bodyPr/>
            <a:lstStyle/>
            <a:p>
              <a:endParaRPr lang="en-US"/>
            </a:p>
          </p:txBody>
        </p:sp>
        <p:sp>
          <p:nvSpPr>
            <p:cNvPr id="31860" name="Freeform 9"/>
            <p:cNvSpPr/>
            <p:nvPr/>
          </p:nvSpPr>
          <p:spPr bwMode="auto">
            <a:xfrm>
              <a:off x="4473" y="1707"/>
              <a:ext cx="51" cy="267"/>
            </a:xfrm>
            <a:custGeom>
              <a:avLst/>
              <a:gdLst>
                <a:gd name="T0" fmla="*/ 21 w 51"/>
                <a:gd name="T1" fmla="*/ 0 h 267"/>
                <a:gd name="T2" fmla="*/ 28 w 51"/>
                <a:gd name="T3" fmla="*/ 29 h 267"/>
                <a:gd name="T4" fmla="*/ 36 w 51"/>
                <a:gd name="T5" fmla="*/ 57 h 267"/>
                <a:gd name="T6" fmla="*/ 36 w 51"/>
                <a:gd name="T7" fmla="*/ 79 h 267"/>
                <a:gd name="T8" fmla="*/ 36 w 51"/>
                <a:gd name="T9" fmla="*/ 101 h 267"/>
                <a:gd name="T10" fmla="*/ 14 w 51"/>
                <a:gd name="T11" fmla="*/ 122 h 267"/>
                <a:gd name="T12" fmla="*/ 7 w 51"/>
                <a:gd name="T13" fmla="*/ 144 h 267"/>
                <a:gd name="T14" fmla="*/ 0 w 51"/>
                <a:gd name="T15" fmla="*/ 173 h 267"/>
                <a:gd name="T16" fmla="*/ 28 w 51"/>
                <a:gd name="T17" fmla="*/ 194 h 267"/>
                <a:gd name="T18" fmla="*/ 50 w 51"/>
                <a:gd name="T19" fmla="*/ 194 h 267"/>
                <a:gd name="T20" fmla="*/ 43 w 51"/>
                <a:gd name="T21" fmla="*/ 245 h 267"/>
                <a:gd name="T22" fmla="*/ 21 w 51"/>
                <a:gd name="T23" fmla="*/ 266 h 26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1"/>
                <a:gd name="T37" fmla="*/ 0 h 267"/>
                <a:gd name="T38" fmla="*/ 51 w 51"/>
                <a:gd name="T39" fmla="*/ 267 h 26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1" h="267">
                  <a:moveTo>
                    <a:pt x="21" y="0"/>
                  </a:moveTo>
                  <a:lnTo>
                    <a:pt x="28" y="29"/>
                  </a:lnTo>
                  <a:lnTo>
                    <a:pt x="36" y="57"/>
                  </a:lnTo>
                  <a:lnTo>
                    <a:pt x="36" y="79"/>
                  </a:lnTo>
                  <a:lnTo>
                    <a:pt x="36" y="101"/>
                  </a:lnTo>
                  <a:lnTo>
                    <a:pt x="14" y="122"/>
                  </a:lnTo>
                  <a:lnTo>
                    <a:pt x="7" y="144"/>
                  </a:lnTo>
                  <a:lnTo>
                    <a:pt x="0" y="173"/>
                  </a:lnTo>
                  <a:lnTo>
                    <a:pt x="28" y="194"/>
                  </a:lnTo>
                  <a:lnTo>
                    <a:pt x="50" y="194"/>
                  </a:lnTo>
                  <a:lnTo>
                    <a:pt x="43" y="245"/>
                  </a:lnTo>
                  <a:lnTo>
                    <a:pt x="21" y="266"/>
                  </a:lnTo>
                </a:path>
              </a:pathLst>
            </a:custGeom>
            <a:noFill/>
            <a:ln w="25400" cap="rnd">
              <a:solidFill>
                <a:srgbClr val="FC0128"/>
              </a:solidFill>
              <a:round/>
              <a:headEnd type="none" w="sm" len="sm"/>
              <a:tailEnd type="none" w="sm" len="sm"/>
            </a:ln>
          </p:spPr>
          <p:txBody>
            <a:bodyPr/>
            <a:lstStyle/>
            <a:p>
              <a:endParaRPr lang="en-US"/>
            </a:p>
          </p:txBody>
        </p:sp>
        <p:sp>
          <p:nvSpPr>
            <p:cNvPr id="31861" name="Freeform 10"/>
            <p:cNvSpPr/>
            <p:nvPr/>
          </p:nvSpPr>
          <p:spPr bwMode="auto">
            <a:xfrm>
              <a:off x="5056" y="1584"/>
              <a:ext cx="96" cy="96"/>
            </a:xfrm>
            <a:custGeom>
              <a:avLst/>
              <a:gdLst>
                <a:gd name="T0" fmla="*/ 1 w 153"/>
                <a:gd name="T1" fmla="*/ 0 h 246"/>
                <a:gd name="T2" fmla="*/ 0 w 153"/>
                <a:gd name="T3" fmla="*/ 0 h 246"/>
                <a:gd name="T4" fmla="*/ 2 w 153"/>
                <a:gd name="T5" fmla="*/ 0 h 246"/>
                <a:gd name="T6" fmla="*/ 3 w 153"/>
                <a:gd name="T7" fmla="*/ 0 h 246"/>
                <a:gd name="T8" fmla="*/ 4 w 153"/>
                <a:gd name="T9" fmla="*/ 0 h 246"/>
                <a:gd name="T10" fmla="*/ 6 w 153"/>
                <a:gd name="T11" fmla="*/ 0 h 246"/>
                <a:gd name="T12" fmla="*/ 7 w 153"/>
                <a:gd name="T13" fmla="*/ 0 h 246"/>
                <a:gd name="T14" fmla="*/ 7 w 153"/>
                <a:gd name="T15" fmla="*/ 0 h 246"/>
                <a:gd name="T16" fmla="*/ 8 w 153"/>
                <a:gd name="T17" fmla="*/ 1 h 246"/>
                <a:gd name="T18" fmla="*/ 9 w 153"/>
                <a:gd name="T19" fmla="*/ 1 h 246"/>
                <a:gd name="T20" fmla="*/ 8 w 153"/>
                <a:gd name="T21" fmla="*/ 1 h 246"/>
                <a:gd name="T22" fmla="*/ 8 w 153"/>
                <a:gd name="T23" fmla="*/ 1 h 246"/>
                <a:gd name="T24" fmla="*/ 6 w 153"/>
                <a:gd name="T25" fmla="*/ 1 h 246"/>
                <a:gd name="T26" fmla="*/ 5 w 153"/>
                <a:gd name="T27" fmla="*/ 1 h 2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3"/>
                <a:gd name="T43" fmla="*/ 0 h 246"/>
                <a:gd name="T44" fmla="*/ 153 w 153"/>
                <a:gd name="T45" fmla="*/ 246 h 24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3" h="246">
                  <a:moveTo>
                    <a:pt x="5" y="0"/>
                  </a:moveTo>
                  <a:lnTo>
                    <a:pt x="0" y="29"/>
                  </a:lnTo>
                  <a:lnTo>
                    <a:pt x="22" y="65"/>
                  </a:lnTo>
                  <a:lnTo>
                    <a:pt x="44" y="79"/>
                  </a:lnTo>
                  <a:lnTo>
                    <a:pt x="72" y="79"/>
                  </a:lnTo>
                  <a:lnTo>
                    <a:pt x="94" y="93"/>
                  </a:lnTo>
                  <a:lnTo>
                    <a:pt x="108" y="115"/>
                  </a:lnTo>
                  <a:lnTo>
                    <a:pt x="116" y="137"/>
                  </a:lnTo>
                  <a:lnTo>
                    <a:pt x="123" y="165"/>
                  </a:lnTo>
                  <a:lnTo>
                    <a:pt x="152" y="165"/>
                  </a:lnTo>
                  <a:lnTo>
                    <a:pt x="137" y="187"/>
                  </a:lnTo>
                  <a:lnTo>
                    <a:pt x="123" y="209"/>
                  </a:lnTo>
                  <a:lnTo>
                    <a:pt x="101" y="223"/>
                  </a:lnTo>
                  <a:lnTo>
                    <a:pt x="80" y="245"/>
                  </a:lnTo>
                </a:path>
              </a:pathLst>
            </a:custGeom>
            <a:noFill/>
            <a:ln w="25400" cap="rnd">
              <a:solidFill>
                <a:srgbClr val="FC0128"/>
              </a:solidFill>
              <a:round/>
              <a:headEnd type="none" w="sm" len="sm"/>
              <a:tailEnd type="none" w="sm" len="sm"/>
            </a:ln>
          </p:spPr>
          <p:txBody>
            <a:bodyPr/>
            <a:lstStyle/>
            <a:p>
              <a:endParaRPr lang="en-US"/>
            </a:p>
          </p:txBody>
        </p:sp>
        <p:sp>
          <p:nvSpPr>
            <p:cNvPr id="31862" name="Freeform 11"/>
            <p:cNvSpPr/>
            <p:nvPr/>
          </p:nvSpPr>
          <p:spPr bwMode="auto">
            <a:xfrm>
              <a:off x="4856" y="2292"/>
              <a:ext cx="131" cy="47"/>
            </a:xfrm>
            <a:custGeom>
              <a:avLst/>
              <a:gdLst>
                <a:gd name="T0" fmla="*/ 58 w 154"/>
                <a:gd name="T1" fmla="*/ 0 h 162"/>
                <a:gd name="T2" fmla="*/ 49 w 154"/>
                <a:gd name="T3" fmla="*/ 0 h 162"/>
                <a:gd name="T4" fmla="*/ 46 w 154"/>
                <a:gd name="T5" fmla="*/ 0 h 162"/>
                <a:gd name="T6" fmla="*/ 37 w 154"/>
                <a:gd name="T7" fmla="*/ 0 h 162"/>
                <a:gd name="T8" fmla="*/ 26 w 154"/>
                <a:gd name="T9" fmla="*/ 0 h 162"/>
                <a:gd name="T10" fmla="*/ 19 w 154"/>
                <a:gd name="T11" fmla="*/ 0 h 162"/>
                <a:gd name="T12" fmla="*/ 10 w 154"/>
                <a:gd name="T13" fmla="*/ 0 h 162"/>
                <a:gd name="T14" fmla="*/ 0 w 154"/>
                <a:gd name="T15" fmla="*/ 0 h 162"/>
                <a:gd name="T16" fmla="*/ 3 w 154"/>
                <a:gd name="T17" fmla="*/ 0 h 1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4"/>
                <a:gd name="T28" fmla="*/ 0 h 162"/>
                <a:gd name="T29" fmla="*/ 154 w 154"/>
                <a:gd name="T30" fmla="*/ 162 h 16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4" h="162">
                  <a:moveTo>
                    <a:pt x="153" y="0"/>
                  </a:moveTo>
                  <a:lnTo>
                    <a:pt x="129" y="24"/>
                  </a:lnTo>
                  <a:lnTo>
                    <a:pt x="122" y="53"/>
                  </a:lnTo>
                  <a:lnTo>
                    <a:pt x="100" y="74"/>
                  </a:lnTo>
                  <a:lnTo>
                    <a:pt x="72" y="89"/>
                  </a:lnTo>
                  <a:lnTo>
                    <a:pt x="50" y="89"/>
                  </a:lnTo>
                  <a:lnTo>
                    <a:pt x="28" y="103"/>
                  </a:lnTo>
                  <a:lnTo>
                    <a:pt x="0" y="132"/>
                  </a:lnTo>
                  <a:lnTo>
                    <a:pt x="7" y="161"/>
                  </a:lnTo>
                </a:path>
              </a:pathLst>
            </a:custGeom>
            <a:noFill/>
            <a:ln w="25400" cap="rnd">
              <a:solidFill>
                <a:srgbClr val="FC0128"/>
              </a:solidFill>
              <a:round/>
              <a:headEnd type="none" w="sm" len="sm"/>
              <a:tailEnd type="none" w="sm" len="sm"/>
            </a:ln>
          </p:spPr>
          <p:txBody>
            <a:bodyPr/>
            <a:lstStyle/>
            <a:p>
              <a:endParaRPr lang="en-US"/>
            </a:p>
          </p:txBody>
        </p:sp>
        <p:sp>
          <p:nvSpPr>
            <p:cNvPr id="31863" name="Freeform 12"/>
            <p:cNvSpPr/>
            <p:nvPr/>
          </p:nvSpPr>
          <p:spPr bwMode="auto">
            <a:xfrm rot="2448906">
              <a:off x="3968" y="2124"/>
              <a:ext cx="96" cy="80"/>
            </a:xfrm>
            <a:custGeom>
              <a:avLst/>
              <a:gdLst>
                <a:gd name="T0" fmla="*/ 0 w 191"/>
                <a:gd name="T1" fmla="*/ 77 h 80"/>
                <a:gd name="T2" fmla="*/ 1 w 191"/>
                <a:gd name="T3" fmla="*/ 79 h 80"/>
                <a:gd name="T4" fmla="*/ 1 w 191"/>
                <a:gd name="T5" fmla="*/ 58 h 80"/>
                <a:gd name="T6" fmla="*/ 2 w 191"/>
                <a:gd name="T7" fmla="*/ 50 h 80"/>
                <a:gd name="T8" fmla="*/ 2 w 191"/>
                <a:gd name="T9" fmla="*/ 65 h 80"/>
                <a:gd name="T10" fmla="*/ 2 w 191"/>
                <a:gd name="T11" fmla="*/ 65 h 80"/>
                <a:gd name="T12" fmla="*/ 3 w 191"/>
                <a:gd name="T13" fmla="*/ 50 h 80"/>
                <a:gd name="T14" fmla="*/ 3 w 191"/>
                <a:gd name="T15" fmla="*/ 22 h 80"/>
                <a:gd name="T16" fmla="*/ 3 w 191"/>
                <a:gd name="T17" fmla="*/ 0 h 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1"/>
                <a:gd name="T28" fmla="*/ 0 h 80"/>
                <a:gd name="T29" fmla="*/ 191 w 191"/>
                <a:gd name="T30" fmla="*/ 80 h 8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1" h="80">
                  <a:moveTo>
                    <a:pt x="0" y="77"/>
                  </a:moveTo>
                  <a:lnTo>
                    <a:pt x="24" y="79"/>
                  </a:lnTo>
                  <a:lnTo>
                    <a:pt x="46" y="58"/>
                  </a:lnTo>
                  <a:lnTo>
                    <a:pt x="75" y="50"/>
                  </a:lnTo>
                  <a:lnTo>
                    <a:pt x="103" y="65"/>
                  </a:lnTo>
                  <a:lnTo>
                    <a:pt x="125" y="65"/>
                  </a:lnTo>
                  <a:lnTo>
                    <a:pt x="147" y="50"/>
                  </a:lnTo>
                  <a:lnTo>
                    <a:pt x="175" y="22"/>
                  </a:lnTo>
                  <a:lnTo>
                    <a:pt x="190" y="0"/>
                  </a:lnTo>
                </a:path>
              </a:pathLst>
            </a:custGeom>
            <a:noFill/>
            <a:ln w="25400" cap="rnd">
              <a:solidFill>
                <a:srgbClr val="FC0128"/>
              </a:solidFill>
              <a:round/>
              <a:headEnd type="none" w="sm" len="sm"/>
              <a:tailEnd type="none" w="sm" len="sm"/>
            </a:ln>
          </p:spPr>
          <p:txBody>
            <a:bodyPr/>
            <a:lstStyle/>
            <a:p>
              <a:endParaRPr lang="en-US"/>
            </a:p>
          </p:txBody>
        </p:sp>
        <p:sp>
          <p:nvSpPr>
            <p:cNvPr id="31864" name="Freeform 13"/>
            <p:cNvSpPr/>
            <p:nvPr/>
          </p:nvSpPr>
          <p:spPr bwMode="auto">
            <a:xfrm>
              <a:off x="3956" y="1932"/>
              <a:ext cx="122" cy="47"/>
            </a:xfrm>
            <a:custGeom>
              <a:avLst/>
              <a:gdLst>
                <a:gd name="T0" fmla="*/ 0 w 239"/>
                <a:gd name="T1" fmla="*/ 3 h 80"/>
                <a:gd name="T2" fmla="*/ 1 w 239"/>
                <a:gd name="T3" fmla="*/ 3 h 80"/>
                <a:gd name="T4" fmla="*/ 1 w 239"/>
                <a:gd name="T5" fmla="*/ 2 h 80"/>
                <a:gd name="T6" fmla="*/ 2 w 239"/>
                <a:gd name="T7" fmla="*/ 2 h 80"/>
                <a:gd name="T8" fmla="*/ 2 w 239"/>
                <a:gd name="T9" fmla="*/ 2 h 80"/>
                <a:gd name="T10" fmla="*/ 2 w 239"/>
                <a:gd name="T11" fmla="*/ 2 h 80"/>
                <a:gd name="T12" fmla="*/ 3 w 239"/>
                <a:gd name="T13" fmla="*/ 1 h 80"/>
                <a:gd name="T14" fmla="*/ 3 w 239"/>
                <a:gd name="T15" fmla="*/ 1 h 80"/>
                <a:gd name="T16" fmla="*/ 4 w 239"/>
                <a:gd name="T17" fmla="*/ 1 h 80"/>
                <a:gd name="T18" fmla="*/ 4 w 239"/>
                <a:gd name="T19" fmla="*/ 1 h 80"/>
                <a:gd name="T20" fmla="*/ 4 w 239"/>
                <a:gd name="T21" fmla="*/ 1 h 80"/>
                <a:gd name="T22" fmla="*/ 4 w 239"/>
                <a:gd name="T23" fmla="*/ 0 h 8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9"/>
                <a:gd name="T37" fmla="*/ 0 h 80"/>
                <a:gd name="T38" fmla="*/ 239 w 239"/>
                <a:gd name="T39" fmla="*/ 80 h 8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9" h="80">
                  <a:moveTo>
                    <a:pt x="0" y="70"/>
                  </a:moveTo>
                  <a:lnTo>
                    <a:pt x="29" y="79"/>
                  </a:lnTo>
                  <a:lnTo>
                    <a:pt x="51" y="58"/>
                  </a:lnTo>
                  <a:lnTo>
                    <a:pt x="79" y="51"/>
                  </a:lnTo>
                  <a:lnTo>
                    <a:pt x="101" y="51"/>
                  </a:lnTo>
                  <a:lnTo>
                    <a:pt x="123" y="51"/>
                  </a:lnTo>
                  <a:lnTo>
                    <a:pt x="137" y="29"/>
                  </a:lnTo>
                  <a:lnTo>
                    <a:pt x="159" y="15"/>
                  </a:lnTo>
                  <a:lnTo>
                    <a:pt x="187" y="15"/>
                  </a:lnTo>
                  <a:lnTo>
                    <a:pt x="209" y="36"/>
                  </a:lnTo>
                  <a:lnTo>
                    <a:pt x="231" y="22"/>
                  </a:lnTo>
                  <a:lnTo>
                    <a:pt x="238" y="0"/>
                  </a:lnTo>
                </a:path>
              </a:pathLst>
            </a:custGeom>
            <a:noFill/>
            <a:ln w="25400" cap="rnd">
              <a:solidFill>
                <a:srgbClr val="FC0128"/>
              </a:solidFill>
              <a:round/>
              <a:headEnd type="none" w="sm" len="sm"/>
              <a:tailEnd type="none" w="sm" len="sm"/>
            </a:ln>
          </p:spPr>
          <p:txBody>
            <a:bodyPr/>
            <a:lstStyle/>
            <a:p>
              <a:endParaRPr lang="en-US"/>
            </a:p>
          </p:txBody>
        </p:sp>
        <p:sp>
          <p:nvSpPr>
            <p:cNvPr id="31865" name="Freeform 14"/>
            <p:cNvSpPr/>
            <p:nvPr/>
          </p:nvSpPr>
          <p:spPr bwMode="auto">
            <a:xfrm>
              <a:off x="5044" y="1984"/>
              <a:ext cx="232" cy="66"/>
            </a:xfrm>
            <a:custGeom>
              <a:avLst/>
              <a:gdLst>
                <a:gd name="T0" fmla="*/ 0 w 232"/>
                <a:gd name="T1" fmla="*/ 62 h 66"/>
                <a:gd name="T2" fmla="*/ 29 w 232"/>
                <a:gd name="T3" fmla="*/ 43 h 66"/>
                <a:gd name="T4" fmla="*/ 58 w 232"/>
                <a:gd name="T5" fmla="*/ 21 h 66"/>
                <a:gd name="T6" fmla="*/ 87 w 232"/>
                <a:gd name="T7" fmla="*/ 7 h 66"/>
                <a:gd name="T8" fmla="*/ 115 w 232"/>
                <a:gd name="T9" fmla="*/ 0 h 66"/>
                <a:gd name="T10" fmla="*/ 137 w 232"/>
                <a:gd name="T11" fmla="*/ 21 h 66"/>
                <a:gd name="T12" fmla="*/ 151 w 232"/>
                <a:gd name="T13" fmla="*/ 43 h 66"/>
                <a:gd name="T14" fmla="*/ 166 w 232"/>
                <a:gd name="T15" fmla="*/ 65 h 66"/>
                <a:gd name="T16" fmla="*/ 187 w 232"/>
                <a:gd name="T17" fmla="*/ 36 h 66"/>
                <a:gd name="T18" fmla="*/ 209 w 232"/>
                <a:gd name="T19" fmla="*/ 21 h 66"/>
                <a:gd name="T20" fmla="*/ 231 w 232"/>
                <a:gd name="T21" fmla="*/ 36 h 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2"/>
                <a:gd name="T34" fmla="*/ 0 h 66"/>
                <a:gd name="T35" fmla="*/ 232 w 232"/>
                <a:gd name="T36" fmla="*/ 66 h 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2" h="66">
                  <a:moveTo>
                    <a:pt x="0" y="62"/>
                  </a:moveTo>
                  <a:lnTo>
                    <a:pt x="29" y="43"/>
                  </a:lnTo>
                  <a:lnTo>
                    <a:pt x="58" y="21"/>
                  </a:lnTo>
                  <a:lnTo>
                    <a:pt x="87" y="7"/>
                  </a:lnTo>
                  <a:lnTo>
                    <a:pt x="115" y="0"/>
                  </a:lnTo>
                  <a:lnTo>
                    <a:pt x="137" y="21"/>
                  </a:lnTo>
                  <a:lnTo>
                    <a:pt x="151" y="43"/>
                  </a:lnTo>
                  <a:lnTo>
                    <a:pt x="166" y="65"/>
                  </a:lnTo>
                  <a:lnTo>
                    <a:pt x="187" y="36"/>
                  </a:lnTo>
                  <a:lnTo>
                    <a:pt x="209" y="21"/>
                  </a:lnTo>
                  <a:lnTo>
                    <a:pt x="231" y="36"/>
                  </a:lnTo>
                </a:path>
              </a:pathLst>
            </a:custGeom>
            <a:noFill/>
            <a:ln w="25400" cap="rnd">
              <a:solidFill>
                <a:srgbClr val="FC0128"/>
              </a:solidFill>
              <a:round/>
              <a:headEnd type="none" w="sm" len="sm"/>
              <a:tailEnd type="none" w="sm" len="sm"/>
            </a:ln>
          </p:spPr>
          <p:txBody>
            <a:bodyPr/>
            <a:lstStyle/>
            <a:p>
              <a:endParaRPr lang="en-US"/>
            </a:p>
          </p:txBody>
        </p:sp>
        <p:sp>
          <p:nvSpPr>
            <p:cNvPr id="31866" name="Freeform 15"/>
            <p:cNvSpPr/>
            <p:nvPr/>
          </p:nvSpPr>
          <p:spPr bwMode="auto">
            <a:xfrm rot="8100000">
              <a:off x="5300" y="1480"/>
              <a:ext cx="96" cy="96"/>
            </a:xfrm>
            <a:custGeom>
              <a:avLst/>
              <a:gdLst>
                <a:gd name="T0" fmla="*/ 0 w 124"/>
                <a:gd name="T1" fmla="*/ 2 h 196"/>
                <a:gd name="T2" fmla="*/ 2 w 124"/>
                <a:gd name="T3" fmla="*/ 2 h 196"/>
                <a:gd name="T4" fmla="*/ 2 w 124"/>
                <a:gd name="T5" fmla="*/ 2 h 196"/>
                <a:gd name="T6" fmla="*/ 2 w 124"/>
                <a:gd name="T7" fmla="*/ 2 h 196"/>
                <a:gd name="T8" fmla="*/ 2 w 124"/>
                <a:gd name="T9" fmla="*/ 1 h 196"/>
                <a:gd name="T10" fmla="*/ 6 w 124"/>
                <a:gd name="T11" fmla="*/ 1 h 196"/>
                <a:gd name="T12" fmla="*/ 11 w 124"/>
                <a:gd name="T13" fmla="*/ 1 h 196"/>
                <a:gd name="T14" fmla="*/ 17 w 124"/>
                <a:gd name="T15" fmla="*/ 1 h 196"/>
                <a:gd name="T16" fmla="*/ 19 w 124"/>
                <a:gd name="T17" fmla="*/ 1 h 196"/>
                <a:gd name="T18" fmla="*/ 19 w 124"/>
                <a:gd name="T19" fmla="*/ 0 h 196"/>
                <a:gd name="T20" fmla="*/ 20 w 124"/>
                <a:gd name="T21" fmla="*/ 0 h 196"/>
                <a:gd name="T22" fmla="*/ 26 w 124"/>
                <a:gd name="T23" fmla="*/ 0 h 1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4"/>
                <a:gd name="T37" fmla="*/ 0 h 196"/>
                <a:gd name="T38" fmla="*/ 124 w 124"/>
                <a:gd name="T39" fmla="*/ 196 h 19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4" h="196">
                  <a:moveTo>
                    <a:pt x="0" y="166"/>
                  </a:moveTo>
                  <a:lnTo>
                    <a:pt x="7" y="195"/>
                  </a:lnTo>
                  <a:lnTo>
                    <a:pt x="7" y="173"/>
                  </a:lnTo>
                  <a:lnTo>
                    <a:pt x="7" y="145"/>
                  </a:lnTo>
                  <a:lnTo>
                    <a:pt x="7" y="116"/>
                  </a:lnTo>
                  <a:lnTo>
                    <a:pt x="29" y="101"/>
                  </a:lnTo>
                  <a:lnTo>
                    <a:pt x="51" y="101"/>
                  </a:lnTo>
                  <a:lnTo>
                    <a:pt x="79" y="87"/>
                  </a:lnTo>
                  <a:lnTo>
                    <a:pt x="87" y="65"/>
                  </a:lnTo>
                  <a:lnTo>
                    <a:pt x="87" y="37"/>
                  </a:lnTo>
                  <a:lnTo>
                    <a:pt x="94" y="15"/>
                  </a:lnTo>
                  <a:lnTo>
                    <a:pt x="123" y="0"/>
                  </a:lnTo>
                </a:path>
              </a:pathLst>
            </a:custGeom>
            <a:noFill/>
            <a:ln w="25400" cap="rnd">
              <a:solidFill>
                <a:srgbClr val="FC0128"/>
              </a:solidFill>
              <a:round/>
              <a:headEnd type="none" w="sm" len="sm"/>
              <a:tailEnd type="none" w="sm" len="sm"/>
            </a:ln>
          </p:spPr>
          <p:txBody>
            <a:bodyPr/>
            <a:lstStyle/>
            <a:p>
              <a:endParaRPr lang="en-US"/>
            </a:p>
          </p:txBody>
        </p:sp>
        <p:sp>
          <p:nvSpPr>
            <p:cNvPr id="31867" name="Freeform 16"/>
            <p:cNvSpPr/>
            <p:nvPr/>
          </p:nvSpPr>
          <p:spPr bwMode="auto">
            <a:xfrm rot="-1318068">
              <a:off x="4932" y="1704"/>
              <a:ext cx="54" cy="117"/>
            </a:xfrm>
            <a:custGeom>
              <a:avLst/>
              <a:gdLst>
                <a:gd name="T0" fmla="*/ 0 w 174"/>
                <a:gd name="T1" fmla="*/ 0 h 291"/>
                <a:gd name="T2" fmla="*/ 0 w 174"/>
                <a:gd name="T3" fmla="*/ 0 h 291"/>
                <a:gd name="T4" fmla="*/ 0 w 174"/>
                <a:gd name="T5" fmla="*/ 0 h 291"/>
                <a:gd name="T6" fmla="*/ 0 w 174"/>
                <a:gd name="T7" fmla="*/ 0 h 291"/>
                <a:gd name="T8" fmla="*/ 0 w 174"/>
                <a:gd name="T9" fmla="*/ 0 h 291"/>
                <a:gd name="T10" fmla="*/ 0 w 174"/>
                <a:gd name="T11" fmla="*/ 1 h 291"/>
                <a:gd name="T12" fmla="*/ 0 w 174"/>
                <a:gd name="T13" fmla="*/ 1 h 291"/>
                <a:gd name="T14" fmla="*/ 0 w 174"/>
                <a:gd name="T15" fmla="*/ 1 h 291"/>
                <a:gd name="T16" fmla="*/ 0 w 174"/>
                <a:gd name="T17" fmla="*/ 1 h 291"/>
                <a:gd name="T18" fmla="*/ 0 w 174"/>
                <a:gd name="T19" fmla="*/ 1 h 291"/>
                <a:gd name="T20" fmla="*/ 0 w 174"/>
                <a:gd name="T21" fmla="*/ 1 h 291"/>
                <a:gd name="T22" fmla="*/ 0 w 174"/>
                <a:gd name="T23" fmla="*/ 1 h 291"/>
                <a:gd name="T24" fmla="*/ 0 w 174"/>
                <a:gd name="T25" fmla="*/ 1 h 291"/>
                <a:gd name="T26" fmla="*/ 0 w 174"/>
                <a:gd name="T27" fmla="*/ 1 h 291"/>
                <a:gd name="T28" fmla="*/ 0 w 174"/>
                <a:gd name="T29" fmla="*/ 1 h 29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4"/>
                <a:gd name="T46" fmla="*/ 0 h 291"/>
                <a:gd name="T47" fmla="*/ 174 w 174"/>
                <a:gd name="T48" fmla="*/ 291 h 29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4" h="291">
                  <a:moveTo>
                    <a:pt x="12" y="0"/>
                  </a:moveTo>
                  <a:lnTo>
                    <a:pt x="0" y="24"/>
                  </a:lnTo>
                  <a:lnTo>
                    <a:pt x="15" y="67"/>
                  </a:lnTo>
                  <a:lnTo>
                    <a:pt x="15" y="96"/>
                  </a:lnTo>
                  <a:lnTo>
                    <a:pt x="15" y="125"/>
                  </a:lnTo>
                  <a:lnTo>
                    <a:pt x="15" y="161"/>
                  </a:lnTo>
                  <a:lnTo>
                    <a:pt x="15" y="189"/>
                  </a:lnTo>
                  <a:lnTo>
                    <a:pt x="22" y="211"/>
                  </a:lnTo>
                  <a:lnTo>
                    <a:pt x="51" y="218"/>
                  </a:lnTo>
                  <a:lnTo>
                    <a:pt x="58" y="261"/>
                  </a:lnTo>
                  <a:lnTo>
                    <a:pt x="58" y="290"/>
                  </a:lnTo>
                  <a:lnTo>
                    <a:pt x="108" y="290"/>
                  </a:lnTo>
                  <a:lnTo>
                    <a:pt x="151" y="290"/>
                  </a:lnTo>
                  <a:lnTo>
                    <a:pt x="173" y="290"/>
                  </a:lnTo>
                  <a:lnTo>
                    <a:pt x="151" y="290"/>
                  </a:lnTo>
                </a:path>
              </a:pathLst>
            </a:custGeom>
            <a:noFill/>
            <a:ln w="25400" cap="rnd">
              <a:solidFill>
                <a:srgbClr val="FC0128"/>
              </a:solidFill>
              <a:round/>
              <a:headEnd type="none" w="sm" len="sm"/>
              <a:tailEnd type="none" w="sm" len="sm"/>
            </a:ln>
          </p:spPr>
          <p:txBody>
            <a:bodyPr/>
            <a:lstStyle/>
            <a:p>
              <a:endParaRPr lang="en-US"/>
            </a:p>
          </p:txBody>
        </p:sp>
        <p:sp>
          <p:nvSpPr>
            <p:cNvPr id="31868" name="Freeform 17"/>
            <p:cNvSpPr/>
            <p:nvPr/>
          </p:nvSpPr>
          <p:spPr bwMode="auto">
            <a:xfrm>
              <a:off x="5192" y="2256"/>
              <a:ext cx="47" cy="144"/>
            </a:xfrm>
            <a:custGeom>
              <a:avLst/>
              <a:gdLst>
                <a:gd name="T0" fmla="*/ 0 w 116"/>
                <a:gd name="T1" fmla="*/ 0 h 190"/>
                <a:gd name="T2" fmla="*/ 0 w 116"/>
                <a:gd name="T3" fmla="*/ 5 h 190"/>
                <a:gd name="T4" fmla="*/ 0 w 116"/>
                <a:gd name="T5" fmla="*/ 8 h 190"/>
                <a:gd name="T6" fmla="*/ 0 w 116"/>
                <a:gd name="T7" fmla="*/ 11 h 190"/>
                <a:gd name="T8" fmla="*/ 0 w 116"/>
                <a:gd name="T9" fmla="*/ 17 h 190"/>
                <a:gd name="T10" fmla="*/ 0 w 116"/>
                <a:gd name="T11" fmla="*/ 18 h 190"/>
                <a:gd name="T12" fmla="*/ 0 w 116"/>
                <a:gd name="T13" fmla="*/ 20 h 190"/>
                <a:gd name="T14" fmla="*/ 0 w 116"/>
                <a:gd name="T15" fmla="*/ 25 h 190"/>
                <a:gd name="T16" fmla="*/ 0 w 116"/>
                <a:gd name="T17" fmla="*/ 28 h 190"/>
                <a:gd name="T18" fmla="*/ 0 w 116"/>
                <a:gd name="T19" fmla="*/ 32 h 190"/>
                <a:gd name="T20" fmla="*/ 0 w 116"/>
                <a:gd name="T21" fmla="*/ 36 h 190"/>
                <a:gd name="T22" fmla="*/ 0 w 116"/>
                <a:gd name="T23" fmla="*/ 35 h 190"/>
                <a:gd name="T24" fmla="*/ 0 w 116"/>
                <a:gd name="T25" fmla="*/ 33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6"/>
                <a:gd name="T40" fmla="*/ 0 h 190"/>
                <a:gd name="T41" fmla="*/ 116 w 116"/>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6" h="190">
                  <a:moveTo>
                    <a:pt x="67" y="0"/>
                  </a:moveTo>
                  <a:lnTo>
                    <a:pt x="86" y="24"/>
                  </a:lnTo>
                  <a:lnTo>
                    <a:pt x="108" y="38"/>
                  </a:lnTo>
                  <a:lnTo>
                    <a:pt x="115" y="60"/>
                  </a:lnTo>
                  <a:lnTo>
                    <a:pt x="101" y="89"/>
                  </a:lnTo>
                  <a:lnTo>
                    <a:pt x="79" y="96"/>
                  </a:lnTo>
                  <a:lnTo>
                    <a:pt x="43" y="110"/>
                  </a:lnTo>
                  <a:lnTo>
                    <a:pt x="58" y="132"/>
                  </a:lnTo>
                  <a:lnTo>
                    <a:pt x="86" y="146"/>
                  </a:lnTo>
                  <a:lnTo>
                    <a:pt x="86" y="168"/>
                  </a:lnTo>
                  <a:lnTo>
                    <a:pt x="50" y="189"/>
                  </a:lnTo>
                  <a:lnTo>
                    <a:pt x="22" y="182"/>
                  </a:lnTo>
                  <a:lnTo>
                    <a:pt x="0" y="175"/>
                  </a:lnTo>
                </a:path>
              </a:pathLst>
            </a:custGeom>
            <a:noFill/>
            <a:ln w="25400" cap="rnd">
              <a:solidFill>
                <a:srgbClr val="FC0128"/>
              </a:solidFill>
              <a:round/>
              <a:headEnd type="none" w="sm" len="sm"/>
              <a:tailEnd type="none" w="sm" len="sm"/>
            </a:ln>
          </p:spPr>
          <p:txBody>
            <a:bodyPr/>
            <a:lstStyle/>
            <a:p>
              <a:endParaRPr lang="en-US"/>
            </a:p>
          </p:txBody>
        </p:sp>
        <p:sp>
          <p:nvSpPr>
            <p:cNvPr id="31869" name="Freeform 18"/>
            <p:cNvSpPr/>
            <p:nvPr/>
          </p:nvSpPr>
          <p:spPr bwMode="auto">
            <a:xfrm rot="8089493">
              <a:off x="4451" y="2277"/>
              <a:ext cx="190" cy="52"/>
            </a:xfrm>
            <a:custGeom>
              <a:avLst/>
              <a:gdLst>
                <a:gd name="T0" fmla="*/ 189 w 190"/>
                <a:gd name="T1" fmla="*/ 0 h 116"/>
                <a:gd name="T2" fmla="*/ 165 w 190"/>
                <a:gd name="T3" fmla="*/ 1 h 116"/>
                <a:gd name="T4" fmla="*/ 151 w 190"/>
                <a:gd name="T5" fmla="*/ 1 h 116"/>
                <a:gd name="T6" fmla="*/ 129 w 190"/>
                <a:gd name="T7" fmla="*/ 1 h 116"/>
                <a:gd name="T8" fmla="*/ 100 w 190"/>
                <a:gd name="T9" fmla="*/ 1 h 116"/>
                <a:gd name="T10" fmla="*/ 93 w 190"/>
                <a:gd name="T11" fmla="*/ 0 h 116"/>
                <a:gd name="T12" fmla="*/ 79 w 190"/>
                <a:gd name="T13" fmla="*/ 0 h 116"/>
                <a:gd name="T14" fmla="*/ 57 w 190"/>
                <a:gd name="T15" fmla="*/ 0 h 116"/>
                <a:gd name="T16" fmla="*/ 43 w 190"/>
                <a:gd name="T17" fmla="*/ 1 h 116"/>
                <a:gd name="T18" fmla="*/ 21 w 190"/>
                <a:gd name="T19" fmla="*/ 1 h 116"/>
                <a:gd name="T20" fmla="*/ 0 w 190"/>
                <a:gd name="T21" fmla="*/ 0 h 116"/>
                <a:gd name="T22" fmla="*/ 7 w 190"/>
                <a:gd name="T23" fmla="*/ 0 h 116"/>
                <a:gd name="T24" fmla="*/ 14 w 190"/>
                <a:gd name="T25" fmla="*/ 0 h 1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16"/>
                <a:gd name="T41" fmla="*/ 190 w 190"/>
                <a:gd name="T42" fmla="*/ 116 h 1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16">
                  <a:moveTo>
                    <a:pt x="189" y="67"/>
                  </a:moveTo>
                  <a:lnTo>
                    <a:pt x="165" y="86"/>
                  </a:lnTo>
                  <a:lnTo>
                    <a:pt x="151" y="108"/>
                  </a:lnTo>
                  <a:lnTo>
                    <a:pt x="129" y="115"/>
                  </a:lnTo>
                  <a:lnTo>
                    <a:pt x="100" y="101"/>
                  </a:lnTo>
                  <a:lnTo>
                    <a:pt x="93" y="79"/>
                  </a:lnTo>
                  <a:lnTo>
                    <a:pt x="79" y="43"/>
                  </a:lnTo>
                  <a:lnTo>
                    <a:pt x="57" y="58"/>
                  </a:lnTo>
                  <a:lnTo>
                    <a:pt x="43" y="86"/>
                  </a:lnTo>
                  <a:lnTo>
                    <a:pt x="21" y="86"/>
                  </a:lnTo>
                  <a:lnTo>
                    <a:pt x="0" y="50"/>
                  </a:lnTo>
                  <a:lnTo>
                    <a:pt x="7" y="22"/>
                  </a:lnTo>
                  <a:lnTo>
                    <a:pt x="14" y="0"/>
                  </a:lnTo>
                </a:path>
              </a:pathLst>
            </a:custGeom>
            <a:noFill/>
            <a:ln w="25400" cap="rnd">
              <a:solidFill>
                <a:srgbClr val="FC0128"/>
              </a:solidFill>
              <a:round/>
              <a:headEnd type="none" w="sm" len="sm"/>
              <a:tailEnd type="none" w="sm" len="sm"/>
            </a:ln>
          </p:spPr>
          <p:txBody>
            <a:bodyPr/>
            <a:lstStyle/>
            <a:p>
              <a:endParaRPr lang="en-US"/>
            </a:p>
          </p:txBody>
        </p:sp>
        <p:sp>
          <p:nvSpPr>
            <p:cNvPr id="31870" name="Oval 19"/>
            <p:cNvSpPr>
              <a:spLocks noChangeArrowheads="1"/>
            </p:cNvSpPr>
            <p:nvPr/>
          </p:nvSpPr>
          <p:spPr bwMode="auto">
            <a:xfrm>
              <a:off x="5024" y="223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71" name="Oval 20"/>
            <p:cNvSpPr>
              <a:spLocks noChangeArrowheads="1"/>
            </p:cNvSpPr>
            <p:nvPr/>
          </p:nvSpPr>
          <p:spPr bwMode="auto">
            <a:xfrm>
              <a:off x="5048" y="201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72" name="Oval 21"/>
            <p:cNvSpPr>
              <a:spLocks noChangeArrowheads="1"/>
            </p:cNvSpPr>
            <p:nvPr/>
          </p:nvSpPr>
          <p:spPr bwMode="auto">
            <a:xfrm>
              <a:off x="5240" y="216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73" name="Oval 22"/>
            <p:cNvSpPr>
              <a:spLocks noChangeArrowheads="1"/>
            </p:cNvSpPr>
            <p:nvPr/>
          </p:nvSpPr>
          <p:spPr bwMode="auto">
            <a:xfrm>
              <a:off x="4808" y="211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74" name="Oval 23"/>
            <p:cNvSpPr>
              <a:spLocks noChangeArrowheads="1"/>
            </p:cNvSpPr>
            <p:nvPr/>
          </p:nvSpPr>
          <p:spPr bwMode="auto">
            <a:xfrm>
              <a:off x="5048" y="1248"/>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75" name="Oval 24"/>
            <p:cNvSpPr>
              <a:spLocks noChangeArrowheads="1"/>
            </p:cNvSpPr>
            <p:nvPr/>
          </p:nvSpPr>
          <p:spPr bwMode="auto">
            <a:xfrm>
              <a:off x="4944" y="161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76" name="Oval 25"/>
            <p:cNvSpPr>
              <a:spLocks noChangeArrowheads="1"/>
            </p:cNvSpPr>
            <p:nvPr/>
          </p:nvSpPr>
          <p:spPr bwMode="auto">
            <a:xfrm>
              <a:off x="5144" y="144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77" name="Oval 26"/>
            <p:cNvSpPr>
              <a:spLocks noChangeArrowheads="1"/>
            </p:cNvSpPr>
            <p:nvPr/>
          </p:nvSpPr>
          <p:spPr bwMode="auto">
            <a:xfrm>
              <a:off x="4856" y="139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78" name="Oval 27"/>
            <p:cNvSpPr>
              <a:spLocks noChangeArrowheads="1"/>
            </p:cNvSpPr>
            <p:nvPr/>
          </p:nvSpPr>
          <p:spPr bwMode="auto">
            <a:xfrm>
              <a:off x="4520" y="163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79" name="Oval 28"/>
            <p:cNvSpPr>
              <a:spLocks noChangeArrowheads="1"/>
            </p:cNvSpPr>
            <p:nvPr/>
          </p:nvSpPr>
          <p:spPr bwMode="auto">
            <a:xfrm>
              <a:off x="4472" y="187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80" name="Oval 29"/>
            <p:cNvSpPr>
              <a:spLocks noChangeArrowheads="1"/>
            </p:cNvSpPr>
            <p:nvPr/>
          </p:nvSpPr>
          <p:spPr bwMode="auto">
            <a:xfrm>
              <a:off x="4376" y="211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81" name="Oval 30"/>
            <p:cNvSpPr>
              <a:spLocks noChangeArrowheads="1"/>
            </p:cNvSpPr>
            <p:nvPr/>
          </p:nvSpPr>
          <p:spPr bwMode="auto">
            <a:xfrm>
              <a:off x="4280" y="168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82" name="Oval 31"/>
            <p:cNvSpPr>
              <a:spLocks noChangeArrowheads="1"/>
            </p:cNvSpPr>
            <p:nvPr/>
          </p:nvSpPr>
          <p:spPr bwMode="auto">
            <a:xfrm>
              <a:off x="4184" y="192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83" name="Oval 32"/>
            <p:cNvSpPr>
              <a:spLocks noChangeArrowheads="1"/>
            </p:cNvSpPr>
            <p:nvPr/>
          </p:nvSpPr>
          <p:spPr bwMode="auto">
            <a:xfrm>
              <a:off x="4088" y="216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84" name="Oval 33"/>
            <p:cNvSpPr>
              <a:spLocks noChangeArrowheads="1"/>
            </p:cNvSpPr>
            <p:nvPr/>
          </p:nvSpPr>
          <p:spPr bwMode="auto">
            <a:xfrm>
              <a:off x="3992" y="168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85" name="Oval 34"/>
            <p:cNvSpPr>
              <a:spLocks noChangeArrowheads="1"/>
            </p:cNvSpPr>
            <p:nvPr/>
          </p:nvSpPr>
          <p:spPr bwMode="auto">
            <a:xfrm>
              <a:off x="3944" y="1968"/>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86" name="Freeform 35"/>
            <p:cNvSpPr/>
            <p:nvPr/>
          </p:nvSpPr>
          <p:spPr bwMode="auto">
            <a:xfrm>
              <a:off x="4120" y="2230"/>
              <a:ext cx="116" cy="233"/>
            </a:xfrm>
            <a:custGeom>
              <a:avLst/>
              <a:gdLst>
                <a:gd name="T0" fmla="*/ 0 w 152"/>
                <a:gd name="T1" fmla="*/ 16 h 36"/>
                <a:gd name="T2" fmla="*/ 40 w 152"/>
                <a:gd name="T3" fmla="*/ 28 h 36"/>
                <a:gd name="T4" fmla="*/ 64 w 152"/>
                <a:gd name="T5" fmla="*/ 36 h 36"/>
                <a:gd name="T6" fmla="*/ 96 w 152"/>
                <a:gd name="T7" fmla="*/ 32 h 36"/>
                <a:gd name="T8" fmla="*/ 152 w 152"/>
                <a:gd name="T9" fmla="*/ 12 h 36"/>
                <a:gd name="T10" fmla="*/ 0 60000 65536"/>
                <a:gd name="T11" fmla="*/ 0 60000 65536"/>
                <a:gd name="T12" fmla="*/ 0 60000 65536"/>
                <a:gd name="T13" fmla="*/ 0 60000 65536"/>
                <a:gd name="T14" fmla="*/ 0 60000 65536"/>
                <a:gd name="T15" fmla="*/ 0 w 152"/>
                <a:gd name="T16" fmla="*/ 0 h 36"/>
                <a:gd name="T17" fmla="*/ 152 w 152"/>
                <a:gd name="T18" fmla="*/ 36 h 36"/>
              </a:gdLst>
              <a:ahLst/>
              <a:cxnLst>
                <a:cxn ang="T10">
                  <a:pos x="T0" y="T1"/>
                </a:cxn>
                <a:cxn ang="T11">
                  <a:pos x="T2" y="T3"/>
                </a:cxn>
                <a:cxn ang="T12">
                  <a:pos x="T4" y="T5"/>
                </a:cxn>
                <a:cxn ang="T13">
                  <a:pos x="T6" y="T7"/>
                </a:cxn>
                <a:cxn ang="T14">
                  <a:pos x="T8" y="T9"/>
                </a:cxn>
              </a:cxnLst>
              <a:rect l="T15" t="T16" r="T17" b="T18"/>
              <a:pathLst>
                <a:path w="152" h="36">
                  <a:moveTo>
                    <a:pt x="0" y="16"/>
                  </a:moveTo>
                  <a:cubicBezTo>
                    <a:pt x="61" y="25"/>
                    <a:pt x="6" y="13"/>
                    <a:pt x="40" y="28"/>
                  </a:cubicBezTo>
                  <a:cubicBezTo>
                    <a:pt x="48" y="31"/>
                    <a:pt x="64" y="36"/>
                    <a:pt x="64" y="36"/>
                  </a:cubicBezTo>
                  <a:cubicBezTo>
                    <a:pt x="75" y="35"/>
                    <a:pt x="86" y="36"/>
                    <a:pt x="96" y="32"/>
                  </a:cubicBezTo>
                  <a:cubicBezTo>
                    <a:pt x="115" y="25"/>
                    <a:pt x="129" y="0"/>
                    <a:pt x="152" y="12"/>
                  </a:cubicBezTo>
                </a:path>
              </a:pathLst>
            </a:custGeom>
            <a:noFill/>
            <a:ln w="25400">
              <a:solidFill>
                <a:srgbClr val="FF0000"/>
              </a:solidFill>
              <a:round/>
            </a:ln>
          </p:spPr>
          <p:txBody>
            <a:bodyPr wrap="none" anchor="ctr">
              <a:spAutoFit/>
            </a:bodyPr>
            <a:lstStyle/>
            <a:p>
              <a:endParaRPr lang="en-US"/>
            </a:p>
          </p:txBody>
        </p:sp>
        <p:sp>
          <p:nvSpPr>
            <p:cNvPr id="31887" name="Freeform 36"/>
            <p:cNvSpPr/>
            <p:nvPr/>
          </p:nvSpPr>
          <p:spPr bwMode="auto">
            <a:xfrm>
              <a:off x="4556" y="1706"/>
              <a:ext cx="116" cy="233"/>
            </a:xfrm>
            <a:custGeom>
              <a:avLst/>
              <a:gdLst>
                <a:gd name="T0" fmla="*/ 0 w 152"/>
                <a:gd name="T1" fmla="*/ 16 h 36"/>
                <a:gd name="T2" fmla="*/ 40 w 152"/>
                <a:gd name="T3" fmla="*/ 28 h 36"/>
                <a:gd name="T4" fmla="*/ 64 w 152"/>
                <a:gd name="T5" fmla="*/ 36 h 36"/>
                <a:gd name="T6" fmla="*/ 96 w 152"/>
                <a:gd name="T7" fmla="*/ 32 h 36"/>
                <a:gd name="T8" fmla="*/ 152 w 152"/>
                <a:gd name="T9" fmla="*/ 12 h 36"/>
                <a:gd name="T10" fmla="*/ 0 60000 65536"/>
                <a:gd name="T11" fmla="*/ 0 60000 65536"/>
                <a:gd name="T12" fmla="*/ 0 60000 65536"/>
                <a:gd name="T13" fmla="*/ 0 60000 65536"/>
                <a:gd name="T14" fmla="*/ 0 60000 65536"/>
                <a:gd name="T15" fmla="*/ 0 w 152"/>
                <a:gd name="T16" fmla="*/ 0 h 36"/>
                <a:gd name="T17" fmla="*/ 152 w 152"/>
                <a:gd name="T18" fmla="*/ 36 h 36"/>
              </a:gdLst>
              <a:ahLst/>
              <a:cxnLst>
                <a:cxn ang="T10">
                  <a:pos x="T0" y="T1"/>
                </a:cxn>
                <a:cxn ang="T11">
                  <a:pos x="T2" y="T3"/>
                </a:cxn>
                <a:cxn ang="T12">
                  <a:pos x="T4" y="T5"/>
                </a:cxn>
                <a:cxn ang="T13">
                  <a:pos x="T6" y="T7"/>
                </a:cxn>
                <a:cxn ang="T14">
                  <a:pos x="T8" y="T9"/>
                </a:cxn>
              </a:cxnLst>
              <a:rect l="T15" t="T16" r="T17" b="T18"/>
              <a:pathLst>
                <a:path w="152" h="36">
                  <a:moveTo>
                    <a:pt x="0" y="16"/>
                  </a:moveTo>
                  <a:cubicBezTo>
                    <a:pt x="61" y="25"/>
                    <a:pt x="6" y="13"/>
                    <a:pt x="40" y="28"/>
                  </a:cubicBezTo>
                  <a:cubicBezTo>
                    <a:pt x="48" y="31"/>
                    <a:pt x="64" y="36"/>
                    <a:pt x="64" y="36"/>
                  </a:cubicBezTo>
                  <a:cubicBezTo>
                    <a:pt x="75" y="35"/>
                    <a:pt x="86" y="36"/>
                    <a:pt x="96" y="32"/>
                  </a:cubicBezTo>
                  <a:cubicBezTo>
                    <a:pt x="115" y="25"/>
                    <a:pt x="129" y="0"/>
                    <a:pt x="152" y="12"/>
                  </a:cubicBezTo>
                </a:path>
              </a:pathLst>
            </a:custGeom>
            <a:noFill/>
            <a:ln w="25400">
              <a:solidFill>
                <a:srgbClr val="FF0000"/>
              </a:solidFill>
              <a:round/>
            </a:ln>
          </p:spPr>
          <p:txBody>
            <a:bodyPr wrap="none" anchor="ctr">
              <a:spAutoFit/>
            </a:bodyPr>
            <a:lstStyle/>
            <a:p>
              <a:endParaRPr lang="en-US"/>
            </a:p>
          </p:txBody>
        </p:sp>
        <p:sp>
          <p:nvSpPr>
            <p:cNvPr id="31888" name="Freeform 37"/>
            <p:cNvSpPr/>
            <p:nvPr/>
          </p:nvSpPr>
          <p:spPr bwMode="auto">
            <a:xfrm>
              <a:off x="5008" y="1312"/>
              <a:ext cx="47" cy="117"/>
            </a:xfrm>
            <a:custGeom>
              <a:avLst/>
              <a:gdLst>
                <a:gd name="T0" fmla="*/ 0 w 107"/>
                <a:gd name="T1" fmla="*/ 0 h 210"/>
                <a:gd name="T2" fmla="*/ 0 w 107"/>
                <a:gd name="T3" fmla="*/ 1 h 210"/>
                <a:gd name="T4" fmla="*/ 0 w 107"/>
                <a:gd name="T5" fmla="*/ 1 h 210"/>
                <a:gd name="T6" fmla="*/ 0 w 107"/>
                <a:gd name="T7" fmla="*/ 2 h 210"/>
                <a:gd name="T8" fmla="*/ 0 w 107"/>
                <a:gd name="T9" fmla="*/ 3 h 210"/>
                <a:gd name="T10" fmla="*/ 0 w 107"/>
                <a:gd name="T11" fmla="*/ 3 h 210"/>
                <a:gd name="T12" fmla="*/ 0 w 107"/>
                <a:gd name="T13" fmla="*/ 4 h 210"/>
                <a:gd name="T14" fmla="*/ 1 w 107"/>
                <a:gd name="T15" fmla="*/ 5 h 210"/>
                <a:gd name="T16" fmla="*/ 1 w 107"/>
                <a:gd name="T17" fmla="*/ 6 h 210"/>
                <a:gd name="T18" fmla="*/ 1 w 107"/>
                <a:gd name="T19" fmla="*/ 6 h 2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7"/>
                <a:gd name="T31" fmla="*/ 0 h 210"/>
                <a:gd name="T32" fmla="*/ 107 w 107"/>
                <a:gd name="T33" fmla="*/ 210 h 2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7" h="210">
                  <a:moveTo>
                    <a:pt x="0" y="0"/>
                  </a:moveTo>
                  <a:lnTo>
                    <a:pt x="27" y="14"/>
                  </a:lnTo>
                  <a:lnTo>
                    <a:pt x="41" y="43"/>
                  </a:lnTo>
                  <a:lnTo>
                    <a:pt x="41" y="65"/>
                  </a:lnTo>
                  <a:lnTo>
                    <a:pt x="55" y="93"/>
                  </a:lnTo>
                  <a:lnTo>
                    <a:pt x="63" y="115"/>
                  </a:lnTo>
                  <a:lnTo>
                    <a:pt x="70" y="144"/>
                  </a:lnTo>
                  <a:lnTo>
                    <a:pt x="99" y="165"/>
                  </a:lnTo>
                  <a:lnTo>
                    <a:pt x="99" y="187"/>
                  </a:lnTo>
                  <a:lnTo>
                    <a:pt x="106" y="209"/>
                  </a:lnTo>
                </a:path>
              </a:pathLst>
            </a:custGeom>
            <a:noFill/>
            <a:ln w="25400" cap="rnd">
              <a:solidFill>
                <a:srgbClr val="FC0128"/>
              </a:solidFill>
              <a:round/>
              <a:headEnd type="none" w="sm" len="sm"/>
              <a:tailEnd type="none" w="sm" len="sm"/>
            </a:ln>
          </p:spPr>
          <p:txBody>
            <a:bodyPr/>
            <a:lstStyle/>
            <a:p>
              <a:endParaRPr lang="en-US"/>
            </a:p>
          </p:txBody>
        </p:sp>
        <p:sp>
          <p:nvSpPr>
            <p:cNvPr id="31889" name="Freeform 38"/>
            <p:cNvSpPr/>
            <p:nvPr/>
          </p:nvSpPr>
          <p:spPr bwMode="auto">
            <a:xfrm rot="11653697">
              <a:off x="4142" y="2046"/>
              <a:ext cx="116" cy="233"/>
            </a:xfrm>
            <a:custGeom>
              <a:avLst/>
              <a:gdLst>
                <a:gd name="T0" fmla="*/ 0 w 152"/>
                <a:gd name="T1" fmla="*/ 16 h 36"/>
                <a:gd name="T2" fmla="*/ 40 w 152"/>
                <a:gd name="T3" fmla="*/ 28 h 36"/>
                <a:gd name="T4" fmla="*/ 64 w 152"/>
                <a:gd name="T5" fmla="*/ 36 h 36"/>
                <a:gd name="T6" fmla="*/ 96 w 152"/>
                <a:gd name="T7" fmla="*/ 32 h 36"/>
                <a:gd name="T8" fmla="*/ 152 w 152"/>
                <a:gd name="T9" fmla="*/ 12 h 36"/>
                <a:gd name="T10" fmla="*/ 0 60000 65536"/>
                <a:gd name="T11" fmla="*/ 0 60000 65536"/>
                <a:gd name="T12" fmla="*/ 0 60000 65536"/>
                <a:gd name="T13" fmla="*/ 0 60000 65536"/>
                <a:gd name="T14" fmla="*/ 0 60000 65536"/>
                <a:gd name="T15" fmla="*/ 0 w 152"/>
                <a:gd name="T16" fmla="*/ 0 h 36"/>
                <a:gd name="T17" fmla="*/ 152 w 152"/>
                <a:gd name="T18" fmla="*/ 36 h 36"/>
              </a:gdLst>
              <a:ahLst/>
              <a:cxnLst>
                <a:cxn ang="T10">
                  <a:pos x="T0" y="T1"/>
                </a:cxn>
                <a:cxn ang="T11">
                  <a:pos x="T2" y="T3"/>
                </a:cxn>
                <a:cxn ang="T12">
                  <a:pos x="T4" y="T5"/>
                </a:cxn>
                <a:cxn ang="T13">
                  <a:pos x="T6" y="T7"/>
                </a:cxn>
                <a:cxn ang="T14">
                  <a:pos x="T8" y="T9"/>
                </a:cxn>
              </a:cxnLst>
              <a:rect l="T15" t="T16" r="T17" b="T18"/>
              <a:pathLst>
                <a:path w="152" h="36">
                  <a:moveTo>
                    <a:pt x="0" y="16"/>
                  </a:moveTo>
                  <a:cubicBezTo>
                    <a:pt x="61" y="25"/>
                    <a:pt x="6" y="13"/>
                    <a:pt x="40" y="28"/>
                  </a:cubicBezTo>
                  <a:cubicBezTo>
                    <a:pt x="48" y="31"/>
                    <a:pt x="64" y="36"/>
                    <a:pt x="64" y="36"/>
                  </a:cubicBezTo>
                  <a:cubicBezTo>
                    <a:pt x="75" y="35"/>
                    <a:pt x="86" y="36"/>
                    <a:pt x="96" y="32"/>
                  </a:cubicBezTo>
                  <a:cubicBezTo>
                    <a:pt x="115" y="25"/>
                    <a:pt x="129" y="0"/>
                    <a:pt x="152" y="12"/>
                  </a:cubicBezTo>
                </a:path>
              </a:pathLst>
            </a:custGeom>
            <a:noFill/>
            <a:ln w="25400">
              <a:solidFill>
                <a:srgbClr val="FF0000"/>
              </a:solidFill>
              <a:round/>
            </a:ln>
          </p:spPr>
          <p:txBody>
            <a:bodyPr wrap="none" anchor="ctr">
              <a:spAutoFit/>
            </a:bodyPr>
            <a:lstStyle/>
            <a:p>
              <a:endParaRPr lang="en-US"/>
            </a:p>
          </p:txBody>
        </p:sp>
        <p:sp>
          <p:nvSpPr>
            <p:cNvPr id="31890" name="Freeform 39"/>
            <p:cNvSpPr/>
            <p:nvPr/>
          </p:nvSpPr>
          <p:spPr bwMode="auto">
            <a:xfrm>
              <a:off x="4328" y="1896"/>
              <a:ext cx="74" cy="117"/>
            </a:xfrm>
            <a:custGeom>
              <a:avLst/>
              <a:gdLst>
                <a:gd name="T0" fmla="*/ 0 w 200"/>
                <a:gd name="T1" fmla="*/ 0 h 130"/>
                <a:gd name="T2" fmla="*/ 0 w 200"/>
                <a:gd name="T3" fmla="*/ 15 h 130"/>
                <a:gd name="T4" fmla="*/ 0 w 200"/>
                <a:gd name="T5" fmla="*/ 27 h 130"/>
                <a:gd name="T6" fmla="*/ 0 w 200"/>
                <a:gd name="T7" fmla="*/ 35 h 130"/>
                <a:gd name="T8" fmla="*/ 0 w 200"/>
                <a:gd name="T9" fmla="*/ 30 h 130"/>
                <a:gd name="T10" fmla="*/ 0 w 200"/>
                <a:gd name="T11" fmla="*/ 30 h 130"/>
                <a:gd name="T12" fmla="*/ 0 w 200"/>
                <a:gd name="T13" fmla="*/ 39 h 130"/>
                <a:gd name="T14" fmla="*/ 0 w 200"/>
                <a:gd name="T15" fmla="*/ 54 h 130"/>
                <a:gd name="T16" fmla="*/ 0 w 200"/>
                <a:gd name="T17" fmla="*/ 69 h 130"/>
                <a:gd name="T18" fmla="*/ 0 w 200"/>
                <a:gd name="T19" fmla="*/ 69 h 1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0"/>
                <a:gd name="T31" fmla="*/ 0 h 130"/>
                <a:gd name="T32" fmla="*/ 200 w 200"/>
                <a:gd name="T33" fmla="*/ 130 h 1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0" h="130">
                  <a:moveTo>
                    <a:pt x="0" y="0"/>
                  </a:moveTo>
                  <a:lnTo>
                    <a:pt x="19" y="29"/>
                  </a:lnTo>
                  <a:lnTo>
                    <a:pt x="41" y="50"/>
                  </a:lnTo>
                  <a:lnTo>
                    <a:pt x="63" y="65"/>
                  </a:lnTo>
                  <a:lnTo>
                    <a:pt x="91" y="57"/>
                  </a:lnTo>
                  <a:lnTo>
                    <a:pt x="113" y="57"/>
                  </a:lnTo>
                  <a:lnTo>
                    <a:pt x="135" y="72"/>
                  </a:lnTo>
                  <a:lnTo>
                    <a:pt x="149" y="101"/>
                  </a:lnTo>
                  <a:lnTo>
                    <a:pt x="171" y="129"/>
                  </a:lnTo>
                  <a:lnTo>
                    <a:pt x="199" y="129"/>
                  </a:lnTo>
                </a:path>
              </a:pathLst>
            </a:custGeom>
            <a:noFill/>
            <a:ln w="25400" cap="rnd">
              <a:solidFill>
                <a:srgbClr val="FC0128"/>
              </a:solidFill>
              <a:round/>
              <a:headEnd type="none" w="sm" len="sm"/>
              <a:tailEnd type="none" w="sm" len="sm"/>
            </a:ln>
          </p:spPr>
          <p:txBody>
            <a:bodyPr/>
            <a:lstStyle/>
            <a:p>
              <a:endParaRPr lang="en-US"/>
            </a:p>
          </p:txBody>
        </p:sp>
        <p:sp>
          <p:nvSpPr>
            <p:cNvPr id="31891" name="Freeform 40"/>
            <p:cNvSpPr/>
            <p:nvPr/>
          </p:nvSpPr>
          <p:spPr bwMode="auto">
            <a:xfrm rot="-1976706">
              <a:off x="4872" y="1520"/>
              <a:ext cx="47" cy="117"/>
            </a:xfrm>
            <a:custGeom>
              <a:avLst/>
              <a:gdLst>
                <a:gd name="T0" fmla="*/ 0 w 107"/>
                <a:gd name="T1" fmla="*/ 0 h 210"/>
                <a:gd name="T2" fmla="*/ 0 w 107"/>
                <a:gd name="T3" fmla="*/ 1 h 210"/>
                <a:gd name="T4" fmla="*/ 0 w 107"/>
                <a:gd name="T5" fmla="*/ 1 h 210"/>
                <a:gd name="T6" fmla="*/ 0 w 107"/>
                <a:gd name="T7" fmla="*/ 2 h 210"/>
                <a:gd name="T8" fmla="*/ 0 w 107"/>
                <a:gd name="T9" fmla="*/ 3 h 210"/>
                <a:gd name="T10" fmla="*/ 0 w 107"/>
                <a:gd name="T11" fmla="*/ 3 h 210"/>
                <a:gd name="T12" fmla="*/ 0 w 107"/>
                <a:gd name="T13" fmla="*/ 4 h 210"/>
                <a:gd name="T14" fmla="*/ 1 w 107"/>
                <a:gd name="T15" fmla="*/ 5 h 210"/>
                <a:gd name="T16" fmla="*/ 1 w 107"/>
                <a:gd name="T17" fmla="*/ 6 h 210"/>
                <a:gd name="T18" fmla="*/ 1 w 107"/>
                <a:gd name="T19" fmla="*/ 6 h 2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7"/>
                <a:gd name="T31" fmla="*/ 0 h 210"/>
                <a:gd name="T32" fmla="*/ 107 w 107"/>
                <a:gd name="T33" fmla="*/ 210 h 2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7" h="210">
                  <a:moveTo>
                    <a:pt x="0" y="0"/>
                  </a:moveTo>
                  <a:lnTo>
                    <a:pt x="27" y="14"/>
                  </a:lnTo>
                  <a:lnTo>
                    <a:pt x="41" y="43"/>
                  </a:lnTo>
                  <a:lnTo>
                    <a:pt x="41" y="65"/>
                  </a:lnTo>
                  <a:lnTo>
                    <a:pt x="55" y="93"/>
                  </a:lnTo>
                  <a:lnTo>
                    <a:pt x="63" y="115"/>
                  </a:lnTo>
                  <a:lnTo>
                    <a:pt x="70" y="144"/>
                  </a:lnTo>
                  <a:lnTo>
                    <a:pt x="99" y="165"/>
                  </a:lnTo>
                  <a:lnTo>
                    <a:pt x="99" y="187"/>
                  </a:lnTo>
                  <a:lnTo>
                    <a:pt x="106" y="209"/>
                  </a:lnTo>
                </a:path>
              </a:pathLst>
            </a:custGeom>
            <a:noFill/>
            <a:ln w="25400" cap="rnd">
              <a:solidFill>
                <a:srgbClr val="FC0128"/>
              </a:solidFill>
              <a:round/>
              <a:headEnd type="none" w="sm" len="sm"/>
              <a:tailEnd type="none" w="sm" len="sm"/>
            </a:ln>
          </p:spPr>
          <p:txBody>
            <a:bodyPr/>
            <a:lstStyle/>
            <a:p>
              <a:endParaRPr lang="en-US"/>
            </a:p>
          </p:txBody>
        </p:sp>
        <p:sp>
          <p:nvSpPr>
            <p:cNvPr id="31892" name="Freeform 41"/>
            <p:cNvSpPr/>
            <p:nvPr/>
          </p:nvSpPr>
          <p:spPr bwMode="auto">
            <a:xfrm rot="-3697355">
              <a:off x="5159" y="1185"/>
              <a:ext cx="47" cy="117"/>
            </a:xfrm>
            <a:custGeom>
              <a:avLst/>
              <a:gdLst>
                <a:gd name="T0" fmla="*/ 0 w 107"/>
                <a:gd name="T1" fmla="*/ 0 h 210"/>
                <a:gd name="T2" fmla="*/ 0 w 107"/>
                <a:gd name="T3" fmla="*/ 1 h 210"/>
                <a:gd name="T4" fmla="*/ 0 w 107"/>
                <a:gd name="T5" fmla="*/ 1 h 210"/>
                <a:gd name="T6" fmla="*/ 0 w 107"/>
                <a:gd name="T7" fmla="*/ 2 h 210"/>
                <a:gd name="T8" fmla="*/ 0 w 107"/>
                <a:gd name="T9" fmla="*/ 3 h 210"/>
                <a:gd name="T10" fmla="*/ 0 w 107"/>
                <a:gd name="T11" fmla="*/ 3 h 210"/>
                <a:gd name="T12" fmla="*/ 0 w 107"/>
                <a:gd name="T13" fmla="*/ 4 h 210"/>
                <a:gd name="T14" fmla="*/ 1 w 107"/>
                <a:gd name="T15" fmla="*/ 5 h 210"/>
                <a:gd name="T16" fmla="*/ 1 w 107"/>
                <a:gd name="T17" fmla="*/ 6 h 210"/>
                <a:gd name="T18" fmla="*/ 1 w 107"/>
                <a:gd name="T19" fmla="*/ 6 h 2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7"/>
                <a:gd name="T31" fmla="*/ 0 h 210"/>
                <a:gd name="T32" fmla="*/ 107 w 107"/>
                <a:gd name="T33" fmla="*/ 210 h 2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7" h="210">
                  <a:moveTo>
                    <a:pt x="0" y="0"/>
                  </a:moveTo>
                  <a:lnTo>
                    <a:pt x="27" y="14"/>
                  </a:lnTo>
                  <a:lnTo>
                    <a:pt x="41" y="43"/>
                  </a:lnTo>
                  <a:lnTo>
                    <a:pt x="41" y="65"/>
                  </a:lnTo>
                  <a:lnTo>
                    <a:pt x="55" y="93"/>
                  </a:lnTo>
                  <a:lnTo>
                    <a:pt x="63" y="115"/>
                  </a:lnTo>
                  <a:lnTo>
                    <a:pt x="70" y="144"/>
                  </a:lnTo>
                  <a:lnTo>
                    <a:pt x="99" y="165"/>
                  </a:lnTo>
                  <a:lnTo>
                    <a:pt x="99" y="187"/>
                  </a:lnTo>
                  <a:lnTo>
                    <a:pt x="106" y="209"/>
                  </a:lnTo>
                </a:path>
              </a:pathLst>
            </a:custGeom>
            <a:noFill/>
            <a:ln w="25400" cap="rnd">
              <a:solidFill>
                <a:srgbClr val="FC0128"/>
              </a:solidFill>
              <a:round/>
              <a:headEnd type="none" w="sm" len="sm"/>
              <a:tailEnd type="none" w="sm" len="sm"/>
            </a:ln>
          </p:spPr>
          <p:txBody>
            <a:bodyPr/>
            <a:lstStyle/>
            <a:p>
              <a:endParaRPr lang="en-US"/>
            </a:p>
          </p:txBody>
        </p:sp>
        <p:sp>
          <p:nvSpPr>
            <p:cNvPr id="31893" name="Freeform 42"/>
            <p:cNvSpPr/>
            <p:nvPr/>
          </p:nvSpPr>
          <p:spPr bwMode="auto">
            <a:xfrm rot="-3060319">
              <a:off x="4285" y="1331"/>
              <a:ext cx="200" cy="130"/>
            </a:xfrm>
            <a:custGeom>
              <a:avLst/>
              <a:gdLst>
                <a:gd name="T0" fmla="*/ 0 w 200"/>
                <a:gd name="T1" fmla="*/ 0 h 130"/>
                <a:gd name="T2" fmla="*/ 19 w 200"/>
                <a:gd name="T3" fmla="*/ 29 h 130"/>
                <a:gd name="T4" fmla="*/ 41 w 200"/>
                <a:gd name="T5" fmla="*/ 50 h 130"/>
                <a:gd name="T6" fmla="*/ 63 w 200"/>
                <a:gd name="T7" fmla="*/ 65 h 130"/>
                <a:gd name="T8" fmla="*/ 91 w 200"/>
                <a:gd name="T9" fmla="*/ 57 h 130"/>
                <a:gd name="T10" fmla="*/ 113 w 200"/>
                <a:gd name="T11" fmla="*/ 57 h 130"/>
                <a:gd name="T12" fmla="*/ 135 w 200"/>
                <a:gd name="T13" fmla="*/ 72 h 130"/>
                <a:gd name="T14" fmla="*/ 149 w 200"/>
                <a:gd name="T15" fmla="*/ 101 h 130"/>
                <a:gd name="T16" fmla="*/ 171 w 200"/>
                <a:gd name="T17" fmla="*/ 129 h 130"/>
                <a:gd name="T18" fmla="*/ 199 w 200"/>
                <a:gd name="T19" fmla="*/ 129 h 1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0"/>
                <a:gd name="T31" fmla="*/ 0 h 130"/>
                <a:gd name="T32" fmla="*/ 200 w 200"/>
                <a:gd name="T33" fmla="*/ 130 h 1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0" h="130">
                  <a:moveTo>
                    <a:pt x="0" y="0"/>
                  </a:moveTo>
                  <a:lnTo>
                    <a:pt x="19" y="29"/>
                  </a:lnTo>
                  <a:lnTo>
                    <a:pt x="41" y="50"/>
                  </a:lnTo>
                  <a:lnTo>
                    <a:pt x="63" y="65"/>
                  </a:lnTo>
                  <a:lnTo>
                    <a:pt x="91" y="57"/>
                  </a:lnTo>
                  <a:lnTo>
                    <a:pt x="113" y="57"/>
                  </a:lnTo>
                  <a:lnTo>
                    <a:pt x="135" y="72"/>
                  </a:lnTo>
                  <a:lnTo>
                    <a:pt x="149" y="101"/>
                  </a:lnTo>
                  <a:lnTo>
                    <a:pt x="171" y="129"/>
                  </a:lnTo>
                  <a:lnTo>
                    <a:pt x="199" y="129"/>
                  </a:lnTo>
                </a:path>
              </a:pathLst>
            </a:custGeom>
            <a:noFill/>
            <a:ln w="25400" cap="rnd">
              <a:solidFill>
                <a:srgbClr val="FC0128"/>
              </a:solidFill>
              <a:round/>
              <a:headEnd type="none" w="sm" len="sm"/>
              <a:tailEnd type="none" w="sm" len="sm"/>
            </a:ln>
          </p:spPr>
          <p:txBody>
            <a:bodyPr/>
            <a:lstStyle/>
            <a:p>
              <a:endParaRPr lang="en-US"/>
            </a:p>
          </p:txBody>
        </p:sp>
        <p:sp>
          <p:nvSpPr>
            <p:cNvPr id="31894" name="Freeform 43"/>
            <p:cNvSpPr/>
            <p:nvPr/>
          </p:nvSpPr>
          <p:spPr bwMode="auto">
            <a:xfrm>
              <a:off x="4568" y="2400"/>
              <a:ext cx="184" cy="66"/>
            </a:xfrm>
            <a:custGeom>
              <a:avLst/>
              <a:gdLst>
                <a:gd name="T0" fmla="*/ 0 w 232"/>
                <a:gd name="T1" fmla="*/ 62 h 66"/>
                <a:gd name="T2" fmla="*/ 7 w 232"/>
                <a:gd name="T3" fmla="*/ 43 h 66"/>
                <a:gd name="T4" fmla="*/ 14 w 232"/>
                <a:gd name="T5" fmla="*/ 21 h 66"/>
                <a:gd name="T6" fmla="*/ 22 w 232"/>
                <a:gd name="T7" fmla="*/ 7 h 66"/>
                <a:gd name="T8" fmla="*/ 29 w 232"/>
                <a:gd name="T9" fmla="*/ 0 h 66"/>
                <a:gd name="T10" fmla="*/ 34 w 232"/>
                <a:gd name="T11" fmla="*/ 21 h 66"/>
                <a:gd name="T12" fmla="*/ 37 w 232"/>
                <a:gd name="T13" fmla="*/ 43 h 66"/>
                <a:gd name="T14" fmla="*/ 41 w 232"/>
                <a:gd name="T15" fmla="*/ 65 h 66"/>
                <a:gd name="T16" fmla="*/ 47 w 232"/>
                <a:gd name="T17" fmla="*/ 36 h 66"/>
                <a:gd name="T18" fmla="*/ 52 w 232"/>
                <a:gd name="T19" fmla="*/ 21 h 66"/>
                <a:gd name="T20" fmla="*/ 57 w 232"/>
                <a:gd name="T21" fmla="*/ 36 h 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2"/>
                <a:gd name="T34" fmla="*/ 0 h 66"/>
                <a:gd name="T35" fmla="*/ 232 w 232"/>
                <a:gd name="T36" fmla="*/ 66 h 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2" h="66">
                  <a:moveTo>
                    <a:pt x="0" y="62"/>
                  </a:moveTo>
                  <a:lnTo>
                    <a:pt x="29" y="43"/>
                  </a:lnTo>
                  <a:lnTo>
                    <a:pt x="58" y="21"/>
                  </a:lnTo>
                  <a:lnTo>
                    <a:pt x="87" y="7"/>
                  </a:lnTo>
                  <a:lnTo>
                    <a:pt x="115" y="0"/>
                  </a:lnTo>
                  <a:lnTo>
                    <a:pt x="137" y="21"/>
                  </a:lnTo>
                  <a:lnTo>
                    <a:pt x="151" y="43"/>
                  </a:lnTo>
                  <a:lnTo>
                    <a:pt x="166" y="65"/>
                  </a:lnTo>
                  <a:lnTo>
                    <a:pt x="187" y="36"/>
                  </a:lnTo>
                  <a:lnTo>
                    <a:pt x="209" y="21"/>
                  </a:lnTo>
                  <a:lnTo>
                    <a:pt x="231" y="36"/>
                  </a:lnTo>
                </a:path>
              </a:pathLst>
            </a:custGeom>
            <a:noFill/>
            <a:ln w="25400" cap="rnd">
              <a:solidFill>
                <a:srgbClr val="FC0128"/>
              </a:solidFill>
              <a:round/>
              <a:headEnd type="none" w="sm" len="sm"/>
              <a:tailEnd type="none" w="sm" len="sm"/>
            </a:ln>
          </p:spPr>
          <p:txBody>
            <a:bodyPr/>
            <a:lstStyle/>
            <a:p>
              <a:endParaRPr lang="en-US"/>
            </a:p>
          </p:txBody>
        </p:sp>
      </p:grpSp>
      <p:sp>
        <p:nvSpPr>
          <p:cNvPr id="27692" name="Rectangle 44"/>
          <p:cNvSpPr>
            <a:spLocks noChangeArrowheads="1"/>
          </p:cNvSpPr>
          <p:nvPr/>
        </p:nvSpPr>
        <p:spPr bwMode="auto">
          <a:xfrm>
            <a:off x="4762500" y="1939925"/>
            <a:ext cx="2845668" cy="954750"/>
          </a:xfrm>
          <a:prstGeom prst="rect">
            <a:avLst/>
          </a:prstGeom>
          <a:noFill/>
          <a:ln w="9525">
            <a:noFill/>
            <a:miter lim="800000"/>
          </a:ln>
          <a:effectLst/>
        </p:spPr>
        <p:txBody>
          <a:bodyPr wrap="square" lIns="92075" tIns="46038" rIns="92075" bIns="46038">
            <a:spAutoFit/>
          </a:bodyPr>
          <a:lstStyle/>
          <a:p>
            <a:pPr algn="ctr">
              <a:defRPr/>
            </a:pPr>
            <a:r>
              <a:rPr lang="en-US" altLang="ja-JP" sz="2800" b="1">
                <a:effectLst>
                  <a:outerShdw blurRad="38100" dist="38100" dir="2700000" algn="tl">
                    <a:srgbClr val="DDDDDD"/>
                  </a:outerShdw>
                </a:effectLst>
                <a:ea typeface="MS Gothic" panose="020B0609070205080204" charset="-128"/>
                <a:cs typeface="MS Gothic" panose="020B0609070205080204" charset="-128"/>
              </a:rPr>
              <a:t>Adsorption of </a:t>
            </a:r>
            <a:r>
              <a:rPr lang="en-US" altLang="ja-JP" sz="2800" b="1">
                <a:solidFill>
                  <a:srgbClr val="0000CC"/>
                </a:solidFill>
                <a:effectLst>
                  <a:outerShdw blurRad="38100" dist="38100" dir="2700000" algn="tl">
                    <a:srgbClr val="DDDDDD"/>
                  </a:outerShdw>
                </a:effectLst>
                <a:ea typeface="MS Gothic" panose="020B0609070205080204" charset="-128"/>
                <a:cs typeface="MS Gothic" panose="020B0609070205080204" charset="-128"/>
              </a:rPr>
              <a:t>SP</a:t>
            </a:r>
            <a:endParaRPr lang="en-US" altLang="ja-JP" sz="2800" b="1">
              <a:solidFill>
                <a:srgbClr val="0000CC"/>
              </a:solidFill>
              <a:effectLst>
                <a:outerShdw blurRad="38100" dist="38100" dir="2700000" algn="tl">
                  <a:srgbClr val="DDDDDD"/>
                </a:outerShdw>
              </a:effectLst>
              <a:ea typeface="MS Gothic" panose="020B0609070205080204" charset="-128"/>
              <a:cs typeface="MS Gothic" panose="020B0609070205080204" charset="-128"/>
            </a:endParaRPr>
          </a:p>
        </p:txBody>
      </p:sp>
      <p:sp>
        <p:nvSpPr>
          <p:cNvPr id="31751" name="AutoShape 45"/>
          <p:cNvSpPr>
            <a:spLocks noChangeArrowheads="1"/>
          </p:cNvSpPr>
          <p:nvPr/>
        </p:nvSpPr>
        <p:spPr bwMode="auto">
          <a:xfrm>
            <a:off x="3975100" y="2063750"/>
            <a:ext cx="673100" cy="215900"/>
          </a:xfrm>
          <a:prstGeom prst="rightArrow">
            <a:avLst>
              <a:gd name="adj1" fmla="val 50000"/>
              <a:gd name="adj2" fmla="val 155897"/>
            </a:avLst>
          </a:prstGeom>
          <a:solidFill>
            <a:schemeClr val="bg1"/>
          </a:solidFill>
          <a:ln w="12700">
            <a:solidFill>
              <a:schemeClr val="tx1"/>
            </a:solidFill>
            <a:miter lim="800000"/>
          </a:ln>
        </p:spPr>
        <p:txBody>
          <a:bodyPr wrap="none" anchor="ctr"/>
          <a:lstStyle/>
          <a:p>
            <a:endParaRPr lang="en-US"/>
          </a:p>
        </p:txBody>
      </p:sp>
      <p:sp>
        <p:nvSpPr>
          <p:cNvPr id="27694" name="Rectangle 46"/>
          <p:cNvSpPr>
            <a:spLocks noChangeArrowheads="1"/>
          </p:cNvSpPr>
          <p:nvPr/>
        </p:nvSpPr>
        <p:spPr bwMode="auto">
          <a:xfrm>
            <a:off x="4800600" y="3073400"/>
            <a:ext cx="2667000" cy="2260600"/>
          </a:xfrm>
          <a:prstGeom prst="rect">
            <a:avLst/>
          </a:prstGeom>
          <a:gradFill rotWithShape="0">
            <a:gsLst>
              <a:gs pos="0">
                <a:srgbClr val="66CCFF"/>
              </a:gs>
              <a:gs pos="50000">
                <a:srgbClr val="66CCFF">
                  <a:gamma/>
                  <a:tint val="0"/>
                  <a:invGamma/>
                </a:srgbClr>
              </a:gs>
              <a:gs pos="100000">
                <a:srgbClr val="66CCFF"/>
              </a:gs>
            </a:gsLst>
            <a:lin ang="2700000" scaled="1"/>
          </a:gradFill>
          <a:ln w="12700">
            <a:solidFill>
              <a:schemeClr val="tx1"/>
            </a:solidFill>
            <a:miter lim="800000"/>
          </a:ln>
          <a:effectLst>
            <a:outerShdw blurRad="63500" dist="107763" dir="2700000" algn="ctr" rotWithShape="0">
              <a:schemeClr val="bg2">
                <a:alpha val="74998"/>
              </a:schemeClr>
            </a:outerShdw>
          </a:effectLst>
        </p:spPr>
        <p:txBody>
          <a:bodyPr wrap="none" anchor="ctr"/>
          <a:lstStyle/>
          <a:p>
            <a:pPr>
              <a:defRPr/>
            </a:pPr>
            <a:endParaRPr lang="en-US"/>
          </a:p>
        </p:txBody>
      </p:sp>
      <p:sp>
        <p:nvSpPr>
          <p:cNvPr id="31753" name="Freeform 47"/>
          <p:cNvSpPr/>
          <p:nvPr/>
        </p:nvSpPr>
        <p:spPr bwMode="auto">
          <a:xfrm>
            <a:off x="5943600" y="3911600"/>
            <a:ext cx="304800" cy="152400"/>
          </a:xfrm>
          <a:custGeom>
            <a:avLst/>
            <a:gdLst>
              <a:gd name="T0" fmla="*/ 0 w 258"/>
              <a:gd name="T1" fmla="*/ 0 h 162"/>
              <a:gd name="T2" fmla="*/ 2147483647 w 258"/>
              <a:gd name="T3" fmla="*/ 2147483647 h 162"/>
              <a:gd name="T4" fmla="*/ 2147483647 w 258"/>
              <a:gd name="T5" fmla="*/ 2147483647 h 162"/>
              <a:gd name="T6" fmla="*/ 2147483647 w 258"/>
              <a:gd name="T7" fmla="*/ 2147483647 h 162"/>
              <a:gd name="T8" fmla="*/ 2147483647 w 258"/>
              <a:gd name="T9" fmla="*/ 2147483647 h 162"/>
              <a:gd name="T10" fmla="*/ 2147483647 w 258"/>
              <a:gd name="T11" fmla="*/ 2147483647 h 162"/>
              <a:gd name="T12" fmla="*/ 2147483647 w 258"/>
              <a:gd name="T13" fmla="*/ 2147483647 h 162"/>
              <a:gd name="T14" fmla="*/ 2147483647 w 258"/>
              <a:gd name="T15" fmla="*/ 2147483647 h 162"/>
              <a:gd name="T16" fmla="*/ 2147483647 w 258"/>
              <a:gd name="T17" fmla="*/ 2147483647 h 162"/>
              <a:gd name="T18" fmla="*/ 2147483647 w 258"/>
              <a:gd name="T19" fmla="*/ 2147483647 h 162"/>
              <a:gd name="T20" fmla="*/ 2147483647 w 258"/>
              <a:gd name="T21" fmla="*/ 2147483647 h 162"/>
              <a:gd name="T22" fmla="*/ 2147483647 w 258"/>
              <a:gd name="T23" fmla="*/ 2147483647 h 1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8"/>
              <a:gd name="T37" fmla="*/ 0 h 162"/>
              <a:gd name="T38" fmla="*/ 258 w 258"/>
              <a:gd name="T39" fmla="*/ 162 h 1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8" h="162">
                <a:moveTo>
                  <a:pt x="0" y="0"/>
                </a:moveTo>
                <a:lnTo>
                  <a:pt x="19" y="24"/>
                </a:lnTo>
                <a:lnTo>
                  <a:pt x="41" y="53"/>
                </a:lnTo>
                <a:lnTo>
                  <a:pt x="62" y="81"/>
                </a:lnTo>
                <a:lnTo>
                  <a:pt x="84" y="81"/>
                </a:lnTo>
                <a:lnTo>
                  <a:pt x="113" y="74"/>
                </a:lnTo>
                <a:lnTo>
                  <a:pt x="141" y="74"/>
                </a:lnTo>
                <a:lnTo>
                  <a:pt x="163" y="89"/>
                </a:lnTo>
                <a:lnTo>
                  <a:pt x="185" y="96"/>
                </a:lnTo>
                <a:lnTo>
                  <a:pt x="207" y="132"/>
                </a:lnTo>
                <a:lnTo>
                  <a:pt x="235" y="161"/>
                </a:lnTo>
                <a:lnTo>
                  <a:pt x="257" y="153"/>
                </a:lnTo>
              </a:path>
            </a:pathLst>
          </a:custGeom>
          <a:noFill/>
          <a:ln w="25400" cap="rnd">
            <a:solidFill>
              <a:srgbClr val="FC0128"/>
            </a:solidFill>
            <a:round/>
            <a:headEnd type="none" w="sm" len="sm"/>
            <a:tailEnd type="none" w="sm" len="sm"/>
          </a:ln>
        </p:spPr>
        <p:txBody>
          <a:bodyPr/>
          <a:lstStyle/>
          <a:p>
            <a:endParaRPr lang="en-US"/>
          </a:p>
        </p:txBody>
      </p:sp>
      <p:sp>
        <p:nvSpPr>
          <p:cNvPr id="31754" name="Freeform 48"/>
          <p:cNvSpPr/>
          <p:nvPr/>
        </p:nvSpPr>
        <p:spPr bwMode="auto">
          <a:xfrm rot="1314157">
            <a:off x="6492876" y="3387726"/>
            <a:ext cx="295275" cy="130175"/>
          </a:xfrm>
          <a:custGeom>
            <a:avLst/>
            <a:gdLst>
              <a:gd name="T0" fmla="*/ 0 w 258"/>
              <a:gd name="T1" fmla="*/ 0 h 162"/>
              <a:gd name="T2" fmla="*/ 2147483647 w 258"/>
              <a:gd name="T3" fmla="*/ 2147483647 h 162"/>
              <a:gd name="T4" fmla="*/ 2147483647 w 258"/>
              <a:gd name="T5" fmla="*/ 2147483647 h 162"/>
              <a:gd name="T6" fmla="*/ 2147483647 w 258"/>
              <a:gd name="T7" fmla="*/ 2147483647 h 162"/>
              <a:gd name="T8" fmla="*/ 2147483647 w 258"/>
              <a:gd name="T9" fmla="*/ 2147483647 h 162"/>
              <a:gd name="T10" fmla="*/ 2147483647 w 258"/>
              <a:gd name="T11" fmla="*/ 2147483647 h 162"/>
              <a:gd name="T12" fmla="*/ 2147483647 w 258"/>
              <a:gd name="T13" fmla="*/ 2147483647 h 162"/>
              <a:gd name="T14" fmla="*/ 2147483647 w 258"/>
              <a:gd name="T15" fmla="*/ 2147483647 h 162"/>
              <a:gd name="T16" fmla="*/ 2147483647 w 258"/>
              <a:gd name="T17" fmla="*/ 2147483647 h 162"/>
              <a:gd name="T18" fmla="*/ 2147483647 w 258"/>
              <a:gd name="T19" fmla="*/ 2147483647 h 162"/>
              <a:gd name="T20" fmla="*/ 2147483647 w 258"/>
              <a:gd name="T21" fmla="*/ 2147483647 h 162"/>
              <a:gd name="T22" fmla="*/ 2147483647 w 258"/>
              <a:gd name="T23" fmla="*/ 2147483647 h 1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8"/>
              <a:gd name="T37" fmla="*/ 0 h 162"/>
              <a:gd name="T38" fmla="*/ 258 w 258"/>
              <a:gd name="T39" fmla="*/ 162 h 1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8" h="162">
                <a:moveTo>
                  <a:pt x="0" y="0"/>
                </a:moveTo>
                <a:lnTo>
                  <a:pt x="19" y="24"/>
                </a:lnTo>
                <a:lnTo>
                  <a:pt x="41" y="53"/>
                </a:lnTo>
                <a:lnTo>
                  <a:pt x="62" y="81"/>
                </a:lnTo>
                <a:lnTo>
                  <a:pt x="84" y="81"/>
                </a:lnTo>
                <a:lnTo>
                  <a:pt x="113" y="74"/>
                </a:lnTo>
                <a:lnTo>
                  <a:pt x="141" y="74"/>
                </a:lnTo>
                <a:lnTo>
                  <a:pt x="163" y="89"/>
                </a:lnTo>
                <a:lnTo>
                  <a:pt x="185" y="96"/>
                </a:lnTo>
                <a:lnTo>
                  <a:pt x="207" y="132"/>
                </a:lnTo>
                <a:lnTo>
                  <a:pt x="235" y="161"/>
                </a:lnTo>
                <a:lnTo>
                  <a:pt x="257" y="153"/>
                </a:lnTo>
              </a:path>
            </a:pathLst>
          </a:custGeom>
          <a:noFill/>
          <a:ln w="25400" cap="rnd">
            <a:solidFill>
              <a:srgbClr val="FC0128"/>
            </a:solidFill>
            <a:round/>
            <a:headEnd type="none" w="sm" len="sm"/>
            <a:tailEnd type="none" w="sm" len="sm"/>
          </a:ln>
        </p:spPr>
        <p:txBody>
          <a:bodyPr/>
          <a:lstStyle/>
          <a:p>
            <a:endParaRPr lang="en-US"/>
          </a:p>
        </p:txBody>
      </p:sp>
      <p:sp>
        <p:nvSpPr>
          <p:cNvPr id="31755" name="Freeform 49"/>
          <p:cNvSpPr/>
          <p:nvPr/>
        </p:nvSpPr>
        <p:spPr bwMode="auto">
          <a:xfrm>
            <a:off x="5038726" y="4140200"/>
            <a:ext cx="74613" cy="433388"/>
          </a:xfrm>
          <a:custGeom>
            <a:avLst/>
            <a:gdLst>
              <a:gd name="T0" fmla="*/ 0 w 126"/>
              <a:gd name="T1" fmla="*/ 0 h 337"/>
              <a:gd name="T2" fmla="*/ 2147483647 w 126"/>
              <a:gd name="T3" fmla="*/ 2147483647 h 337"/>
              <a:gd name="T4" fmla="*/ 2147483647 w 126"/>
              <a:gd name="T5" fmla="*/ 2147483647 h 337"/>
              <a:gd name="T6" fmla="*/ 2147483647 w 126"/>
              <a:gd name="T7" fmla="*/ 2147483647 h 337"/>
              <a:gd name="T8" fmla="*/ 2147483647 w 126"/>
              <a:gd name="T9" fmla="*/ 2147483647 h 337"/>
              <a:gd name="T10" fmla="*/ 2147483647 w 126"/>
              <a:gd name="T11" fmla="*/ 2147483647 h 337"/>
              <a:gd name="T12" fmla="*/ 2147483647 w 126"/>
              <a:gd name="T13" fmla="*/ 2147483647 h 337"/>
              <a:gd name="T14" fmla="*/ 2147483647 w 126"/>
              <a:gd name="T15" fmla="*/ 2147483647 h 337"/>
              <a:gd name="T16" fmla="*/ 2147483647 w 126"/>
              <a:gd name="T17" fmla="*/ 2147483647 h 337"/>
              <a:gd name="T18" fmla="*/ 2147483647 w 126"/>
              <a:gd name="T19" fmla="*/ 2147483647 h 337"/>
              <a:gd name="T20" fmla="*/ 2147483647 w 126"/>
              <a:gd name="T21" fmla="*/ 2147483647 h 337"/>
              <a:gd name="T22" fmla="*/ 2147483647 w 126"/>
              <a:gd name="T23" fmla="*/ 2147483647 h 337"/>
              <a:gd name="T24" fmla="*/ 2147483647 w 126"/>
              <a:gd name="T25" fmla="*/ 2147483647 h 337"/>
              <a:gd name="T26" fmla="*/ 2147483647 w 126"/>
              <a:gd name="T27" fmla="*/ 2147483647 h 337"/>
              <a:gd name="T28" fmla="*/ 2147483647 w 126"/>
              <a:gd name="T29" fmla="*/ 2147483647 h 337"/>
              <a:gd name="T30" fmla="*/ 2147483647 w 126"/>
              <a:gd name="T31" fmla="*/ 2147483647 h 337"/>
              <a:gd name="T32" fmla="*/ 2147483647 w 126"/>
              <a:gd name="T33" fmla="*/ 2147483647 h 337"/>
              <a:gd name="T34" fmla="*/ 2147483647 w 126"/>
              <a:gd name="T35" fmla="*/ 2147483647 h 3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26"/>
              <a:gd name="T55" fmla="*/ 0 h 337"/>
              <a:gd name="T56" fmla="*/ 126 w 126"/>
              <a:gd name="T57" fmla="*/ 337 h 33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26" h="337">
                <a:moveTo>
                  <a:pt x="0" y="0"/>
                </a:moveTo>
                <a:lnTo>
                  <a:pt x="24" y="14"/>
                </a:lnTo>
                <a:lnTo>
                  <a:pt x="45" y="36"/>
                </a:lnTo>
                <a:lnTo>
                  <a:pt x="67" y="43"/>
                </a:lnTo>
                <a:lnTo>
                  <a:pt x="89" y="50"/>
                </a:lnTo>
                <a:lnTo>
                  <a:pt x="117" y="57"/>
                </a:lnTo>
                <a:lnTo>
                  <a:pt x="125" y="79"/>
                </a:lnTo>
                <a:lnTo>
                  <a:pt x="125" y="101"/>
                </a:lnTo>
                <a:lnTo>
                  <a:pt x="103" y="122"/>
                </a:lnTo>
                <a:lnTo>
                  <a:pt x="89" y="144"/>
                </a:lnTo>
                <a:lnTo>
                  <a:pt x="74" y="173"/>
                </a:lnTo>
                <a:lnTo>
                  <a:pt x="67" y="201"/>
                </a:lnTo>
                <a:lnTo>
                  <a:pt x="89" y="223"/>
                </a:lnTo>
                <a:lnTo>
                  <a:pt x="103" y="252"/>
                </a:lnTo>
                <a:lnTo>
                  <a:pt x="81" y="273"/>
                </a:lnTo>
                <a:lnTo>
                  <a:pt x="74" y="295"/>
                </a:lnTo>
                <a:lnTo>
                  <a:pt x="53" y="317"/>
                </a:lnTo>
                <a:lnTo>
                  <a:pt x="48" y="336"/>
                </a:lnTo>
              </a:path>
            </a:pathLst>
          </a:custGeom>
          <a:noFill/>
          <a:ln w="25400" cap="rnd">
            <a:solidFill>
              <a:srgbClr val="FC0128"/>
            </a:solidFill>
            <a:round/>
            <a:headEnd type="none" w="sm" len="sm"/>
            <a:tailEnd type="none" w="sm" len="sm"/>
          </a:ln>
        </p:spPr>
        <p:txBody>
          <a:bodyPr/>
          <a:lstStyle/>
          <a:p>
            <a:endParaRPr lang="en-US"/>
          </a:p>
        </p:txBody>
      </p:sp>
      <p:sp>
        <p:nvSpPr>
          <p:cNvPr id="31756" name="Freeform 50"/>
          <p:cNvSpPr/>
          <p:nvPr/>
        </p:nvSpPr>
        <p:spPr bwMode="auto">
          <a:xfrm rot="-10783583">
            <a:off x="5562600" y="4521200"/>
            <a:ext cx="330200" cy="266700"/>
          </a:xfrm>
          <a:custGeom>
            <a:avLst/>
            <a:gdLst>
              <a:gd name="T0" fmla="*/ 2147483647 w 215"/>
              <a:gd name="T1" fmla="*/ 0 h 294"/>
              <a:gd name="T2" fmla="*/ 2147483647 w 215"/>
              <a:gd name="T3" fmla="*/ 2147483647 h 294"/>
              <a:gd name="T4" fmla="*/ 2147483647 w 215"/>
              <a:gd name="T5" fmla="*/ 2147483647 h 294"/>
              <a:gd name="T6" fmla="*/ 2147483647 w 215"/>
              <a:gd name="T7" fmla="*/ 2147483647 h 294"/>
              <a:gd name="T8" fmla="*/ 2147483647 w 215"/>
              <a:gd name="T9" fmla="*/ 2147483647 h 294"/>
              <a:gd name="T10" fmla="*/ 2147483647 w 215"/>
              <a:gd name="T11" fmla="*/ 2147483647 h 294"/>
              <a:gd name="T12" fmla="*/ 2147483647 w 215"/>
              <a:gd name="T13" fmla="*/ 2147483647 h 294"/>
              <a:gd name="T14" fmla="*/ 2147483647 w 215"/>
              <a:gd name="T15" fmla="*/ 2147483647 h 294"/>
              <a:gd name="T16" fmla="*/ 2147483647 w 215"/>
              <a:gd name="T17" fmla="*/ 2147483647 h 294"/>
              <a:gd name="T18" fmla="*/ 2147483647 w 215"/>
              <a:gd name="T19" fmla="*/ 2147483647 h 294"/>
              <a:gd name="T20" fmla="*/ 2147483647 w 215"/>
              <a:gd name="T21" fmla="*/ 2147483647 h 294"/>
              <a:gd name="T22" fmla="*/ 0 w 215"/>
              <a:gd name="T23" fmla="*/ 2147483647 h 294"/>
              <a:gd name="T24" fmla="*/ 2147483647 w 215"/>
              <a:gd name="T25" fmla="*/ 2147483647 h 294"/>
              <a:gd name="T26" fmla="*/ 2147483647 w 215"/>
              <a:gd name="T27" fmla="*/ 2147483647 h 294"/>
              <a:gd name="T28" fmla="*/ 2147483647 w 215"/>
              <a:gd name="T29" fmla="*/ 2147483647 h 294"/>
              <a:gd name="T30" fmla="*/ 2147483647 w 215"/>
              <a:gd name="T31" fmla="*/ 2147483647 h 29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15"/>
              <a:gd name="T49" fmla="*/ 0 h 294"/>
              <a:gd name="T50" fmla="*/ 215 w 215"/>
              <a:gd name="T51" fmla="*/ 294 h 29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15" h="294">
                <a:moveTo>
                  <a:pt x="214" y="0"/>
                </a:moveTo>
                <a:lnTo>
                  <a:pt x="181" y="12"/>
                </a:lnTo>
                <a:lnTo>
                  <a:pt x="159" y="26"/>
                </a:lnTo>
                <a:lnTo>
                  <a:pt x="137" y="33"/>
                </a:lnTo>
                <a:lnTo>
                  <a:pt x="109" y="55"/>
                </a:lnTo>
                <a:lnTo>
                  <a:pt x="94" y="77"/>
                </a:lnTo>
                <a:lnTo>
                  <a:pt x="80" y="105"/>
                </a:lnTo>
                <a:lnTo>
                  <a:pt x="80" y="134"/>
                </a:lnTo>
                <a:lnTo>
                  <a:pt x="80" y="156"/>
                </a:lnTo>
                <a:lnTo>
                  <a:pt x="51" y="170"/>
                </a:lnTo>
                <a:lnTo>
                  <a:pt x="22" y="192"/>
                </a:lnTo>
                <a:lnTo>
                  <a:pt x="0" y="199"/>
                </a:lnTo>
                <a:lnTo>
                  <a:pt x="15" y="221"/>
                </a:lnTo>
                <a:lnTo>
                  <a:pt x="22" y="243"/>
                </a:lnTo>
                <a:lnTo>
                  <a:pt x="29" y="271"/>
                </a:lnTo>
                <a:lnTo>
                  <a:pt x="37" y="293"/>
                </a:lnTo>
              </a:path>
            </a:pathLst>
          </a:custGeom>
          <a:noFill/>
          <a:ln w="25400" cap="rnd">
            <a:solidFill>
              <a:srgbClr val="FC0128"/>
            </a:solidFill>
            <a:round/>
            <a:headEnd type="none" w="sm" len="sm"/>
            <a:tailEnd type="none" w="sm" len="sm"/>
          </a:ln>
        </p:spPr>
        <p:txBody>
          <a:bodyPr/>
          <a:lstStyle/>
          <a:p>
            <a:endParaRPr lang="en-US"/>
          </a:p>
        </p:txBody>
      </p:sp>
      <p:sp>
        <p:nvSpPr>
          <p:cNvPr id="31757" name="Freeform 51"/>
          <p:cNvSpPr/>
          <p:nvPr/>
        </p:nvSpPr>
        <p:spPr bwMode="auto">
          <a:xfrm rot="8089493">
            <a:off x="6392863" y="4303713"/>
            <a:ext cx="301625" cy="184150"/>
          </a:xfrm>
          <a:custGeom>
            <a:avLst/>
            <a:gdLst>
              <a:gd name="T0" fmla="*/ 2147483647 w 190"/>
              <a:gd name="T1" fmla="*/ 2147483647 h 116"/>
              <a:gd name="T2" fmla="*/ 2147483647 w 190"/>
              <a:gd name="T3" fmla="*/ 2147483647 h 116"/>
              <a:gd name="T4" fmla="*/ 2147483647 w 190"/>
              <a:gd name="T5" fmla="*/ 2147483647 h 116"/>
              <a:gd name="T6" fmla="*/ 2147483647 w 190"/>
              <a:gd name="T7" fmla="*/ 2147483647 h 116"/>
              <a:gd name="T8" fmla="*/ 2147483647 w 190"/>
              <a:gd name="T9" fmla="*/ 2147483647 h 116"/>
              <a:gd name="T10" fmla="*/ 2147483647 w 190"/>
              <a:gd name="T11" fmla="*/ 2147483647 h 116"/>
              <a:gd name="T12" fmla="*/ 2147483647 w 190"/>
              <a:gd name="T13" fmla="*/ 2147483647 h 116"/>
              <a:gd name="T14" fmla="*/ 2147483647 w 190"/>
              <a:gd name="T15" fmla="*/ 2147483647 h 116"/>
              <a:gd name="T16" fmla="*/ 2147483647 w 190"/>
              <a:gd name="T17" fmla="*/ 2147483647 h 116"/>
              <a:gd name="T18" fmla="*/ 2147483647 w 190"/>
              <a:gd name="T19" fmla="*/ 2147483647 h 116"/>
              <a:gd name="T20" fmla="*/ 0 w 190"/>
              <a:gd name="T21" fmla="*/ 2147483647 h 116"/>
              <a:gd name="T22" fmla="*/ 2147483647 w 190"/>
              <a:gd name="T23" fmla="*/ 2147483647 h 116"/>
              <a:gd name="T24" fmla="*/ 2147483647 w 190"/>
              <a:gd name="T25" fmla="*/ 0 h 1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0"/>
              <a:gd name="T40" fmla="*/ 0 h 116"/>
              <a:gd name="T41" fmla="*/ 190 w 190"/>
              <a:gd name="T42" fmla="*/ 116 h 1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0" h="116">
                <a:moveTo>
                  <a:pt x="189" y="67"/>
                </a:moveTo>
                <a:lnTo>
                  <a:pt x="165" y="86"/>
                </a:lnTo>
                <a:lnTo>
                  <a:pt x="151" y="108"/>
                </a:lnTo>
                <a:lnTo>
                  <a:pt x="129" y="115"/>
                </a:lnTo>
                <a:lnTo>
                  <a:pt x="100" y="101"/>
                </a:lnTo>
                <a:lnTo>
                  <a:pt x="93" y="79"/>
                </a:lnTo>
                <a:lnTo>
                  <a:pt x="79" y="43"/>
                </a:lnTo>
                <a:lnTo>
                  <a:pt x="57" y="58"/>
                </a:lnTo>
                <a:lnTo>
                  <a:pt x="43" y="86"/>
                </a:lnTo>
                <a:lnTo>
                  <a:pt x="21" y="86"/>
                </a:lnTo>
                <a:lnTo>
                  <a:pt x="0" y="50"/>
                </a:lnTo>
                <a:lnTo>
                  <a:pt x="7" y="22"/>
                </a:lnTo>
                <a:lnTo>
                  <a:pt x="14" y="0"/>
                </a:lnTo>
              </a:path>
            </a:pathLst>
          </a:custGeom>
          <a:noFill/>
          <a:ln w="25400" cap="rnd">
            <a:solidFill>
              <a:srgbClr val="FC0128"/>
            </a:solidFill>
            <a:round/>
            <a:headEnd type="none" w="sm" len="sm"/>
            <a:tailEnd type="none" w="sm" len="sm"/>
          </a:ln>
        </p:spPr>
        <p:txBody>
          <a:bodyPr/>
          <a:lstStyle/>
          <a:p>
            <a:endParaRPr lang="en-US"/>
          </a:p>
        </p:txBody>
      </p:sp>
      <p:sp>
        <p:nvSpPr>
          <p:cNvPr id="31758" name="Oval 52"/>
          <p:cNvSpPr>
            <a:spLocks noChangeArrowheads="1"/>
          </p:cNvSpPr>
          <p:nvPr/>
        </p:nvSpPr>
        <p:spPr bwMode="auto">
          <a:xfrm>
            <a:off x="5410200" y="39878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59" name="Oval 53"/>
          <p:cNvSpPr>
            <a:spLocks noChangeArrowheads="1"/>
          </p:cNvSpPr>
          <p:nvPr/>
        </p:nvSpPr>
        <p:spPr bwMode="auto">
          <a:xfrm>
            <a:off x="5638800" y="39116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60" name="Oval 54"/>
          <p:cNvSpPr>
            <a:spLocks noChangeArrowheads="1"/>
          </p:cNvSpPr>
          <p:nvPr/>
        </p:nvSpPr>
        <p:spPr bwMode="auto">
          <a:xfrm>
            <a:off x="5562600" y="41402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61" name="Oval 55"/>
          <p:cNvSpPr>
            <a:spLocks noChangeArrowheads="1"/>
          </p:cNvSpPr>
          <p:nvPr/>
        </p:nvSpPr>
        <p:spPr bwMode="auto">
          <a:xfrm>
            <a:off x="5334000" y="42164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62" name="Oval 56"/>
          <p:cNvSpPr>
            <a:spLocks noChangeArrowheads="1"/>
          </p:cNvSpPr>
          <p:nvPr/>
        </p:nvSpPr>
        <p:spPr bwMode="auto">
          <a:xfrm>
            <a:off x="5486400" y="43688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63" name="Oval 57"/>
          <p:cNvSpPr>
            <a:spLocks noChangeArrowheads="1"/>
          </p:cNvSpPr>
          <p:nvPr/>
        </p:nvSpPr>
        <p:spPr bwMode="auto">
          <a:xfrm>
            <a:off x="5257800" y="44450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64" name="Oval 58"/>
          <p:cNvSpPr>
            <a:spLocks noChangeArrowheads="1"/>
          </p:cNvSpPr>
          <p:nvPr/>
        </p:nvSpPr>
        <p:spPr bwMode="auto">
          <a:xfrm>
            <a:off x="6248400" y="36068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65" name="Oval 59"/>
          <p:cNvSpPr>
            <a:spLocks noChangeArrowheads="1"/>
          </p:cNvSpPr>
          <p:nvPr/>
        </p:nvSpPr>
        <p:spPr bwMode="auto">
          <a:xfrm>
            <a:off x="6324600" y="38354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66" name="Oval 60"/>
          <p:cNvSpPr>
            <a:spLocks noChangeArrowheads="1"/>
          </p:cNvSpPr>
          <p:nvPr/>
        </p:nvSpPr>
        <p:spPr bwMode="auto">
          <a:xfrm>
            <a:off x="6616700" y="45593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67" name="Oval 61"/>
          <p:cNvSpPr>
            <a:spLocks noChangeArrowheads="1"/>
          </p:cNvSpPr>
          <p:nvPr/>
        </p:nvSpPr>
        <p:spPr bwMode="auto">
          <a:xfrm>
            <a:off x="6400800" y="44450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68" name="Oval 62"/>
          <p:cNvSpPr>
            <a:spLocks noChangeArrowheads="1"/>
          </p:cNvSpPr>
          <p:nvPr/>
        </p:nvSpPr>
        <p:spPr bwMode="auto">
          <a:xfrm>
            <a:off x="6781800" y="44450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69" name="Oval 63"/>
          <p:cNvSpPr>
            <a:spLocks noChangeArrowheads="1"/>
          </p:cNvSpPr>
          <p:nvPr/>
        </p:nvSpPr>
        <p:spPr bwMode="auto">
          <a:xfrm>
            <a:off x="6477000" y="36830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70" name="Oval 64"/>
          <p:cNvSpPr>
            <a:spLocks noChangeArrowheads="1"/>
          </p:cNvSpPr>
          <p:nvPr/>
        </p:nvSpPr>
        <p:spPr bwMode="auto">
          <a:xfrm>
            <a:off x="6400800" y="34544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71" name="Oval 65"/>
          <p:cNvSpPr>
            <a:spLocks noChangeArrowheads="1"/>
          </p:cNvSpPr>
          <p:nvPr/>
        </p:nvSpPr>
        <p:spPr bwMode="auto">
          <a:xfrm>
            <a:off x="6553200" y="43688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72" name="Oval 66"/>
          <p:cNvSpPr>
            <a:spLocks noChangeArrowheads="1"/>
          </p:cNvSpPr>
          <p:nvPr/>
        </p:nvSpPr>
        <p:spPr bwMode="auto">
          <a:xfrm>
            <a:off x="5181600" y="39878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73" name="Oval 67"/>
          <p:cNvSpPr>
            <a:spLocks noChangeArrowheads="1"/>
          </p:cNvSpPr>
          <p:nvPr/>
        </p:nvSpPr>
        <p:spPr bwMode="auto">
          <a:xfrm>
            <a:off x="5105400" y="4216400"/>
            <a:ext cx="304800" cy="304800"/>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74" name="Freeform 68"/>
          <p:cNvSpPr/>
          <p:nvPr/>
        </p:nvSpPr>
        <p:spPr bwMode="auto">
          <a:xfrm>
            <a:off x="5791200" y="4978401"/>
            <a:ext cx="292100" cy="104775"/>
          </a:xfrm>
          <a:custGeom>
            <a:avLst/>
            <a:gdLst>
              <a:gd name="T0" fmla="*/ 0 w 232"/>
              <a:gd name="T1" fmla="*/ 2147483647 h 66"/>
              <a:gd name="T2" fmla="*/ 2147483647 w 232"/>
              <a:gd name="T3" fmla="*/ 2147483647 h 66"/>
              <a:gd name="T4" fmla="*/ 2147483647 w 232"/>
              <a:gd name="T5" fmla="*/ 2147483647 h 66"/>
              <a:gd name="T6" fmla="*/ 2147483647 w 232"/>
              <a:gd name="T7" fmla="*/ 2147483647 h 66"/>
              <a:gd name="T8" fmla="*/ 2147483647 w 232"/>
              <a:gd name="T9" fmla="*/ 0 h 66"/>
              <a:gd name="T10" fmla="*/ 2147483647 w 232"/>
              <a:gd name="T11" fmla="*/ 2147483647 h 66"/>
              <a:gd name="T12" fmla="*/ 2147483647 w 232"/>
              <a:gd name="T13" fmla="*/ 2147483647 h 66"/>
              <a:gd name="T14" fmla="*/ 2147483647 w 232"/>
              <a:gd name="T15" fmla="*/ 2147483647 h 66"/>
              <a:gd name="T16" fmla="*/ 2147483647 w 232"/>
              <a:gd name="T17" fmla="*/ 2147483647 h 66"/>
              <a:gd name="T18" fmla="*/ 2147483647 w 232"/>
              <a:gd name="T19" fmla="*/ 2147483647 h 66"/>
              <a:gd name="T20" fmla="*/ 2147483647 w 232"/>
              <a:gd name="T21" fmla="*/ 2147483647 h 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2"/>
              <a:gd name="T34" fmla="*/ 0 h 66"/>
              <a:gd name="T35" fmla="*/ 232 w 232"/>
              <a:gd name="T36" fmla="*/ 66 h 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2" h="66">
                <a:moveTo>
                  <a:pt x="0" y="62"/>
                </a:moveTo>
                <a:lnTo>
                  <a:pt x="29" y="43"/>
                </a:lnTo>
                <a:lnTo>
                  <a:pt x="58" y="21"/>
                </a:lnTo>
                <a:lnTo>
                  <a:pt x="87" y="7"/>
                </a:lnTo>
                <a:lnTo>
                  <a:pt x="115" y="0"/>
                </a:lnTo>
                <a:lnTo>
                  <a:pt x="137" y="21"/>
                </a:lnTo>
                <a:lnTo>
                  <a:pt x="151" y="43"/>
                </a:lnTo>
                <a:lnTo>
                  <a:pt x="166" y="65"/>
                </a:lnTo>
                <a:lnTo>
                  <a:pt x="187" y="36"/>
                </a:lnTo>
                <a:lnTo>
                  <a:pt x="209" y="21"/>
                </a:lnTo>
                <a:lnTo>
                  <a:pt x="231" y="36"/>
                </a:lnTo>
              </a:path>
            </a:pathLst>
          </a:custGeom>
          <a:noFill/>
          <a:ln w="25400" cap="rnd">
            <a:solidFill>
              <a:srgbClr val="FC0128"/>
            </a:solidFill>
            <a:round/>
            <a:headEnd type="none" w="sm" len="sm"/>
            <a:tailEnd type="none" w="sm" len="sm"/>
          </a:ln>
        </p:spPr>
        <p:txBody>
          <a:bodyPr/>
          <a:lstStyle/>
          <a:p>
            <a:endParaRPr lang="en-US"/>
          </a:p>
        </p:txBody>
      </p:sp>
      <p:sp>
        <p:nvSpPr>
          <p:cNvPr id="31775" name="Freeform 69"/>
          <p:cNvSpPr/>
          <p:nvPr/>
        </p:nvSpPr>
        <p:spPr bwMode="auto">
          <a:xfrm>
            <a:off x="6934200" y="3378201"/>
            <a:ext cx="317500" cy="206375"/>
          </a:xfrm>
          <a:custGeom>
            <a:avLst/>
            <a:gdLst>
              <a:gd name="T0" fmla="*/ 0 w 200"/>
              <a:gd name="T1" fmla="*/ 0 h 130"/>
              <a:gd name="T2" fmla="*/ 2147483647 w 200"/>
              <a:gd name="T3" fmla="*/ 2147483647 h 130"/>
              <a:gd name="T4" fmla="*/ 2147483647 w 200"/>
              <a:gd name="T5" fmla="*/ 2147483647 h 130"/>
              <a:gd name="T6" fmla="*/ 2147483647 w 200"/>
              <a:gd name="T7" fmla="*/ 2147483647 h 130"/>
              <a:gd name="T8" fmla="*/ 2147483647 w 200"/>
              <a:gd name="T9" fmla="*/ 2147483647 h 130"/>
              <a:gd name="T10" fmla="*/ 2147483647 w 200"/>
              <a:gd name="T11" fmla="*/ 2147483647 h 130"/>
              <a:gd name="T12" fmla="*/ 2147483647 w 200"/>
              <a:gd name="T13" fmla="*/ 2147483647 h 130"/>
              <a:gd name="T14" fmla="*/ 2147483647 w 200"/>
              <a:gd name="T15" fmla="*/ 2147483647 h 130"/>
              <a:gd name="T16" fmla="*/ 2147483647 w 200"/>
              <a:gd name="T17" fmla="*/ 2147483647 h 130"/>
              <a:gd name="T18" fmla="*/ 2147483647 w 200"/>
              <a:gd name="T19" fmla="*/ 2147483647 h 1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0"/>
              <a:gd name="T31" fmla="*/ 0 h 130"/>
              <a:gd name="T32" fmla="*/ 200 w 200"/>
              <a:gd name="T33" fmla="*/ 130 h 1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0" h="130">
                <a:moveTo>
                  <a:pt x="0" y="0"/>
                </a:moveTo>
                <a:lnTo>
                  <a:pt x="19" y="29"/>
                </a:lnTo>
                <a:lnTo>
                  <a:pt x="41" y="50"/>
                </a:lnTo>
                <a:lnTo>
                  <a:pt x="63" y="65"/>
                </a:lnTo>
                <a:lnTo>
                  <a:pt x="91" y="57"/>
                </a:lnTo>
                <a:lnTo>
                  <a:pt x="113" y="57"/>
                </a:lnTo>
                <a:lnTo>
                  <a:pt x="135" y="72"/>
                </a:lnTo>
                <a:lnTo>
                  <a:pt x="149" y="101"/>
                </a:lnTo>
                <a:lnTo>
                  <a:pt x="171" y="129"/>
                </a:lnTo>
                <a:lnTo>
                  <a:pt x="199" y="129"/>
                </a:lnTo>
              </a:path>
            </a:pathLst>
          </a:custGeom>
          <a:noFill/>
          <a:ln w="25400" cap="rnd">
            <a:solidFill>
              <a:srgbClr val="FC0128"/>
            </a:solidFill>
            <a:round/>
            <a:headEnd type="none" w="sm" len="sm"/>
            <a:tailEnd type="none" w="sm" len="sm"/>
          </a:ln>
        </p:spPr>
        <p:txBody>
          <a:bodyPr/>
          <a:lstStyle/>
          <a:p>
            <a:endParaRPr lang="en-US"/>
          </a:p>
        </p:txBody>
      </p:sp>
      <p:sp>
        <p:nvSpPr>
          <p:cNvPr id="31776" name="Freeform 70"/>
          <p:cNvSpPr/>
          <p:nvPr/>
        </p:nvSpPr>
        <p:spPr bwMode="auto">
          <a:xfrm rot="-4880132">
            <a:off x="5111750" y="4894263"/>
            <a:ext cx="152400" cy="152400"/>
          </a:xfrm>
          <a:custGeom>
            <a:avLst/>
            <a:gdLst>
              <a:gd name="T0" fmla="*/ 2147483647 w 154"/>
              <a:gd name="T1" fmla="*/ 0 h 162"/>
              <a:gd name="T2" fmla="*/ 2147483647 w 154"/>
              <a:gd name="T3" fmla="*/ 2147483647 h 162"/>
              <a:gd name="T4" fmla="*/ 2147483647 w 154"/>
              <a:gd name="T5" fmla="*/ 2147483647 h 162"/>
              <a:gd name="T6" fmla="*/ 2147483647 w 154"/>
              <a:gd name="T7" fmla="*/ 2147483647 h 162"/>
              <a:gd name="T8" fmla="*/ 2147483647 w 154"/>
              <a:gd name="T9" fmla="*/ 2147483647 h 162"/>
              <a:gd name="T10" fmla="*/ 2147483647 w 154"/>
              <a:gd name="T11" fmla="*/ 2147483647 h 162"/>
              <a:gd name="T12" fmla="*/ 2147483647 w 154"/>
              <a:gd name="T13" fmla="*/ 2147483647 h 162"/>
              <a:gd name="T14" fmla="*/ 0 w 154"/>
              <a:gd name="T15" fmla="*/ 2147483647 h 162"/>
              <a:gd name="T16" fmla="*/ 2147483647 w 154"/>
              <a:gd name="T17" fmla="*/ 2147483647 h 1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4"/>
              <a:gd name="T28" fmla="*/ 0 h 162"/>
              <a:gd name="T29" fmla="*/ 154 w 154"/>
              <a:gd name="T30" fmla="*/ 162 h 16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4" h="162">
                <a:moveTo>
                  <a:pt x="153" y="0"/>
                </a:moveTo>
                <a:lnTo>
                  <a:pt x="129" y="24"/>
                </a:lnTo>
                <a:lnTo>
                  <a:pt x="122" y="53"/>
                </a:lnTo>
                <a:lnTo>
                  <a:pt x="100" y="74"/>
                </a:lnTo>
                <a:lnTo>
                  <a:pt x="72" y="89"/>
                </a:lnTo>
                <a:lnTo>
                  <a:pt x="50" y="89"/>
                </a:lnTo>
                <a:lnTo>
                  <a:pt x="28" y="103"/>
                </a:lnTo>
                <a:lnTo>
                  <a:pt x="0" y="132"/>
                </a:lnTo>
                <a:lnTo>
                  <a:pt x="7" y="161"/>
                </a:lnTo>
              </a:path>
            </a:pathLst>
          </a:custGeom>
          <a:noFill/>
          <a:ln w="25400" cap="rnd">
            <a:solidFill>
              <a:srgbClr val="FC0128"/>
            </a:solidFill>
            <a:round/>
            <a:headEnd type="none" w="sm" len="sm"/>
            <a:tailEnd type="none" w="sm" len="sm"/>
          </a:ln>
        </p:spPr>
        <p:txBody>
          <a:bodyPr/>
          <a:lstStyle/>
          <a:p>
            <a:endParaRPr lang="en-US"/>
          </a:p>
        </p:txBody>
      </p:sp>
      <p:sp>
        <p:nvSpPr>
          <p:cNvPr id="31777" name="Freeform 71"/>
          <p:cNvSpPr/>
          <p:nvPr/>
        </p:nvSpPr>
        <p:spPr bwMode="auto">
          <a:xfrm>
            <a:off x="5321301" y="3755509"/>
            <a:ext cx="184731" cy="369332"/>
          </a:xfrm>
          <a:custGeom>
            <a:avLst/>
            <a:gdLst>
              <a:gd name="T0" fmla="*/ 0 w 152"/>
              <a:gd name="T1" fmla="*/ 2147483647 h 36"/>
              <a:gd name="T2" fmla="*/ 2147483647 w 152"/>
              <a:gd name="T3" fmla="*/ 2147483647 h 36"/>
              <a:gd name="T4" fmla="*/ 2147483647 w 152"/>
              <a:gd name="T5" fmla="*/ 2147483647 h 36"/>
              <a:gd name="T6" fmla="*/ 2147483647 w 152"/>
              <a:gd name="T7" fmla="*/ 2147483647 h 36"/>
              <a:gd name="T8" fmla="*/ 2147483647 w 152"/>
              <a:gd name="T9" fmla="*/ 2147483647 h 36"/>
              <a:gd name="T10" fmla="*/ 0 60000 65536"/>
              <a:gd name="T11" fmla="*/ 0 60000 65536"/>
              <a:gd name="T12" fmla="*/ 0 60000 65536"/>
              <a:gd name="T13" fmla="*/ 0 60000 65536"/>
              <a:gd name="T14" fmla="*/ 0 60000 65536"/>
              <a:gd name="T15" fmla="*/ 0 w 152"/>
              <a:gd name="T16" fmla="*/ 0 h 36"/>
              <a:gd name="T17" fmla="*/ 152 w 152"/>
              <a:gd name="T18" fmla="*/ 36 h 36"/>
            </a:gdLst>
            <a:ahLst/>
            <a:cxnLst>
              <a:cxn ang="T10">
                <a:pos x="T0" y="T1"/>
              </a:cxn>
              <a:cxn ang="T11">
                <a:pos x="T2" y="T3"/>
              </a:cxn>
              <a:cxn ang="T12">
                <a:pos x="T4" y="T5"/>
              </a:cxn>
              <a:cxn ang="T13">
                <a:pos x="T6" y="T7"/>
              </a:cxn>
              <a:cxn ang="T14">
                <a:pos x="T8" y="T9"/>
              </a:cxn>
            </a:cxnLst>
            <a:rect l="T15" t="T16" r="T17" b="T18"/>
            <a:pathLst>
              <a:path w="152" h="36">
                <a:moveTo>
                  <a:pt x="0" y="16"/>
                </a:moveTo>
                <a:cubicBezTo>
                  <a:pt x="61" y="25"/>
                  <a:pt x="6" y="13"/>
                  <a:pt x="40" y="28"/>
                </a:cubicBezTo>
                <a:cubicBezTo>
                  <a:pt x="48" y="31"/>
                  <a:pt x="64" y="36"/>
                  <a:pt x="64" y="36"/>
                </a:cubicBezTo>
                <a:cubicBezTo>
                  <a:pt x="75" y="35"/>
                  <a:pt x="86" y="36"/>
                  <a:pt x="96" y="32"/>
                </a:cubicBezTo>
                <a:cubicBezTo>
                  <a:pt x="115" y="25"/>
                  <a:pt x="129" y="0"/>
                  <a:pt x="152" y="12"/>
                </a:cubicBezTo>
              </a:path>
            </a:pathLst>
          </a:custGeom>
          <a:noFill/>
          <a:ln w="25400">
            <a:solidFill>
              <a:srgbClr val="FF0000"/>
            </a:solidFill>
            <a:round/>
          </a:ln>
        </p:spPr>
        <p:txBody>
          <a:bodyPr wrap="none" anchor="ctr">
            <a:spAutoFit/>
          </a:bodyPr>
          <a:lstStyle/>
          <a:p>
            <a:endParaRPr lang="en-US"/>
          </a:p>
        </p:txBody>
      </p:sp>
      <p:sp>
        <p:nvSpPr>
          <p:cNvPr id="31778" name="Freeform 72"/>
          <p:cNvSpPr/>
          <p:nvPr/>
        </p:nvSpPr>
        <p:spPr bwMode="auto">
          <a:xfrm>
            <a:off x="6629401" y="4669909"/>
            <a:ext cx="184731" cy="369332"/>
          </a:xfrm>
          <a:custGeom>
            <a:avLst/>
            <a:gdLst>
              <a:gd name="T0" fmla="*/ 0 w 152"/>
              <a:gd name="T1" fmla="*/ 2147483647 h 36"/>
              <a:gd name="T2" fmla="*/ 2147483647 w 152"/>
              <a:gd name="T3" fmla="*/ 2147483647 h 36"/>
              <a:gd name="T4" fmla="*/ 2147483647 w 152"/>
              <a:gd name="T5" fmla="*/ 2147483647 h 36"/>
              <a:gd name="T6" fmla="*/ 2147483647 w 152"/>
              <a:gd name="T7" fmla="*/ 2147483647 h 36"/>
              <a:gd name="T8" fmla="*/ 2147483647 w 152"/>
              <a:gd name="T9" fmla="*/ 2147483647 h 36"/>
              <a:gd name="T10" fmla="*/ 0 60000 65536"/>
              <a:gd name="T11" fmla="*/ 0 60000 65536"/>
              <a:gd name="T12" fmla="*/ 0 60000 65536"/>
              <a:gd name="T13" fmla="*/ 0 60000 65536"/>
              <a:gd name="T14" fmla="*/ 0 60000 65536"/>
              <a:gd name="T15" fmla="*/ 0 w 152"/>
              <a:gd name="T16" fmla="*/ 0 h 36"/>
              <a:gd name="T17" fmla="*/ 152 w 152"/>
              <a:gd name="T18" fmla="*/ 36 h 36"/>
            </a:gdLst>
            <a:ahLst/>
            <a:cxnLst>
              <a:cxn ang="T10">
                <a:pos x="T0" y="T1"/>
              </a:cxn>
              <a:cxn ang="T11">
                <a:pos x="T2" y="T3"/>
              </a:cxn>
              <a:cxn ang="T12">
                <a:pos x="T4" y="T5"/>
              </a:cxn>
              <a:cxn ang="T13">
                <a:pos x="T6" y="T7"/>
              </a:cxn>
              <a:cxn ang="T14">
                <a:pos x="T8" y="T9"/>
              </a:cxn>
            </a:cxnLst>
            <a:rect l="T15" t="T16" r="T17" b="T18"/>
            <a:pathLst>
              <a:path w="152" h="36">
                <a:moveTo>
                  <a:pt x="0" y="16"/>
                </a:moveTo>
                <a:cubicBezTo>
                  <a:pt x="61" y="25"/>
                  <a:pt x="6" y="13"/>
                  <a:pt x="40" y="28"/>
                </a:cubicBezTo>
                <a:cubicBezTo>
                  <a:pt x="48" y="31"/>
                  <a:pt x="64" y="36"/>
                  <a:pt x="64" y="36"/>
                </a:cubicBezTo>
                <a:cubicBezTo>
                  <a:pt x="75" y="35"/>
                  <a:pt x="86" y="36"/>
                  <a:pt x="96" y="32"/>
                </a:cubicBezTo>
                <a:cubicBezTo>
                  <a:pt x="115" y="25"/>
                  <a:pt x="129" y="0"/>
                  <a:pt x="152" y="12"/>
                </a:cubicBezTo>
              </a:path>
            </a:pathLst>
          </a:custGeom>
          <a:noFill/>
          <a:ln w="25400">
            <a:solidFill>
              <a:srgbClr val="FF0000"/>
            </a:solidFill>
            <a:round/>
          </a:ln>
        </p:spPr>
        <p:txBody>
          <a:bodyPr wrap="none" anchor="ctr">
            <a:spAutoFit/>
          </a:bodyPr>
          <a:lstStyle/>
          <a:p>
            <a:endParaRPr lang="en-US"/>
          </a:p>
        </p:txBody>
      </p:sp>
      <p:sp>
        <p:nvSpPr>
          <p:cNvPr id="31779" name="Freeform 73"/>
          <p:cNvSpPr/>
          <p:nvPr/>
        </p:nvSpPr>
        <p:spPr bwMode="auto">
          <a:xfrm>
            <a:off x="6934201" y="3984109"/>
            <a:ext cx="184731" cy="369332"/>
          </a:xfrm>
          <a:custGeom>
            <a:avLst/>
            <a:gdLst>
              <a:gd name="T0" fmla="*/ 0 w 152"/>
              <a:gd name="T1" fmla="*/ 2147483647 h 36"/>
              <a:gd name="T2" fmla="*/ 2147483647 w 152"/>
              <a:gd name="T3" fmla="*/ 2147483647 h 36"/>
              <a:gd name="T4" fmla="*/ 2147483647 w 152"/>
              <a:gd name="T5" fmla="*/ 2147483647 h 36"/>
              <a:gd name="T6" fmla="*/ 2147483647 w 152"/>
              <a:gd name="T7" fmla="*/ 2147483647 h 36"/>
              <a:gd name="T8" fmla="*/ 2147483647 w 152"/>
              <a:gd name="T9" fmla="*/ 2147483647 h 36"/>
              <a:gd name="T10" fmla="*/ 0 60000 65536"/>
              <a:gd name="T11" fmla="*/ 0 60000 65536"/>
              <a:gd name="T12" fmla="*/ 0 60000 65536"/>
              <a:gd name="T13" fmla="*/ 0 60000 65536"/>
              <a:gd name="T14" fmla="*/ 0 60000 65536"/>
              <a:gd name="T15" fmla="*/ 0 w 152"/>
              <a:gd name="T16" fmla="*/ 0 h 36"/>
              <a:gd name="T17" fmla="*/ 152 w 152"/>
              <a:gd name="T18" fmla="*/ 36 h 36"/>
            </a:gdLst>
            <a:ahLst/>
            <a:cxnLst>
              <a:cxn ang="T10">
                <a:pos x="T0" y="T1"/>
              </a:cxn>
              <a:cxn ang="T11">
                <a:pos x="T2" y="T3"/>
              </a:cxn>
              <a:cxn ang="T12">
                <a:pos x="T4" y="T5"/>
              </a:cxn>
              <a:cxn ang="T13">
                <a:pos x="T6" y="T7"/>
              </a:cxn>
              <a:cxn ang="T14">
                <a:pos x="T8" y="T9"/>
              </a:cxn>
            </a:cxnLst>
            <a:rect l="T15" t="T16" r="T17" b="T18"/>
            <a:pathLst>
              <a:path w="152" h="36">
                <a:moveTo>
                  <a:pt x="0" y="16"/>
                </a:moveTo>
                <a:cubicBezTo>
                  <a:pt x="61" y="25"/>
                  <a:pt x="6" y="13"/>
                  <a:pt x="40" y="28"/>
                </a:cubicBezTo>
                <a:cubicBezTo>
                  <a:pt x="48" y="31"/>
                  <a:pt x="64" y="36"/>
                  <a:pt x="64" y="36"/>
                </a:cubicBezTo>
                <a:cubicBezTo>
                  <a:pt x="75" y="35"/>
                  <a:pt x="86" y="36"/>
                  <a:pt x="96" y="32"/>
                </a:cubicBezTo>
                <a:cubicBezTo>
                  <a:pt x="115" y="25"/>
                  <a:pt x="129" y="0"/>
                  <a:pt x="152" y="12"/>
                </a:cubicBezTo>
              </a:path>
            </a:pathLst>
          </a:custGeom>
          <a:noFill/>
          <a:ln w="25400">
            <a:solidFill>
              <a:srgbClr val="FF0000"/>
            </a:solidFill>
            <a:round/>
          </a:ln>
        </p:spPr>
        <p:txBody>
          <a:bodyPr wrap="none" anchor="ctr">
            <a:spAutoFit/>
          </a:bodyPr>
          <a:lstStyle/>
          <a:p>
            <a:endParaRPr lang="en-US"/>
          </a:p>
        </p:txBody>
      </p:sp>
      <p:sp>
        <p:nvSpPr>
          <p:cNvPr id="31780" name="Freeform 74"/>
          <p:cNvSpPr/>
          <p:nvPr/>
        </p:nvSpPr>
        <p:spPr bwMode="auto">
          <a:xfrm>
            <a:off x="4876801" y="3759200"/>
            <a:ext cx="117475" cy="185738"/>
          </a:xfrm>
          <a:custGeom>
            <a:avLst/>
            <a:gdLst>
              <a:gd name="T0" fmla="*/ 0 w 200"/>
              <a:gd name="T1" fmla="*/ 0 h 130"/>
              <a:gd name="T2" fmla="*/ 2147483647 w 200"/>
              <a:gd name="T3" fmla="*/ 2147483647 h 130"/>
              <a:gd name="T4" fmla="*/ 2147483647 w 200"/>
              <a:gd name="T5" fmla="*/ 2147483647 h 130"/>
              <a:gd name="T6" fmla="*/ 2147483647 w 200"/>
              <a:gd name="T7" fmla="*/ 2147483647 h 130"/>
              <a:gd name="T8" fmla="*/ 2147483647 w 200"/>
              <a:gd name="T9" fmla="*/ 2147483647 h 130"/>
              <a:gd name="T10" fmla="*/ 2147483647 w 200"/>
              <a:gd name="T11" fmla="*/ 2147483647 h 130"/>
              <a:gd name="T12" fmla="*/ 2147483647 w 200"/>
              <a:gd name="T13" fmla="*/ 2147483647 h 130"/>
              <a:gd name="T14" fmla="*/ 2147483647 w 200"/>
              <a:gd name="T15" fmla="*/ 2147483647 h 130"/>
              <a:gd name="T16" fmla="*/ 2147483647 w 200"/>
              <a:gd name="T17" fmla="*/ 2147483647 h 130"/>
              <a:gd name="T18" fmla="*/ 2147483647 w 200"/>
              <a:gd name="T19" fmla="*/ 2147483647 h 1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0"/>
              <a:gd name="T31" fmla="*/ 0 h 130"/>
              <a:gd name="T32" fmla="*/ 200 w 200"/>
              <a:gd name="T33" fmla="*/ 130 h 1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0" h="130">
                <a:moveTo>
                  <a:pt x="0" y="0"/>
                </a:moveTo>
                <a:lnTo>
                  <a:pt x="19" y="29"/>
                </a:lnTo>
                <a:lnTo>
                  <a:pt x="41" y="50"/>
                </a:lnTo>
                <a:lnTo>
                  <a:pt x="63" y="65"/>
                </a:lnTo>
                <a:lnTo>
                  <a:pt x="91" y="57"/>
                </a:lnTo>
                <a:lnTo>
                  <a:pt x="113" y="57"/>
                </a:lnTo>
                <a:lnTo>
                  <a:pt x="135" y="72"/>
                </a:lnTo>
                <a:lnTo>
                  <a:pt x="149" y="101"/>
                </a:lnTo>
                <a:lnTo>
                  <a:pt x="171" y="129"/>
                </a:lnTo>
                <a:lnTo>
                  <a:pt x="199" y="129"/>
                </a:lnTo>
              </a:path>
            </a:pathLst>
          </a:custGeom>
          <a:noFill/>
          <a:ln w="25400" cap="rnd">
            <a:solidFill>
              <a:srgbClr val="FC0128"/>
            </a:solidFill>
            <a:round/>
            <a:headEnd type="none" w="sm" len="sm"/>
            <a:tailEnd type="none" w="sm" len="sm"/>
          </a:ln>
        </p:spPr>
        <p:txBody>
          <a:bodyPr/>
          <a:lstStyle/>
          <a:p>
            <a:endParaRPr lang="en-US"/>
          </a:p>
        </p:txBody>
      </p:sp>
      <p:sp>
        <p:nvSpPr>
          <p:cNvPr id="31781" name="Freeform 75"/>
          <p:cNvSpPr/>
          <p:nvPr/>
        </p:nvSpPr>
        <p:spPr bwMode="auto">
          <a:xfrm rot="-9946303">
            <a:off x="6810085" y="4898509"/>
            <a:ext cx="184731" cy="369332"/>
          </a:xfrm>
          <a:custGeom>
            <a:avLst/>
            <a:gdLst>
              <a:gd name="T0" fmla="*/ 0 w 152"/>
              <a:gd name="T1" fmla="*/ 2147483647 h 36"/>
              <a:gd name="T2" fmla="*/ 2147483647 w 152"/>
              <a:gd name="T3" fmla="*/ 2147483647 h 36"/>
              <a:gd name="T4" fmla="*/ 2147483647 w 152"/>
              <a:gd name="T5" fmla="*/ 2147483647 h 36"/>
              <a:gd name="T6" fmla="*/ 2147483647 w 152"/>
              <a:gd name="T7" fmla="*/ 2147483647 h 36"/>
              <a:gd name="T8" fmla="*/ 2147483647 w 152"/>
              <a:gd name="T9" fmla="*/ 2147483647 h 36"/>
              <a:gd name="T10" fmla="*/ 0 60000 65536"/>
              <a:gd name="T11" fmla="*/ 0 60000 65536"/>
              <a:gd name="T12" fmla="*/ 0 60000 65536"/>
              <a:gd name="T13" fmla="*/ 0 60000 65536"/>
              <a:gd name="T14" fmla="*/ 0 60000 65536"/>
              <a:gd name="T15" fmla="*/ 0 w 152"/>
              <a:gd name="T16" fmla="*/ 0 h 36"/>
              <a:gd name="T17" fmla="*/ 152 w 152"/>
              <a:gd name="T18" fmla="*/ 36 h 36"/>
            </a:gdLst>
            <a:ahLst/>
            <a:cxnLst>
              <a:cxn ang="T10">
                <a:pos x="T0" y="T1"/>
              </a:cxn>
              <a:cxn ang="T11">
                <a:pos x="T2" y="T3"/>
              </a:cxn>
              <a:cxn ang="T12">
                <a:pos x="T4" y="T5"/>
              </a:cxn>
              <a:cxn ang="T13">
                <a:pos x="T6" y="T7"/>
              </a:cxn>
              <a:cxn ang="T14">
                <a:pos x="T8" y="T9"/>
              </a:cxn>
            </a:cxnLst>
            <a:rect l="T15" t="T16" r="T17" b="T18"/>
            <a:pathLst>
              <a:path w="152" h="36">
                <a:moveTo>
                  <a:pt x="0" y="16"/>
                </a:moveTo>
                <a:cubicBezTo>
                  <a:pt x="61" y="25"/>
                  <a:pt x="6" y="13"/>
                  <a:pt x="40" y="28"/>
                </a:cubicBezTo>
                <a:cubicBezTo>
                  <a:pt x="48" y="31"/>
                  <a:pt x="64" y="36"/>
                  <a:pt x="64" y="36"/>
                </a:cubicBezTo>
                <a:cubicBezTo>
                  <a:pt x="75" y="35"/>
                  <a:pt x="86" y="36"/>
                  <a:pt x="96" y="32"/>
                </a:cubicBezTo>
                <a:cubicBezTo>
                  <a:pt x="115" y="25"/>
                  <a:pt x="129" y="0"/>
                  <a:pt x="152" y="12"/>
                </a:cubicBezTo>
              </a:path>
            </a:pathLst>
          </a:custGeom>
          <a:noFill/>
          <a:ln w="25400">
            <a:solidFill>
              <a:srgbClr val="FF0000"/>
            </a:solidFill>
            <a:round/>
          </a:ln>
        </p:spPr>
        <p:txBody>
          <a:bodyPr wrap="none" anchor="ctr">
            <a:spAutoFit/>
          </a:bodyPr>
          <a:lstStyle/>
          <a:p>
            <a:endParaRPr lang="en-US"/>
          </a:p>
        </p:txBody>
      </p:sp>
      <p:sp>
        <p:nvSpPr>
          <p:cNvPr id="27724" name="Rectangle 76"/>
          <p:cNvSpPr>
            <a:spLocks noChangeArrowheads="1"/>
          </p:cNvSpPr>
          <p:nvPr/>
        </p:nvSpPr>
        <p:spPr bwMode="auto">
          <a:xfrm>
            <a:off x="1752601" y="3073400"/>
            <a:ext cx="2479675" cy="2260600"/>
          </a:xfrm>
          <a:prstGeom prst="rect">
            <a:avLst/>
          </a:prstGeom>
          <a:gradFill rotWithShape="0">
            <a:gsLst>
              <a:gs pos="0">
                <a:srgbClr val="66CCFF"/>
              </a:gs>
              <a:gs pos="50000">
                <a:srgbClr val="66CCFF">
                  <a:gamma/>
                  <a:tint val="0"/>
                  <a:invGamma/>
                </a:srgbClr>
              </a:gs>
              <a:gs pos="100000">
                <a:srgbClr val="66CCFF"/>
              </a:gs>
            </a:gsLst>
            <a:lin ang="2700000" scaled="1"/>
          </a:gradFill>
          <a:ln w="12700">
            <a:solidFill>
              <a:schemeClr val="tx1"/>
            </a:solidFill>
            <a:miter lim="800000"/>
          </a:ln>
          <a:effectLst>
            <a:outerShdw blurRad="63500" dist="107763" dir="2700000" algn="ctr" rotWithShape="0">
              <a:schemeClr val="bg2">
                <a:alpha val="74998"/>
              </a:schemeClr>
            </a:outerShdw>
          </a:effectLst>
        </p:spPr>
        <p:txBody>
          <a:bodyPr wrap="none" anchor="ctr"/>
          <a:lstStyle/>
          <a:p>
            <a:pPr algn="ctr">
              <a:defRPr/>
            </a:pPr>
            <a:endParaRPr lang="de-DE"/>
          </a:p>
        </p:txBody>
      </p:sp>
      <p:sp>
        <p:nvSpPr>
          <p:cNvPr id="27725" name="Rectangle 77"/>
          <p:cNvSpPr>
            <a:spLocks noChangeArrowheads="1"/>
          </p:cNvSpPr>
          <p:nvPr/>
        </p:nvSpPr>
        <p:spPr bwMode="auto">
          <a:xfrm>
            <a:off x="1754188" y="1906588"/>
            <a:ext cx="2346796" cy="523862"/>
          </a:xfrm>
          <a:prstGeom prst="rect">
            <a:avLst/>
          </a:prstGeom>
          <a:solidFill>
            <a:srgbClr val="8CF4EA"/>
          </a:solidFill>
          <a:ln w="12700">
            <a:solidFill>
              <a:schemeClr val="tx1"/>
            </a:solidFill>
            <a:miter lim="800000"/>
          </a:ln>
          <a:effectLst/>
        </p:spPr>
        <p:txBody>
          <a:bodyPr wrap="none" lIns="92075" tIns="46038" rIns="92075" bIns="46038">
            <a:spAutoFit/>
          </a:bodyPr>
          <a:lstStyle/>
          <a:p>
            <a:pPr>
              <a:defRPr/>
            </a:pPr>
            <a:r>
              <a:rPr lang="en-US" altLang="ja-JP" sz="2800" b="1">
                <a:effectLst>
                  <a:outerShdw blurRad="38100" dist="38100" dir="2700000" algn="tl">
                    <a:srgbClr val="FFFFFF"/>
                  </a:outerShdw>
                </a:effectLst>
                <a:ea typeface="MS Gothic" panose="020B0609070205080204" charset="-128"/>
                <a:cs typeface="MS Gothic" panose="020B0609070205080204" charset="-128"/>
              </a:rPr>
              <a:t>Coagulation</a:t>
            </a:r>
            <a:endParaRPr lang="en-US" altLang="ja-JP" sz="2800" b="1">
              <a:effectLst>
                <a:outerShdw blurRad="38100" dist="38100" dir="2700000" algn="tl">
                  <a:srgbClr val="FFFFFF"/>
                </a:outerShdw>
              </a:effectLst>
              <a:ea typeface="MS Gothic" panose="020B0609070205080204" charset="-128"/>
              <a:cs typeface="MS Gothic" panose="020B0609070205080204" charset="-128"/>
            </a:endParaRPr>
          </a:p>
        </p:txBody>
      </p:sp>
      <p:grpSp>
        <p:nvGrpSpPr>
          <p:cNvPr id="3" name="Group 78"/>
          <p:cNvGrpSpPr/>
          <p:nvPr/>
        </p:nvGrpSpPr>
        <p:grpSpPr bwMode="auto">
          <a:xfrm>
            <a:off x="2349500" y="3860800"/>
            <a:ext cx="1219200" cy="1028700"/>
            <a:chOff x="712" y="1648"/>
            <a:chExt cx="768" cy="648"/>
          </a:xfrm>
        </p:grpSpPr>
        <p:sp>
          <p:nvSpPr>
            <p:cNvPr id="31841" name="Oval 79"/>
            <p:cNvSpPr>
              <a:spLocks noChangeArrowheads="1"/>
            </p:cNvSpPr>
            <p:nvPr/>
          </p:nvSpPr>
          <p:spPr bwMode="auto">
            <a:xfrm>
              <a:off x="904" y="169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42" name="Oval 80"/>
            <p:cNvSpPr>
              <a:spLocks noChangeArrowheads="1"/>
            </p:cNvSpPr>
            <p:nvPr/>
          </p:nvSpPr>
          <p:spPr bwMode="auto">
            <a:xfrm>
              <a:off x="1048" y="1648"/>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43" name="Oval 81"/>
            <p:cNvSpPr>
              <a:spLocks noChangeArrowheads="1"/>
            </p:cNvSpPr>
            <p:nvPr/>
          </p:nvSpPr>
          <p:spPr bwMode="auto">
            <a:xfrm>
              <a:off x="1000" y="179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44" name="Oval 82"/>
            <p:cNvSpPr>
              <a:spLocks noChangeArrowheads="1"/>
            </p:cNvSpPr>
            <p:nvPr/>
          </p:nvSpPr>
          <p:spPr bwMode="auto">
            <a:xfrm>
              <a:off x="856" y="184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45" name="Oval 83"/>
            <p:cNvSpPr>
              <a:spLocks noChangeArrowheads="1"/>
            </p:cNvSpPr>
            <p:nvPr/>
          </p:nvSpPr>
          <p:spPr bwMode="auto">
            <a:xfrm>
              <a:off x="952" y="193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46" name="Oval 84"/>
            <p:cNvSpPr>
              <a:spLocks noChangeArrowheads="1"/>
            </p:cNvSpPr>
            <p:nvPr/>
          </p:nvSpPr>
          <p:spPr bwMode="auto">
            <a:xfrm>
              <a:off x="808" y="1984"/>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47" name="Oval 85"/>
            <p:cNvSpPr>
              <a:spLocks noChangeArrowheads="1"/>
            </p:cNvSpPr>
            <p:nvPr/>
          </p:nvSpPr>
          <p:spPr bwMode="auto">
            <a:xfrm>
              <a:off x="1144" y="179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48" name="Oval 86"/>
            <p:cNvSpPr>
              <a:spLocks noChangeArrowheads="1"/>
            </p:cNvSpPr>
            <p:nvPr/>
          </p:nvSpPr>
          <p:spPr bwMode="auto">
            <a:xfrm>
              <a:off x="1192" y="193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49" name="Oval 87"/>
            <p:cNvSpPr>
              <a:spLocks noChangeArrowheads="1"/>
            </p:cNvSpPr>
            <p:nvPr/>
          </p:nvSpPr>
          <p:spPr bwMode="auto">
            <a:xfrm>
              <a:off x="1088" y="2104"/>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50" name="Oval 88"/>
            <p:cNvSpPr>
              <a:spLocks noChangeArrowheads="1"/>
            </p:cNvSpPr>
            <p:nvPr/>
          </p:nvSpPr>
          <p:spPr bwMode="auto">
            <a:xfrm>
              <a:off x="952" y="203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51" name="Oval 89"/>
            <p:cNvSpPr>
              <a:spLocks noChangeArrowheads="1"/>
            </p:cNvSpPr>
            <p:nvPr/>
          </p:nvSpPr>
          <p:spPr bwMode="auto">
            <a:xfrm>
              <a:off x="1192" y="203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52" name="Oval 90"/>
            <p:cNvSpPr>
              <a:spLocks noChangeArrowheads="1"/>
            </p:cNvSpPr>
            <p:nvPr/>
          </p:nvSpPr>
          <p:spPr bwMode="auto">
            <a:xfrm>
              <a:off x="1288" y="184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53" name="Oval 91"/>
            <p:cNvSpPr>
              <a:spLocks noChangeArrowheads="1"/>
            </p:cNvSpPr>
            <p:nvPr/>
          </p:nvSpPr>
          <p:spPr bwMode="auto">
            <a:xfrm>
              <a:off x="1240" y="169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54" name="Oval 92"/>
            <p:cNvSpPr>
              <a:spLocks noChangeArrowheads="1"/>
            </p:cNvSpPr>
            <p:nvPr/>
          </p:nvSpPr>
          <p:spPr bwMode="auto">
            <a:xfrm>
              <a:off x="1048" y="193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55" name="Oval 93"/>
            <p:cNvSpPr>
              <a:spLocks noChangeArrowheads="1"/>
            </p:cNvSpPr>
            <p:nvPr/>
          </p:nvSpPr>
          <p:spPr bwMode="auto">
            <a:xfrm>
              <a:off x="760" y="169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56" name="Oval 94"/>
            <p:cNvSpPr>
              <a:spLocks noChangeArrowheads="1"/>
            </p:cNvSpPr>
            <p:nvPr/>
          </p:nvSpPr>
          <p:spPr bwMode="auto">
            <a:xfrm>
              <a:off x="712" y="184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grpSp>
      <p:grpSp>
        <p:nvGrpSpPr>
          <p:cNvPr id="4" name="Group 95"/>
          <p:cNvGrpSpPr/>
          <p:nvPr/>
        </p:nvGrpSpPr>
        <p:grpSpPr bwMode="auto">
          <a:xfrm rot="3392148">
            <a:off x="1980407" y="3418682"/>
            <a:ext cx="381000" cy="322263"/>
            <a:chOff x="712" y="1648"/>
            <a:chExt cx="768" cy="648"/>
          </a:xfrm>
        </p:grpSpPr>
        <p:sp>
          <p:nvSpPr>
            <p:cNvPr id="31825" name="Oval 96"/>
            <p:cNvSpPr>
              <a:spLocks noChangeArrowheads="1"/>
            </p:cNvSpPr>
            <p:nvPr/>
          </p:nvSpPr>
          <p:spPr bwMode="auto">
            <a:xfrm>
              <a:off x="904" y="169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26" name="Oval 97"/>
            <p:cNvSpPr>
              <a:spLocks noChangeArrowheads="1"/>
            </p:cNvSpPr>
            <p:nvPr/>
          </p:nvSpPr>
          <p:spPr bwMode="auto">
            <a:xfrm>
              <a:off x="1048" y="1648"/>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27" name="Oval 98"/>
            <p:cNvSpPr>
              <a:spLocks noChangeArrowheads="1"/>
            </p:cNvSpPr>
            <p:nvPr/>
          </p:nvSpPr>
          <p:spPr bwMode="auto">
            <a:xfrm>
              <a:off x="1000" y="179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28" name="Oval 99"/>
            <p:cNvSpPr>
              <a:spLocks noChangeArrowheads="1"/>
            </p:cNvSpPr>
            <p:nvPr/>
          </p:nvSpPr>
          <p:spPr bwMode="auto">
            <a:xfrm>
              <a:off x="856" y="184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29" name="Oval 100"/>
            <p:cNvSpPr>
              <a:spLocks noChangeArrowheads="1"/>
            </p:cNvSpPr>
            <p:nvPr/>
          </p:nvSpPr>
          <p:spPr bwMode="auto">
            <a:xfrm>
              <a:off x="952" y="193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30" name="Oval 101"/>
            <p:cNvSpPr>
              <a:spLocks noChangeArrowheads="1"/>
            </p:cNvSpPr>
            <p:nvPr/>
          </p:nvSpPr>
          <p:spPr bwMode="auto">
            <a:xfrm>
              <a:off x="808" y="1984"/>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31" name="Oval 102"/>
            <p:cNvSpPr>
              <a:spLocks noChangeArrowheads="1"/>
            </p:cNvSpPr>
            <p:nvPr/>
          </p:nvSpPr>
          <p:spPr bwMode="auto">
            <a:xfrm>
              <a:off x="1144" y="179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32" name="Oval 103"/>
            <p:cNvSpPr>
              <a:spLocks noChangeArrowheads="1"/>
            </p:cNvSpPr>
            <p:nvPr/>
          </p:nvSpPr>
          <p:spPr bwMode="auto">
            <a:xfrm>
              <a:off x="1192" y="193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33" name="Oval 104"/>
            <p:cNvSpPr>
              <a:spLocks noChangeArrowheads="1"/>
            </p:cNvSpPr>
            <p:nvPr/>
          </p:nvSpPr>
          <p:spPr bwMode="auto">
            <a:xfrm>
              <a:off x="1088" y="2104"/>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34" name="Oval 105"/>
            <p:cNvSpPr>
              <a:spLocks noChangeArrowheads="1"/>
            </p:cNvSpPr>
            <p:nvPr/>
          </p:nvSpPr>
          <p:spPr bwMode="auto">
            <a:xfrm>
              <a:off x="952" y="203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35" name="Oval 106"/>
            <p:cNvSpPr>
              <a:spLocks noChangeArrowheads="1"/>
            </p:cNvSpPr>
            <p:nvPr/>
          </p:nvSpPr>
          <p:spPr bwMode="auto">
            <a:xfrm>
              <a:off x="1192" y="203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36" name="Oval 107"/>
            <p:cNvSpPr>
              <a:spLocks noChangeArrowheads="1"/>
            </p:cNvSpPr>
            <p:nvPr/>
          </p:nvSpPr>
          <p:spPr bwMode="auto">
            <a:xfrm>
              <a:off x="1288" y="184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37" name="Oval 108"/>
            <p:cNvSpPr>
              <a:spLocks noChangeArrowheads="1"/>
            </p:cNvSpPr>
            <p:nvPr/>
          </p:nvSpPr>
          <p:spPr bwMode="auto">
            <a:xfrm>
              <a:off x="1240" y="169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38" name="Oval 109"/>
            <p:cNvSpPr>
              <a:spLocks noChangeArrowheads="1"/>
            </p:cNvSpPr>
            <p:nvPr/>
          </p:nvSpPr>
          <p:spPr bwMode="auto">
            <a:xfrm>
              <a:off x="1048" y="193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39" name="Oval 110"/>
            <p:cNvSpPr>
              <a:spLocks noChangeArrowheads="1"/>
            </p:cNvSpPr>
            <p:nvPr/>
          </p:nvSpPr>
          <p:spPr bwMode="auto">
            <a:xfrm>
              <a:off x="760" y="169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40" name="Oval 111"/>
            <p:cNvSpPr>
              <a:spLocks noChangeArrowheads="1"/>
            </p:cNvSpPr>
            <p:nvPr/>
          </p:nvSpPr>
          <p:spPr bwMode="auto">
            <a:xfrm>
              <a:off x="712" y="184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grpSp>
      <p:grpSp>
        <p:nvGrpSpPr>
          <p:cNvPr id="5" name="Group 112"/>
          <p:cNvGrpSpPr/>
          <p:nvPr/>
        </p:nvGrpSpPr>
        <p:grpSpPr bwMode="auto">
          <a:xfrm rot="-1209631">
            <a:off x="2057400" y="4838701"/>
            <a:ext cx="457200" cy="384175"/>
            <a:chOff x="712" y="1648"/>
            <a:chExt cx="768" cy="648"/>
          </a:xfrm>
        </p:grpSpPr>
        <p:sp>
          <p:nvSpPr>
            <p:cNvPr id="31809" name="Oval 113"/>
            <p:cNvSpPr>
              <a:spLocks noChangeArrowheads="1"/>
            </p:cNvSpPr>
            <p:nvPr/>
          </p:nvSpPr>
          <p:spPr bwMode="auto">
            <a:xfrm>
              <a:off x="904" y="169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10" name="Oval 114"/>
            <p:cNvSpPr>
              <a:spLocks noChangeArrowheads="1"/>
            </p:cNvSpPr>
            <p:nvPr/>
          </p:nvSpPr>
          <p:spPr bwMode="auto">
            <a:xfrm>
              <a:off x="1048" y="1648"/>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11" name="Oval 115"/>
            <p:cNvSpPr>
              <a:spLocks noChangeArrowheads="1"/>
            </p:cNvSpPr>
            <p:nvPr/>
          </p:nvSpPr>
          <p:spPr bwMode="auto">
            <a:xfrm>
              <a:off x="1000" y="179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12" name="Oval 116"/>
            <p:cNvSpPr>
              <a:spLocks noChangeArrowheads="1"/>
            </p:cNvSpPr>
            <p:nvPr/>
          </p:nvSpPr>
          <p:spPr bwMode="auto">
            <a:xfrm>
              <a:off x="856" y="184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13" name="Oval 117"/>
            <p:cNvSpPr>
              <a:spLocks noChangeArrowheads="1"/>
            </p:cNvSpPr>
            <p:nvPr/>
          </p:nvSpPr>
          <p:spPr bwMode="auto">
            <a:xfrm>
              <a:off x="952" y="193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14" name="Oval 118"/>
            <p:cNvSpPr>
              <a:spLocks noChangeArrowheads="1"/>
            </p:cNvSpPr>
            <p:nvPr/>
          </p:nvSpPr>
          <p:spPr bwMode="auto">
            <a:xfrm>
              <a:off x="808" y="1984"/>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15" name="Oval 119"/>
            <p:cNvSpPr>
              <a:spLocks noChangeArrowheads="1"/>
            </p:cNvSpPr>
            <p:nvPr/>
          </p:nvSpPr>
          <p:spPr bwMode="auto">
            <a:xfrm>
              <a:off x="1144" y="179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16" name="Oval 120"/>
            <p:cNvSpPr>
              <a:spLocks noChangeArrowheads="1"/>
            </p:cNvSpPr>
            <p:nvPr/>
          </p:nvSpPr>
          <p:spPr bwMode="auto">
            <a:xfrm>
              <a:off x="1192" y="193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17" name="Oval 121"/>
            <p:cNvSpPr>
              <a:spLocks noChangeArrowheads="1"/>
            </p:cNvSpPr>
            <p:nvPr/>
          </p:nvSpPr>
          <p:spPr bwMode="auto">
            <a:xfrm>
              <a:off x="1088" y="2104"/>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18" name="Oval 122"/>
            <p:cNvSpPr>
              <a:spLocks noChangeArrowheads="1"/>
            </p:cNvSpPr>
            <p:nvPr/>
          </p:nvSpPr>
          <p:spPr bwMode="auto">
            <a:xfrm>
              <a:off x="952" y="203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19" name="Oval 123"/>
            <p:cNvSpPr>
              <a:spLocks noChangeArrowheads="1"/>
            </p:cNvSpPr>
            <p:nvPr/>
          </p:nvSpPr>
          <p:spPr bwMode="auto">
            <a:xfrm>
              <a:off x="1192" y="203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20" name="Oval 124"/>
            <p:cNvSpPr>
              <a:spLocks noChangeArrowheads="1"/>
            </p:cNvSpPr>
            <p:nvPr/>
          </p:nvSpPr>
          <p:spPr bwMode="auto">
            <a:xfrm>
              <a:off x="1288" y="184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21" name="Oval 125"/>
            <p:cNvSpPr>
              <a:spLocks noChangeArrowheads="1"/>
            </p:cNvSpPr>
            <p:nvPr/>
          </p:nvSpPr>
          <p:spPr bwMode="auto">
            <a:xfrm>
              <a:off x="1240" y="169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22" name="Oval 126"/>
            <p:cNvSpPr>
              <a:spLocks noChangeArrowheads="1"/>
            </p:cNvSpPr>
            <p:nvPr/>
          </p:nvSpPr>
          <p:spPr bwMode="auto">
            <a:xfrm>
              <a:off x="1048" y="193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23" name="Oval 127"/>
            <p:cNvSpPr>
              <a:spLocks noChangeArrowheads="1"/>
            </p:cNvSpPr>
            <p:nvPr/>
          </p:nvSpPr>
          <p:spPr bwMode="auto">
            <a:xfrm>
              <a:off x="760" y="169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24" name="Oval 128"/>
            <p:cNvSpPr>
              <a:spLocks noChangeArrowheads="1"/>
            </p:cNvSpPr>
            <p:nvPr/>
          </p:nvSpPr>
          <p:spPr bwMode="auto">
            <a:xfrm>
              <a:off x="712" y="184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grpSp>
      <p:grpSp>
        <p:nvGrpSpPr>
          <p:cNvPr id="6" name="Group 129"/>
          <p:cNvGrpSpPr/>
          <p:nvPr/>
        </p:nvGrpSpPr>
        <p:grpSpPr bwMode="auto">
          <a:xfrm>
            <a:off x="3733800" y="4673600"/>
            <a:ext cx="228600" cy="217488"/>
            <a:chOff x="712" y="1648"/>
            <a:chExt cx="768" cy="648"/>
          </a:xfrm>
        </p:grpSpPr>
        <p:sp>
          <p:nvSpPr>
            <p:cNvPr id="31793" name="Oval 130"/>
            <p:cNvSpPr>
              <a:spLocks noChangeArrowheads="1"/>
            </p:cNvSpPr>
            <p:nvPr/>
          </p:nvSpPr>
          <p:spPr bwMode="auto">
            <a:xfrm>
              <a:off x="904" y="169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94" name="Oval 131"/>
            <p:cNvSpPr>
              <a:spLocks noChangeArrowheads="1"/>
            </p:cNvSpPr>
            <p:nvPr/>
          </p:nvSpPr>
          <p:spPr bwMode="auto">
            <a:xfrm>
              <a:off x="1048" y="1648"/>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95" name="Oval 132"/>
            <p:cNvSpPr>
              <a:spLocks noChangeArrowheads="1"/>
            </p:cNvSpPr>
            <p:nvPr/>
          </p:nvSpPr>
          <p:spPr bwMode="auto">
            <a:xfrm>
              <a:off x="1000" y="179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96" name="Oval 133"/>
            <p:cNvSpPr>
              <a:spLocks noChangeArrowheads="1"/>
            </p:cNvSpPr>
            <p:nvPr/>
          </p:nvSpPr>
          <p:spPr bwMode="auto">
            <a:xfrm>
              <a:off x="856" y="184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97" name="Oval 134"/>
            <p:cNvSpPr>
              <a:spLocks noChangeArrowheads="1"/>
            </p:cNvSpPr>
            <p:nvPr/>
          </p:nvSpPr>
          <p:spPr bwMode="auto">
            <a:xfrm>
              <a:off x="952" y="193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98" name="Oval 135"/>
            <p:cNvSpPr>
              <a:spLocks noChangeArrowheads="1"/>
            </p:cNvSpPr>
            <p:nvPr/>
          </p:nvSpPr>
          <p:spPr bwMode="auto">
            <a:xfrm>
              <a:off x="808" y="1984"/>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799" name="Oval 136"/>
            <p:cNvSpPr>
              <a:spLocks noChangeArrowheads="1"/>
            </p:cNvSpPr>
            <p:nvPr/>
          </p:nvSpPr>
          <p:spPr bwMode="auto">
            <a:xfrm>
              <a:off x="1144" y="179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00" name="Oval 137"/>
            <p:cNvSpPr>
              <a:spLocks noChangeArrowheads="1"/>
            </p:cNvSpPr>
            <p:nvPr/>
          </p:nvSpPr>
          <p:spPr bwMode="auto">
            <a:xfrm>
              <a:off x="1192" y="193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01" name="Oval 138"/>
            <p:cNvSpPr>
              <a:spLocks noChangeArrowheads="1"/>
            </p:cNvSpPr>
            <p:nvPr/>
          </p:nvSpPr>
          <p:spPr bwMode="auto">
            <a:xfrm>
              <a:off x="1088" y="2104"/>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02" name="Oval 139"/>
            <p:cNvSpPr>
              <a:spLocks noChangeArrowheads="1"/>
            </p:cNvSpPr>
            <p:nvPr/>
          </p:nvSpPr>
          <p:spPr bwMode="auto">
            <a:xfrm>
              <a:off x="952" y="203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03" name="Oval 140"/>
            <p:cNvSpPr>
              <a:spLocks noChangeArrowheads="1"/>
            </p:cNvSpPr>
            <p:nvPr/>
          </p:nvSpPr>
          <p:spPr bwMode="auto">
            <a:xfrm>
              <a:off x="1192" y="2032"/>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04" name="Oval 141"/>
            <p:cNvSpPr>
              <a:spLocks noChangeArrowheads="1"/>
            </p:cNvSpPr>
            <p:nvPr/>
          </p:nvSpPr>
          <p:spPr bwMode="auto">
            <a:xfrm>
              <a:off x="1288" y="184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05" name="Oval 142"/>
            <p:cNvSpPr>
              <a:spLocks noChangeArrowheads="1"/>
            </p:cNvSpPr>
            <p:nvPr/>
          </p:nvSpPr>
          <p:spPr bwMode="auto">
            <a:xfrm>
              <a:off x="1240" y="169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06" name="Oval 143"/>
            <p:cNvSpPr>
              <a:spLocks noChangeArrowheads="1"/>
            </p:cNvSpPr>
            <p:nvPr/>
          </p:nvSpPr>
          <p:spPr bwMode="auto">
            <a:xfrm>
              <a:off x="1048" y="193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07" name="Oval 144"/>
            <p:cNvSpPr>
              <a:spLocks noChangeArrowheads="1"/>
            </p:cNvSpPr>
            <p:nvPr/>
          </p:nvSpPr>
          <p:spPr bwMode="auto">
            <a:xfrm>
              <a:off x="760" y="1696"/>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sp>
          <p:nvSpPr>
            <p:cNvPr id="31808" name="Oval 145"/>
            <p:cNvSpPr>
              <a:spLocks noChangeArrowheads="1"/>
            </p:cNvSpPr>
            <p:nvPr/>
          </p:nvSpPr>
          <p:spPr bwMode="auto">
            <a:xfrm>
              <a:off x="712" y="1840"/>
              <a:ext cx="192" cy="192"/>
            </a:xfrm>
            <a:prstGeom prst="ellipse">
              <a:avLst/>
            </a:prstGeom>
            <a:gradFill rotWithShape="0">
              <a:gsLst>
                <a:gs pos="0">
                  <a:schemeClr val="bg1"/>
                </a:gs>
                <a:gs pos="100000">
                  <a:srgbClr val="333333"/>
                </a:gs>
              </a:gsLst>
              <a:path path="shape">
                <a:fillToRect l="50000" t="50000" r="50000" b="50000"/>
              </a:path>
            </a:gradFill>
            <a:ln w="9525">
              <a:noFill/>
              <a:round/>
            </a:ln>
          </p:spPr>
          <p:txBody>
            <a:bodyPr wrap="none" anchor="ctr"/>
            <a:lstStyle/>
            <a:p>
              <a:endParaRPr lang="en-US"/>
            </a:p>
          </p:txBody>
        </p:sp>
      </p:grpSp>
      <p:sp>
        <p:nvSpPr>
          <p:cNvPr id="31788" name="Text Box 146"/>
          <p:cNvSpPr txBox="1">
            <a:spLocks noChangeArrowheads="1"/>
          </p:cNvSpPr>
          <p:nvPr/>
        </p:nvSpPr>
        <p:spPr bwMode="auto">
          <a:xfrm>
            <a:off x="5133975" y="3182938"/>
            <a:ext cx="434734" cy="369332"/>
          </a:xfrm>
          <a:prstGeom prst="rect">
            <a:avLst/>
          </a:prstGeom>
          <a:noFill/>
          <a:ln w="9525">
            <a:noFill/>
            <a:miter lim="800000"/>
          </a:ln>
        </p:spPr>
        <p:txBody>
          <a:bodyPr wrap="none">
            <a:spAutoFit/>
          </a:bodyPr>
          <a:lstStyle/>
          <a:p>
            <a:r>
              <a:rPr lang="en-US" altLang="ja-JP" b="1">
                <a:solidFill>
                  <a:srgbClr val="0000CC"/>
                </a:solidFill>
              </a:rPr>
              <a:t>SP</a:t>
            </a:r>
            <a:endParaRPr lang="en-US" altLang="ja-JP" b="1">
              <a:solidFill>
                <a:srgbClr val="0000CC"/>
              </a:solidFill>
            </a:endParaRPr>
          </a:p>
        </p:txBody>
      </p:sp>
      <p:sp>
        <p:nvSpPr>
          <p:cNvPr id="31789" name="Line 147"/>
          <p:cNvSpPr>
            <a:spLocks noChangeShapeType="1"/>
          </p:cNvSpPr>
          <p:nvPr/>
        </p:nvSpPr>
        <p:spPr bwMode="auto">
          <a:xfrm>
            <a:off x="5410200" y="3606800"/>
            <a:ext cx="0" cy="304800"/>
          </a:xfrm>
          <a:prstGeom prst="line">
            <a:avLst/>
          </a:prstGeom>
          <a:noFill/>
          <a:ln w="9525">
            <a:solidFill>
              <a:schemeClr val="tx1"/>
            </a:solidFill>
            <a:round/>
            <a:tailEnd type="triangle" w="med" len="med"/>
          </a:ln>
        </p:spPr>
        <p:txBody>
          <a:bodyPr/>
          <a:lstStyle/>
          <a:p>
            <a:endParaRPr lang="en-US"/>
          </a:p>
        </p:txBody>
      </p:sp>
      <p:sp>
        <p:nvSpPr>
          <p:cNvPr id="31790" name="Text Box 148"/>
          <p:cNvSpPr txBox="1">
            <a:spLocks noChangeArrowheads="1"/>
          </p:cNvSpPr>
          <p:nvPr/>
        </p:nvSpPr>
        <p:spPr bwMode="auto">
          <a:xfrm>
            <a:off x="2590801" y="3302000"/>
            <a:ext cx="1109599" cy="369332"/>
          </a:xfrm>
          <a:prstGeom prst="rect">
            <a:avLst/>
          </a:prstGeom>
          <a:noFill/>
          <a:ln w="9525">
            <a:noFill/>
            <a:miter lim="800000"/>
          </a:ln>
        </p:spPr>
        <p:txBody>
          <a:bodyPr wrap="none">
            <a:spAutoFit/>
          </a:bodyPr>
          <a:lstStyle/>
          <a:p>
            <a:r>
              <a:rPr lang="en-US" altLang="ja-JP"/>
              <a:t>Cement</a:t>
            </a:r>
            <a:endParaRPr lang="en-US" altLang="ja-JP"/>
          </a:p>
        </p:txBody>
      </p:sp>
      <p:sp>
        <p:nvSpPr>
          <p:cNvPr id="27797" name="Rectangle 149"/>
          <p:cNvSpPr>
            <a:spLocks noChangeArrowheads="1"/>
          </p:cNvSpPr>
          <p:nvPr/>
        </p:nvSpPr>
        <p:spPr bwMode="auto">
          <a:xfrm>
            <a:off x="2209800" y="304800"/>
            <a:ext cx="7772400" cy="685800"/>
          </a:xfrm>
          <a:prstGeom prst="rect">
            <a:avLst/>
          </a:prstGeom>
          <a:solidFill>
            <a:schemeClr val="bg1"/>
          </a:solidFill>
          <a:ln w="9525">
            <a:noFill/>
            <a:miter lim="800000"/>
          </a:ln>
          <a:effectLst/>
        </p:spPr>
        <p:txBody>
          <a:bodyPr wrap="none" anchor="ctr"/>
          <a:lstStyle/>
          <a:p>
            <a:pPr algn="ctr">
              <a:defRPr/>
            </a:pPr>
            <a:r>
              <a:rPr lang="en-US" altLang="ja-JP" sz="4000"/>
              <a:t>Cement dispersion by Superplasticiser (SP)</a:t>
            </a:r>
            <a:endParaRPr lang="en-US" altLang="ja-JP" sz="4000"/>
          </a:p>
        </p:txBody>
      </p:sp>
      <p:sp>
        <p:nvSpPr>
          <p:cNvPr id="31792" name="Text Box 150"/>
          <p:cNvSpPr txBox="1">
            <a:spLocks noChangeArrowheads="1"/>
          </p:cNvSpPr>
          <p:nvPr/>
        </p:nvSpPr>
        <p:spPr bwMode="auto">
          <a:xfrm>
            <a:off x="4515803" y="5626101"/>
            <a:ext cx="3256020" cy="830997"/>
          </a:xfrm>
          <a:prstGeom prst="rect">
            <a:avLst/>
          </a:prstGeom>
          <a:noFill/>
          <a:ln w="9525">
            <a:noFill/>
            <a:miter lim="800000"/>
          </a:ln>
        </p:spPr>
        <p:txBody>
          <a:bodyPr wrap="none">
            <a:spAutoFit/>
          </a:bodyPr>
          <a:lstStyle/>
          <a:p>
            <a:r>
              <a:rPr lang="en-US" altLang="ja-JP" sz="2400"/>
              <a:t>-</a:t>
            </a:r>
            <a:r>
              <a:rPr lang="en-US" altLang="ja-JP" sz="2400" b="1"/>
              <a:t> Adsorption velocity</a:t>
            </a:r>
            <a:endParaRPr lang="en-US" altLang="ja-JP" sz="2400" b="1"/>
          </a:p>
          <a:p>
            <a:r>
              <a:rPr lang="en-US" altLang="ja-JP" sz="2400"/>
              <a:t>-</a:t>
            </a:r>
            <a:r>
              <a:rPr lang="en-US" altLang="ja-JP" sz="2400" b="1"/>
              <a:t> Adsorption amount</a:t>
            </a:r>
            <a:endParaRPr lang="en-US" altLang="ja-JP" sz="24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Superplasticiser</a:t>
            </a:r>
            <a:endParaRPr lang="en-US" sz="4000"/>
          </a:p>
        </p:txBody>
      </p:sp>
      <p:sp>
        <p:nvSpPr>
          <p:cNvPr id="30723" name="Rectangle 3"/>
          <p:cNvSpPr>
            <a:spLocks noGrp="1" noChangeArrowheads="1"/>
          </p:cNvSpPr>
          <p:nvPr>
            <p:ph type="body" sz="quarter" idx="10"/>
          </p:nvPr>
        </p:nvSpPr>
        <p:spPr>
          <a:xfrm>
            <a:off x="2209800" y="2362200"/>
            <a:ext cx="7772400" cy="4114800"/>
          </a:xfrm>
          <a:noFill/>
        </p:spPr>
        <p:txBody>
          <a:bodyPr vert="horz" lIns="90488" tIns="44450" rIns="90488" bIns="44450" rtlCol="0">
            <a:normAutofit/>
          </a:bodyPr>
          <a:lstStyle/>
          <a:p>
            <a:r>
              <a:rPr lang="en-US" sz="2800"/>
              <a:t>Applications</a:t>
            </a:r>
            <a:endParaRPr lang="en-US" sz="2800"/>
          </a:p>
          <a:p>
            <a:pPr lvl="1">
              <a:buFont typeface="Arial" panose="020B0604020202020204" pitchFamily="34" charset="0"/>
              <a:buChar char="•"/>
            </a:pPr>
            <a:r>
              <a:rPr lang="en-US" sz="2400">
                <a:solidFill>
                  <a:schemeClr val="accent6">
                    <a:lumMod val="75000"/>
                  </a:schemeClr>
                </a:solidFill>
              </a:rPr>
              <a:t>For congested reinforcing</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Self leveling floors</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Shaft linings</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High strength concrete</a:t>
            </a:r>
            <a:endParaRPr lang="en-US" sz="2400">
              <a:solidFill>
                <a:schemeClr val="accent6">
                  <a:lumMod val="75000"/>
                </a:schemeClr>
              </a:solidFill>
            </a:endParaRPr>
          </a:p>
        </p:txBody>
      </p:sp>
      <p:pic>
        <p:nvPicPr>
          <p:cNvPr id="4" name="Picture 3" descr="Soccer7"/>
          <p:cNvPicPr>
            <a:picLocks noChangeAspect="1" noChangeArrowheads="1"/>
          </p:cNvPicPr>
          <p:nvPr/>
        </p:nvPicPr>
        <p:blipFill>
          <a:blip r:embed="rId1" cstate="print"/>
          <a:srcRect l="33471" t="10343" r="13373"/>
          <a:stretch>
            <a:fillRect/>
          </a:stretch>
        </p:blipFill>
        <p:spPr bwMode="auto">
          <a:xfrm>
            <a:off x="7176120" y="1011590"/>
            <a:ext cx="3384376" cy="5801787"/>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135188" y="0"/>
            <a:ext cx="7772400" cy="1143000"/>
          </a:xfrm>
          <a:noFill/>
        </p:spPr>
        <p:txBody>
          <a:bodyPr vert="horz" lIns="90488" tIns="44450" rIns="90488" bIns="44450" rtlCol="0" anchor="t">
            <a:normAutofit/>
          </a:bodyPr>
          <a:lstStyle/>
          <a:p>
            <a:r>
              <a:rPr lang="en-US" sz="4000"/>
              <a:t>Superplasticiser</a:t>
            </a:r>
            <a:endParaRPr lang="en-US" sz="4000"/>
          </a:p>
        </p:txBody>
      </p:sp>
      <p:sp>
        <p:nvSpPr>
          <p:cNvPr id="29699" name="Rectangle 3"/>
          <p:cNvSpPr>
            <a:spLocks noGrp="1" noChangeArrowheads="1"/>
          </p:cNvSpPr>
          <p:nvPr>
            <p:ph type="body" sz="quarter" idx="10"/>
          </p:nvPr>
        </p:nvSpPr>
        <p:spPr>
          <a:xfrm>
            <a:off x="2370455" y="776605"/>
            <a:ext cx="9821545" cy="5029200"/>
          </a:xfrm>
          <a:noFill/>
        </p:spPr>
        <p:txBody>
          <a:bodyPr vert="horz" lIns="90488" tIns="44450" rIns="90488" bIns="44450" rtlCol="0">
            <a:noAutofit/>
          </a:bodyPr>
          <a:lstStyle/>
          <a:p>
            <a:r>
              <a:rPr lang="en-US" sz="2800"/>
              <a:t>Effectiveness</a:t>
            </a:r>
            <a:endParaRPr lang="en-US" sz="2800"/>
          </a:p>
          <a:p>
            <a:pPr lvl="1">
              <a:buFont typeface="Arial" panose="020B0604020202020204" pitchFamily="34" charset="0"/>
              <a:buChar char="•"/>
            </a:pPr>
            <a:r>
              <a:rPr lang="en-US" sz="2000">
                <a:solidFill>
                  <a:schemeClr val="accent6">
                    <a:lumMod val="75000"/>
                  </a:schemeClr>
                </a:solidFill>
              </a:rPr>
              <a:t>Dosage</a:t>
            </a:r>
            <a:endParaRPr lang="en-US" sz="2000">
              <a:solidFill>
                <a:schemeClr val="accent6">
                  <a:lumMod val="75000"/>
                </a:schemeClr>
              </a:solidFill>
            </a:endParaRPr>
          </a:p>
          <a:p>
            <a:pPr marL="1200150" lvl="2" indent="-285750">
              <a:buFont typeface="Arial" panose="020B0604020202020204" pitchFamily="34" charset="0"/>
              <a:buChar char="•"/>
            </a:pPr>
            <a:r>
              <a:rPr lang="en-US" sz="1800">
                <a:solidFill>
                  <a:schemeClr val="accent6">
                    <a:lumMod val="75000"/>
                  </a:schemeClr>
                </a:solidFill>
              </a:rPr>
              <a:t>0,5 - 2 % of cement mass </a:t>
            </a:r>
            <a:endParaRPr lang="en-US" sz="1800">
              <a:solidFill>
                <a:schemeClr val="accent6">
                  <a:lumMod val="75000"/>
                </a:schemeClr>
              </a:solidFill>
            </a:endParaRPr>
          </a:p>
          <a:p>
            <a:pPr marL="1200150" lvl="2" indent="-285750">
              <a:buFont typeface="Arial" panose="020B0604020202020204" pitchFamily="34" charset="0"/>
              <a:buChar char="•"/>
            </a:pPr>
            <a:r>
              <a:rPr lang="en-US" sz="1800">
                <a:solidFill>
                  <a:schemeClr val="accent6">
                    <a:lumMod val="75000"/>
                  </a:schemeClr>
                </a:solidFill>
              </a:rPr>
              <a:t>10 - 30 % water reduction</a:t>
            </a:r>
            <a:endParaRPr lang="en-US" sz="1800">
              <a:solidFill>
                <a:schemeClr val="accent6">
                  <a:lumMod val="75000"/>
                </a:schemeClr>
              </a:solidFill>
            </a:endParaRPr>
          </a:p>
          <a:p>
            <a:pPr lvl="1">
              <a:buFont typeface="Arial" panose="020B0604020202020204" pitchFamily="34" charset="0"/>
              <a:buChar char="•"/>
            </a:pPr>
            <a:r>
              <a:rPr lang="en-US" sz="2000">
                <a:solidFill>
                  <a:schemeClr val="accent6">
                    <a:lumMod val="75000"/>
                  </a:schemeClr>
                </a:solidFill>
              </a:rPr>
              <a:t>Cement type  </a:t>
            </a:r>
            <a:endParaRPr lang="en-US" sz="2000">
              <a:solidFill>
                <a:schemeClr val="accent6">
                  <a:lumMod val="75000"/>
                </a:schemeClr>
              </a:solidFill>
            </a:endParaRPr>
          </a:p>
          <a:p>
            <a:pPr marL="1200150" lvl="2" indent="-285750">
              <a:buFont typeface="Arial" panose="020B0604020202020204" pitchFamily="34" charset="0"/>
              <a:buChar char="•"/>
            </a:pPr>
            <a:r>
              <a:rPr lang="en-US" sz="1800">
                <a:solidFill>
                  <a:schemeClr val="accent6">
                    <a:lumMod val="75000"/>
                  </a:schemeClr>
                </a:solidFill>
              </a:rPr>
              <a:t>Less effective for low C</a:t>
            </a:r>
            <a:r>
              <a:rPr lang="en-US" sz="1800" baseline="-25000">
                <a:solidFill>
                  <a:schemeClr val="accent6">
                    <a:lumMod val="75000"/>
                  </a:schemeClr>
                </a:solidFill>
              </a:rPr>
              <a:t>3</a:t>
            </a:r>
            <a:r>
              <a:rPr lang="en-US" sz="1800">
                <a:solidFill>
                  <a:schemeClr val="accent6">
                    <a:lumMod val="75000"/>
                  </a:schemeClr>
                </a:solidFill>
              </a:rPr>
              <a:t>A</a:t>
            </a:r>
            <a:endParaRPr lang="en-US" sz="1800">
              <a:solidFill>
                <a:schemeClr val="accent6">
                  <a:lumMod val="75000"/>
                </a:schemeClr>
              </a:solidFill>
            </a:endParaRPr>
          </a:p>
          <a:p>
            <a:pPr lvl="1">
              <a:buFont typeface="Arial" panose="020B0604020202020204" pitchFamily="34" charset="0"/>
              <a:buChar char="•"/>
            </a:pPr>
            <a:r>
              <a:rPr lang="en-US" sz="2000">
                <a:solidFill>
                  <a:schemeClr val="accent6">
                    <a:lumMod val="75000"/>
                  </a:schemeClr>
                </a:solidFill>
              </a:rPr>
              <a:t>Aggregates </a:t>
            </a:r>
            <a:endParaRPr lang="en-US" sz="2000">
              <a:solidFill>
                <a:schemeClr val="accent6">
                  <a:lumMod val="75000"/>
                </a:schemeClr>
              </a:solidFill>
            </a:endParaRPr>
          </a:p>
          <a:p>
            <a:pPr marL="1200150" lvl="2" indent="-285750">
              <a:buFont typeface="Arial" panose="020B0604020202020204" pitchFamily="34" charset="0"/>
              <a:buChar char="•"/>
            </a:pPr>
            <a:r>
              <a:rPr lang="en-US" sz="1800">
                <a:solidFill>
                  <a:schemeClr val="accent6">
                    <a:lumMod val="75000"/>
                  </a:schemeClr>
                </a:solidFill>
              </a:rPr>
              <a:t>Increase fines for cohesion</a:t>
            </a:r>
            <a:endParaRPr lang="en-US" sz="1800">
              <a:solidFill>
                <a:schemeClr val="accent6">
                  <a:lumMod val="75000"/>
                </a:schemeClr>
              </a:solidFill>
            </a:endParaRPr>
          </a:p>
          <a:p>
            <a:pPr marL="1200150" lvl="2" indent="-285750">
              <a:buFont typeface="Arial" panose="020B0604020202020204" pitchFamily="34" charset="0"/>
              <a:buChar char="•"/>
            </a:pPr>
            <a:r>
              <a:rPr lang="en-US" sz="1800">
                <a:solidFill>
                  <a:schemeClr val="accent6">
                    <a:lumMod val="75000"/>
                  </a:schemeClr>
                </a:solidFill>
              </a:rPr>
              <a:t>Improve stone shape to resist segregation</a:t>
            </a:r>
            <a:endParaRPr lang="en-US" sz="1800">
              <a:solidFill>
                <a:schemeClr val="accent6">
                  <a:lumMod val="75000"/>
                </a:schemeClr>
              </a:solidFill>
            </a:endParaRPr>
          </a:p>
          <a:p>
            <a:pPr lvl="1">
              <a:buFont typeface="Arial" panose="020B0604020202020204" pitchFamily="34" charset="0"/>
              <a:buChar char="•"/>
            </a:pPr>
            <a:r>
              <a:rPr lang="en-US" sz="2000">
                <a:solidFill>
                  <a:schemeClr val="accent6">
                    <a:lumMod val="75000"/>
                  </a:schemeClr>
                </a:solidFill>
              </a:rPr>
              <a:t>Measure consistence with flow test</a:t>
            </a:r>
            <a:endParaRPr lang="en-US" sz="2000">
              <a:solidFill>
                <a:schemeClr val="accent6">
                  <a:lumMod val="75000"/>
                </a:schemeClr>
              </a:solidFill>
            </a:endParaRPr>
          </a:p>
          <a:p>
            <a:pPr lvl="1">
              <a:buFont typeface="Arial" panose="020B0604020202020204" pitchFamily="34" charset="0"/>
              <a:buChar char="•"/>
            </a:pPr>
            <a:r>
              <a:rPr lang="en-US" sz="2000">
                <a:solidFill>
                  <a:schemeClr val="accent6">
                    <a:lumMod val="75000"/>
                  </a:schemeClr>
                </a:solidFill>
              </a:rPr>
              <a:t>Examples - </a:t>
            </a:r>
            <a:r>
              <a:rPr lang="en-US" altLang="en-US" sz="2000">
                <a:solidFill>
                  <a:schemeClr val="accent6">
                    <a:lumMod val="75000"/>
                  </a:schemeClr>
                </a:solidFill>
              </a:rPr>
              <a:t>There exist four main categories of superplasticizers: sulfonated melamine-formaldehyde condensates; sulfonated naphthalene-formaldehyde condensates; modified lignosulfonates; and others such as sulfonic-acid esters and carbohydrate esters</a:t>
            </a:r>
            <a:endParaRPr lang="en-US" altLang="en-US" sz="2000">
              <a:solidFill>
                <a:schemeClr val="accent6">
                  <a:lumMod val="75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026"/>
          <p:cNvSpPr>
            <a:spLocks noGrp="1" noChangeArrowheads="1"/>
          </p:cNvSpPr>
          <p:nvPr>
            <p:ph type="title"/>
          </p:nvPr>
        </p:nvSpPr>
        <p:spPr/>
        <p:txBody>
          <a:bodyPr>
            <a:normAutofit fontScale="90000"/>
          </a:bodyPr>
          <a:lstStyle/>
          <a:p>
            <a:r>
              <a:rPr lang="en-GB" sz="4000"/>
              <a:t>Superplasticiser</a:t>
            </a:r>
            <a:endParaRPr lang="en-GB" sz="4000"/>
          </a:p>
        </p:txBody>
      </p:sp>
      <p:sp>
        <p:nvSpPr>
          <p:cNvPr id="54275" name="Rectangle 1027"/>
          <p:cNvSpPr>
            <a:spLocks noGrp="1" noChangeArrowheads="1"/>
          </p:cNvSpPr>
          <p:nvPr>
            <p:ph type="body" sz="quarter" idx="10"/>
          </p:nvPr>
        </p:nvSpPr>
        <p:spPr/>
        <p:txBody>
          <a:bodyPr/>
          <a:lstStyle/>
          <a:p>
            <a:pPr>
              <a:buFont typeface="Arial" panose="020B0604020202020204" pitchFamily="34" charset="0"/>
              <a:buChar char="•"/>
            </a:pPr>
            <a:r>
              <a:rPr lang="en-US" sz="2800"/>
              <a:t>Life span</a:t>
            </a:r>
            <a:endParaRPr lang="en-US" sz="2800"/>
          </a:p>
          <a:p>
            <a:pPr lvl="1">
              <a:buFont typeface="Arial" panose="020B0604020202020204" pitchFamily="34" charset="0"/>
              <a:buChar char="•"/>
            </a:pPr>
            <a:r>
              <a:rPr lang="en-US" sz="2400">
                <a:solidFill>
                  <a:schemeClr val="accent6">
                    <a:lumMod val="75000"/>
                  </a:schemeClr>
                </a:solidFill>
              </a:rPr>
              <a:t>Limited life - 35 min - 45  min</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Lose effect rapidly at high temperatures</a:t>
            </a:r>
            <a:endParaRPr lang="en-US" sz="2400">
              <a:solidFill>
                <a:schemeClr val="accent6">
                  <a:lumMod val="75000"/>
                </a:schemeClr>
              </a:solidFill>
            </a:endParaRPr>
          </a:p>
          <a:p>
            <a:pPr>
              <a:buFont typeface="Arial" panose="020B0604020202020204" pitchFamily="34" charset="0"/>
              <a:buChar char="•"/>
            </a:pPr>
            <a:r>
              <a:rPr lang="en-US" sz="2800"/>
              <a:t>Timing </a:t>
            </a:r>
            <a:endParaRPr lang="en-US" sz="2800"/>
          </a:p>
          <a:p>
            <a:pPr lvl="1">
              <a:buFont typeface="Arial" panose="020B0604020202020204" pitchFamily="34" charset="0"/>
              <a:buChar char="•"/>
            </a:pPr>
            <a:r>
              <a:rPr lang="en-US" sz="2400">
                <a:solidFill>
                  <a:schemeClr val="accent6">
                    <a:lumMod val="75000"/>
                  </a:schemeClr>
                </a:solidFill>
              </a:rPr>
              <a:t>Add immediately before discharge</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Make sure it is dispersed well</a:t>
            </a:r>
            <a:endParaRPr lang="en-GB" sz="2400">
              <a:solidFill>
                <a:schemeClr val="accent6">
                  <a:lumMod val="75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Superplasticiser</a:t>
            </a:r>
            <a:endParaRPr lang="en-US" sz="4000"/>
          </a:p>
        </p:txBody>
      </p:sp>
      <p:sp>
        <p:nvSpPr>
          <p:cNvPr id="32771" name="Rectangle 3"/>
          <p:cNvSpPr>
            <a:spLocks noGrp="1" noChangeArrowheads="1"/>
          </p:cNvSpPr>
          <p:nvPr>
            <p:ph type="body" sz="quarter" idx="10"/>
          </p:nvPr>
        </p:nvSpPr>
        <p:spPr>
          <a:xfrm>
            <a:off x="2495550" y="2060575"/>
            <a:ext cx="7772400" cy="4114800"/>
          </a:xfrm>
          <a:noFill/>
        </p:spPr>
        <p:txBody>
          <a:bodyPr vert="horz" lIns="90488" tIns="44450" rIns="90488" bIns="44450" rtlCol="0">
            <a:normAutofit/>
          </a:bodyPr>
          <a:lstStyle/>
          <a:p>
            <a:r>
              <a:rPr lang="en-US" sz="2800"/>
              <a:t>Precautions</a:t>
            </a:r>
            <a:endParaRPr lang="en-US" sz="2800"/>
          </a:p>
          <a:p>
            <a:pPr lvl="1">
              <a:buFont typeface="Arial" panose="020B0604020202020204" pitchFamily="34" charset="0"/>
              <a:buChar char="•"/>
            </a:pPr>
            <a:r>
              <a:rPr lang="en-US" sz="2400">
                <a:solidFill>
                  <a:schemeClr val="accent6">
                    <a:lumMod val="75000"/>
                  </a:schemeClr>
                </a:solidFill>
              </a:rPr>
              <a:t>Cohesion loss</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Lower yield due to water reduction</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Limited life</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Vibration could cause segregation</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Additional pressure on formwork</a:t>
            </a:r>
            <a:endParaRPr lang="en-US" sz="2400">
              <a:solidFill>
                <a:schemeClr val="accent6">
                  <a:lumMod val="75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prstGeom prst="rect">
            <a:avLst/>
          </a:prstGeom>
          <a:noFill/>
        </p:spPr>
        <p:txBody>
          <a:bodyPr vert="horz" lIns="90488" tIns="44450" rIns="90488" bIns="44450" rtlCol="0" anchor="t">
            <a:normAutofit fontScale="90000"/>
          </a:bodyPr>
          <a:lstStyle/>
          <a:p>
            <a:r>
              <a:rPr lang="en-US" sz="4000"/>
              <a:t>Accelerators</a:t>
            </a:r>
            <a:endParaRPr lang="en-US" sz="4000"/>
          </a:p>
        </p:txBody>
      </p:sp>
      <p:sp>
        <p:nvSpPr>
          <p:cNvPr id="7" name="Content Placeholder 6"/>
          <p:cNvSpPr>
            <a:spLocks noGrp="1"/>
          </p:cNvSpPr>
          <p:nvPr>
            <p:ph type="body" sz="quarter" idx="10"/>
          </p:nvPr>
        </p:nvSpPr>
        <p:spPr/>
        <p:txBody>
          <a:bodyPr/>
          <a:lstStyle/>
          <a:p>
            <a:pPr>
              <a:buNone/>
            </a:pPr>
            <a:r>
              <a:rPr lang="en-US" sz="2800"/>
              <a:t>Two types of Accelerators:-</a:t>
            </a:r>
            <a:endParaRPr lang="en-US" sz="2800"/>
          </a:p>
          <a:p>
            <a:pPr>
              <a:buNone/>
            </a:pPr>
            <a:endParaRPr lang="en-US" sz="2800"/>
          </a:p>
          <a:p>
            <a:r>
              <a:rPr lang="en-US" sz="2800"/>
              <a:t>Set Accelerators</a:t>
            </a:r>
            <a:endParaRPr lang="en-US" sz="2800"/>
          </a:p>
          <a:p>
            <a:pPr lvl="1">
              <a:buFont typeface="Arial" panose="020B0604020202020204" pitchFamily="34" charset="0"/>
              <a:buChar char="•"/>
            </a:pPr>
            <a:r>
              <a:rPr lang="en-US" sz="2400">
                <a:solidFill>
                  <a:schemeClr val="accent6">
                    <a:lumMod val="75000"/>
                  </a:schemeClr>
                </a:solidFill>
              </a:rPr>
              <a:t>Reduce time the concrete stays in its plastic state</a:t>
            </a:r>
            <a:endParaRPr lang="en-US" sz="2400">
              <a:solidFill>
                <a:schemeClr val="accent6">
                  <a:lumMod val="75000"/>
                </a:schemeClr>
              </a:solidFill>
            </a:endParaRPr>
          </a:p>
          <a:p>
            <a:pPr lvl="1"/>
            <a:endParaRPr lang="en-US"/>
          </a:p>
          <a:p>
            <a:r>
              <a:rPr lang="en-US" sz="2800"/>
              <a:t>Hardening Accelerators</a:t>
            </a:r>
            <a:endParaRPr lang="en-US" sz="2800"/>
          </a:p>
          <a:p>
            <a:pPr lvl="1">
              <a:buFont typeface="Arial" panose="020B0604020202020204" pitchFamily="34" charset="0"/>
              <a:buChar char="•"/>
            </a:pPr>
            <a:r>
              <a:rPr lang="en-US" sz="2400">
                <a:solidFill>
                  <a:schemeClr val="accent6">
                    <a:lumMod val="75000"/>
                  </a:schemeClr>
                </a:solidFill>
              </a:rPr>
              <a:t>Speed up the strength gain after initial set</a:t>
            </a:r>
            <a:endParaRPr lang="en-US" sz="2400">
              <a:solidFill>
                <a:schemeClr val="accent6">
                  <a:lumMod val="75000"/>
                </a:schemeClr>
              </a:solidFill>
            </a:endParaRPr>
          </a:p>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Accelerators</a:t>
            </a:r>
            <a:endParaRPr lang="en-US" sz="4000"/>
          </a:p>
        </p:txBody>
      </p:sp>
      <p:sp>
        <p:nvSpPr>
          <p:cNvPr id="4" name="Content Placeholder 3"/>
          <p:cNvSpPr>
            <a:spLocks noGrp="1"/>
          </p:cNvSpPr>
          <p:nvPr>
            <p:ph type="body" sz="quarter" idx="10"/>
          </p:nvPr>
        </p:nvSpPr>
        <p:spPr/>
        <p:txBody>
          <a:bodyPr/>
          <a:lstStyle/>
          <a:p>
            <a:pPr>
              <a:buNone/>
            </a:pPr>
            <a:r>
              <a:rPr lang="en-US" sz="2800"/>
              <a:t>CALCIUM CHLORIDE </a:t>
            </a:r>
            <a:endParaRPr lang="en-US" sz="2800"/>
          </a:p>
          <a:p>
            <a:pPr>
              <a:buNone/>
            </a:pPr>
            <a:endParaRPr lang="en-US"/>
          </a:p>
          <a:p>
            <a:pPr>
              <a:buFont typeface="Arial" panose="020B0604020202020204" pitchFamily="34" charset="0"/>
              <a:buChar char="•"/>
            </a:pPr>
            <a:r>
              <a:rPr lang="en-US" sz="2400">
                <a:solidFill>
                  <a:schemeClr val="accent6">
                    <a:lumMod val="75000"/>
                  </a:schemeClr>
                </a:solidFill>
              </a:rPr>
              <a:t>Most effective accelerator that is used for  both set and hardening acceleration</a:t>
            </a:r>
            <a:endParaRPr lang="en-US" sz="2400">
              <a:solidFill>
                <a:schemeClr val="accent6">
                  <a:lumMod val="75000"/>
                </a:schemeClr>
              </a:solidFill>
            </a:endParaRPr>
          </a:p>
          <a:p>
            <a:pPr>
              <a:buFont typeface="Arial" panose="020B0604020202020204" pitchFamily="34" charset="0"/>
              <a:buChar char="•"/>
            </a:pPr>
            <a:r>
              <a:rPr lang="en-US" sz="2400">
                <a:solidFill>
                  <a:schemeClr val="accent6">
                    <a:lumMod val="75000"/>
                  </a:schemeClr>
                </a:solidFill>
              </a:rPr>
              <a:t>Will increase chloride content in concrete and it’s use is banned in reinforced concrete</a:t>
            </a:r>
            <a:endParaRPr lang="en-US" sz="2400">
              <a:solidFill>
                <a:schemeClr val="accent6">
                  <a:lumMod val="75000"/>
                </a:schemeClr>
              </a:solidFill>
            </a:endParaRPr>
          </a:p>
          <a:p>
            <a:pPr>
              <a:buFont typeface="Arial" panose="020B0604020202020204" pitchFamily="34" charset="0"/>
              <a:buChar char="•"/>
            </a:pPr>
            <a:r>
              <a:rPr lang="en-US" sz="2400">
                <a:solidFill>
                  <a:schemeClr val="accent6">
                    <a:lumMod val="75000"/>
                  </a:schemeClr>
                </a:solidFill>
              </a:rPr>
              <a:t>Use chloride free accelerator for reinforced concrete  such as Calcium Formate</a:t>
            </a:r>
            <a:endParaRPr lang="en-US" sz="2400">
              <a:solidFill>
                <a:schemeClr val="accent6">
                  <a:lumMod val="75000"/>
                </a:schemeClr>
              </a:solidFill>
            </a:endParaRPr>
          </a:p>
          <a:p>
            <a:pPr>
              <a:buNone/>
            </a:pP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981200" y="274638"/>
            <a:ext cx="8229600" cy="1354162"/>
          </a:xfrm>
          <a:noFill/>
        </p:spPr>
        <p:txBody>
          <a:bodyPr vert="horz" lIns="90488" tIns="44450" rIns="90488" bIns="44450" rtlCol="0" anchor="t">
            <a:normAutofit/>
          </a:bodyPr>
          <a:lstStyle/>
          <a:p>
            <a:r>
              <a:rPr lang="en-US" sz="4000"/>
              <a:t>Accelerators</a:t>
            </a:r>
            <a:br>
              <a:rPr lang="en-US"/>
            </a:br>
            <a:endParaRPr lang="en-US" sz="4000"/>
          </a:p>
        </p:txBody>
      </p:sp>
      <p:sp>
        <p:nvSpPr>
          <p:cNvPr id="3" name="Content Placeholder 2"/>
          <p:cNvSpPr>
            <a:spLocks noGrp="1"/>
          </p:cNvSpPr>
          <p:nvPr>
            <p:ph type="body" sz="quarter" idx="10"/>
          </p:nvPr>
        </p:nvSpPr>
        <p:spPr>
          <a:xfrm>
            <a:off x="1992313" y="1772816"/>
            <a:ext cx="8229600" cy="4536504"/>
          </a:xfrm>
        </p:spPr>
        <p:txBody>
          <a:bodyPr/>
          <a:lstStyle/>
          <a:p>
            <a:pPr marL="0" indent="0"/>
            <a:r>
              <a:rPr lang="en-US" sz="2800"/>
              <a:t>Mechanism of Acceleration</a:t>
            </a:r>
            <a:endParaRPr lang="en-US" sz="2800"/>
          </a:p>
          <a:p>
            <a:pPr>
              <a:buFont typeface="Arial" panose="020B0604020202020204" pitchFamily="34" charset="0"/>
              <a:buChar char="•"/>
            </a:pPr>
            <a:r>
              <a:rPr lang="en-US" sz="2400">
                <a:solidFill>
                  <a:schemeClr val="accent6">
                    <a:lumMod val="75000"/>
                  </a:schemeClr>
                </a:solidFill>
              </a:rPr>
              <a:t>Set accelerators may work by accelerating the formation of ettringite</a:t>
            </a:r>
            <a:endParaRPr lang="en-US" sz="2400">
              <a:solidFill>
                <a:schemeClr val="accent6">
                  <a:lumMod val="75000"/>
                </a:schemeClr>
              </a:solidFill>
            </a:endParaRPr>
          </a:p>
          <a:p>
            <a:pPr>
              <a:buFont typeface="Arial" panose="020B0604020202020204" pitchFamily="34" charset="0"/>
              <a:buChar char="•"/>
            </a:pPr>
            <a:r>
              <a:rPr lang="en-US" sz="2400">
                <a:solidFill>
                  <a:schemeClr val="accent6">
                    <a:lumMod val="75000"/>
                  </a:schemeClr>
                </a:solidFill>
              </a:rPr>
              <a:t>Inorganic hardening accelerators increase the rate of reaction of C</a:t>
            </a:r>
            <a:r>
              <a:rPr lang="en-US" sz="2400" baseline="-25000">
                <a:solidFill>
                  <a:schemeClr val="accent6">
                    <a:lumMod val="75000"/>
                  </a:schemeClr>
                </a:solidFill>
              </a:rPr>
              <a:t>3</a:t>
            </a:r>
            <a:r>
              <a:rPr lang="en-US" sz="2400">
                <a:solidFill>
                  <a:schemeClr val="accent6">
                    <a:lumMod val="75000"/>
                  </a:schemeClr>
                </a:solidFill>
              </a:rPr>
              <a:t>S and C</a:t>
            </a:r>
            <a:r>
              <a:rPr lang="en-US" sz="2400" baseline="-25000">
                <a:solidFill>
                  <a:schemeClr val="accent6">
                    <a:lumMod val="75000"/>
                  </a:schemeClr>
                </a:solidFill>
              </a:rPr>
              <a:t>2</a:t>
            </a:r>
            <a:r>
              <a:rPr lang="en-US" sz="2400">
                <a:solidFill>
                  <a:schemeClr val="accent6">
                    <a:lumMod val="75000"/>
                  </a:schemeClr>
                </a:solidFill>
              </a:rPr>
              <a:t>S leading to earlier strength gain</a:t>
            </a:r>
            <a:endParaRPr lang="en-US" sz="2400">
              <a:solidFill>
                <a:schemeClr val="accent6">
                  <a:lumMod val="75000"/>
                </a:schemeClr>
              </a:solidFill>
            </a:endParaRPr>
          </a:p>
          <a:p>
            <a:pPr>
              <a:buFont typeface="Arial" panose="020B0604020202020204" pitchFamily="34" charset="0"/>
              <a:buChar char="•"/>
            </a:pPr>
            <a:r>
              <a:rPr lang="en-US" sz="2400">
                <a:solidFill>
                  <a:schemeClr val="accent6">
                    <a:lumMod val="75000"/>
                  </a:schemeClr>
                </a:solidFill>
              </a:rPr>
              <a:t>Accelerators containing high range water reducers work by reducing the distance between cement particles …more intermeshing of gel</a:t>
            </a:r>
            <a:endParaRPr lang="en-US" sz="2400">
              <a:solidFill>
                <a:schemeClr val="accent6">
                  <a:lumMod val="75000"/>
                </a:schemeClr>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981200" y="274638"/>
            <a:ext cx="8229600" cy="1426170"/>
          </a:xfrm>
        </p:spPr>
        <p:txBody>
          <a:bodyPr/>
          <a:lstStyle/>
          <a:p>
            <a:r>
              <a:rPr lang="en-GB" sz="4000"/>
              <a:t>Accelerators</a:t>
            </a:r>
            <a:br>
              <a:rPr lang="en-GB"/>
            </a:br>
            <a:endParaRPr lang="en-GB" sz="4000"/>
          </a:p>
        </p:txBody>
      </p:sp>
      <p:sp>
        <p:nvSpPr>
          <p:cNvPr id="53251" name="Rectangle 3"/>
          <p:cNvSpPr>
            <a:spLocks noGrp="1" noChangeArrowheads="1"/>
          </p:cNvSpPr>
          <p:nvPr>
            <p:ph type="body" sz="quarter" idx="10"/>
          </p:nvPr>
        </p:nvSpPr>
        <p:spPr>
          <a:xfrm>
            <a:off x="1991544" y="1340768"/>
            <a:ext cx="8229600" cy="4525962"/>
          </a:xfrm>
        </p:spPr>
        <p:txBody>
          <a:bodyPr/>
          <a:lstStyle/>
          <a:p>
            <a:pPr marL="0" indent="0"/>
            <a:r>
              <a:rPr lang="en-GB" sz="2800"/>
              <a:t>Factors affecting performance</a:t>
            </a:r>
            <a:endParaRPr lang="en-US" sz="2800"/>
          </a:p>
          <a:p>
            <a:pPr>
              <a:buFont typeface="Arial" panose="020B0604020202020204" pitchFamily="34" charset="0"/>
              <a:buChar char="•"/>
            </a:pPr>
            <a:r>
              <a:rPr lang="en-US" sz="2800"/>
              <a:t>Cement type</a:t>
            </a:r>
            <a:endParaRPr lang="en-US" sz="2800"/>
          </a:p>
          <a:p>
            <a:pPr lvl="1">
              <a:buFont typeface="Arial" panose="020B0604020202020204" pitchFamily="34" charset="0"/>
              <a:buChar char="•"/>
            </a:pPr>
            <a:r>
              <a:rPr lang="en-US" sz="2400">
                <a:solidFill>
                  <a:schemeClr val="accent6">
                    <a:lumMod val="75000"/>
                  </a:schemeClr>
                </a:solidFill>
              </a:rPr>
              <a:t>Slow or fast hydration, type and amount of extenders</a:t>
            </a:r>
            <a:endParaRPr lang="en-US" sz="2400">
              <a:solidFill>
                <a:schemeClr val="accent6">
                  <a:lumMod val="75000"/>
                </a:schemeClr>
              </a:solidFill>
            </a:endParaRPr>
          </a:p>
          <a:p>
            <a:pPr>
              <a:buFont typeface="Arial" panose="020B0604020202020204" pitchFamily="34" charset="0"/>
              <a:buChar char="•"/>
            </a:pPr>
            <a:r>
              <a:rPr lang="en-US" sz="2800"/>
              <a:t>Temperature </a:t>
            </a:r>
            <a:endParaRPr lang="en-US" sz="2800"/>
          </a:p>
          <a:p>
            <a:pPr lvl="1">
              <a:buFont typeface="Arial" panose="020B0604020202020204" pitchFamily="34" charset="0"/>
              <a:buChar char="•"/>
            </a:pPr>
            <a:r>
              <a:rPr lang="en-US" sz="2400">
                <a:solidFill>
                  <a:schemeClr val="accent6">
                    <a:lumMod val="75000"/>
                  </a:schemeClr>
                </a:solidFill>
              </a:rPr>
              <a:t> More effective at lower temperatures</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Take care when temperatures are high</a:t>
            </a:r>
            <a:endParaRPr lang="en-US" sz="2400">
              <a:solidFill>
                <a:schemeClr val="accent6">
                  <a:lumMod val="75000"/>
                </a:schemeClr>
              </a:solidFill>
            </a:endParaRPr>
          </a:p>
          <a:p>
            <a:pPr lvl="1"/>
            <a:endParaRPr lang="en-US"/>
          </a:p>
          <a:p>
            <a:endParaRPr lang="en-GB"/>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Accelerators: Applications</a:t>
            </a:r>
            <a:endParaRPr lang="en-US" sz="4000"/>
          </a:p>
        </p:txBody>
      </p:sp>
      <p:sp>
        <p:nvSpPr>
          <p:cNvPr id="19459" name="Rectangle 3"/>
          <p:cNvSpPr>
            <a:spLocks noGrp="1" noChangeArrowheads="1"/>
          </p:cNvSpPr>
          <p:nvPr>
            <p:ph type="body" sz="quarter" idx="10"/>
          </p:nvPr>
        </p:nvSpPr>
        <p:spPr>
          <a:xfrm>
            <a:off x="2142298" y="1066800"/>
            <a:ext cx="7772400" cy="4114800"/>
          </a:xfrm>
          <a:noFill/>
        </p:spPr>
        <p:txBody>
          <a:bodyPr vert="horz" lIns="90488" tIns="44450" rIns="90488" bIns="44450" rtlCol="0">
            <a:normAutofit/>
          </a:bodyPr>
          <a:lstStyle/>
          <a:p>
            <a:pPr>
              <a:buFont typeface="Arial" panose="020B0604020202020204" pitchFamily="34" charset="0"/>
              <a:buChar char="•"/>
            </a:pPr>
            <a:r>
              <a:rPr lang="en-US" sz="2800"/>
              <a:t>Early demoulding (precast)</a:t>
            </a:r>
            <a:endParaRPr lang="en-US" sz="2800"/>
          </a:p>
          <a:p>
            <a:pPr>
              <a:buFont typeface="Arial" panose="020B0604020202020204" pitchFamily="34" charset="0"/>
              <a:buChar char="•"/>
            </a:pPr>
            <a:r>
              <a:rPr lang="en-US" sz="2800"/>
              <a:t>Reduce freezing risk</a:t>
            </a:r>
            <a:endParaRPr lang="en-US" sz="2800"/>
          </a:p>
          <a:p>
            <a:pPr lvl="1">
              <a:buFont typeface="Arial" panose="020B0604020202020204" pitchFamily="34" charset="0"/>
              <a:buChar char="•"/>
            </a:pPr>
            <a:r>
              <a:rPr lang="en-US" sz="2400">
                <a:solidFill>
                  <a:schemeClr val="accent6">
                    <a:lumMod val="75000"/>
                  </a:schemeClr>
                </a:solidFill>
              </a:rPr>
              <a:t>Do not depress freezing point</a:t>
            </a:r>
            <a:endParaRPr lang="en-US" sz="2400">
              <a:solidFill>
                <a:schemeClr val="accent6">
                  <a:lumMod val="75000"/>
                </a:schemeClr>
              </a:solidFill>
            </a:endParaRPr>
          </a:p>
          <a:p>
            <a:pPr>
              <a:buFont typeface="Arial" panose="020B0604020202020204" pitchFamily="34" charset="0"/>
              <a:buChar char="•"/>
            </a:pPr>
            <a:r>
              <a:rPr lang="en-US" sz="2800"/>
              <a:t>Shaft linings </a:t>
            </a:r>
            <a:endParaRPr lang="en-US" sz="2800"/>
          </a:p>
          <a:p>
            <a:pPr lvl="1">
              <a:buFont typeface="Arial" panose="020B0604020202020204" pitchFamily="34" charset="0"/>
              <a:buChar char="•"/>
            </a:pPr>
            <a:r>
              <a:rPr lang="en-US" sz="2400">
                <a:solidFill>
                  <a:schemeClr val="accent6">
                    <a:lumMod val="75000"/>
                  </a:schemeClr>
                </a:solidFill>
              </a:rPr>
              <a:t>5 MPa at 8 hours</a:t>
            </a:r>
            <a:endParaRPr lang="en-US" sz="2400">
              <a:solidFill>
                <a:schemeClr val="accent6">
                  <a:lumMod val="75000"/>
                </a:schemeClr>
              </a:solidFill>
            </a:endParaRPr>
          </a:p>
          <a:p>
            <a:pPr>
              <a:buFont typeface="Arial" panose="020B0604020202020204" pitchFamily="34" charset="0"/>
              <a:buChar char="•"/>
            </a:pPr>
            <a:r>
              <a:rPr lang="en-US" sz="2800"/>
              <a:t>Early set for finishing floors</a:t>
            </a:r>
            <a:endParaRPr lang="en-US" sz="2800"/>
          </a:p>
        </p:txBody>
      </p:sp>
      <p:sp>
        <p:nvSpPr>
          <p:cNvPr id="19460" name="Oval 4"/>
          <p:cNvSpPr>
            <a:spLocks noChangeArrowheads="1"/>
          </p:cNvSpPr>
          <p:nvPr/>
        </p:nvSpPr>
        <p:spPr bwMode="auto">
          <a:xfrm>
            <a:off x="8765641" y="4114800"/>
            <a:ext cx="1143000" cy="1143000"/>
          </a:xfrm>
          <a:prstGeom prst="ellipse">
            <a:avLst/>
          </a:prstGeom>
          <a:solidFill>
            <a:srgbClr val="FF0000"/>
          </a:solidFill>
          <a:ln w="12700">
            <a:noFill/>
            <a:round/>
          </a:ln>
          <a:effectLst/>
        </p:spPr>
        <p:txBody>
          <a:bodyPr wrap="none" anchor="ctr"/>
          <a:lstStyle/>
          <a:p>
            <a:endParaRPr lang="en-US"/>
          </a:p>
        </p:txBody>
      </p:sp>
      <p:sp>
        <p:nvSpPr>
          <p:cNvPr id="19461" name="Rectangle 5"/>
          <p:cNvSpPr>
            <a:spLocks noChangeArrowheads="1"/>
          </p:cNvSpPr>
          <p:nvPr/>
        </p:nvSpPr>
        <p:spPr bwMode="auto">
          <a:xfrm>
            <a:off x="9242834" y="1562100"/>
            <a:ext cx="228600" cy="2590800"/>
          </a:xfrm>
          <a:prstGeom prst="rect">
            <a:avLst/>
          </a:prstGeom>
          <a:solidFill>
            <a:schemeClr val="tx1"/>
          </a:solidFill>
          <a:ln w="12700">
            <a:noFill/>
            <a:miter lim="800000"/>
          </a:ln>
          <a:effectLst/>
        </p:spPr>
        <p:txBody>
          <a:bodyPr wrap="none" anchor="ctr"/>
          <a:lstStyle/>
          <a:p>
            <a:endParaRPr lang="en-US"/>
          </a:p>
        </p:txBody>
      </p:sp>
      <p:sp>
        <p:nvSpPr>
          <p:cNvPr id="19463" name="Oval 7"/>
          <p:cNvSpPr>
            <a:spLocks noChangeArrowheads="1"/>
          </p:cNvSpPr>
          <p:nvPr/>
        </p:nvSpPr>
        <p:spPr bwMode="auto">
          <a:xfrm>
            <a:off x="9220200" y="1981200"/>
            <a:ext cx="228600" cy="228600"/>
          </a:xfrm>
          <a:prstGeom prst="ellipse">
            <a:avLst/>
          </a:prstGeom>
          <a:solidFill>
            <a:schemeClr val="tx1"/>
          </a:solidFill>
          <a:ln w="12700">
            <a:noFill/>
            <a:round/>
          </a:ln>
          <a:effectLst/>
        </p:spPr>
        <p:txBody>
          <a:bodyPr wrap="none" anchor="ctr"/>
          <a:lstStyle/>
          <a:p>
            <a:endParaRPr lang="en-US"/>
          </a:p>
        </p:txBody>
      </p:sp>
      <p:sp>
        <p:nvSpPr>
          <p:cNvPr id="19464" name="Rectangle 8"/>
          <p:cNvSpPr>
            <a:spLocks noChangeArrowheads="1"/>
          </p:cNvSpPr>
          <p:nvPr/>
        </p:nvSpPr>
        <p:spPr bwMode="auto">
          <a:xfrm>
            <a:off x="9260186" y="2667000"/>
            <a:ext cx="228600" cy="1447800"/>
          </a:xfrm>
          <a:prstGeom prst="rect">
            <a:avLst/>
          </a:prstGeom>
          <a:solidFill>
            <a:srgbClr val="FF0000"/>
          </a:solidFill>
          <a:ln w="12700">
            <a:noFill/>
            <a:miter lim="800000"/>
          </a:ln>
          <a:effectLst/>
        </p:spPr>
        <p:txBody>
          <a:bodyPr wrap="none" anchor="ctr"/>
          <a:lstStyle/>
          <a:p>
            <a:endParaRPr lang="en-US"/>
          </a:p>
        </p:txBody>
      </p:sp>
      <p:sp>
        <p:nvSpPr>
          <p:cNvPr id="19465" name="Line 9"/>
          <p:cNvSpPr>
            <a:spLocks noChangeShapeType="1"/>
          </p:cNvSpPr>
          <p:nvPr/>
        </p:nvSpPr>
        <p:spPr bwMode="auto">
          <a:xfrm>
            <a:off x="9220200" y="2286000"/>
            <a:ext cx="76200" cy="0"/>
          </a:xfrm>
          <a:prstGeom prst="line">
            <a:avLst/>
          </a:prstGeom>
          <a:noFill/>
          <a:ln w="38100">
            <a:solidFill>
              <a:srgbClr val="000000"/>
            </a:solidFill>
            <a:round/>
          </a:ln>
          <a:effectLst/>
        </p:spPr>
        <p:txBody>
          <a:bodyPr wrap="none" anchor="ctr"/>
          <a:lstStyle/>
          <a:p>
            <a:endParaRPr lang="en-US"/>
          </a:p>
        </p:txBody>
      </p:sp>
      <p:sp>
        <p:nvSpPr>
          <p:cNvPr id="19467" name="Line 11"/>
          <p:cNvSpPr>
            <a:spLocks noChangeShapeType="1"/>
          </p:cNvSpPr>
          <p:nvPr/>
        </p:nvSpPr>
        <p:spPr bwMode="auto">
          <a:xfrm>
            <a:off x="9220200" y="2667000"/>
            <a:ext cx="76200" cy="0"/>
          </a:xfrm>
          <a:prstGeom prst="line">
            <a:avLst/>
          </a:prstGeom>
          <a:noFill/>
          <a:ln w="38100">
            <a:solidFill>
              <a:srgbClr val="000000"/>
            </a:solidFill>
            <a:round/>
          </a:ln>
          <a:effectLst/>
        </p:spPr>
        <p:txBody>
          <a:bodyPr wrap="none" anchor="ctr"/>
          <a:lstStyle/>
          <a:p>
            <a:endParaRPr lang="en-US"/>
          </a:p>
        </p:txBody>
      </p:sp>
      <p:sp>
        <p:nvSpPr>
          <p:cNvPr id="19468" name="Line 12"/>
          <p:cNvSpPr>
            <a:spLocks noChangeShapeType="1"/>
          </p:cNvSpPr>
          <p:nvPr/>
        </p:nvSpPr>
        <p:spPr bwMode="auto">
          <a:xfrm>
            <a:off x="9220200" y="3124200"/>
            <a:ext cx="76200" cy="0"/>
          </a:xfrm>
          <a:prstGeom prst="line">
            <a:avLst/>
          </a:prstGeom>
          <a:noFill/>
          <a:ln w="38100">
            <a:solidFill>
              <a:srgbClr val="000000"/>
            </a:solidFill>
            <a:round/>
          </a:ln>
          <a:effectLst/>
        </p:spPr>
        <p:txBody>
          <a:bodyPr wrap="none" anchor="ctr"/>
          <a:lstStyle/>
          <a:p>
            <a:endParaRPr lang="en-US"/>
          </a:p>
        </p:txBody>
      </p:sp>
      <p:sp>
        <p:nvSpPr>
          <p:cNvPr id="19469" name="Line 13"/>
          <p:cNvSpPr>
            <a:spLocks noChangeShapeType="1"/>
          </p:cNvSpPr>
          <p:nvPr/>
        </p:nvSpPr>
        <p:spPr bwMode="auto">
          <a:xfrm>
            <a:off x="9220200" y="3657600"/>
            <a:ext cx="76200" cy="0"/>
          </a:xfrm>
          <a:prstGeom prst="line">
            <a:avLst/>
          </a:prstGeom>
          <a:noFill/>
          <a:ln w="38100">
            <a:solidFill>
              <a:srgbClr val="000000"/>
            </a:solidFill>
            <a:round/>
          </a:ln>
          <a:effectLst/>
        </p:spPr>
        <p:txBody>
          <a:bodyPr wrap="none" anchor="ctr"/>
          <a:lstStyle/>
          <a:p>
            <a:endParaRPr lang="en-US"/>
          </a:p>
        </p:txBody>
      </p:sp>
      <p:sp>
        <p:nvSpPr>
          <p:cNvPr id="19470" name="Line 14"/>
          <p:cNvSpPr>
            <a:spLocks noChangeShapeType="1"/>
          </p:cNvSpPr>
          <p:nvPr/>
        </p:nvSpPr>
        <p:spPr bwMode="auto">
          <a:xfrm>
            <a:off x="9220200" y="4114800"/>
            <a:ext cx="76200" cy="0"/>
          </a:xfrm>
          <a:prstGeom prst="line">
            <a:avLst/>
          </a:prstGeom>
          <a:noFill/>
          <a:ln w="38100">
            <a:solidFill>
              <a:srgbClr val="000000"/>
            </a:solidFill>
            <a:round/>
          </a:ln>
          <a:effectLst/>
        </p:spPr>
        <p:txBody>
          <a:bodyPr wrap="none" anchor="ct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Accelerators</a:t>
            </a:r>
            <a:endParaRPr lang="en-US" sz="4000"/>
          </a:p>
        </p:txBody>
      </p:sp>
      <p:sp>
        <p:nvSpPr>
          <p:cNvPr id="20483" name="Rectangle 3"/>
          <p:cNvSpPr>
            <a:spLocks noGrp="1" noChangeArrowheads="1"/>
          </p:cNvSpPr>
          <p:nvPr>
            <p:ph type="body" sz="quarter" idx="10"/>
          </p:nvPr>
        </p:nvSpPr>
        <p:spPr>
          <a:noFill/>
        </p:spPr>
        <p:txBody>
          <a:bodyPr vert="horz" lIns="90488" tIns="44450" rIns="90488" bIns="44450" rtlCol="0">
            <a:normAutofit lnSpcReduction="10000"/>
          </a:bodyPr>
          <a:lstStyle/>
          <a:p>
            <a:r>
              <a:rPr lang="en-US" sz="2800"/>
              <a:t>Precautions</a:t>
            </a:r>
            <a:endParaRPr lang="en-US" sz="2800"/>
          </a:p>
          <a:p>
            <a:pPr lvl="1">
              <a:buFont typeface="Arial" panose="020B0604020202020204" pitchFamily="34" charset="0"/>
              <a:buChar char="•"/>
            </a:pPr>
            <a:r>
              <a:rPr lang="en-US" sz="2800"/>
              <a:t>Calcium chloride - Ca(Cl)</a:t>
            </a:r>
            <a:r>
              <a:rPr lang="en-US" sz="2800" baseline="-25000"/>
              <a:t>2</a:t>
            </a:r>
            <a:endParaRPr lang="en-US" sz="2800"/>
          </a:p>
          <a:p>
            <a:pPr marL="1200150" lvl="2" indent="-285750">
              <a:buFont typeface="Arial" panose="020B0604020202020204" pitchFamily="34" charset="0"/>
              <a:buChar char="•"/>
            </a:pPr>
            <a:r>
              <a:rPr lang="en-US" sz="2400">
                <a:solidFill>
                  <a:schemeClr val="accent6">
                    <a:lumMod val="75000"/>
                  </a:schemeClr>
                </a:solidFill>
              </a:rPr>
              <a:t>Cause corrosion of steel reinforcement </a:t>
            </a:r>
            <a:endParaRPr lang="en-US" sz="2400">
              <a:solidFill>
                <a:schemeClr val="accent6">
                  <a:lumMod val="75000"/>
                </a:schemeClr>
              </a:solidFill>
            </a:endParaRPr>
          </a:p>
          <a:p>
            <a:pPr marL="1200150" lvl="2" indent="-285750">
              <a:buFont typeface="Arial" panose="020B0604020202020204" pitchFamily="34" charset="0"/>
              <a:buChar char="•"/>
            </a:pPr>
            <a:r>
              <a:rPr lang="en-US" sz="2400">
                <a:solidFill>
                  <a:schemeClr val="accent6">
                    <a:lumMod val="75000"/>
                  </a:schemeClr>
                </a:solidFill>
              </a:rPr>
              <a:t>Reduce sulphate resistance </a:t>
            </a:r>
            <a:endParaRPr lang="en-US" sz="2400">
              <a:solidFill>
                <a:schemeClr val="accent6">
                  <a:lumMod val="75000"/>
                </a:schemeClr>
              </a:solidFill>
            </a:endParaRPr>
          </a:p>
          <a:p>
            <a:pPr marL="1200150" lvl="2" indent="-285750">
              <a:buFont typeface="Arial" panose="020B0604020202020204" pitchFamily="34" charset="0"/>
              <a:buChar char="•"/>
            </a:pPr>
            <a:r>
              <a:rPr lang="en-US" sz="2400">
                <a:solidFill>
                  <a:schemeClr val="accent6">
                    <a:lumMod val="75000"/>
                  </a:schemeClr>
                </a:solidFill>
              </a:rPr>
              <a:t>Increase drying shrinkage and creep</a:t>
            </a:r>
            <a:endParaRPr lang="en-US" sz="2400">
              <a:solidFill>
                <a:schemeClr val="accent6">
                  <a:lumMod val="75000"/>
                </a:schemeClr>
              </a:solidFill>
            </a:endParaRPr>
          </a:p>
          <a:p>
            <a:pPr lvl="1">
              <a:buFont typeface="Arial" panose="020B0604020202020204" pitchFamily="34" charset="0"/>
              <a:buChar char="•"/>
            </a:pPr>
            <a:r>
              <a:rPr lang="en-US" sz="2800"/>
              <a:t>Increases heat of hydration</a:t>
            </a:r>
            <a:endParaRPr lang="en-US" sz="2800"/>
          </a:p>
          <a:p>
            <a:pPr lvl="1">
              <a:buFont typeface="Arial" panose="020B0604020202020204" pitchFamily="34" charset="0"/>
              <a:buChar char="•"/>
            </a:pPr>
            <a:r>
              <a:rPr lang="en-US" sz="2800"/>
              <a:t>Can cause rapid stiffening</a:t>
            </a:r>
            <a:endParaRPr lang="en-US" sz="2800"/>
          </a:p>
          <a:p>
            <a:pPr lvl="1">
              <a:buFont typeface="Arial" panose="020B0604020202020204" pitchFamily="34" charset="0"/>
              <a:buChar char="•"/>
            </a:pPr>
            <a:r>
              <a:rPr lang="en-US" sz="2800"/>
              <a:t>Calcium formate is an alternative</a:t>
            </a:r>
            <a:endParaRPr lang="en-US" sz="2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Retarders</a:t>
            </a:r>
            <a:endParaRPr lang="en-US" sz="4000"/>
          </a:p>
        </p:txBody>
      </p:sp>
      <p:sp>
        <p:nvSpPr>
          <p:cNvPr id="4" name="Content Placeholder 3"/>
          <p:cNvSpPr>
            <a:spLocks noGrp="1"/>
          </p:cNvSpPr>
          <p:nvPr>
            <p:ph type="body" sz="quarter" idx="10"/>
          </p:nvPr>
        </p:nvSpPr>
        <p:spPr>
          <a:xfrm>
            <a:off x="1919536" y="1052737"/>
            <a:ext cx="8496944" cy="4525963"/>
          </a:xfrm>
        </p:spPr>
        <p:txBody>
          <a:bodyPr>
            <a:normAutofit fontScale="92500" lnSpcReduction="10000"/>
          </a:bodyPr>
          <a:lstStyle/>
          <a:p>
            <a:pPr>
              <a:buFont typeface="Arial" panose="020B0604020202020204" pitchFamily="34" charset="0"/>
              <a:buChar char="•"/>
            </a:pPr>
            <a:r>
              <a:rPr lang="en-US" sz="2800"/>
              <a:t>Slow down initial reaction between cement and water by slowing down hydration products</a:t>
            </a:r>
            <a:endParaRPr lang="en-US" sz="2800"/>
          </a:p>
          <a:p>
            <a:pPr>
              <a:buFont typeface="Arial" panose="020B0604020202020204" pitchFamily="34" charset="0"/>
              <a:buChar char="•"/>
            </a:pPr>
            <a:r>
              <a:rPr lang="en-US" sz="2800"/>
              <a:t>Extend setting time by between 1.5 to 6 hours</a:t>
            </a:r>
            <a:endParaRPr lang="en-US" sz="2800"/>
          </a:p>
          <a:p>
            <a:pPr>
              <a:buFont typeface="Arial" panose="020B0604020202020204" pitchFamily="34" charset="0"/>
              <a:buChar char="•"/>
            </a:pPr>
            <a:r>
              <a:rPr lang="en-US" sz="2800"/>
              <a:t>Most retarders sold as a combination of retarder and plasticizer</a:t>
            </a:r>
            <a:endParaRPr lang="en-US" sz="2800"/>
          </a:p>
          <a:p>
            <a:pPr>
              <a:buFont typeface="Arial" panose="020B0604020202020204" pitchFamily="34" charset="0"/>
              <a:buChar char="•"/>
            </a:pPr>
            <a:r>
              <a:rPr lang="en-US" sz="2800"/>
              <a:t>Extensively used in the ready mix industry</a:t>
            </a:r>
            <a:endParaRPr lang="en-US" sz="2800"/>
          </a:p>
          <a:p>
            <a:pPr>
              <a:buFont typeface="Arial" panose="020B0604020202020204" pitchFamily="34" charset="0"/>
              <a:buChar char="•"/>
            </a:pPr>
            <a:r>
              <a:rPr lang="en-US" sz="2800"/>
              <a:t>Typically have a high dosage rate</a:t>
            </a:r>
            <a:endParaRPr lang="en-US" sz="2800"/>
          </a:p>
          <a:p>
            <a:pPr>
              <a:buFont typeface="Arial" panose="020B0604020202020204" pitchFamily="34" charset="0"/>
              <a:buChar char="•"/>
            </a:pPr>
            <a:r>
              <a:rPr lang="en-US" sz="2800"/>
              <a:t>Be careful of overdosing</a:t>
            </a:r>
            <a:endParaRPr lang="en-US" sz="2800"/>
          </a:p>
          <a:p>
            <a:pPr>
              <a:buFont typeface="Arial" panose="020B0604020202020204" pitchFamily="34" charset="0"/>
              <a:buChar char="•"/>
            </a:pPr>
            <a:r>
              <a:rPr lang="en-US" sz="2800"/>
              <a:t>Temperature can have a big effect on retarding action</a:t>
            </a:r>
            <a:endParaRPr lang="en-US" sz="2800"/>
          </a:p>
          <a:p>
            <a:endParaRPr lang="en-US"/>
          </a:p>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991544" y="548680"/>
            <a:ext cx="8229600" cy="533400"/>
          </a:xfrm>
          <a:noFill/>
        </p:spPr>
        <p:txBody>
          <a:bodyPr vert="horz" lIns="90488" tIns="44450" rIns="90488" bIns="44450" rtlCol="0" anchor="t">
            <a:normAutofit fontScale="90000"/>
          </a:bodyPr>
          <a:lstStyle/>
          <a:p>
            <a:r>
              <a:rPr lang="en-US" sz="4000"/>
              <a:t>Retarders</a:t>
            </a:r>
            <a:br>
              <a:rPr lang="en-US"/>
            </a:br>
            <a:endParaRPr lang="en-US" sz="3600"/>
          </a:p>
        </p:txBody>
      </p:sp>
      <p:sp>
        <p:nvSpPr>
          <p:cNvPr id="4" name="Content Placeholder 3"/>
          <p:cNvSpPr>
            <a:spLocks noGrp="1"/>
          </p:cNvSpPr>
          <p:nvPr>
            <p:ph type="body" sz="quarter" idx="10"/>
          </p:nvPr>
        </p:nvSpPr>
        <p:spPr>
          <a:xfrm>
            <a:off x="1992313" y="1855366"/>
            <a:ext cx="8229600" cy="4525963"/>
          </a:xfrm>
        </p:spPr>
        <p:txBody>
          <a:bodyPr>
            <a:normAutofit lnSpcReduction="10000"/>
          </a:bodyPr>
          <a:lstStyle/>
          <a:p>
            <a:r>
              <a:rPr lang="en-US" sz="2800"/>
              <a:t>Mechanisms of retardation</a:t>
            </a:r>
            <a:endParaRPr lang="en-US" sz="2800"/>
          </a:p>
          <a:p>
            <a:pPr marL="457200" indent="-457200">
              <a:buFont typeface="Arial" panose="020B0604020202020204" pitchFamily="34" charset="0"/>
              <a:buChar char="•"/>
            </a:pPr>
            <a:r>
              <a:rPr lang="en-US" sz="2800"/>
              <a:t>One or both of the following:</a:t>
            </a:r>
            <a:endParaRPr lang="en-US" sz="2800"/>
          </a:p>
          <a:p>
            <a:endParaRPr lang="en-US"/>
          </a:p>
          <a:p>
            <a:pPr marL="800100" lvl="1" indent="-342900">
              <a:buFont typeface="Arial" panose="020B0604020202020204" pitchFamily="34" charset="0"/>
              <a:buChar char="•"/>
            </a:pPr>
            <a:r>
              <a:rPr lang="en-US" sz="2400">
                <a:solidFill>
                  <a:schemeClr val="accent6">
                    <a:lumMod val="75000"/>
                  </a:schemeClr>
                </a:solidFill>
              </a:rPr>
              <a:t>Adsorbs onto cement surface slowing formation of silicate hydrates</a:t>
            </a:r>
            <a:endParaRPr lang="en-US" sz="2400">
              <a:solidFill>
                <a:schemeClr val="accent6">
                  <a:lumMod val="75000"/>
                </a:schemeClr>
              </a:solidFill>
            </a:endParaRPr>
          </a:p>
          <a:p>
            <a:pPr marL="800100" lvl="1" indent="-342900">
              <a:buFont typeface="Arial" panose="020B0604020202020204" pitchFamily="34" charset="0"/>
              <a:buChar char="•"/>
            </a:pPr>
            <a:endParaRPr lang="en-US" sz="2400">
              <a:solidFill>
                <a:schemeClr val="accent6">
                  <a:lumMod val="75000"/>
                </a:schemeClr>
              </a:solidFill>
            </a:endParaRPr>
          </a:p>
          <a:p>
            <a:pPr marL="800100" lvl="1" indent="-342900">
              <a:buFont typeface="Arial" panose="020B0604020202020204" pitchFamily="34" charset="0"/>
              <a:buChar char="•"/>
            </a:pPr>
            <a:r>
              <a:rPr lang="en-US" sz="2400">
                <a:solidFill>
                  <a:schemeClr val="accent6">
                    <a:lumMod val="75000"/>
                  </a:schemeClr>
                </a:solidFill>
              </a:rPr>
              <a:t>Prevent the binding of calcium ions in solution so preventing the formation of Calcium Hydroxide</a:t>
            </a:r>
            <a:endParaRPr lang="en-US" sz="2400">
              <a:solidFill>
                <a:schemeClr val="accent6">
                  <a:lumMod val="75000"/>
                </a:schemeClr>
              </a:solidFill>
            </a:endParaRPr>
          </a:p>
          <a:p>
            <a:pPr marL="800100" lvl="1" indent="-342900">
              <a:buFont typeface="Arial" panose="020B0604020202020204" pitchFamily="34" charset="0"/>
              <a:buChar char="•"/>
            </a:pPr>
            <a:endParaRPr lang="en-US" sz="2400">
              <a:solidFill>
                <a:schemeClr val="accent6">
                  <a:lumMod val="75000"/>
                </a:schemeClr>
              </a:solidFill>
            </a:endParaRPr>
          </a:p>
          <a:p>
            <a:pPr marL="800100" lvl="1" indent="-342900">
              <a:buFont typeface="Arial" panose="020B0604020202020204" pitchFamily="34" charset="0"/>
              <a:buChar char="•"/>
            </a:pPr>
            <a:r>
              <a:rPr lang="en-US" sz="2400">
                <a:solidFill>
                  <a:schemeClr val="accent6">
                    <a:lumMod val="75000"/>
                  </a:schemeClr>
                </a:solidFill>
              </a:rPr>
              <a:t>(Calcium Hydroxide = Portlandite)</a:t>
            </a:r>
            <a:endParaRPr lang="en-US" sz="2400">
              <a:solidFill>
                <a:schemeClr val="accent6">
                  <a:lumMod val="75000"/>
                </a:schemeClr>
              </a:solidFill>
            </a:endParaRPr>
          </a:p>
          <a:p>
            <a:pPr lvl="1"/>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Retarders</a:t>
            </a:r>
            <a:endParaRPr lang="en-US" sz="4000"/>
          </a:p>
        </p:txBody>
      </p:sp>
      <p:sp>
        <p:nvSpPr>
          <p:cNvPr id="25603" name="Rectangle 3"/>
          <p:cNvSpPr>
            <a:spLocks noGrp="1" noChangeArrowheads="1"/>
          </p:cNvSpPr>
          <p:nvPr>
            <p:ph type="body" sz="quarter" idx="10"/>
          </p:nvPr>
        </p:nvSpPr>
        <p:spPr>
          <a:xfrm>
            <a:off x="2362200" y="1700808"/>
            <a:ext cx="7772400" cy="4623792"/>
          </a:xfrm>
          <a:noFill/>
        </p:spPr>
        <p:txBody>
          <a:bodyPr vert="horz" lIns="90488" tIns="44450" rIns="90488" bIns="44450" rtlCol="0">
            <a:normAutofit/>
          </a:bodyPr>
          <a:lstStyle/>
          <a:p>
            <a:r>
              <a:rPr lang="en-US" sz="2800"/>
              <a:t>Applications</a:t>
            </a:r>
            <a:endParaRPr lang="en-US" sz="2800"/>
          </a:p>
          <a:p>
            <a:pPr marL="914400" lvl="1" indent="-457200">
              <a:buFont typeface="Arial" panose="020B0604020202020204" pitchFamily="34" charset="0"/>
              <a:buChar char="•"/>
            </a:pPr>
            <a:r>
              <a:rPr lang="en-US" sz="2800"/>
              <a:t>Mass pours </a:t>
            </a:r>
            <a:endParaRPr lang="en-US" sz="2800"/>
          </a:p>
          <a:p>
            <a:pPr marL="1200150" lvl="2" indent="-285750">
              <a:buFont typeface="Arial" panose="020B0604020202020204" pitchFamily="34" charset="0"/>
              <a:buChar char="•"/>
            </a:pPr>
            <a:r>
              <a:rPr lang="en-US" sz="2400">
                <a:solidFill>
                  <a:schemeClr val="accent6">
                    <a:lumMod val="75000"/>
                  </a:schemeClr>
                </a:solidFill>
              </a:rPr>
              <a:t>Prevent cold joint</a:t>
            </a:r>
            <a:endParaRPr lang="en-US" sz="2400">
              <a:solidFill>
                <a:schemeClr val="accent6">
                  <a:lumMod val="75000"/>
                </a:schemeClr>
              </a:solidFill>
            </a:endParaRPr>
          </a:p>
          <a:p>
            <a:pPr marL="1200150" lvl="2" indent="-285750">
              <a:buFont typeface="Arial" panose="020B0604020202020204" pitchFamily="34" charset="0"/>
              <a:buChar char="•"/>
            </a:pPr>
            <a:r>
              <a:rPr lang="en-US" sz="2400">
                <a:solidFill>
                  <a:schemeClr val="accent6">
                    <a:lumMod val="75000"/>
                  </a:schemeClr>
                </a:solidFill>
              </a:rPr>
              <a:t>Less heat of hydration</a:t>
            </a:r>
            <a:endParaRPr lang="en-US" sz="2400">
              <a:solidFill>
                <a:schemeClr val="accent6">
                  <a:lumMod val="75000"/>
                </a:schemeClr>
              </a:solidFill>
            </a:endParaRPr>
          </a:p>
          <a:p>
            <a:pPr lvl="1">
              <a:buFont typeface="Arial" panose="020B0604020202020204" pitchFamily="34" charset="0"/>
              <a:buChar char="•"/>
            </a:pPr>
            <a:r>
              <a:rPr lang="en-US" sz="2800"/>
              <a:t>Long haul distances</a:t>
            </a:r>
            <a:endParaRPr lang="en-US" sz="2800"/>
          </a:p>
          <a:p>
            <a:pPr lvl="1">
              <a:buFont typeface="Arial" panose="020B0604020202020204" pitchFamily="34" charset="0"/>
              <a:buChar char="•"/>
            </a:pPr>
            <a:r>
              <a:rPr lang="en-US" sz="2800"/>
              <a:t>Hot weather</a:t>
            </a:r>
            <a:endParaRPr lang="en-US" sz="2800"/>
          </a:p>
          <a:p>
            <a:pPr lvl="1">
              <a:buFont typeface="Arial" panose="020B0604020202020204" pitchFamily="34" charset="0"/>
              <a:buChar char="•"/>
            </a:pPr>
            <a:r>
              <a:rPr lang="en-US" sz="2800"/>
              <a:t>Unforeseen delays</a:t>
            </a:r>
            <a:endParaRPr lang="en-US" sz="2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209800" y="288702"/>
            <a:ext cx="7772400" cy="908050"/>
          </a:xfrm>
          <a:noFill/>
        </p:spPr>
        <p:txBody>
          <a:bodyPr vert="horz" lIns="90488" tIns="44450" rIns="90488" bIns="44450" rtlCol="0" anchor="t">
            <a:normAutofit/>
          </a:bodyPr>
          <a:lstStyle/>
          <a:p>
            <a:r>
              <a:rPr lang="en-US" sz="4000"/>
              <a:t>Retarders</a:t>
            </a:r>
            <a:endParaRPr lang="en-US" sz="4000"/>
          </a:p>
        </p:txBody>
      </p:sp>
      <p:sp>
        <p:nvSpPr>
          <p:cNvPr id="24579" name="Rectangle 3"/>
          <p:cNvSpPr>
            <a:spLocks noGrp="1" noChangeArrowheads="1"/>
          </p:cNvSpPr>
          <p:nvPr>
            <p:ph type="body" sz="quarter" idx="10"/>
          </p:nvPr>
        </p:nvSpPr>
        <p:spPr>
          <a:xfrm>
            <a:off x="2640013" y="1512714"/>
            <a:ext cx="7772400" cy="5300663"/>
          </a:xfrm>
          <a:noFill/>
        </p:spPr>
        <p:txBody>
          <a:bodyPr vert="horz" lIns="90488" tIns="44450" rIns="90488" bIns="44450" rtlCol="0">
            <a:normAutofit/>
          </a:bodyPr>
          <a:lstStyle/>
          <a:p>
            <a:r>
              <a:rPr lang="en-US" sz="2800"/>
              <a:t>Precautions</a:t>
            </a:r>
            <a:endParaRPr lang="en-US" sz="2800"/>
          </a:p>
          <a:p>
            <a:pPr lvl="1">
              <a:buFont typeface="Arial" panose="020B0604020202020204" pitchFamily="34" charset="0"/>
              <a:buChar char="•"/>
            </a:pPr>
            <a:r>
              <a:rPr lang="en-US" sz="2400">
                <a:solidFill>
                  <a:schemeClr val="accent6">
                    <a:lumMod val="75000"/>
                  </a:schemeClr>
                </a:solidFill>
              </a:rPr>
              <a:t>Increased bleeding time, needs careful mix design</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Increased plastic shrinkage</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Increased loading on formwork</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Reduced durability (cracking, bleed water channels)</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Reduced/increased rebar bond due to vibration</a:t>
            </a:r>
            <a:endParaRPr lang="en-US" sz="2400">
              <a:solidFill>
                <a:schemeClr val="accent6">
                  <a:lumMod val="75000"/>
                </a:schemeClr>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133600" y="381000"/>
            <a:ext cx="7772400" cy="1143000"/>
          </a:xfrm>
          <a:noFill/>
        </p:spPr>
        <p:txBody>
          <a:bodyPr vert="horz" lIns="90488" tIns="44450" rIns="90488" bIns="44450" rtlCol="0" anchor="t">
            <a:normAutofit/>
          </a:bodyPr>
          <a:lstStyle/>
          <a:p>
            <a:r>
              <a:rPr lang="en-US" sz="4000"/>
              <a:t>Retarders</a:t>
            </a:r>
            <a:endParaRPr lang="en-US" sz="4000"/>
          </a:p>
        </p:txBody>
      </p:sp>
      <p:sp>
        <p:nvSpPr>
          <p:cNvPr id="26627" name="Rectangle 3"/>
          <p:cNvSpPr>
            <a:spLocks noGrp="1" noChangeArrowheads="1"/>
          </p:cNvSpPr>
          <p:nvPr>
            <p:ph type="body" sz="quarter" idx="10"/>
          </p:nvPr>
        </p:nvSpPr>
        <p:spPr>
          <a:xfrm>
            <a:off x="2711450" y="1412875"/>
            <a:ext cx="7772400" cy="4114800"/>
          </a:xfrm>
          <a:noFill/>
        </p:spPr>
        <p:txBody>
          <a:bodyPr vert="horz" lIns="90488" tIns="44450" rIns="90488" bIns="44450" rtlCol="0">
            <a:normAutofit/>
          </a:bodyPr>
          <a:lstStyle/>
          <a:p>
            <a:r>
              <a:rPr lang="en-US" sz="2800"/>
              <a:t>Precautions</a:t>
            </a:r>
            <a:endParaRPr lang="en-US" sz="2800"/>
          </a:p>
          <a:p>
            <a:pPr lvl="1">
              <a:buFont typeface="Arial" panose="020B0604020202020204" pitchFamily="34" charset="0"/>
              <a:buChar char="•"/>
            </a:pPr>
            <a:r>
              <a:rPr lang="en-US" sz="2400">
                <a:solidFill>
                  <a:schemeClr val="accent6">
                    <a:lumMod val="75000"/>
                  </a:schemeClr>
                </a:solidFill>
              </a:rPr>
              <a:t>Overdosing causes very lengthy retardation</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Strength development after retardation is normal</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Bleeds for a longer period</a:t>
            </a:r>
            <a:endParaRPr lang="en-US" sz="2400">
              <a:solidFill>
                <a:schemeClr val="accent6">
                  <a:lumMod val="75000"/>
                </a:schemeClr>
              </a:solidFill>
            </a:endParaRPr>
          </a:p>
          <a:p>
            <a:pPr marL="1200150" lvl="2" indent="-285750">
              <a:buFont typeface="Arial" panose="020B0604020202020204" pitchFamily="34" charset="0"/>
              <a:buChar char="•"/>
            </a:pPr>
            <a:r>
              <a:rPr lang="en-US" sz="2000">
                <a:solidFill>
                  <a:schemeClr val="accent6">
                    <a:lumMod val="75000"/>
                  </a:schemeClr>
                </a:solidFill>
              </a:rPr>
              <a:t>More defined bleeding channels</a:t>
            </a:r>
            <a:endParaRPr lang="en-US" sz="2000">
              <a:solidFill>
                <a:schemeClr val="accent6">
                  <a:lumMod val="75000"/>
                </a:schemeClr>
              </a:solidFill>
            </a:endParaRPr>
          </a:p>
          <a:p>
            <a:pPr marL="1200150" lvl="2" indent="-285750">
              <a:buFont typeface="Arial" panose="020B0604020202020204" pitchFamily="34" charset="0"/>
              <a:buChar char="•"/>
            </a:pPr>
            <a:r>
              <a:rPr lang="en-US" sz="2000">
                <a:solidFill>
                  <a:schemeClr val="accent6">
                    <a:lumMod val="75000"/>
                  </a:schemeClr>
                </a:solidFill>
              </a:rPr>
              <a:t>Increase risk of plastic shrinkage and settlement</a:t>
            </a:r>
            <a:endParaRPr lang="en-US" sz="2000">
              <a:solidFill>
                <a:schemeClr val="accent6">
                  <a:lumMod val="75000"/>
                </a:schemeClr>
              </a:solidFill>
            </a:endParaRPr>
          </a:p>
          <a:p>
            <a:pPr marL="1200150" lvl="2" indent="-285750">
              <a:buFont typeface="Arial" panose="020B0604020202020204" pitchFamily="34" charset="0"/>
              <a:buChar char="•"/>
            </a:pPr>
            <a:r>
              <a:rPr lang="en-US" sz="2000">
                <a:solidFill>
                  <a:schemeClr val="accent6">
                    <a:lumMod val="75000"/>
                  </a:schemeClr>
                </a:solidFill>
              </a:rPr>
              <a:t>Increased risk of weak floor surface</a:t>
            </a:r>
            <a:endParaRPr lang="en-US" sz="2000">
              <a:solidFill>
                <a:schemeClr val="accent6">
                  <a:lumMod val="75000"/>
                </a:schemeClr>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Air Entraining Agents (AEA)</a:t>
            </a:r>
            <a:endParaRPr lang="en-US" sz="4000"/>
          </a:p>
        </p:txBody>
      </p:sp>
      <p:sp>
        <p:nvSpPr>
          <p:cNvPr id="3" name="Content Placeholder 2"/>
          <p:cNvSpPr>
            <a:spLocks noGrp="1"/>
          </p:cNvSpPr>
          <p:nvPr>
            <p:ph type="body" sz="quarter" idx="10"/>
          </p:nvPr>
        </p:nvSpPr>
        <p:spPr/>
        <p:txBody>
          <a:bodyPr/>
          <a:lstStyle/>
          <a:p>
            <a:pPr>
              <a:buFont typeface="Arial" panose="020B0604020202020204" pitchFamily="34" charset="0"/>
              <a:buChar char="•"/>
            </a:pPr>
            <a:r>
              <a:rPr lang="en-US" sz="2800"/>
              <a:t>Surfactants (usually organic) that change surface tension of water</a:t>
            </a:r>
            <a:endParaRPr lang="en-US" sz="2800"/>
          </a:p>
          <a:p>
            <a:pPr>
              <a:buFont typeface="Arial" panose="020B0604020202020204" pitchFamily="34" charset="0"/>
              <a:buChar char="•"/>
            </a:pPr>
            <a:r>
              <a:rPr lang="en-US" sz="2800"/>
              <a:t>Generate air bubbles throughout mix.</a:t>
            </a:r>
            <a:endParaRPr lang="en-US" sz="2800"/>
          </a:p>
          <a:p>
            <a:pPr>
              <a:buFont typeface="Arial" panose="020B0604020202020204" pitchFamily="34" charset="0"/>
              <a:buChar char="•"/>
            </a:pPr>
            <a:r>
              <a:rPr lang="en-US" sz="2800"/>
              <a:t>Bubbles are smaller than 1mm in diameter with most of them smaller than 0.3mm</a:t>
            </a:r>
            <a:endParaRPr lang="en-US" sz="2800"/>
          </a:p>
          <a:p>
            <a:pPr>
              <a:buFont typeface="Arial" panose="020B0604020202020204" pitchFamily="34" charset="0"/>
              <a:buChar char="•"/>
            </a:pPr>
            <a:r>
              <a:rPr lang="en-US" sz="2800"/>
              <a:t>Bubbles are evenly dispersed and should be between 0.1mm and 0.2mm apart</a:t>
            </a:r>
            <a:endParaRPr lang="en-US" sz="2800"/>
          </a:p>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8" name="Rectangle 6"/>
          <p:cNvSpPr>
            <a:spLocks noGrp="1" noChangeArrowheads="1"/>
          </p:cNvSpPr>
          <p:nvPr>
            <p:ph type="title"/>
          </p:nvPr>
        </p:nvSpPr>
        <p:spPr>
          <a:xfrm>
            <a:off x="1981201" y="274638"/>
            <a:ext cx="3394075" cy="3009900"/>
          </a:xfrm>
        </p:spPr>
        <p:txBody>
          <a:bodyPr/>
          <a:lstStyle/>
          <a:p>
            <a:pPr algn="ctr"/>
            <a:r>
              <a:rPr lang="en-ZA" sz="2800"/>
              <a:t>Entrained Air </a:t>
            </a:r>
            <a:r>
              <a:rPr lang="en-US" altLang="en-ZA" sz="2800"/>
              <a:t>U</a:t>
            </a:r>
            <a:r>
              <a:rPr lang="en-ZA" sz="2800"/>
              <a:t>nder a Microscope</a:t>
            </a:r>
            <a:endParaRPr lang="en-US" sz="2800"/>
          </a:p>
        </p:txBody>
      </p:sp>
      <p:graphicFrame>
        <p:nvGraphicFramePr>
          <p:cNvPr id="59397" name="Object 5"/>
          <p:cNvGraphicFramePr>
            <a:graphicFrameLocks noGrp="1" noChangeAspect="1"/>
          </p:cNvGraphicFramePr>
          <p:nvPr>
            <p:ph idx="4294967295"/>
          </p:nvPr>
        </p:nvGraphicFramePr>
        <p:xfrm>
          <a:off x="6051550" y="476250"/>
          <a:ext cx="4616450" cy="5761038"/>
        </p:xfrm>
        <a:graphic>
          <a:graphicData uri="http://schemas.openxmlformats.org/presentationml/2006/ole">
            <mc:AlternateContent xmlns:mc="http://schemas.openxmlformats.org/markup-compatibility/2006">
              <mc:Choice xmlns:v="urn:schemas-microsoft-com:vml" Requires="v">
                <p:oleObj spid="_x0000_s2" name="Image" r:id="rId1" imgW="3100070" imgH="3867785" progId="Photoshop.Image.6">
                  <p:embed/>
                </p:oleObj>
              </mc:Choice>
              <mc:Fallback>
                <p:oleObj name="Image" r:id="rId1" imgW="3100070" imgH="3867785" progId="Photoshop.Image.6">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1550" y="476250"/>
                        <a:ext cx="4616450" cy="5761038"/>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Air Entraining Agents (AEA)</a:t>
            </a:r>
            <a:endParaRPr lang="en-US" sz="4000"/>
          </a:p>
        </p:txBody>
      </p:sp>
      <p:sp>
        <p:nvSpPr>
          <p:cNvPr id="3" name="Content Placeholder 2"/>
          <p:cNvSpPr>
            <a:spLocks noGrp="1"/>
          </p:cNvSpPr>
          <p:nvPr>
            <p:ph type="body" sz="quarter" idx="10"/>
          </p:nvPr>
        </p:nvSpPr>
        <p:spPr/>
        <p:txBody>
          <a:bodyPr/>
          <a:lstStyle/>
          <a:p>
            <a:pPr>
              <a:buFont typeface="Arial" panose="020B0604020202020204" pitchFamily="34" charset="0"/>
              <a:buChar char="•"/>
            </a:pPr>
            <a:r>
              <a:rPr lang="en-US" sz="2800"/>
              <a:t>Volume of air required relates to maximum aggregate size </a:t>
            </a:r>
            <a:r>
              <a:rPr lang="en-US" sz="2800" err="1"/>
              <a:t>Dmax</a:t>
            </a:r>
            <a:endParaRPr lang="en-US" sz="2800"/>
          </a:p>
          <a:p>
            <a:pPr>
              <a:buFont typeface="Arial" panose="020B0604020202020204" pitchFamily="34" charset="0"/>
              <a:buChar char="•"/>
            </a:pPr>
            <a:r>
              <a:rPr lang="en-US" sz="2800"/>
              <a:t>Reduction in </a:t>
            </a:r>
            <a:r>
              <a:rPr lang="en-US" sz="2800" err="1"/>
              <a:t>Dmax</a:t>
            </a:r>
            <a:r>
              <a:rPr lang="en-US" sz="2800"/>
              <a:t>, require more air to maintain bubble spacing as concrete with smaller aggregate have higher paste volume</a:t>
            </a:r>
            <a:endParaRPr lang="en-US" sz="2800"/>
          </a:p>
          <a:p>
            <a:pPr>
              <a:buFont typeface="Arial" panose="020B0604020202020204" pitchFamily="34" charset="0"/>
              <a:buChar char="•"/>
            </a:pPr>
            <a:r>
              <a:rPr lang="en-US" sz="2800"/>
              <a:t>Should be specified by minimum value</a:t>
            </a:r>
            <a:endParaRPr lang="en-US" sz="2800"/>
          </a:p>
          <a:p>
            <a:pPr>
              <a:buFont typeface="Arial" panose="020B0604020202020204" pitchFamily="34" charset="0"/>
              <a:buChar char="•"/>
            </a:pPr>
            <a:r>
              <a:rPr lang="en-US" sz="2800"/>
              <a:t>Permitted air content between 0.5% below and 5% greater than minimum </a:t>
            </a:r>
            <a:r>
              <a:rPr lang="en-US" sz="2800" err="1"/>
              <a:t>specified</a:t>
            </a:r>
            <a:endParaRPr lang="en-US" sz="2800"/>
          </a:p>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837184" y="274638"/>
            <a:ext cx="8507288" cy="1143000"/>
          </a:xfrm>
          <a:noFill/>
        </p:spPr>
        <p:txBody>
          <a:bodyPr vert="horz" lIns="90488" tIns="44450" rIns="90488" bIns="44450" rtlCol="0" anchor="t">
            <a:normAutofit fontScale="90000"/>
          </a:bodyPr>
          <a:lstStyle/>
          <a:p>
            <a:pPr algn="ctr"/>
            <a:r>
              <a:rPr lang="en-US" sz="4000"/>
              <a:t>Air Content of Air-Entrained Concrete in Accordance with BS EN 206-1</a:t>
            </a:r>
            <a:endParaRPr lang="en-US" sz="4000"/>
          </a:p>
        </p:txBody>
      </p:sp>
      <p:graphicFrame>
        <p:nvGraphicFramePr>
          <p:cNvPr id="5" name="Table 4"/>
          <p:cNvGraphicFramePr>
            <a:graphicFrameLocks noGrp="1"/>
          </p:cNvGraphicFramePr>
          <p:nvPr/>
        </p:nvGraphicFramePr>
        <p:xfrm>
          <a:off x="1775520" y="1597427"/>
          <a:ext cx="8712968" cy="5172075"/>
        </p:xfrm>
        <a:graphic>
          <a:graphicData uri="http://schemas.openxmlformats.org/drawingml/2006/table">
            <a:tbl>
              <a:tblPr firstRow="1" bandRow="1">
                <a:tableStyleId>{073A0DAA-6AF3-43AB-8588-CEC1D06C72B9}</a:tableStyleId>
              </a:tblPr>
              <a:tblGrid>
                <a:gridCol w="2277110"/>
                <a:gridCol w="1888300"/>
                <a:gridCol w="2082705"/>
                <a:gridCol w="2464853"/>
              </a:tblGrid>
              <a:tr h="1455936">
                <a:tc>
                  <a:txBody>
                    <a:bodyPr/>
                    <a:lstStyle/>
                    <a:p>
                      <a:pPr algn="ctr"/>
                      <a:r>
                        <a:rPr lang="en-US" sz="2800" b="0">
                          <a:solidFill>
                            <a:schemeClr val="tx1"/>
                          </a:solidFill>
                        </a:rPr>
                        <a:t>Nominal maximum aggregate size, </a:t>
                      </a:r>
                      <a:r>
                        <a:rPr lang="en-US" sz="2800" b="0" err="1">
                          <a:solidFill>
                            <a:schemeClr val="tx1"/>
                          </a:solidFill>
                        </a:rPr>
                        <a:t>Dmax</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0">
                          <a:solidFill>
                            <a:schemeClr val="tx1"/>
                          </a:solidFill>
                        </a:rPr>
                        <a:t>Minimum specified volume of entrained air</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0">
                          <a:solidFill>
                            <a:schemeClr val="tx1"/>
                          </a:solidFill>
                        </a:rPr>
                        <a:t>Minimum measured volume of entrained air</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2800" b="0">
                          <a:solidFill>
                            <a:schemeClr val="tx1"/>
                          </a:solidFill>
                        </a:rPr>
                        <a:t>Maximum</a:t>
                      </a:r>
                      <a:r>
                        <a:rPr lang="en-US" sz="2800" b="0" baseline="0">
                          <a:solidFill>
                            <a:schemeClr val="tx1"/>
                          </a:solidFill>
                        </a:rPr>
                        <a:t> </a:t>
                      </a:r>
                      <a:r>
                        <a:rPr lang="en-US" sz="2800" b="0">
                          <a:solidFill>
                            <a:schemeClr val="tx1"/>
                          </a:solidFill>
                        </a:rPr>
                        <a:t>measured volume of entrained air</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864096">
                <a:tc>
                  <a:txBody>
                    <a:bodyPr/>
                    <a:lstStyle/>
                    <a:p>
                      <a:pPr algn="ctr"/>
                      <a:r>
                        <a:rPr lang="en-US" sz="2800" b="0">
                          <a:solidFill>
                            <a:schemeClr val="tx1"/>
                          </a:solidFill>
                        </a:rPr>
                        <a:t>32 or 40mm</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0">
                          <a:solidFill>
                            <a:schemeClr val="tx1"/>
                          </a:solidFill>
                        </a:rPr>
                        <a:t>3</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0">
                          <a:solidFill>
                            <a:schemeClr val="tx1"/>
                          </a:solidFill>
                        </a:rPr>
                        <a:t>2.5%</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0">
                          <a:solidFill>
                            <a:schemeClr val="tx1"/>
                          </a:solidFill>
                        </a:rPr>
                        <a:t>6.5%</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864096">
                <a:tc>
                  <a:txBody>
                    <a:bodyPr/>
                    <a:lstStyle/>
                    <a:p>
                      <a:pPr algn="ctr"/>
                      <a:r>
                        <a:rPr lang="en-US" sz="2800" b="0">
                          <a:solidFill>
                            <a:schemeClr val="tx1"/>
                          </a:solidFill>
                        </a:rPr>
                        <a:t>20mm</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0">
                          <a:solidFill>
                            <a:schemeClr val="tx1"/>
                          </a:solidFill>
                        </a:rPr>
                        <a:t>3.5</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0">
                          <a:solidFill>
                            <a:schemeClr val="tx1"/>
                          </a:solidFill>
                        </a:rPr>
                        <a:t>3.0%</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0">
                          <a:solidFill>
                            <a:schemeClr val="tx1"/>
                          </a:solidFill>
                        </a:rPr>
                        <a:t>8.5%</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92088">
                <a:tc>
                  <a:txBody>
                    <a:bodyPr/>
                    <a:lstStyle/>
                    <a:p>
                      <a:pPr algn="ctr"/>
                      <a:r>
                        <a:rPr lang="en-US" sz="2800" b="0">
                          <a:solidFill>
                            <a:schemeClr val="tx1"/>
                          </a:solidFill>
                        </a:rPr>
                        <a:t>10mm</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0">
                          <a:solidFill>
                            <a:schemeClr val="tx1"/>
                          </a:solidFill>
                        </a:rPr>
                        <a:t>5.5</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0">
                          <a:solidFill>
                            <a:schemeClr val="tx1"/>
                          </a:solidFill>
                        </a:rPr>
                        <a:t>5.0%</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0">
                          <a:solidFill>
                            <a:schemeClr val="tx1"/>
                          </a:solidFill>
                        </a:rPr>
                        <a:t>10.5%</a:t>
                      </a:r>
                      <a:endParaRPr lang="en-US" sz="2800" b="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AEA</a:t>
            </a:r>
            <a:endParaRPr lang="en-US" sz="4000"/>
          </a:p>
        </p:txBody>
      </p:sp>
      <p:sp>
        <p:nvSpPr>
          <p:cNvPr id="36867" name="Rectangle 3"/>
          <p:cNvSpPr>
            <a:spLocks noGrp="1" noChangeArrowheads="1"/>
          </p:cNvSpPr>
          <p:nvPr>
            <p:ph type="body" sz="quarter" idx="10"/>
          </p:nvPr>
        </p:nvSpPr>
        <p:spPr>
          <a:xfrm>
            <a:off x="2286000" y="1828800"/>
            <a:ext cx="7772400" cy="3886200"/>
          </a:xfrm>
          <a:noFill/>
        </p:spPr>
        <p:txBody>
          <a:bodyPr vert="horz" lIns="90488" tIns="44450" rIns="90488" bIns="44450" rtlCol="0">
            <a:normAutofit/>
          </a:bodyPr>
          <a:lstStyle/>
          <a:p>
            <a:r>
              <a:rPr lang="en-US" sz="2800"/>
              <a:t>Applications</a:t>
            </a:r>
            <a:endParaRPr lang="en-US" sz="2800"/>
          </a:p>
          <a:p>
            <a:pPr marL="914400" lvl="1" indent="-457200">
              <a:buFont typeface="Arial" panose="020B0604020202020204" pitchFamily="34" charset="0"/>
              <a:buChar char="•"/>
            </a:pPr>
            <a:r>
              <a:rPr lang="en-US" sz="2800"/>
              <a:t>Frost resistance</a:t>
            </a:r>
            <a:endParaRPr lang="en-US" sz="2800"/>
          </a:p>
          <a:p>
            <a:pPr marL="1200150" lvl="2" indent="-285750">
              <a:buFont typeface="Arial" panose="020B0604020202020204" pitchFamily="34" charset="0"/>
              <a:buChar char="•"/>
            </a:pPr>
            <a:r>
              <a:rPr lang="en-US" sz="2400">
                <a:solidFill>
                  <a:schemeClr val="accent6">
                    <a:lumMod val="75000"/>
                  </a:schemeClr>
                </a:solidFill>
              </a:rPr>
              <a:t>Interrupts capillaries by increasing diameter so that water (with dissolved deicing salts?) is not drawn into concrete</a:t>
            </a:r>
            <a:endParaRPr lang="en-US" sz="2400">
              <a:solidFill>
                <a:schemeClr val="accent6">
                  <a:lumMod val="75000"/>
                </a:schemeClr>
              </a:solidFill>
            </a:endParaRPr>
          </a:p>
          <a:p>
            <a:pPr marL="1200150" lvl="2" indent="-285750">
              <a:buFont typeface="Arial" panose="020B0604020202020204" pitchFamily="34" charset="0"/>
              <a:buChar char="•"/>
            </a:pPr>
            <a:r>
              <a:rPr lang="en-US" sz="2400">
                <a:solidFill>
                  <a:schemeClr val="accent6">
                    <a:lumMod val="75000"/>
                  </a:schemeClr>
                </a:solidFill>
              </a:rPr>
              <a:t>Allows space for expansion when water freezes</a:t>
            </a:r>
            <a:endParaRPr lang="en-US" sz="2400">
              <a:solidFill>
                <a:schemeClr val="accent6">
                  <a:lumMod val="75000"/>
                </a:schemeClr>
              </a:solidFill>
            </a:endParaRPr>
          </a:p>
        </p:txBody>
      </p:sp>
      <p:sp>
        <p:nvSpPr>
          <p:cNvPr id="36869" name="Rectangle 5"/>
          <p:cNvSpPr>
            <a:spLocks noChangeArrowheads="1"/>
          </p:cNvSpPr>
          <p:nvPr/>
        </p:nvSpPr>
        <p:spPr bwMode="auto">
          <a:xfrm>
            <a:off x="2279650" y="5013177"/>
            <a:ext cx="9715802" cy="582211"/>
          </a:xfrm>
          <a:prstGeom prst="rect">
            <a:avLst/>
          </a:prstGeom>
          <a:noFill/>
          <a:ln w="12700">
            <a:noFill/>
            <a:miter lim="800000"/>
          </a:ln>
          <a:effectLst/>
        </p:spPr>
        <p:txBody>
          <a:bodyPr wrap="none" lIns="90488" tIns="44450" rIns="90488" bIns="44450">
            <a:spAutoFit/>
          </a:bodyPr>
          <a:lstStyle/>
          <a:p>
            <a:r>
              <a:rPr lang="en-US" sz="3200" b="1" i="1"/>
              <a:t>Air reduces strength : design and dose correctly</a:t>
            </a:r>
            <a:endParaRPr lang="en-US" sz="3200" b="1" i="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ChangeArrowheads="1"/>
          </p:cNvSpPr>
          <p:nvPr>
            <p:ph type="title"/>
          </p:nvPr>
        </p:nvSpPr>
        <p:spPr/>
        <p:txBody>
          <a:bodyPr>
            <a:normAutofit fontScale="90000"/>
          </a:bodyPr>
          <a:lstStyle/>
          <a:p>
            <a:r>
              <a:rPr lang="en-GB" sz="4000"/>
              <a:t>AEA</a:t>
            </a:r>
            <a:endParaRPr lang="en-GB" sz="4000"/>
          </a:p>
        </p:txBody>
      </p:sp>
      <p:sp>
        <p:nvSpPr>
          <p:cNvPr id="56323" name="Rectangle 1027"/>
          <p:cNvSpPr>
            <a:spLocks noGrp="1" noChangeArrowheads="1"/>
          </p:cNvSpPr>
          <p:nvPr>
            <p:ph type="body" sz="quarter" idx="10"/>
          </p:nvPr>
        </p:nvSpPr>
        <p:spPr/>
        <p:txBody>
          <a:bodyPr/>
          <a:lstStyle/>
          <a:p>
            <a:r>
              <a:rPr lang="en-US" sz="2800"/>
              <a:t>Acts as very fine sand</a:t>
            </a:r>
            <a:endParaRPr lang="en-US" sz="2800"/>
          </a:p>
          <a:p>
            <a:pPr lvl="1">
              <a:buFont typeface="Arial" panose="020B0604020202020204" pitchFamily="34" charset="0"/>
              <a:buChar char="•"/>
            </a:pPr>
            <a:r>
              <a:rPr lang="en-US" sz="2400">
                <a:solidFill>
                  <a:schemeClr val="accent6">
                    <a:lumMod val="75000"/>
                  </a:schemeClr>
                </a:solidFill>
              </a:rPr>
              <a:t>Improves workability</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Improves cohesion</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Improves pumping properties</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Reduces bleeding</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Improves extrusion properties</a:t>
            </a:r>
            <a:endParaRPr lang="en-US" sz="2400">
              <a:solidFill>
                <a:schemeClr val="accent6">
                  <a:lumMod val="75000"/>
                </a:schemeClr>
              </a:solidFill>
            </a:endParaRPr>
          </a:p>
          <a:p>
            <a:endParaRPr lang="en-GB"/>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981200" y="274638"/>
            <a:ext cx="8229600" cy="762000"/>
          </a:xfrm>
          <a:noFill/>
        </p:spPr>
        <p:txBody>
          <a:bodyPr vert="horz" lIns="90488" tIns="44450" rIns="90488" bIns="44450" rtlCol="0" anchor="t">
            <a:normAutofit/>
          </a:bodyPr>
          <a:lstStyle/>
          <a:p>
            <a:r>
              <a:rPr lang="en-US" sz="4000"/>
              <a:t>AEA</a:t>
            </a:r>
            <a:endParaRPr lang="en-US" sz="4000"/>
          </a:p>
        </p:txBody>
      </p:sp>
      <p:sp>
        <p:nvSpPr>
          <p:cNvPr id="35843" name="Rectangle 3"/>
          <p:cNvSpPr>
            <a:spLocks noGrp="1" noChangeArrowheads="1"/>
          </p:cNvSpPr>
          <p:nvPr>
            <p:ph type="body" sz="quarter" idx="10"/>
          </p:nvPr>
        </p:nvSpPr>
        <p:spPr>
          <a:xfrm>
            <a:off x="2279650" y="1557338"/>
            <a:ext cx="8077200" cy="4607966"/>
          </a:xfrm>
          <a:noFill/>
        </p:spPr>
        <p:txBody>
          <a:bodyPr vert="horz" lIns="90488" tIns="44450" rIns="90488" bIns="44450" rtlCol="0">
            <a:normAutofit/>
          </a:bodyPr>
          <a:lstStyle/>
          <a:p>
            <a:r>
              <a:rPr lang="en-US" sz="2800"/>
              <a:t>Effectiveness</a:t>
            </a:r>
            <a:endParaRPr lang="en-US" sz="2800"/>
          </a:p>
          <a:p>
            <a:pPr lvl="1">
              <a:buFont typeface="Arial" panose="020B0604020202020204" pitchFamily="34" charset="0"/>
              <a:buChar char="•"/>
            </a:pPr>
            <a:r>
              <a:rPr lang="en-US" sz="2800"/>
              <a:t>Dosage </a:t>
            </a:r>
            <a:endParaRPr lang="en-US" sz="2800"/>
          </a:p>
          <a:p>
            <a:pPr marL="1200150" lvl="2" indent="-285750">
              <a:buFont typeface="Arial" panose="020B0604020202020204" pitchFamily="34" charset="0"/>
              <a:buChar char="•"/>
            </a:pPr>
            <a:r>
              <a:rPr lang="en-US" sz="2400">
                <a:solidFill>
                  <a:schemeClr val="accent6">
                    <a:lumMod val="75000"/>
                  </a:schemeClr>
                </a:solidFill>
              </a:rPr>
              <a:t>5% air will increase slump by 20 - 60 mm</a:t>
            </a:r>
            <a:endParaRPr lang="en-US" sz="2400">
              <a:solidFill>
                <a:schemeClr val="accent6">
                  <a:lumMod val="75000"/>
                </a:schemeClr>
              </a:solidFill>
            </a:endParaRPr>
          </a:p>
          <a:p>
            <a:pPr lvl="1">
              <a:buFont typeface="Arial" panose="020B0604020202020204" pitchFamily="34" charset="0"/>
              <a:buChar char="•"/>
            </a:pPr>
            <a:r>
              <a:rPr lang="en-US" sz="2800"/>
              <a:t>Cement type</a:t>
            </a:r>
            <a:endParaRPr lang="en-US" sz="2800"/>
          </a:p>
          <a:p>
            <a:pPr marL="1200150" lvl="2" indent="-285750">
              <a:buFont typeface="Arial" panose="020B0604020202020204" pitchFamily="34" charset="0"/>
              <a:buChar char="•"/>
            </a:pPr>
            <a:r>
              <a:rPr lang="en-US" sz="2400">
                <a:solidFill>
                  <a:schemeClr val="accent6">
                    <a:lumMod val="75000"/>
                  </a:schemeClr>
                </a:solidFill>
              </a:rPr>
              <a:t>Finer cement will decrease proportion of air </a:t>
            </a:r>
            <a:endParaRPr lang="en-US" sz="2400">
              <a:solidFill>
                <a:schemeClr val="accent6">
                  <a:lumMod val="75000"/>
                </a:schemeClr>
              </a:solidFill>
            </a:endParaRPr>
          </a:p>
          <a:p>
            <a:pPr lvl="1">
              <a:buFont typeface="Arial" panose="020B0604020202020204" pitchFamily="34" charset="0"/>
              <a:buChar char="•"/>
            </a:pPr>
            <a:r>
              <a:rPr lang="en-US" sz="2800"/>
              <a:t>Aggregates </a:t>
            </a:r>
            <a:endParaRPr lang="en-US" sz="2800"/>
          </a:p>
          <a:p>
            <a:pPr marL="1200150" lvl="2" indent="-285750">
              <a:buFont typeface="Arial" panose="020B0604020202020204" pitchFamily="34" charset="0"/>
              <a:buChar char="•"/>
            </a:pPr>
            <a:r>
              <a:rPr lang="en-US" sz="2400">
                <a:solidFill>
                  <a:schemeClr val="accent6">
                    <a:lumMod val="75000"/>
                  </a:schemeClr>
                </a:solidFill>
              </a:rPr>
              <a:t>Some mineral types resist</a:t>
            </a:r>
            <a:endParaRPr lang="en-US" sz="2400">
              <a:solidFill>
                <a:schemeClr val="accent6">
                  <a:lumMod val="75000"/>
                </a:schemeClr>
              </a:solidFill>
            </a:endParaRPr>
          </a:p>
          <a:p>
            <a:pPr marL="1200150" lvl="2" indent="-285750">
              <a:buFont typeface="Arial" panose="020B0604020202020204" pitchFamily="34" charset="0"/>
              <a:buChar char="•"/>
            </a:pPr>
            <a:r>
              <a:rPr lang="en-US" sz="2400">
                <a:solidFill>
                  <a:schemeClr val="accent6">
                    <a:lumMod val="75000"/>
                  </a:schemeClr>
                </a:solidFill>
              </a:rPr>
              <a:t>High proportion of fine sand (&lt;150µm) will decrease the proportion of air</a:t>
            </a:r>
            <a:endParaRPr lang="en-US" sz="2400">
              <a:solidFill>
                <a:schemeClr val="accent6">
                  <a:lumMod val="75000"/>
                </a:schemeClr>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26"/>
          <p:cNvSpPr>
            <a:spLocks noGrp="1" noChangeArrowheads="1"/>
          </p:cNvSpPr>
          <p:nvPr>
            <p:ph type="title"/>
          </p:nvPr>
        </p:nvSpPr>
        <p:spPr>
          <a:xfrm>
            <a:off x="2209800" y="0"/>
            <a:ext cx="7772400" cy="1143000"/>
          </a:xfrm>
        </p:spPr>
        <p:txBody>
          <a:bodyPr/>
          <a:lstStyle/>
          <a:p>
            <a:r>
              <a:rPr lang="en-GB" sz="4000"/>
              <a:t>AEA</a:t>
            </a:r>
            <a:endParaRPr lang="en-GB" sz="4000"/>
          </a:p>
        </p:txBody>
      </p:sp>
      <p:sp>
        <p:nvSpPr>
          <p:cNvPr id="55299" name="Rectangle 1027"/>
          <p:cNvSpPr>
            <a:spLocks noGrp="1" noChangeArrowheads="1"/>
          </p:cNvSpPr>
          <p:nvPr>
            <p:ph type="body" sz="quarter" idx="10"/>
          </p:nvPr>
        </p:nvSpPr>
        <p:spPr>
          <a:xfrm>
            <a:off x="2286000" y="1219200"/>
            <a:ext cx="7772400" cy="4114800"/>
          </a:xfrm>
        </p:spPr>
        <p:txBody>
          <a:bodyPr>
            <a:normAutofit fontScale="92500" lnSpcReduction="20000"/>
          </a:bodyPr>
          <a:lstStyle/>
          <a:p>
            <a:r>
              <a:rPr lang="en-US" sz="2800"/>
              <a:t>Precautions</a:t>
            </a:r>
            <a:endParaRPr lang="en-US" sz="2800"/>
          </a:p>
          <a:p>
            <a:pPr lvl="1">
              <a:buFont typeface="Arial" panose="020B0604020202020204" pitchFamily="34" charset="0"/>
              <a:buChar char="•"/>
            </a:pPr>
            <a:r>
              <a:rPr lang="en-US" sz="2800"/>
              <a:t>Temperature</a:t>
            </a:r>
            <a:endParaRPr lang="en-US" sz="2800"/>
          </a:p>
          <a:p>
            <a:pPr marL="1200150" lvl="2" indent="-285750">
              <a:buFont typeface="Arial" panose="020B0604020202020204" pitchFamily="34" charset="0"/>
              <a:buChar char="•"/>
            </a:pPr>
            <a:r>
              <a:rPr lang="en-US" sz="2400">
                <a:solidFill>
                  <a:schemeClr val="accent6">
                    <a:lumMod val="75000"/>
                  </a:schemeClr>
                </a:solidFill>
              </a:rPr>
              <a:t> High temperatures result in a decrease in the proportion of air</a:t>
            </a:r>
            <a:endParaRPr lang="en-US" sz="2400">
              <a:solidFill>
                <a:schemeClr val="accent6">
                  <a:lumMod val="75000"/>
                </a:schemeClr>
              </a:solidFill>
            </a:endParaRPr>
          </a:p>
          <a:p>
            <a:pPr lvl="1">
              <a:buFont typeface="Arial" panose="020B0604020202020204" pitchFamily="34" charset="0"/>
              <a:buChar char="•"/>
            </a:pPr>
            <a:r>
              <a:rPr lang="en-US" sz="2800"/>
              <a:t>Mixing time</a:t>
            </a:r>
            <a:endParaRPr lang="en-US" sz="2800"/>
          </a:p>
          <a:p>
            <a:pPr marL="1200150" lvl="2" indent="-285750">
              <a:buFont typeface="Arial" panose="020B0604020202020204" pitchFamily="34" charset="0"/>
              <a:buChar char="•"/>
            </a:pPr>
            <a:r>
              <a:rPr lang="en-US" sz="2400">
                <a:solidFill>
                  <a:schemeClr val="accent6">
                    <a:lumMod val="75000"/>
                  </a:schemeClr>
                </a:solidFill>
              </a:rPr>
              <a:t>Too short will result in uneven dispersion</a:t>
            </a:r>
            <a:endParaRPr lang="en-US" sz="2400">
              <a:solidFill>
                <a:schemeClr val="accent6">
                  <a:lumMod val="75000"/>
                </a:schemeClr>
              </a:solidFill>
            </a:endParaRPr>
          </a:p>
          <a:p>
            <a:pPr marL="1200150" lvl="2" indent="-285750">
              <a:buFont typeface="Arial" panose="020B0604020202020204" pitchFamily="34" charset="0"/>
              <a:buChar char="•"/>
            </a:pPr>
            <a:r>
              <a:rPr lang="en-US" sz="2400">
                <a:solidFill>
                  <a:schemeClr val="accent6">
                    <a:lumMod val="75000"/>
                  </a:schemeClr>
                </a:solidFill>
              </a:rPr>
              <a:t>Too long will reduce air content</a:t>
            </a:r>
            <a:endParaRPr lang="en-US" sz="2400">
              <a:solidFill>
                <a:schemeClr val="accent6">
                  <a:lumMod val="75000"/>
                </a:schemeClr>
              </a:solidFill>
            </a:endParaRPr>
          </a:p>
          <a:p>
            <a:pPr lvl="1">
              <a:buFont typeface="Arial" panose="020B0604020202020204" pitchFamily="34" charset="0"/>
              <a:buChar char="•"/>
            </a:pPr>
            <a:r>
              <a:rPr lang="en-US" sz="2800"/>
              <a:t>Mix speed</a:t>
            </a:r>
            <a:endParaRPr lang="en-US" sz="2800"/>
          </a:p>
          <a:p>
            <a:pPr marL="1200150" lvl="2" indent="-285750">
              <a:buFont typeface="Arial" panose="020B0604020202020204" pitchFamily="34" charset="0"/>
              <a:buChar char="•"/>
            </a:pPr>
            <a:r>
              <a:rPr lang="en-US" sz="2400">
                <a:solidFill>
                  <a:schemeClr val="accent6">
                    <a:lumMod val="75000"/>
                  </a:schemeClr>
                </a:solidFill>
              </a:rPr>
              <a:t>Faster mixing speeds result in increased air content</a:t>
            </a:r>
            <a:endParaRPr lang="en-US" sz="2400">
              <a:solidFill>
                <a:schemeClr val="accent6">
                  <a:lumMod val="75000"/>
                </a:schemeClr>
              </a:solidFill>
            </a:endParaRPr>
          </a:p>
          <a:p>
            <a:endParaRPr lang="en-GB"/>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2209800" y="457200"/>
            <a:ext cx="7772400" cy="1143000"/>
          </a:xfrm>
          <a:noFill/>
        </p:spPr>
        <p:txBody>
          <a:bodyPr vert="horz" lIns="90488" tIns="44450" rIns="90488" bIns="44450" rtlCol="0" anchor="t">
            <a:normAutofit/>
          </a:bodyPr>
          <a:lstStyle/>
          <a:p>
            <a:r>
              <a:rPr lang="en-US" sz="4000"/>
              <a:t>Water-Resisting Admixtures</a:t>
            </a:r>
            <a:endParaRPr lang="en-US" sz="4000"/>
          </a:p>
        </p:txBody>
      </p:sp>
      <p:sp>
        <p:nvSpPr>
          <p:cNvPr id="46083" name="Rectangle 3"/>
          <p:cNvSpPr>
            <a:spLocks noGrp="1" noChangeArrowheads="1"/>
          </p:cNvSpPr>
          <p:nvPr>
            <p:ph type="body" sz="quarter" idx="10"/>
          </p:nvPr>
        </p:nvSpPr>
        <p:spPr>
          <a:xfrm>
            <a:off x="2209800" y="1484784"/>
            <a:ext cx="7772400" cy="4343400"/>
          </a:xfrm>
          <a:noFill/>
        </p:spPr>
        <p:txBody>
          <a:bodyPr vert="horz" lIns="90488" tIns="44450" rIns="90488" bIns="44450" rtlCol="0">
            <a:normAutofit/>
          </a:bodyPr>
          <a:lstStyle/>
          <a:p>
            <a:r>
              <a:rPr lang="en-US" sz="2800"/>
              <a:t>Type 1:</a:t>
            </a:r>
            <a:endParaRPr lang="en-US" sz="2800"/>
          </a:p>
          <a:p>
            <a:pPr>
              <a:buFont typeface="Arial" panose="020B0604020202020204" pitchFamily="34" charset="0"/>
              <a:buChar char="•"/>
            </a:pPr>
            <a:r>
              <a:rPr lang="en-US" sz="2400">
                <a:solidFill>
                  <a:schemeClr val="accent6">
                    <a:lumMod val="75000"/>
                  </a:schemeClr>
                </a:solidFill>
              </a:rPr>
              <a:t>Hydrophobic water resisting admixtures react with cement to form insoluble coating to walls of capillary voids.  Works well where no water pressure is present, such as rain or splash zone.  Effective in preventing chloride drawn into reinforced concrete in splash zone of marine structures or from de-icing salts.</a:t>
            </a:r>
            <a:endParaRPr lang="en-US" sz="2400">
              <a:solidFill>
                <a:schemeClr val="accent6">
                  <a:lumMod val="75000"/>
                </a:schemeClr>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2209800" y="457200"/>
            <a:ext cx="7772400" cy="1143000"/>
          </a:xfrm>
          <a:noFill/>
        </p:spPr>
        <p:txBody>
          <a:bodyPr vert="horz" lIns="90488" tIns="44450" rIns="90488" bIns="44450" rtlCol="0" anchor="t">
            <a:normAutofit/>
          </a:bodyPr>
          <a:lstStyle/>
          <a:p>
            <a:r>
              <a:rPr lang="en-US" sz="4000"/>
              <a:t>Water-Resisting Admixtures</a:t>
            </a:r>
            <a:endParaRPr lang="en-US" sz="4000"/>
          </a:p>
        </p:txBody>
      </p:sp>
      <p:sp>
        <p:nvSpPr>
          <p:cNvPr id="46083" name="Rectangle 3"/>
          <p:cNvSpPr>
            <a:spLocks noGrp="1" noChangeArrowheads="1"/>
          </p:cNvSpPr>
          <p:nvPr>
            <p:ph type="body" sz="quarter" idx="10"/>
          </p:nvPr>
        </p:nvSpPr>
        <p:spPr>
          <a:xfrm>
            <a:off x="2209800" y="1484784"/>
            <a:ext cx="7772400" cy="4343400"/>
          </a:xfrm>
          <a:noFill/>
        </p:spPr>
        <p:txBody>
          <a:bodyPr vert="horz" lIns="90488" tIns="44450" rIns="90488" bIns="44450" rtlCol="0">
            <a:normAutofit/>
          </a:bodyPr>
          <a:lstStyle/>
          <a:p>
            <a:r>
              <a:rPr lang="en-US" sz="2800"/>
              <a:t>Type 2:</a:t>
            </a:r>
            <a:endParaRPr lang="en-US" sz="2800"/>
          </a:p>
          <a:p>
            <a:pPr>
              <a:buFont typeface="Arial" panose="020B0604020202020204" pitchFamily="34" charset="0"/>
              <a:buChar char="•"/>
            </a:pPr>
            <a:r>
              <a:rPr lang="en-US" sz="2400">
                <a:solidFill>
                  <a:schemeClr val="accent6">
                    <a:lumMod val="75000"/>
                  </a:schemeClr>
                </a:solidFill>
              </a:rPr>
              <a:t>Capillary blocker types are based on polymer emulsions and/or reactive inorganic minerals.  Designed to block capillaries by forming physical barrier preventing water ingress, even under significant water pressure.</a:t>
            </a:r>
            <a:endParaRPr lang="en-US" sz="2400">
              <a:solidFill>
                <a:schemeClr val="accent6">
                  <a:lumMod val="75000"/>
                </a:schemeClr>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Admixture Dosage </a:t>
            </a:r>
            <a:endParaRPr lang="en-US" sz="4000"/>
          </a:p>
        </p:txBody>
      </p:sp>
      <p:sp>
        <p:nvSpPr>
          <p:cNvPr id="39939" name="Rectangle 3"/>
          <p:cNvSpPr>
            <a:spLocks noGrp="1" noChangeArrowheads="1"/>
          </p:cNvSpPr>
          <p:nvPr>
            <p:ph type="body" sz="quarter" idx="10"/>
          </p:nvPr>
        </p:nvSpPr>
        <p:spPr>
          <a:xfrm>
            <a:off x="2207568" y="1196752"/>
            <a:ext cx="7992888" cy="4114800"/>
          </a:xfrm>
          <a:noFill/>
        </p:spPr>
        <p:txBody>
          <a:bodyPr vert="horz" lIns="90488" tIns="44450" rIns="90488" bIns="44450" rtlCol="0">
            <a:normAutofit fontScale="92500"/>
          </a:bodyPr>
          <a:lstStyle/>
          <a:p>
            <a:pPr>
              <a:buFont typeface="Arial" panose="020B0604020202020204" pitchFamily="34" charset="0"/>
              <a:buChar char="•"/>
            </a:pPr>
            <a:r>
              <a:rPr lang="en-GB" sz="2800"/>
              <a:t>Range from 0,2 to 2,0 litres per 100 kg of cementitious materials</a:t>
            </a:r>
            <a:endParaRPr lang="en-GB" sz="2800"/>
          </a:p>
          <a:p>
            <a:pPr>
              <a:buFont typeface="Arial" panose="020B0604020202020204" pitchFamily="34" charset="0"/>
              <a:buChar char="•"/>
            </a:pPr>
            <a:r>
              <a:rPr lang="en-GB" sz="2800"/>
              <a:t>Correct dosage is crucial for satisfactory mix performance</a:t>
            </a:r>
            <a:endParaRPr lang="en-GB" sz="2800"/>
          </a:p>
          <a:p>
            <a:pPr>
              <a:buFont typeface="Arial" panose="020B0604020202020204" pitchFamily="34" charset="0"/>
              <a:buChar char="•"/>
            </a:pPr>
            <a:r>
              <a:rPr lang="en-GB" sz="2800"/>
              <a:t>Proper use of well maintained, and calibrated dispensing equipment is essential</a:t>
            </a:r>
            <a:endParaRPr lang="en-GB" sz="2800"/>
          </a:p>
          <a:p>
            <a:pPr>
              <a:buFont typeface="Arial" panose="020B0604020202020204" pitchFamily="34" charset="0"/>
              <a:buChar char="•"/>
            </a:pPr>
            <a:r>
              <a:rPr lang="en-GB" sz="2800"/>
              <a:t>Small changes in actual dosing can have a significant effect on concrete quality and properties.</a:t>
            </a:r>
            <a:endParaRPr lang="en-US" sz="28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Admixture Dispensing </a:t>
            </a:r>
            <a:endParaRPr lang="en-US" sz="4000"/>
          </a:p>
        </p:txBody>
      </p:sp>
      <p:sp>
        <p:nvSpPr>
          <p:cNvPr id="39939" name="Rectangle 3"/>
          <p:cNvSpPr>
            <a:spLocks noGrp="1" noChangeArrowheads="1"/>
          </p:cNvSpPr>
          <p:nvPr>
            <p:ph type="body" sz="quarter" idx="10"/>
          </p:nvPr>
        </p:nvSpPr>
        <p:spPr>
          <a:xfrm>
            <a:off x="2207568" y="1196752"/>
            <a:ext cx="7772400" cy="4114800"/>
          </a:xfrm>
          <a:noFill/>
        </p:spPr>
        <p:txBody>
          <a:bodyPr vert="horz" lIns="90488" tIns="44450" rIns="90488" bIns="44450" rtlCol="0">
            <a:normAutofit/>
          </a:bodyPr>
          <a:lstStyle/>
          <a:p>
            <a:pPr>
              <a:buFont typeface="Arial" panose="020B0604020202020204" pitchFamily="34" charset="0"/>
              <a:buChar char="•"/>
            </a:pPr>
            <a:r>
              <a:rPr lang="en-US" sz="2800"/>
              <a:t>Liquids usually added to mixing water</a:t>
            </a:r>
            <a:endParaRPr lang="en-US" sz="2800"/>
          </a:p>
          <a:p>
            <a:pPr>
              <a:buFont typeface="Arial" panose="020B0604020202020204" pitchFamily="34" charset="0"/>
              <a:buChar char="•"/>
            </a:pPr>
            <a:r>
              <a:rPr lang="en-US" sz="2800"/>
              <a:t>If added to concrete, check the discharge rate and timing of sequence</a:t>
            </a:r>
            <a:endParaRPr lang="en-US" sz="2800"/>
          </a:p>
          <a:p>
            <a:pPr>
              <a:buFont typeface="Arial" panose="020B0604020202020204" pitchFamily="34" charset="0"/>
              <a:buChar char="•"/>
            </a:pPr>
            <a:r>
              <a:rPr lang="en-US" sz="2800"/>
              <a:t>If not compatible, two admixtures should be dosed at different times or locations.</a:t>
            </a:r>
            <a:endParaRPr lang="en-US" sz="2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Dispensing Equipment</a:t>
            </a:r>
            <a:endParaRPr lang="en-US" sz="4000"/>
          </a:p>
        </p:txBody>
      </p:sp>
      <p:sp>
        <p:nvSpPr>
          <p:cNvPr id="40963" name="Rectangle 3"/>
          <p:cNvSpPr>
            <a:spLocks noGrp="1" noChangeArrowheads="1"/>
          </p:cNvSpPr>
          <p:nvPr>
            <p:ph type="body" sz="quarter" idx="10"/>
          </p:nvPr>
        </p:nvSpPr>
        <p:spPr>
          <a:xfrm>
            <a:off x="2208213" y="1557338"/>
            <a:ext cx="7772400" cy="4114800"/>
          </a:xfrm>
          <a:noFill/>
        </p:spPr>
        <p:txBody>
          <a:bodyPr vert="horz" lIns="90488" tIns="44450" rIns="90488" bIns="44450" rtlCol="0">
            <a:normAutofit/>
          </a:bodyPr>
          <a:lstStyle/>
          <a:p>
            <a:pPr>
              <a:buFont typeface="Arial" panose="020B0604020202020204" pitchFamily="34" charset="0"/>
              <a:buChar char="•"/>
            </a:pPr>
            <a:r>
              <a:rPr lang="en-US" sz="2800"/>
              <a:t>Dosages are small and accuracy very important</a:t>
            </a:r>
            <a:endParaRPr lang="en-US" sz="2800"/>
          </a:p>
          <a:p>
            <a:pPr>
              <a:buFont typeface="Arial" panose="020B0604020202020204" pitchFamily="34" charset="0"/>
              <a:buChar char="•"/>
            </a:pPr>
            <a:r>
              <a:rPr lang="en-US" sz="2800"/>
              <a:t>Accuracy of equipment </a:t>
            </a:r>
            <a:endParaRPr lang="en-US" sz="2800"/>
          </a:p>
          <a:p>
            <a:pPr lvl="1">
              <a:buFont typeface="Arial" panose="020B0604020202020204" pitchFamily="34" charset="0"/>
              <a:buChar char="•"/>
            </a:pPr>
            <a:r>
              <a:rPr lang="en-US" sz="2400">
                <a:solidFill>
                  <a:schemeClr val="accent6">
                    <a:lumMod val="75000"/>
                  </a:schemeClr>
                </a:solidFill>
              </a:rPr>
              <a:t>Dose within 5%</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Safe device against overdosing</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A sight glass for visual inspection</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Provision for calibration</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Have a means of flushing the system</a:t>
            </a:r>
            <a:endParaRPr lang="en-US" sz="2400">
              <a:solidFill>
                <a:schemeClr val="accent6">
                  <a:lumMod val="75000"/>
                </a:schemeClr>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981200" y="274639"/>
            <a:ext cx="8229600" cy="155575"/>
          </a:xfrm>
        </p:spPr>
        <p:txBody>
          <a:bodyPr vert="horz" lIns="90488" tIns="44450" rIns="90488" bIns="44450" rtlCol="0" anchor="t">
            <a:normAutofit fontScale="90000"/>
          </a:bodyPr>
          <a:lstStyle/>
          <a:p>
            <a:r>
              <a:rPr lang="en-ZA" sz="4000"/>
              <a:t>Trial </a:t>
            </a:r>
            <a:r>
              <a:rPr lang="en-US" altLang="en-ZA" sz="4000"/>
              <a:t>M</a:t>
            </a:r>
            <a:r>
              <a:rPr lang="en-ZA" sz="4000"/>
              <a:t>ix </a:t>
            </a:r>
            <a:r>
              <a:rPr lang="en-US" altLang="en-ZA" sz="4000"/>
              <a:t>D</a:t>
            </a:r>
            <a:r>
              <a:rPr lang="en-ZA" sz="4000"/>
              <a:t>esign</a:t>
            </a:r>
            <a:endParaRPr lang="en-ZA" sz="4000"/>
          </a:p>
        </p:txBody>
      </p:sp>
      <p:sp>
        <p:nvSpPr>
          <p:cNvPr id="50179" name="Rectangle 3"/>
          <p:cNvSpPr>
            <a:spLocks noGrp="1" noChangeArrowheads="1"/>
          </p:cNvSpPr>
          <p:nvPr>
            <p:ph type="body" sz="quarter" idx="10"/>
          </p:nvPr>
        </p:nvSpPr>
        <p:spPr>
          <a:xfrm>
            <a:off x="2207568" y="1052736"/>
            <a:ext cx="7772400" cy="3581400"/>
          </a:xfrm>
          <a:noFill/>
        </p:spPr>
        <p:txBody>
          <a:bodyPr vert="horz" lIns="90488" tIns="44450" rIns="90488" bIns="44450" rtlCol="0">
            <a:normAutofit fontScale="92500" lnSpcReduction="20000"/>
          </a:bodyPr>
          <a:lstStyle/>
          <a:p>
            <a:pPr>
              <a:buFont typeface="Arial" panose="020B0604020202020204" pitchFamily="34" charset="0"/>
              <a:buChar char="•"/>
            </a:pPr>
            <a:r>
              <a:rPr lang="en-US" sz="2800"/>
              <a:t>Optimum dosage depend on cement type, concrete proportions, grading of fine aggregate and temperature</a:t>
            </a:r>
            <a:endParaRPr lang="en-US" sz="2800"/>
          </a:p>
          <a:p>
            <a:pPr>
              <a:buFont typeface="Arial" panose="020B0604020202020204" pitchFamily="34" charset="0"/>
              <a:buChar char="•"/>
            </a:pPr>
            <a:r>
              <a:rPr lang="en-US" sz="2800"/>
              <a:t>Admixtures may perform differently under different circumstances and in situ testing is necessary</a:t>
            </a:r>
            <a:endParaRPr lang="en-US" sz="2800"/>
          </a:p>
          <a:p>
            <a:pPr>
              <a:buFont typeface="Arial" panose="020B0604020202020204" pitchFamily="34" charset="0"/>
              <a:buChar char="•"/>
            </a:pPr>
            <a:r>
              <a:rPr lang="en-US" sz="2800"/>
              <a:t>Compatibility</a:t>
            </a:r>
            <a:endParaRPr lang="en-US" sz="2800"/>
          </a:p>
          <a:p>
            <a:pPr lvl="1">
              <a:buFont typeface="Arial" panose="020B0604020202020204" pitchFamily="34" charset="0"/>
              <a:buChar char="•"/>
            </a:pPr>
            <a:r>
              <a:rPr lang="en-US" sz="2400">
                <a:solidFill>
                  <a:schemeClr val="accent6">
                    <a:lumMod val="75000"/>
                  </a:schemeClr>
                </a:solidFill>
              </a:rPr>
              <a:t>With other admixtures</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With materials in use </a:t>
            </a:r>
            <a:endParaRPr lang="en-US" sz="2400">
              <a:solidFill>
                <a:schemeClr val="accent6">
                  <a:lumMod val="75000"/>
                </a:schemeClr>
              </a:solidFill>
            </a:endParaRPr>
          </a:p>
        </p:txBody>
      </p:sp>
      <p:sp>
        <p:nvSpPr>
          <p:cNvPr id="50181" name="Rectangle 5"/>
          <p:cNvSpPr>
            <a:spLocks noChangeArrowheads="1"/>
          </p:cNvSpPr>
          <p:nvPr/>
        </p:nvSpPr>
        <p:spPr bwMode="auto">
          <a:xfrm>
            <a:off x="2207260" y="5139690"/>
            <a:ext cx="9103995" cy="765810"/>
          </a:xfrm>
          <a:prstGeom prst="rect">
            <a:avLst/>
          </a:prstGeom>
          <a:noFill/>
          <a:ln w="12700">
            <a:noFill/>
            <a:miter lim="800000"/>
          </a:ln>
          <a:effectLst/>
        </p:spPr>
        <p:txBody>
          <a:bodyPr wrap="square" lIns="90488" tIns="44450" rIns="90488" bIns="44450">
            <a:spAutoFit/>
          </a:bodyPr>
          <a:lstStyle/>
          <a:p>
            <a:r>
              <a:rPr lang="en-US" sz="4400" b="1" i="1" u="sng"/>
              <a:t>Do trials frequently on site!</a:t>
            </a:r>
            <a:endParaRPr lang="en-US" sz="4400" b="1" i="1" u="sng"/>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24000" y="1484784"/>
            <a:ext cx="4788024" cy="707886"/>
          </a:xfrm>
          <a:prstGeom prst="rect">
            <a:avLst/>
          </a:prstGeom>
          <a:noFill/>
        </p:spPr>
        <p:txBody>
          <a:bodyPr wrap="square">
            <a:spAutoFit/>
          </a:bodyPr>
          <a:lstStyle/>
          <a:p>
            <a:pPr algn="ctr">
              <a:defRPr/>
            </a:pPr>
            <a:r>
              <a:rPr lang="en-ZA" sz="4000">
                <a:latin typeface="+mj-lt"/>
              </a:rPr>
              <a:t>End </a:t>
            </a:r>
            <a:endParaRPr lang="en-US" sz="4000">
              <a:latin typeface="+mj-lt"/>
            </a:endParaRPr>
          </a:p>
        </p:txBody>
      </p:sp>
      <p:pic>
        <p:nvPicPr>
          <p:cNvPr id="10" name="Picture 4"/>
          <p:cNvPicPr>
            <a:picLocks noChangeAspect="1" noChangeArrowheads="1"/>
          </p:cNvPicPr>
          <p:nvPr/>
        </p:nvPicPr>
        <p:blipFill>
          <a:blip r:embed="rId1" cstate="print">
            <a:lum bright="-10000" contrast="-48000"/>
          </a:blip>
          <a:srcRect l="26720" r="34250"/>
          <a:stretch>
            <a:fillRect/>
          </a:stretch>
        </p:blipFill>
        <p:spPr bwMode="auto">
          <a:xfrm>
            <a:off x="5987480" y="0"/>
            <a:ext cx="4680520" cy="6858000"/>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1579" y="0"/>
            <a:ext cx="8911687" cy="1280890"/>
          </a:xfrm>
        </p:spPr>
        <p:txBody>
          <a:bodyPr/>
          <a:lstStyle/>
          <a:p>
            <a:r>
              <a:rPr lang="en-GB" b="1"/>
              <a:t>Feedback</a:t>
            </a:r>
            <a:endParaRPr lang="en-GB" b="1"/>
          </a:p>
        </p:txBody>
      </p:sp>
      <p:sp>
        <p:nvSpPr>
          <p:cNvPr id="8" name="Slide Number Placeholder 7"/>
          <p:cNvSpPr>
            <a:spLocks noGrp="1"/>
          </p:cNvSpPr>
          <p:nvPr>
            <p:ph type="sldNum" sz="quarter" idx="12"/>
          </p:nvPr>
        </p:nvSpPr>
        <p:spPr/>
        <p:txBody>
          <a:bodyPr/>
          <a:lstStyle/>
          <a:p>
            <a:fld id="{D57F1E4F-1CFF-5643-939E-217C01CDF565}" type="slidenum">
              <a:rPr lang="en-US" smtClean="0"/>
            </a:fld>
            <a:endParaRPr lang="en-US"/>
          </a:p>
        </p:txBody>
      </p:sp>
      <p:pic>
        <p:nvPicPr>
          <p:cNvPr id="5" name="Picture 4"/>
          <p:cNvPicPr>
            <a:picLocks noChangeAspect="1"/>
          </p:cNvPicPr>
          <p:nvPr/>
        </p:nvPicPr>
        <p:blipFill>
          <a:blip r:embed="rId1"/>
          <a:stretch>
            <a:fillRect/>
          </a:stretch>
        </p:blipFill>
        <p:spPr>
          <a:xfrm>
            <a:off x="7046912" y="1749654"/>
            <a:ext cx="4451959" cy="3358693"/>
          </a:xfrm>
          <a:prstGeom prst="rect">
            <a:avLst/>
          </a:prstGeom>
        </p:spPr>
      </p:pic>
      <p:sp>
        <p:nvSpPr>
          <p:cNvPr id="9" name="Date Placeholder 7"/>
          <p:cNvSpPr>
            <a:spLocks noGrp="1"/>
          </p:cNvSpPr>
          <p:nvPr>
            <p:ph type="dt" sz="half" idx="10"/>
          </p:nvPr>
        </p:nvSpPr>
        <p:spPr>
          <a:xfrm>
            <a:off x="198784" y="6487604"/>
            <a:ext cx="2067338" cy="370396"/>
          </a:xfrm>
        </p:spPr>
        <p:txBody>
          <a:bodyPr/>
          <a:lstStyle/>
          <a:p>
            <a:fld id="{9855C6FE-EDAB-4FDE-9C59-19A1F0C9F540}" type="datetime3">
              <a:rPr lang="en-US" sz="1600" b="1" smtClean="0">
                <a:solidFill>
                  <a:schemeClr val="tx1"/>
                </a:solidFill>
              </a:rPr>
            </a:fld>
            <a:endParaRPr lang="en-US" b="1">
              <a:solidFill>
                <a:schemeClr val="tx1"/>
              </a:solidFill>
            </a:endParaRP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0</TotalTime>
  <Words>9833</Words>
  <Application>WPS Presentation</Application>
  <PresentationFormat>Widescreen</PresentationFormat>
  <Paragraphs>435</Paragraphs>
  <Slides>45</Slides>
  <Notes>44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60" baseType="lpstr">
      <vt:lpstr>Arial</vt:lpstr>
      <vt:lpstr>SimSun</vt:lpstr>
      <vt:lpstr>Wingdings</vt:lpstr>
      <vt:lpstr>Wingdings 3</vt:lpstr>
      <vt:lpstr>Arial</vt:lpstr>
      <vt:lpstr>MT Extra</vt:lpstr>
      <vt:lpstr>Century Gothic</vt:lpstr>
      <vt:lpstr>Microsoft YaHei</vt:lpstr>
      <vt:lpstr>Arial Unicode MS</vt:lpstr>
      <vt:lpstr>Calibri</vt:lpstr>
      <vt:lpstr>MS Gothic</vt:lpstr>
      <vt:lpstr>メイリオ</vt:lpstr>
      <vt:lpstr>Segoe Print</vt:lpstr>
      <vt:lpstr>Wisp</vt:lpstr>
      <vt:lpstr>Photoshop.Image.6</vt:lpstr>
      <vt:lpstr>PowerPoint 演示文稿</vt:lpstr>
      <vt:lpstr>Chemical Admixtures</vt:lpstr>
      <vt:lpstr>Use of Admixtures</vt:lpstr>
      <vt:lpstr>Use of Admixtures</vt:lpstr>
      <vt:lpstr>Types of Admixtures</vt:lpstr>
      <vt:lpstr>Water Reducers or Plasticisers</vt:lpstr>
      <vt:lpstr>Cement without admixture</vt:lpstr>
      <vt:lpstr>Cement with plasticising admixture</vt:lpstr>
      <vt:lpstr>Water Reducers or Plasticisers</vt:lpstr>
      <vt:lpstr>Plasticisers</vt:lpstr>
      <vt:lpstr>Applications</vt:lpstr>
      <vt:lpstr>Plasticisers</vt:lpstr>
      <vt:lpstr>Superplasticisers</vt:lpstr>
      <vt:lpstr>PowerPoint 演示文稿</vt:lpstr>
      <vt:lpstr>Superplasticiser</vt:lpstr>
      <vt:lpstr>Superplasticiser</vt:lpstr>
      <vt:lpstr>Superplasticiser</vt:lpstr>
      <vt:lpstr>Superplasticiser</vt:lpstr>
      <vt:lpstr>Accelerators</vt:lpstr>
      <vt:lpstr>Accelerators</vt:lpstr>
      <vt:lpstr>Accelerators </vt:lpstr>
      <vt:lpstr>Accelerators </vt:lpstr>
      <vt:lpstr>Accelerators: Applications</vt:lpstr>
      <vt:lpstr>Accelerators</vt:lpstr>
      <vt:lpstr>Retarders</vt:lpstr>
      <vt:lpstr>Retarders </vt:lpstr>
      <vt:lpstr>Retarders</vt:lpstr>
      <vt:lpstr>Retarders</vt:lpstr>
      <vt:lpstr>Retarders</vt:lpstr>
      <vt:lpstr>Air Entraining Agents (AEA)</vt:lpstr>
      <vt:lpstr>Entrained Air Under a Microscope</vt:lpstr>
      <vt:lpstr>Air Entraining Agents (AEA)</vt:lpstr>
      <vt:lpstr>Air Content of Air-Entrained Concrete in Accordance with BS EN 206-1</vt:lpstr>
      <vt:lpstr>AEA</vt:lpstr>
      <vt:lpstr>AEA</vt:lpstr>
      <vt:lpstr>AEA</vt:lpstr>
      <vt:lpstr>AEA</vt:lpstr>
      <vt:lpstr>Water-Resisting Admixtures</vt:lpstr>
      <vt:lpstr>Water-Resisting Admixtures</vt:lpstr>
      <vt:lpstr>Admixture Dosage </vt:lpstr>
      <vt:lpstr>Admixture Dispensing </vt:lpstr>
      <vt:lpstr>Dispensing Equipment</vt:lpstr>
      <vt:lpstr>Trial Mix Design</vt:lpstr>
      <vt:lpstr>PowerPoint 演示文稿</vt:lpstr>
      <vt:lpstr>Feedback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303: THEORY AND DESIGN OF STRUCTURES 3</dc:title>
  <dc:creator>Muthomi</dc:creator>
  <cp:lastModifiedBy>SM</cp:lastModifiedBy>
  <cp:revision>126</cp:revision>
  <cp:lastPrinted>2024-06-07T14:10:00Z</cp:lastPrinted>
  <dcterms:created xsi:type="dcterms:W3CDTF">2018-09-25T15:18:00Z</dcterms:created>
  <dcterms:modified xsi:type="dcterms:W3CDTF">2025-03-24T08:18:01Z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2D4B31A052AE478B87CF033266E1BF5A_12</vt:lpwstr>
  </property>
  <property fmtid="{D5CDD505-2E9C-101B-9397-08002B2CF9AE}" pid="3" name="KSOProductBuildVer">
    <vt:lpwstr>1033-12.2.0.20326</vt:lpwstr>
  </property>
</Properties>
</file>